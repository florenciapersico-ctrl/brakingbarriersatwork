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PORTADA</a:t>
            </a:r>
          </a:p>
          <a:p>
            <a:r>
              <a:t>Bienvenida. Hoy empezamos algo que para mí cambia muchísimo cómo hablas en inglés: el sistema verbal.</a:t>
            </a:r>
          </a:p>
          <a:p>
            <a:r>
              <a:t>Esta es la primera de tres partes. Hoy no vamos a ver cuándo usar cada tiempo. Hoy vamos a ver el mapa: cómo está armado todo el sistema. Cuando tengas el mapa, las otras dos partes van a encajar solas.</a:t>
            </a:r>
          </a:p>
          <a:p>
            <a:r>
              <a:t>Y te adelanto la idea de toda la clase: no son doce fórmulas. Son cuatro patrones que se repiten.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PÁGINAS SUELTAS</a:t>
            </a:r>
          </a:p>
          <a:p>
            <a:r>
              <a:t>Mira esta slide. Así aprendimos casi todas los tiempos verbales: como páginas sueltas de un libro. Una unidad para el present simple, otra para el past continuous, otra para el present perfect. Cada uno por su lado.</a:t>
            </a:r>
          </a:p>
          <a:p>
            <a:r>
              <a:t>Por eso en un ejercicio te sale perfecto. La consigna te dice “complete with the present perfect” y ya sabes dónde ir a buscar.</a:t>
            </a:r>
          </a:p>
          <a:p>
            <a:r>
              <a:t>Pero cuando estás en una reunión y te preguntan cómo va el proyecto, nadie te da la consigna. Tu cabeza tiene que elegir sola, en tiempo real. Y si lo que tienes son doce páginas sueltas, te bloqueas.</a:t>
            </a:r>
          </a:p>
          <a:p>
            <a:r>
              <a:t>Hoy vamos a ordenar estas doce tarjetas en un solo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LA LÍNEA DEL TIEMPO</a:t>
            </a:r>
          </a:p>
          <a:p>
            <a:r>
              <a:t>Empecemos por lo más simple. Una línea de tiempo.</a:t>
            </a:r>
          </a:p>
          <a:p>
            <a:r>
              <a:t>Aquí, en el medio, está ahora. Hacia atrás, el pasado. Hacia adelante, el futuro.</a:t>
            </a:r>
          </a:p>
          <a:p>
            <a:r>
              <a:t>Todo lo que dices en inglés, lo primero que hace tu cabeza es ubicarlo en uno de estos tres momentos: ¿esto es presente, pasado o futuro?</a:t>
            </a:r>
          </a:p>
          <a:p>
            <a:r>
              <a:t>Hasta acá, nada nuevo. Lo interesante viene ahora.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CUATRO MANERAS DE MIRAR</a:t>
            </a:r>
          </a:p>
          <a:p>
            <a:r>
              <a:t>Dentro de cada momento, puedo mirar la situación de cuatro maneras distintas. Y cada manera tiene su dibujo.</a:t>
            </a:r>
          </a:p>
          <a:p>
            <a:r>
              <a:t>Simple: el hecho, la rutina. Puntitos que se repiten. “I work with clients.” Es lo que hago.</a:t>
            </a:r>
          </a:p>
          <a:p>
            <a:r>
              <a:t>Continuous: algo en proceso, ahora. Una banda alrededor del ahora. “I'm working on it.” Lo estoy haciendo.</a:t>
            </a:r>
          </a:p>
          <a:p>
            <a:r>
              <a:t>Perfect: algo que ya está hecho antes de ahora, y que me importa hoy. “I've sent the report.” Ya está enviado.</a:t>
            </a:r>
          </a:p>
          <a:p>
            <a:r>
              <a:t>Perfect continuous: algo que viene en proceso desde antes y llega hasta ahora. “I've been working on it since May.” Vengo trabajando en eso.</a:t>
            </a:r>
          </a:p>
          <a:p>
            <a:r>
              <a:t>No te preocupes por cuándo usar cada una. Eso es la Parte 2. Hoy solo quiero que veas que hay cuatro miradas, nada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3 × 4 = 12</a:t>
            </a:r>
          </a:p>
          <a:p>
            <a:r>
              <a:t>Entonces: tres momentos, por cuatro miradas. Tres por cuatro, doce.</a:t>
            </a:r>
          </a:p>
          <a:p>
            <a:r>
              <a:t>Esos son los famosos doce tiempos verbales que alguna vez viste en una lista. No son doce cosas distintas. Son tres momentos combinados con cuatro miradas.</a:t>
            </a:r>
          </a:p>
          <a:p>
            <a:r>
              <a:t>Ahora te pido algo antes de seguir. Pausa el video, abre tu worksheet y completa el ejercicio 1: esta misma grilla, con el verbo work. Escribe todo lo que sepas, aunque no estés segura, y marca con un signo de pregunta lo que dudes.</a:t>
            </a:r>
          </a:p>
          <a:p>
            <a:r>
              <a:t>Vas a ver que sabes mucho más de lo que crees. El problema nunca fue no saberlo. Es que lo aprendiste suelto.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LA GRILLA COMPLETA</a:t>
            </a:r>
          </a:p>
          <a:p>
            <a:r>
              <a:t>Aquí está la grilla completa con el verbo work.</a:t>
            </a:r>
          </a:p>
          <a:p>
            <a:r>
              <a:t>Y ahora el truco de toda la clase: no la mires casilla por casilla. Mírala por columnas, de arriba hacia abajo. Cada columna tiene un color, y cada color es un patrón.</a:t>
            </a:r>
          </a:p>
          <a:p>
            <a:r>
              <a:t>Fíjate que en cada columna se repite algo. Eso que se repite es lo único que tienes que aprender. Vamos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CONTINUOUS</a:t>
            </a:r>
          </a:p>
          <a:p>
            <a:r>
              <a:t>Columna naranja: continuous. ¿Qué tienen en común las tres casillas? BE más ing. Siempre.</a:t>
            </a:r>
          </a:p>
          <a:p>
            <a:r>
              <a:t>En presente, BE es am, is, are: I'm working on it. En pasado, BE es was o were: I was working on it. En futuro, después de will, BE va en forma base: will be. I will be working on it.</a:t>
            </a:r>
          </a:p>
          <a:p>
            <a:r>
              <a:t>Lo único que se mueve es BE. El working queda igual.</a:t>
            </a:r>
          </a:p>
          <a:p>
            <a:r>
              <a:t>Y aquí aparece un error muy común: decir “I did working”. Did no tiene nada que ver acá. Did es del simple. Si es continuous y es pasado, es was o were: I was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PERFECT</a:t>
            </a:r>
          </a:p>
          <a:p>
            <a:r>
              <a:t>Columna marrón: perfect. ¿Qué se repite? HAVE más participio.</a:t>
            </a:r>
          </a:p>
          <a:p>
            <a:r>
              <a:t>En presente, have o has: I have sent the report. En pasado, had: I had sent the report. En futuro, will have: I will have sent the report.</a:t>
            </a:r>
          </a:p>
          <a:p>
            <a:r>
              <a:t>Otra vez: lo único que se mueve es HAVE. El participio queda igual.</a:t>
            </a:r>
          </a:p>
          <a:p>
            <a:r>
              <a:t>Y el participio no es “la tercera columna que memorizaste”. Es la forma que necesita HAVE: sent, finished, done, written. Si dudas con algún irregular de tu trabajo, anótalo: es lo que más se traba hablando.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PERFECT CONTINUOUS</a:t>
            </a:r>
          </a:p>
          <a:p>
            <a:r>
              <a:t>La última columna parece la más difícil: have been working. Parece larguísima. Pero mira lo que pasa.</a:t>
            </a:r>
          </a:p>
          <a:p>
            <a:r>
              <a:t>Perfect es HAVE más participio. Continuous es BE más ing. Perfect continuous es las dos cosas juntas. Perfect me pide HAVE y un participio. El verbo que necesito para el continuous es BE. ¿Y cuál es el participio de BE? Been.</a:t>
            </a:r>
          </a:p>
          <a:p>
            <a:r>
              <a:t>Have, been, working. No hay nada que memorizar: es perfect más continuous.</a:t>
            </a:r>
          </a:p>
          <a:p>
            <a:r>
              <a:t>Y mira la diferencia de una sola letra. I've been preparing the proposals: yo estoy en el proceso, vengo preparándolas. The proposals have been prepared: a las propuestas les hicieron algo, fueron preparadas. Por eso “I've been prepared all the proposals” no funciona: si eres tú la que las prepara, falta el 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SIMPLE: LA INFORMACIÓN VA EN EL AUXILIAR</a:t>
            </a:r>
          </a:p>
          <a:p>
            <a:r>
              <a:t>Nos queda la primera columna, el simple. Es la que parece más fácil, y es donde aparecen más errores.</a:t>
            </a:r>
          </a:p>
          <a:p>
            <a:r>
              <a:t>En la afirmativa, el simple no lleva auxiliar: she works, she felt. Pero para preguntar y negar necesita uno: do, does, did o will.</a:t>
            </a:r>
          </a:p>
          <a:p>
            <a:r>
              <a:t>Y aquí está la clave: la información viaja en una sola palabra, el auxiliar. Si el auxiliar ya dice que es tercera persona o que es pasado, el verbo vuelve a la forma base.</a:t>
            </a:r>
          </a:p>
          <a:p>
            <a:r>
              <a:t>Does she work, no does she works: la s ya está en does. She didn't feel, no she didn't felt: el pasado ya está en did. She will send, no she will sends: después de will, forma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NEGAR</a:t>
            </a:r>
          </a:p>
          <a:p>
            <a:r>
              <a:t>Y para negar, el inglés tiene una sola manera, en toda la grilla: le agregas not al auxiliar que corresponde.</a:t>
            </a:r>
          </a:p>
          <a:p>
            <a:r>
              <a:t>Do, don't. Does, doesn't. Did, didn't. Was, wasn't. Have, haven't. Had, hadn't. Will, won't.</a:t>
            </a:r>
          </a:p>
          <a:p>
            <a:r>
              <a:t>Por eso “we don't have finished” no funciona. ¿Qué mirada es? Perfect. ¿Cuál es su auxiliar? Have. Entonces el not va en have: we haven't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RECONSTRÚYELO</a:t>
            </a:r>
          </a:p>
          <a:p>
            <a:r>
              <a:t>Y ahora lo más útil de tener el mapa: si un día te olvidas una forma, no la buscas en una tabla. La reconstruyes con tres preguntas.</a:t>
            </a:r>
          </a:p>
          <a:p>
            <a:r>
              <a:t>Por ejemplo, quieres decir que mañana a esta hora vas a estar revisando el informe.</a:t>
            </a:r>
          </a:p>
          <a:p>
            <a:r>
              <a:t>Uno: ¿qué mirada? Algo en proceso: continuous, BE más ing.</a:t>
            </a:r>
          </a:p>
          <a:p>
            <a:r>
              <a:t>Dos: ¿qué momento? Futuro: will.</a:t>
            </a:r>
          </a:p>
          <a:p>
            <a:r>
              <a:t>Tres: ¿qué va después de will? Forma base: be.</a:t>
            </a:r>
          </a:p>
          <a:p>
            <a:r>
              <a:t>Will be reviewing. No dependes de la memoria. Tienes un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HAGÁMOSLA JUNTAS · DETECTIVE</a:t>
            </a:r>
          </a:p>
          <a:p>
            <a:r>
              <a:t>Ahora abre tu worksheet en el ejercicio 4 y lo hacemos juntas. Te leo cada frase, pausa, piensa con el mapa y después te digo la respuesta.</a:t>
            </a:r>
          </a:p>
          <a:p>
            <a:r>
              <a:t>Uno: “I am work with international clients”. ¿Qué quiero decir? Lo que hago siempre: simple. El simple en afirmativa no lleva am. I work with international clients.</a:t>
            </a:r>
          </a:p>
          <a:p>
            <a:r>
              <a:t>Dos: “Did you sent the file?”. Hay did: el pasado ya está en did. Did you send the file?</a:t>
            </a:r>
          </a:p>
          <a:p>
            <a:r>
              <a:t>Tres: “I did working on the budget when he called”. Estaba en proceso: continuous, BE más ing, en pasado was. I was working on the budget when he called.</a:t>
            </a:r>
          </a:p>
          <a:p>
            <a:r>
              <a:t>Cuatro: “We don't have finished the report”. Ya está hecho, o no: perfect. El auxiliar es have, y el not va ahí. We haven't finished the report.</a:t>
            </a:r>
          </a:p>
          <a:p>
            <a:r>
              <a:t>Cinco: “She will sends the update tomorrow”. Después de will, forma base. She will send the update tomorrow.</a:t>
            </a:r>
          </a:p>
          <a:p>
            <a:r>
              <a:t>Seis: “I have been prepared all the proposals”. Si eres tú la que las viene preparando: perfect continuous, been más ing. I've been preparing all the proposals.</a:t>
            </a:r>
          </a:p>
          <a:p>
            <a:r>
              <a:t>Las otras seis del ejercicio las haces tú. Las respuestas están al final de la hoja.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HAGÁMOSLA JUNTAS · TU FILA</a:t>
            </a:r>
          </a:p>
          <a:p>
            <a:r>
              <a:t>Ahora el ejercicio 6. Yo lo hago con un verbo que todas usamos: send. Y te lo elegí a propósito porque es irregular: el pasado y el participio son sent.</a:t>
            </a:r>
          </a:p>
          <a:p>
            <a:r>
              <a:t>Columna por columna. Simple: I send, I sent, I will send. Continuous, BE más ing: I'm sending, I was sending, I will be sending. Perfect, HAVE más participio: I've sent, I had sent, I will have sent. Perfect continuous: I've been sending, I had been sending, I will have been sending.</a:t>
            </a:r>
          </a:p>
          <a:p>
            <a:r>
              <a:t>Y en voz alta, en las tres formas: I've sent it. Have you sent it? I haven't sent it.</a:t>
            </a:r>
          </a:p>
          <a:p>
            <a:r>
              <a:t>Ahora tú: elige un verbo de tu trabajo y arma tu fila completa en la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TU ACCIÓN</a:t>
            </a:r>
          </a:p>
          <a:p>
            <a:r>
              <a:t>Entonces, abre tu worksheet.</a:t>
            </a:r>
          </a:p>
          <a:p>
            <a:r>
              <a:t>Uno, si no lo hiciste, completa la grilla sin mirar y marca tus dudas. Dos, compárala con la grilla completa, por columnas: ¿qué patrón te falló? Tres, arma la fila completa con un verbo que uses todos los días en tu trabajo. Cuatro, dila en voz alta, en afirmativa, pregunta y negativa. Y cinco, haz el Role Play que te dejé, contando un proyecto real, y tu Retry.</a:t>
            </a:r>
          </a:p>
          <a:p>
            <a:r>
              <a:t>En la Parte 2 vamos a la pregunta que de verdad importa cuando hablas: ¿qué cambia en el mensaje entre I work, I'm working, I've worked y I've been working?</a:t>
            </a:r>
          </a:p>
          <a:p>
            <a:r>
              <a:t>No son doce fórmulas. Son cuatro patrones que se repiten.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1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3192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68C6C"/>
                </a:solidFill>
                <a:latin typeface="Arial"/>
              </a:rPr>
              <a:t>BREAKING BARRIERS AT WORK · MÓDULO 3 · 01 ·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9202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 i="0">
                <a:solidFill>
                  <a:srgbClr val="F9F5EE"/>
                </a:solidFill>
                <a:latin typeface="Georgia"/>
              </a:rPr>
              <a:t>The Verb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C68C6C"/>
                </a:solidFill>
                <a:latin typeface="Georgia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4114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F9F5EE"/>
                </a:solidFill>
                <a:latin typeface="Georgia"/>
              </a:rPr>
              <a:t>No son doce fórmulas.</a:t>
            </a:r>
          </a:p>
          <a:p>
            <a:r>
              <a:rPr sz="2200" b="0" i="1">
                <a:solidFill>
                  <a:srgbClr val="F9F5EE"/>
                </a:solidFill>
                <a:latin typeface="Georgia"/>
              </a:rPr>
              <a:t>Son cuatro patrones que se repiten.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01 ·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Lo aprendiste en páginas sueltas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2117" y="1844977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simple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8423" y="1866809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continuous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1319" y="1669887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perfect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7220" y="1952232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simple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1896" y="2783188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4488" y="2869483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continuous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7670" y="287171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simple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93381" y="2752569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perfect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93578" y="4066536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perfect continuous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8478" y="402016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continuous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2209" y="377246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perfect continuous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47862" y="396524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perfect continuous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212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3F1E0D"/>
                </a:solidFill>
                <a:latin typeface="Georgia"/>
              </a:rPr>
              <a:t>En un ejercicio, la consigna te dice qué usar.</a:t>
            </a:r>
          </a:p>
          <a:p>
            <a:r>
              <a:rPr sz="2000" b="0" i="1">
                <a:solidFill>
                  <a:srgbClr val="3F1E0D"/>
                </a:solidFill>
                <a:latin typeface="Georgia"/>
              </a:rPr>
              <a:t>Cuando hablas, nadie te la 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02 · 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Tres momentos en una línea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291840"/>
            <a:ext cx="7863840" cy="0"/>
          </a:xfrm>
          <a:prstGeom prst="line">
            <a:avLst/>
          </a:prstGeom>
          <a:ln w="38100">
            <a:solidFill>
              <a:srgbClr val="3F1E0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507224" y="3209544"/>
            <a:ext cx="164592" cy="164592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429000"/>
            <a:ext cx="262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A58"/>
                </a:solidFill>
                <a:latin typeface="Arial"/>
              </a:rPr>
              <a:t>PAST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880" y="3429000"/>
            <a:ext cx="262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68C6C"/>
                </a:solidFill>
                <a:latin typeface="Arial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0160" y="3429000"/>
            <a:ext cx="262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A58"/>
                </a:solidFill>
                <a:latin typeface="Arial"/>
              </a:rPr>
              <a:t>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114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3F1E0D"/>
                </a:solidFill>
                <a:latin typeface="Georgia"/>
              </a:rPr>
              <a:t>Todo lo que dices lo ubicas en uno de estos tres momentos.</a:t>
            </a:r>
          </a:p>
          <a:p>
            <a:pPr algn="ctr"/>
            <a:r>
              <a:rPr sz="2000" b="0" i="1">
                <a:solidFill>
                  <a:srgbClr val="3F1E0D"/>
                </a:solidFill>
                <a:latin typeface="Georgia"/>
              </a:rPr>
              <a:t>Eso es lo primero que decide tu cabeza.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03 · CUATRO MANERAS DE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Dentro de cada momento, cuatro miradas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69164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B6F4C"/>
                </a:solidFill>
                <a:latin typeface="Arial"/>
              </a:rPr>
              <a:t>SIMPLE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60604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902452" y="254203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026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7034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1042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50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el hecho, la rutina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00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 work with clients.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69164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68C6C"/>
                </a:solidFill>
                <a:latin typeface="Arial"/>
              </a:rPr>
              <a:t>CONTINUOUS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260604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062972" y="254203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6900" y="2487168"/>
            <a:ext cx="1280160" cy="237744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59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en proceso, ahora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3200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I'm working on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06908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PERFECT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498348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02452" y="491947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4860" y="4901184"/>
            <a:ext cx="164592" cy="164592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686300" y="4709160"/>
            <a:ext cx="1280160" cy="0"/>
          </a:xfrm>
          <a:prstGeom prst="line">
            <a:avLst/>
          </a:prstGeom>
          <a:ln w="25400">
            <a:solidFill>
              <a:srgbClr val="8953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49039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ya hecho, antes de ahora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77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I've sent the report.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406908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F1E0D"/>
                </a:solidFill>
                <a:latin typeface="Arial"/>
              </a:rPr>
              <a:t>PERFECT CONTINUOUS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01000" y="498348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062972" y="491947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63940" y="4864608"/>
            <a:ext cx="1463040" cy="237744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59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en proceso hasta ahora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9" y="5577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I've been working on it</a:t>
            </a:r>
          </a:p>
          <a:p>
            <a:r>
              <a:rPr sz="1600" b="0" i="1">
                <a:solidFill>
                  <a:srgbClr val="3F1E0D"/>
                </a:solidFill>
                <a:latin typeface="Georgia"/>
              </a:rPr>
              <a:t>since May.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04 · EL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3 momentos × 4 miradas =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5257800"/>
            <a:ext cx="6217920" cy="731520"/>
          </a:xfrm>
          <a:prstGeom prst="round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PAUSA EL VIDEO · completa tu grilla en la worksheet (ejercicio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05 · LA GRILLA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Ahora mírala por columnas, no por casillas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work /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am / is / are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have / has worked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have / has been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was / were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had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had been 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will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will be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will have worked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will have been working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06 ·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BE + -ing. Solo se mueve 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 /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am / is / are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have / has worked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have / has been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was / were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had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had been 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will be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have worked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have been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57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8C6C"/>
                </a:solidFill>
                <a:latin typeface="Georgia"/>
              </a:rPr>
              <a:t>am / is / are → was / were → will be   +   working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07 · PERFECT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HAVE + participio. Solo se mueve HAVE.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 /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am / is / are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have / has worked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have / has been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was / were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had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had been 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be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will have worked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have been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57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5325"/>
                </a:solidFill>
                <a:latin typeface="Georgia"/>
              </a:rPr>
              <a:t>have / has → had → will have   +   sent · finished · done · written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08 · PERFECT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Perfect + continuous = HAVE + been + -ing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83080"/>
            <a:ext cx="2377440" cy="822960"/>
          </a:xfrm>
          <a:prstGeom prst="round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PERFECT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HAVE + participio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8745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1E0D"/>
                </a:solidFill>
                <a:latin typeface="Georgia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83080"/>
            <a:ext cx="2377440" cy="822960"/>
          </a:xfrm>
          <a:prstGeom prst="round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CONTINUOUS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BE + -ing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8745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1E0D"/>
                </a:solidFill>
                <a:latin typeface="Georgia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783080"/>
            <a:ext cx="2286000" cy="822960"/>
          </a:xfrm>
          <a:prstGeom prst="round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have been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3464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F1E0D"/>
                </a:solidFill>
                <a:latin typeface="Georgia"/>
              </a:rPr>
              <a:t>El participio de BE es been.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56616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F1E0D"/>
                </a:solidFill>
                <a:latin typeface="Georgia"/>
              </a:rPr>
              <a:t>✓ I've been preparing the proposals.</a:t>
            </a:r>
          </a:p>
          <a:p>
            <a:pPr algn="ctr"/>
            <a:r>
              <a:rPr sz="1600" b="1">
                <a:solidFill>
                  <a:srgbClr val="3F1E0D"/>
                </a:solidFill>
                <a:latin typeface="Georgia"/>
              </a:rPr>
              <a:t/>
            </a:r>
          </a:p>
          <a:p>
            <a:pPr algn="ctr"/>
            <a:r>
              <a:rPr sz="1600" b="1">
                <a:solidFill>
                  <a:srgbClr val="3F1E0D"/>
                </a:solidFill>
                <a:latin typeface="Georgia"/>
              </a:rPr>
              <a:t>yo estoy en el proceso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56616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B6A58"/>
                </a:solidFill>
                <a:latin typeface="Georgia"/>
              </a:rPr>
              <a:t>The proposals have been prepared.</a:t>
            </a:r>
          </a:p>
          <a:p>
            <a:pPr algn="ctr"/>
            <a:r>
              <a:rPr sz="1600" b="1">
                <a:solidFill>
                  <a:srgbClr val="7B6A58"/>
                </a:solidFill>
                <a:latin typeface="Georgia"/>
              </a:rPr>
              <a:t/>
            </a:r>
          </a:p>
          <a:p>
            <a:pPr algn="ctr"/>
            <a:r>
              <a:rPr sz="1600" b="1">
                <a:solidFill>
                  <a:srgbClr val="7B6A58"/>
                </a:solidFill>
                <a:latin typeface="Georgia"/>
              </a:rPr>
              <a:t>a algo le hicieron algo (pasiva)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48640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68C6C"/>
                </a:solidFill>
                <a:latin typeface="Georgia"/>
              </a:rPr>
              <a:t>✗ I've been prepared all the proposals → falta el -ing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09 ·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La información viaja en el auxiliar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37360"/>
            <a:ext cx="2697480" cy="50292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AFIRMATIVA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79" y="1737360"/>
            <a:ext cx="2697480" cy="50292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737360"/>
            <a:ext cx="2697480" cy="50292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NEGATIVA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33172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works in finance.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79" y="233172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Does she work…?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33172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doesn't work…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10896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felt worried.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310896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Did she feel…?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10896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didn't feel…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88620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 will send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388620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Will you send 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88620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 won't send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0060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F1E0D"/>
                </a:solidFill>
                <a:latin typeface="Georgia"/>
              </a:rPr>
              <a:t>Si el auxiliar ya lleva el tiempo o la -s, el verbo vuelve a la forma base.</a:t>
            </a:r>
          </a:p>
          <a:p>
            <a:r>
              <a:rPr sz="1700" b="0" i="0">
                <a:solidFill>
                  <a:srgbClr val="3F1E0D"/>
                </a:solidFill>
                <a:latin typeface="Georgia"/>
              </a:rPr>
              <a:t>✗ Does she works? · ✗ She didn't felt · ✗ She will sends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10 · NEGAR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Una sola manera: el auxiliar +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3736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73736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don't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173736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doesn't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51460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51460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didn't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51460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am / is /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251460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'm not / isn't / aren't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29183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was / were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29183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wasn't / weren't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29183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have / 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329183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haven't / hasn't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06907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had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160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06907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hadn't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06907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will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160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406907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won't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9834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F1E0D"/>
                </a:solidFill>
                <a:latin typeface="Georgia"/>
              </a:rPr>
              <a:t>✗ We don't have finished → ✓ We haven't finished</a:t>
            </a:r>
          </a:p>
          <a:p>
            <a:r>
              <a:rPr sz="1700" b="0" i="0">
                <a:solidFill>
                  <a:srgbClr val="3F1E0D"/>
                </a:solidFill>
                <a:latin typeface="Georgia"/>
              </a:rPr>
              <a:t>(el auxiliar del perfect es have: el not va ahí)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11 · RECONSTRÚYELO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Si te olvidas una forma, no la busques: ármala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83080"/>
            <a:ext cx="3840480" cy="8229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Arial"/>
              </a:rPr>
              <a:t>1 · ¿Qué mirada?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783080"/>
            <a:ext cx="3840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8C6C"/>
                </a:solidFill>
                <a:latin typeface="Georgia"/>
              </a:rPr>
              <a:t>continuous → BE + -ing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788920"/>
            <a:ext cx="3840480" cy="8229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Arial"/>
              </a:rPr>
              <a:t>2 · ¿Qué momento?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9260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788920"/>
            <a:ext cx="3840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8C6C"/>
                </a:solidFill>
                <a:latin typeface="Georgia"/>
              </a:rPr>
              <a:t>futuro → will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794760"/>
            <a:ext cx="3840480" cy="8229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Arial"/>
              </a:rPr>
              <a:t>3 · ¿Qué va después de will?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794760"/>
            <a:ext cx="3840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8C6C"/>
                </a:solidFill>
                <a:latin typeface="Georgia"/>
              </a:rPr>
              <a:t>forma base → 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937760"/>
            <a:ext cx="4572000" cy="868680"/>
          </a:xfrm>
          <a:prstGeom prst="round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will be reviewing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12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Detective de errores · worksheet, ejercicio 4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737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am work with international clients.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9572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Did you sent the file to the client?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054096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5409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did working on the budget when he called.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712464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712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We don't have finished the report.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370831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370831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She will sends the update tomorrow.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029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have been prepared all the proposals this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7B6A58"/>
                </a:solidFill>
                <a:latin typeface="Georgia"/>
              </a:rPr>
              <a:t>Para cada una: ¿qué mirada? ¿qué auxiliar? ¿qué forma va después?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13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Tu fila con un verbo de trabajo: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send / sends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am / is / are sending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have / has 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have / has been sending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sent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was / were sending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had 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had been sending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will send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will be sending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will have 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will have been sending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09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F1E0D"/>
                </a:solidFill>
                <a:latin typeface="Georgia"/>
              </a:rPr>
              <a:t>En voz alta: I've sent it. · Have you sent it? · I haven't sent it.</a:t>
            </a:r>
          </a:p>
          <a:p>
            <a:r>
              <a:rPr sz="1800" b="0" i="0">
                <a:solidFill>
                  <a:srgbClr val="3F1E0D"/>
                </a:solidFill>
                <a:latin typeface="Georgia"/>
              </a:rPr>
              <a:t>Ahora tú, con tu verbo (ejercicio 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14 · TU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Hoy, con tu worksheet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830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Completa la grilla sin mirar y marca tus dudas.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487168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32888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Compárala por columnas: ¿qué patrón falló?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236976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82696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Arma la fila completa con un verbo de tu trabajo.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986783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032504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Dila en voz alta: afirmativa, pregunta y negativa.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736592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78231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Role Play: cuenta un proyecto real y haz tu Retry.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715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7B6A58"/>
                </a:solidFill>
                <a:latin typeface="Georgia"/>
              </a:rPr>
              <a:t>Parte 2: qué cambia en el mensaje entre I work, I'm working, I've worked y I've been 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