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PORTADA</a:t>
            </a:r>
          </a:p>
          <a:p>
            <a:r>
              <a:t>Bienvenida a la segunda y última clase del sistema verbal: el futuro.</a:t>
            </a:r>
          </a:p>
          <a:p>
            <a:r>
              <a:t>En la Clase 1 armamos el mapa del presente y el pasado. Hoy vemos por qué el futuro funciona distinto y cómo elegir la forma correcta sin dudar.</a:t>
            </a:r>
          </a:p>
          <a:p>
            <a:r>
              <a:t>Y te adelanto la idea de toda la clase: en inglés no eliges el futuro por la fecha. Lo eliges por qué tan decidido está.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EL PROBLEMA</a:t>
            </a:r>
          </a:p>
          <a:p>
            <a:r>
              <a:t>En español usamos «voy a…» para casi todo. «Mañana voy a mandar el informe», «te lo mando ahora», «el vuelo sale a las seis». Y nadie se confunde.</a:t>
            </a:r>
          </a:p>
          <a:p>
            <a:r>
              <a:t>En inglés, cada una de esas frases es una forma distinta. Por eso a muchas alumnas les sale going to para todo, o will para todo.</a:t>
            </a:r>
          </a:p>
          <a:p>
            <a:r>
              <a:t>Entonces cambiemos la pregunta. No es «¿cuándo pasa?». Es: ¿lo estoy decidiendo ahora, ya lo tenía decidido, ya está agendado, o es un horario fijo?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EL MAPA DEL FUTURO</a:t>
            </a:r>
          </a:p>
          <a:p>
            <a:r>
              <a:t>Este es el mapa. Va de izquierda a derecha: de lo que decides en este momento a lo que ya está fijo.</a:t>
            </a:r>
          </a:p>
          <a:p>
            <a:r>
              <a:t>Will: lo decides ahora, prometes, ofreces u opinas. I'll send it now. I think it will work.</a:t>
            </a:r>
          </a:p>
          <a:p>
            <a:r>
              <a:t>Going to: ya lo tenías decidido, es un plan. I'm going to call the client tomorrow.</a:t>
            </a:r>
          </a:p>
          <a:p>
            <a:r>
              <a:t>Present continuous: ya está agendado, con día, hora o persona. I'm meeting the CFO on Friday.</a:t>
            </a:r>
          </a:p>
          <a:p>
            <a:r>
              <a:t>Present simple: un horario o calendario fijo. The meeting starts at nine.</a:t>
            </a:r>
          </a:p>
          <a:p>
            <a:r>
              <a:t>Cuanto más a la derecha, más decidido. Vamos una por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WILL</a:t>
            </a:r>
          </a:p>
          <a:p>
            <a:r>
              <a:t>Will es el futuro que nace en el momento.</a:t>
            </a:r>
          </a:p>
          <a:p>
            <a:r>
              <a:t>Decides ahora: el cliente está esperando, I'll call him. Ofreces o prometes: I'll send you the numbers by Friday. Opinas sobre el futuro: I think the launch will go well. Y es la forma natural para responder en una reunión: Sure, I'll take care of it.</a:t>
            </a:r>
          </a:p>
          <a:p>
            <a:r>
              <a:t>La forma es siempre igual: will más forma base. I'll, won't, will you. Nunca will to send, nunca she will sends y nunca do you will. Will ya es el auxiliar.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GOING TO</a:t>
            </a:r>
          </a:p>
          <a:p>
            <a:r>
              <a:t>Going to es para lo que ya tenías decidido antes de hablar.</a:t>
            </a:r>
          </a:p>
          <a:p>
            <a:r>
              <a:t>La forma: BE, o sea am, is, are, más going to, más forma base. I'm going to, she's going to, we're going to.</a:t>
            </a:r>
          </a:p>
          <a:p>
            <a:r>
              <a:t>Un plan: we're going to launch the new tool in Q1. Algo que ya decidiste: I'm going to ask for more budget. Y una predicción con evidencia, cuando lo estás viendo: look at the data, we're going to miss the target.</a:t>
            </a:r>
          </a:p>
          <a:p>
            <a:r>
              <a:t>Dos errores que escucho mucho: «I go to send it», que en inglés no es futuro, es I'm going to send it. Y «she's going call», donde falta el to: she's going to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AGENDA Y HORARIOS</a:t>
            </a:r>
          </a:p>
          <a:p>
            <a:r>
              <a:t>Y los dos futuros que más sorprenden, porque usan presente.</a:t>
            </a:r>
          </a:p>
          <a:p>
            <a:r>
              <a:t>Present continuous, para lo que ya está agendado: hay día, hora o persona. I'm meeting the CFO on Friday. We're presenting to the board next week. La pista: si está en tu calendario, present continuous.</a:t>
            </a:r>
          </a:p>
          <a:p>
            <a:r>
              <a:t>Present simple, para horarios y calendarios fijos, que no dependen de ti: the meeting starts at nine, the quarter ends on March 31.</a:t>
            </a:r>
          </a:p>
          <a:p>
            <a:r>
              <a:t>Por eso, si mañana tienes una reunión agendada con el cliente, no es «tomorrow I meet the client». Es tomorrow I'm meeting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LA FILA DEL FUTURO</a:t>
            </a:r>
          </a:p>
          <a:p>
            <a:r>
              <a:t>Ahora volvamos a la grilla de la Clase 1. La fila del futuro: will work, will be working, will have worked, will have been working.</a:t>
            </a:r>
          </a:p>
          <a:p>
            <a:r>
              <a:t>Una sola regla la arma entera: después de will, forma base. Por eso es will be y will have, nunca will is ni will has.</a:t>
            </a:r>
          </a:p>
          <a:p>
            <a:r>
              <a:t>Dos de estas son muy útiles en el trabajo. Will be más ing: algo en proceso en un momento del futuro. This time tomorrow, I'll be presenting. Y suena muy cortés para preguntar: will you be joining the call?</a:t>
            </a:r>
          </a:p>
          <a:p>
            <a:r>
              <a:t>Will have más participio: algo terminado antes de un punto del futuro, casi siempre con by. By Friday, I'll have finished the report. Perfecto para hablar de deadlines.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LA TRAMPA DEL WHEN</a:t>
            </a:r>
          </a:p>
          <a:p>
            <a:r>
              <a:t>Y una trampa que aparece en casi todos los mails: después de when, if, as soon as, before, after o until, aunque hables del futuro, va presente.</a:t>
            </a:r>
          </a:p>
          <a:p>
            <a:r>
              <a:t>I'll send it as soon as I get the data. If the client approves, we'll start on Monday.</a:t>
            </a:r>
          </a:p>
          <a:p>
            <a:r>
              <a:t>Nunca «when I will arrive»: es when I arrive. Nunca «if it will be approved»: es if it's approved. El will va en la otra mitad de la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FRASES PARA EL TRABAJO</a:t>
            </a:r>
          </a:p>
          <a:p>
            <a:r>
              <a:t>Te dejo las frases que vas a usar esta semana.</a:t>
            </a:r>
          </a:p>
          <a:p>
            <a:r>
              <a:t>Para comprometerte: I'll get back to you by Friday. I'll take care of it.</a:t>
            </a:r>
          </a:p>
          <a:p>
            <a:r>
              <a:t>Para contar un plan: we're going to roll out the new process in Q1.</a:t>
            </a:r>
          </a:p>
          <a:p>
            <a:r>
              <a:t>Para tu agenda: I'm presenting the results on Thursday.</a:t>
            </a:r>
          </a:p>
          <a:p>
            <a:r>
              <a:t>Para un deadline: by the end of the month, we'll have closed the audit.</a:t>
            </a:r>
          </a:p>
          <a:p>
            <a:r>
              <a:t>Y para preguntar con cortesía: will you be joining the call tomorrow?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HAGÁMOSLA JUNTAS · ¿QUÉ FUTURO?</a:t>
            </a:r>
          </a:p>
          <a:p>
            <a:r>
              <a:t>Abre tu worksheet en el ejercicio 4. Para cada frase, pregúntate: ¿lo decido ahora, ya lo tenía decidido, está agendado o es un horario fijo? Pausa, decide, y después vemos las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RESPUESTAS · ¿QUÉ FUTURO?</a:t>
            </a:r>
          </a:p>
          <a:p>
            <a:r>
              <a:t>Uno: suena el teléfono, decides ahora: I'll get it. Dos: «I've decided», ya lo decidiste: I'm going to ask. Tres: está en el calendario: I'm meeting. Cuatro: horario fijo, todos los lunes: starts. Cinco: después de as soon as, presente: finish. Seis: by Friday, terminado antes de un punto: we'll have completed. Siete: en proceso en un momento del futuro: I'll be traveling. Ocho: predicción con evidencia, mira los números: we're going to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HAGÁMOSLA JUNTAS · DETECTIVE</a:t>
            </a:r>
          </a:p>
          <a:p>
            <a:r>
              <a:t>Ejercicio 5. Seis errores reales. Para cada uno: ¿qué futuro es y qué forma lleva después? Pausa y corrígelos.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RESPUESTAS · DETECTIVE</a:t>
            </a:r>
          </a:p>
          <a:p>
            <a:r>
              <a:t>Uno: will ya es el auxiliar, sin to: I will send. Dos: go to no es futuro: I'm going to call. Tres: falta el to: she's going to present. Cuatro: después de when, presente: when I arrive. Cinco: will es el auxiliar de la pregunta: will you join. Seis: will have más participio: will have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TU SEMANA EN INGLÉS</a:t>
            </a:r>
          </a:p>
          <a:p>
            <a:r>
              <a:t>Ahora lo llevamos a tu trabajo. Ejercicio 6: cuenta tu semana real con los cuatro futuros. Algo que ya está agendado, con present continuous. Un plan que ya decidiste, con going to. Algo que prometes, con will. Y un deadline, con will have más participio.</a:t>
            </a:r>
          </a:p>
          <a:p>
            <a:r>
              <a:t>Yo lo hago con la mía: I'm meeting a new student on Monday. I'm going to record two classes this week. I'll send the summaries by Friday. And by the end of the month, I'll have finished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TU ACCIÓN</a:t>
            </a:r>
          </a:p>
          <a:p>
            <a:r>
              <a:t>Entonces: haz los ejercicios 4 y 5 sin mirar las respuestas. Escribe tu semana real en el ejercicio 6 y dila en voz alta, como si se la contaras a tu manager. Y después haz el Role Play que te dejé en la worksheet y tu Retry.</a:t>
            </a:r>
          </a:p>
          <a:p>
            <a:r>
              <a:t>Con esto cerramos el sistema verbal completo. No eliges el futuro por la fecha. Lo eliges por qué tan decidido está.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1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3192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68C6C"/>
                </a:solidFill>
                <a:latin typeface="Arial"/>
              </a:rPr>
              <a:t>BREAKING BARRIERS AT WORK · MÓDULO 3 · 01 · CLASE 2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19202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 i="0">
                <a:solidFill>
                  <a:srgbClr val="F9F5EE"/>
                </a:solidFill>
                <a:latin typeface="Georgia"/>
              </a:rPr>
              <a:t>The Verb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200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C68C6C"/>
                </a:solidFill>
                <a:latin typeface="Georgia"/>
              </a:rPr>
              <a:t>El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4114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1">
                <a:solidFill>
                  <a:srgbClr val="F9F5EE"/>
                </a:solidFill>
                <a:latin typeface="Georgia"/>
              </a:rPr>
              <a:t>En inglés no eliges el futuro por la fecha.</a:t>
            </a:r>
          </a:p>
          <a:p>
            <a:r>
              <a:rPr sz="2200" b="0" i="1">
                <a:solidFill>
                  <a:srgbClr val="F9F5EE"/>
                </a:solidFill>
                <a:latin typeface="Georgia"/>
              </a:rPr>
              <a:t>Lo eliges por qué tan decidido está.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01 ·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En español, «voy a…» sirve para todo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783080"/>
            <a:ext cx="3931920" cy="1280160"/>
          </a:xfrm>
          <a:prstGeom prst="round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«Mañana voy a mandar el informe.»</a:t>
            </a:r>
          </a:p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«Te lo mando ahora.»</a:t>
            </a:r>
          </a:p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«El vuelo sale a las 6.»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 i="0">
                <a:solidFill>
                  <a:srgbClr val="7B6A58"/>
                </a:solidFill>
                <a:latin typeface="Georgia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783080"/>
            <a:ext cx="3749039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895325"/>
                </a:solidFill>
                <a:latin typeface="Georgia"/>
              </a:rPr>
              <a:t>En inglés, cada una</a:t>
            </a:r>
          </a:p>
          <a:p>
            <a:pPr algn="ctr"/>
            <a:r>
              <a:rPr sz="1700" b="1">
                <a:solidFill>
                  <a:srgbClr val="895325"/>
                </a:solidFill>
                <a:latin typeface="Georgia"/>
              </a:rPr>
              <a:t>es una forma distinta.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474720"/>
            <a:ext cx="8321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1">
                <a:solidFill>
                  <a:srgbClr val="3F1E0D"/>
                </a:solidFill>
                <a:latin typeface="Georgia"/>
              </a:rPr>
              <a:t>La pregunta no es «¿cuándo pasa?».</a:t>
            </a:r>
          </a:p>
          <a:p>
            <a:r>
              <a:rPr sz="2100" b="0" i="1">
                <a:solidFill>
                  <a:srgbClr val="3F1E0D"/>
                </a:solidFill>
                <a:latin typeface="Georgia"/>
              </a:rPr>
              <a:t>La pregunta es: ¿lo decido ahora, ya lo tenía decidido, ya está agendado, o es un horario fijo?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02 · EL MAPA DEL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De «lo decido ahora» a «es un horario fijo»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566160" y="2148840"/>
            <a:ext cx="8321040" cy="0"/>
          </a:xfrm>
          <a:prstGeom prst="line">
            <a:avLst/>
          </a:prstGeom>
          <a:ln w="38100">
            <a:solidFill>
              <a:srgbClr val="3F1E0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6616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7B6A58"/>
                </a:solidFill>
                <a:latin typeface="Arial"/>
              </a:rPr>
              <a:t>lo decido ahora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7B6A58"/>
                </a:solidFill>
                <a:latin typeface="Arial"/>
              </a:rPr>
              <a:t>ya está fijo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468880"/>
            <a:ext cx="2011680" cy="54864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063240"/>
            <a:ext cx="2011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decido ahora · prometo · ofrezco · opino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160520"/>
            <a:ext cx="2011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I'll send it now.</a:t>
            </a:r>
          </a:p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I think it will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2468880"/>
            <a:ext cx="2011680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GOING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79" y="3063240"/>
            <a:ext cx="2011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ya lo tenía decidido · un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4160520"/>
            <a:ext cx="2011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I'm going to call</a:t>
            </a:r>
          </a:p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the client tomorrow.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468880"/>
            <a:ext cx="2011680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PRESENT CONTINUOUS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063240"/>
            <a:ext cx="2011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ya está agendado · con quién y cuándo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160520"/>
            <a:ext cx="2011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I'm meeting the CFO</a:t>
            </a:r>
          </a:p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on Friday.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19" y="2468880"/>
            <a:ext cx="2011680" cy="548640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PRESENT SIMPLE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19" y="3063240"/>
            <a:ext cx="20116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B6A58"/>
                </a:solidFill>
                <a:latin typeface="Arial"/>
              </a:rPr>
              <a:t>horario o calendario fijo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19" y="4160520"/>
            <a:ext cx="2011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The meeting starts</a:t>
            </a:r>
          </a:p>
          <a:p>
            <a:pPr algn="ctr"/>
            <a:r>
              <a:rPr sz="1400" b="1">
                <a:solidFill>
                  <a:srgbClr val="3F1E0D"/>
                </a:solidFill>
                <a:latin typeface="Georgia"/>
              </a:rPr>
              <a:t>at 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03 · WILL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Lo decides en el momento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83080"/>
            <a:ext cx="2926080" cy="64008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Decides ahora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783080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F1E0D"/>
                </a:solidFill>
                <a:latin typeface="Georgia"/>
              </a:rPr>
              <a:t>The client is waiting? I'll call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560320"/>
            <a:ext cx="2926080" cy="64008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Ofreces o prometes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560320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F1E0D"/>
                </a:solidFill>
                <a:latin typeface="Georgia"/>
              </a:rPr>
              <a:t>I'll send you the numbers by Friday.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337560"/>
            <a:ext cx="2926080" cy="64008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Opinas sobre el futuro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337560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F1E0D"/>
                </a:solidFill>
                <a:latin typeface="Georgia"/>
              </a:rPr>
              <a:t>I think the launch will go well.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4114800"/>
            <a:ext cx="2926080" cy="64008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Respondes en una reunión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114800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F1E0D"/>
                </a:solidFill>
                <a:latin typeface="Georgia"/>
              </a:rPr>
              <a:t>Sure, I'll take care of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02920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C68C6C"/>
                </a:solidFill>
                <a:latin typeface="Georgia"/>
              </a:rPr>
              <a:t>will + forma base · I'll · won't · Will you…?</a:t>
            </a:r>
          </a:p>
          <a:p>
            <a:r>
              <a:rPr sz="1700" b="0" i="0">
                <a:solidFill>
                  <a:srgbClr val="C68C6C"/>
                </a:solidFill>
                <a:latin typeface="Georgia"/>
              </a:rPr>
              <a:t>✗ I will to send · ✗ She will sends · ✗ Do you will come?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04 · GOING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Ya lo tenías decidido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83080"/>
            <a:ext cx="8321040" cy="73152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BE (am / is / are) + going to + forma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2697480"/>
            <a:ext cx="292608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Arial"/>
              </a:rPr>
              <a:t>Un plan o una intención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697480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F1E0D"/>
                </a:solidFill>
                <a:latin typeface="Georgia"/>
              </a:rPr>
              <a:t>We're going to launch the new tool in Q1.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3474720"/>
            <a:ext cx="292608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Arial"/>
              </a:rPr>
              <a:t>Algo que ya decidiste antes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474720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F1E0D"/>
                </a:solidFill>
                <a:latin typeface="Georgia"/>
              </a:rPr>
              <a:t>I'm going to ask for more budget.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251960"/>
            <a:ext cx="292608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Arial"/>
              </a:rPr>
              <a:t>Una predicción con evidencia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4251960"/>
            <a:ext cx="5303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F1E0D"/>
                </a:solidFill>
                <a:latin typeface="Georgia"/>
              </a:rPr>
              <a:t>Look at the data: we're going to miss the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166360"/>
            <a:ext cx="8321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C68C6C"/>
                </a:solidFill>
                <a:latin typeface="Georgia"/>
              </a:rPr>
              <a:t>✗ I go to send it → ✓ I'm going to send it</a:t>
            </a:r>
          </a:p>
          <a:p>
            <a:r>
              <a:rPr sz="1700" b="0" i="0">
                <a:solidFill>
                  <a:srgbClr val="C68C6C"/>
                </a:solidFill>
                <a:latin typeface="Georgia"/>
              </a:rPr>
              <a:t>✗ She's going call → ✓ She's going to 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05 · AGENDA Y HORARIOS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Ya está agendado o es un horario fijo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83080"/>
            <a:ext cx="4069080" cy="59436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PRESENT CONTINUOUS · agendado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2423160"/>
            <a:ext cx="40690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Ya hay día, hora o persona.</a:t>
            </a:r>
          </a:p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/>
            </a:r>
          </a:p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I'm meeting the CFO on Friday.</a:t>
            </a:r>
          </a:p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We're presenting to the board next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1783080"/>
            <a:ext cx="4069080" cy="594360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PRESENT SIMPLE · horario fijo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2423160"/>
            <a:ext cx="40690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Calendarios, horarios, cronogramas.</a:t>
            </a:r>
          </a:p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/>
            </a:r>
          </a:p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The meeting starts at 9.</a:t>
            </a:r>
          </a:p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The quarter ends on March 31.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470916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C68C6C"/>
                </a:solidFill>
                <a:latin typeface="Georgia"/>
              </a:rPr>
              <a:t>✗ Tomorrow I meet the client (si ya está agendado) → ✓ Tomorrow I'm meeting the client</a:t>
            </a:r>
          </a:p>
          <a:p>
            <a:r>
              <a:rPr sz="1600" b="0" i="0">
                <a:solidFill>
                  <a:srgbClr val="C68C6C"/>
                </a:solidFill>
                <a:latin typeface="Georgia"/>
              </a:rPr>
              <a:t>Pista: si está en tu calendario, present continuous.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06 · LA FILA DEL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La grilla de la Clase 1, con will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83080"/>
            <a:ext cx="2011680" cy="548640"/>
          </a:xfrm>
          <a:prstGeom prst="rect">
            <a:avLst/>
          </a:prstGeom>
          <a:solidFill>
            <a:srgbClr val="6B6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237744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6F4C"/>
                </a:solidFill>
                <a:latin typeface="Georgia"/>
              </a:rPr>
              <a:t>will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79" y="1783080"/>
            <a:ext cx="2011680" cy="548640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CONTINUOUS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79" y="237744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68C6C"/>
                </a:solidFill>
                <a:latin typeface="Georgia"/>
              </a:rPr>
              <a:t>will be working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783080"/>
            <a:ext cx="2011680" cy="548640"/>
          </a:xfrm>
          <a:prstGeom prst="rect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37744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95325"/>
                </a:solidFill>
                <a:latin typeface="Georgia"/>
              </a:rPr>
              <a:t>will have worked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19" y="1783080"/>
            <a:ext cx="2011680" cy="548640"/>
          </a:xfrm>
          <a:prstGeom prst="rect">
            <a:avLst/>
          </a:prstGeom>
          <a:solidFill>
            <a:srgbClr val="3F1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PERFECT CONTINUOUS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19" y="237744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3F1E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3F1E0D"/>
                </a:solidFill>
                <a:latin typeface="Georgia"/>
              </a:rPr>
              <a:t>will have been 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832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3F1E0D"/>
                </a:solidFill>
                <a:latin typeface="Georgia"/>
              </a:rPr>
              <a:t>Regla única: después de will, forma base (be, have).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977639"/>
            <a:ext cx="40690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68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C68C6C"/>
                </a:solidFill>
                <a:latin typeface="Georgia"/>
              </a:rPr>
              <a:t>WILL BE + -ING</a:t>
            </a:r>
          </a:p>
          <a:p>
            <a:pPr algn="ctr"/>
            <a:r>
              <a:rPr sz="1300" b="0">
                <a:solidFill>
                  <a:srgbClr val="C68C6C"/>
                </a:solidFill>
                <a:latin typeface="Georgia"/>
              </a:rPr>
              <a:t>en proceso en un momento del futuro</a:t>
            </a:r>
          </a:p>
          <a:p>
            <a:pPr algn="ctr"/>
            <a:r>
              <a:rPr sz="1300" b="0">
                <a:solidFill>
                  <a:srgbClr val="C68C6C"/>
                </a:solidFill>
                <a:latin typeface="Georgia"/>
              </a:rPr>
              <a:t/>
            </a:r>
          </a:p>
          <a:p>
            <a:pPr algn="ctr"/>
            <a:r>
              <a:rPr sz="1300" b="0">
                <a:solidFill>
                  <a:srgbClr val="C68C6C"/>
                </a:solidFill>
                <a:latin typeface="Georgia"/>
              </a:rPr>
              <a:t>This time tomorrow, I'll be presenting.</a:t>
            </a:r>
          </a:p>
          <a:p>
            <a:pPr algn="ctr"/>
            <a:r>
              <a:rPr sz="1300" b="0">
                <a:solidFill>
                  <a:srgbClr val="C68C6C"/>
                </a:solidFill>
                <a:latin typeface="Georgia"/>
              </a:rPr>
              <a:t>Will you be joining the call?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3977639"/>
            <a:ext cx="40690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895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895325"/>
                </a:solidFill>
                <a:latin typeface="Georgia"/>
              </a:rPr>
              <a:t>WILL HAVE + PARTICIPIO</a:t>
            </a:r>
          </a:p>
          <a:p>
            <a:pPr algn="ctr"/>
            <a:r>
              <a:rPr sz="1300" b="0">
                <a:solidFill>
                  <a:srgbClr val="895325"/>
                </a:solidFill>
                <a:latin typeface="Georgia"/>
              </a:rPr>
              <a:t>terminado antes de un punto (by…)</a:t>
            </a:r>
          </a:p>
          <a:p>
            <a:pPr algn="ctr"/>
            <a:r>
              <a:rPr sz="1300" b="0">
                <a:solidFill>
                  <a:srgbClr val="895325"/>
                </a:solidFill>
                <a:latin typeface="Georgia"/>
              </a:rPr>
              <a:t/>
            </a:r>
          </a:p>
          <a:p>
            <a:pPr algn="ctr"/>
            <a:r>
              <a:rPr sz="1300" b="0">
                <a:solidFill>
                  <a:srgbClr val="895325"/>
                </a:solidFill>
                <a:latin typeface="Georgia"/>
              </a:rPr>
              <a:t>By Friday, I'll have finished the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07 · LA TRAMPA DEL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Después de when, if, as soon as… va presente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7830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895325"/>
                </a:solidFill>
                <a:latin typeface="Georgia"/>
              </a:rPr>
              <a:t>when · if · as soon as · before · after · until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2468880"/>
            <a:ext cx="83210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F1E0D"/>
                </a:solidFill>
                <a:latin typeface="Georgia"/>
              </a:rPr>
              <a:t>I'll send it as soon as I get the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3429000"/>
            <a:ext cx="83210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6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F1E0D"/>
                </a:solidFill>
                <a:latin typeface="Georgia"/>
              </a:rPr>
              <a:t>If the client approves, we'll start on Monday.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452628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68C6C"/>
                </a:solidFill>
                <a:latin typeface="Georgia"/>
              </a:rPr>
              <a:t>✗ I'll call you when I will arrive → ✓ when I arrive</a:t>
            </a:r>
          </a:p>
          <a:p>
            <a:r>
              <a:rPr sz="1800" b="0" i="0">
                <a:solidFill>
                  <a:srgbClr val="C68C6C"/>
                </a:solidFill>
                <a:latin typeface="Georgia"/>
              </a:rPr>
              <a:t>✗ If it will be approved… → ✓ If it's approved…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08 · FRASES PARA 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Las que vas a usar esta semana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83080"/>
            <a:ext cx="274320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Arial"/>
              </a:rPr>
              <a:t>Comprometerte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783080"/>
            <a:ext cx="5486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I'll get back to you by Friday. · I'll take care of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532888"/>
            <a:ext cx="274320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Arial"/>
              </a:rPr>
              <a:t>Contar un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532888"/>
            <a:ext cx="5486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We're going to roll out the new process in Q1.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282696"/>
            <a:ext cx="274320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Arial"/>
              </a:rPr>
              <a:t>Tu agenda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282696"/>
            <a:ext cx="5486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I'm presenting the results on Thursday.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4032504"/>
            <a:ext cx="274320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Arial"/>
              </a:rPr>
              <a:t>Un deadline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032504"/>
            <a:ext cx="5486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By the end of the month, we'll have closed the audit.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782312"/>
            <a:ext cx="2743200" cy="64008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F1E0D"/>
                </a:solidFill>
                <a:latin typeface="Arial"/>
              </a:rPr>
              <a:t>Preguntar con cortesía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782312"/>
            <a:ext cx="5486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F1E0D"/>
                </a:solidFill>
                <a:latin typeface="Georgia"/>
              </a:rPr>
              <a:t>Will you be joining the call tomorrow?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09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¿Qué futuro? · ejercicio 4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The phone is ringing. — Don't worry, I ______ (get) it.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249424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49424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I've decided: I ______ (ask) for more budget next quarter.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2761488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61488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I ______ (meet) the CFO at 3 p.m. tomorrow. It's in my calendar.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273552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73552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The training ______ (start) at 9 a.m. every Monday.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3785616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85616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I'll send you the deck as soon as I ______ (finish) it.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4297680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976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By Friday, we ______ (complete) the migration.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3566160" y="4809744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809744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This time next week, I ______ (travel) to São Paulo.</a:t>
            </a:r>
          </a:p>
        </p:txBody>
      </p:sp>
      <p:sp>
        <p:nvSpPr>
          <p:cNvPr id="19" name="Oval 18"/>
          <p:cNvSpPr/>
          <p:nvPr/>
        </p:nvSpPr>
        <p:spPr>
          <a:xfrm>
            <a:off x="3566160" y="5321808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321808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Look at these numbers: we ______ (miss) the target.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10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¿Qué futuro? · respuestas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The phone is ringing. — Don't worry, I ______ (get)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'll get</a:t>
            </a:r>
          </a:p>
        </p:txBody>
      </p:sp>
      <p:sp>
        <p:nvSpPr>
          <p:cNvPr id="8" name="Oval 7"/>
          <p:cNvSpPr/>
          <p:nvPr/>
        </p:nvSpPr>
        <p:spPr>
          <a:xfrm>
            <a:off x="3566160" y="2249424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49424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I've decided: I ______ (ask) for more budget next quarter.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24942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'm going to ask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2761488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61488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I ______ (meet) the CFO at 3 p.m. tomorrow. It's in my calendar.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7614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'm meeting</a:t>
            </a:r>
          </a:p>
        </p:txBody>
      </p:sp>
      <p:sp>
        <p:nvSpPr>
          <p:cNvPr id="14" name="Oval 13"/>
          <p:cNvSpPr/>
          <p:nvPr/>
        </p:nvSpPr>
        <p:spPr>
          <a:xfrm>
            <a:off x="3566160" y="3273552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73552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The training ______ (start) at 9 a.m. every Monday.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273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starts</a:t>
            </a:r>
          </a:p>
        </p:txBody>
      </p:sp>
      <p:sp>
        <p:nvSpPr>
          <p:cNvPr id="17" name="Oval 16"/>
          <p:cNvSpPr/>
          <p:nvPr/>
        </p:nvSpPr>
        <p:spPr>
          <a:xfrm>
            <a:off x="3566160" y="3785616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785616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I'll send you the deck as soon as I ______ (finish)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7856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finish</a:t>
            </a:r>
          </a:p>
        </p:txBody>
      </p:sp>
      <p:sp>
        <p:nvSpPr>
          <p:cNvPr id="20" name="Oval 19"/>
          <p:cNvSpPr/>
          <p:nvPr/>
        </p:nvSpPr>
        <p:spPr>
          <a:xfrm>
            <a:off x="3566160" y="4297680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2976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By Friday, we ______ (complete) the migration.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'll have completed</a:t>
            </a:r>
          </a:p>
        </p:txBody>
      </p:sp>
      <p:sp>
        <p:nvSpPr>
          <p:cNvPr id="23" name="Oval 22"/>
          <p:cNvSpPr/>
          <p:nvPr/>
        </p:nvSpPr>
        <p:spPr>
          <a:xfrm>
            <a:off x="3566160" y="4809744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09744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This time next week, I ______ (travel) to São Paulo.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48097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'll be traveling</a:t>
            </a:r>
          </a:p>
        </p:txBody>
      </p:sp>
      <p:sp>
        <p:nvSpPr>
          <p:cNvPr id="26" name="Oval 25"/>
          <p:cNvSpPr/>
          <p:nvPr/>
        </p:nvSpPr>
        <p:spPr>
          <a:xfrm>
            <a:off x="3566160" y="5321808"/>
            <a:ext cx="411480" cy="41148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321808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3F1E0D"/>
                </a:solidFill>
                <a:latin typeface="Georgia"/>
              </a:rPr>
              <a:t>Look at these numbers: we ______ (miss) the target.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3218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95325"/>
                </a:solidFill>
                <a:latin typeface="Georgia"/>
              </a:rPr>
              <a:t>'re going to miss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11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Detective de errores · ejercicio 5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737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I will to send the report tomorrow.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395728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95728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I go to call the supplier this afternoon.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3054096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5409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She's going present the results.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712464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7124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I'll call you when I will arrive.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4370831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370831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Do you will join the meeting?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5029200"/>
            <a:ext cx="457200" cy="45720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029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✗ By Monday, we will have finish the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12 · HAGÁMOSLA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Detective de errores · respuestas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737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I will send the report tomorrow.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395728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95728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I'm going to call the supplier this afternoon.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3054096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54096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She's going to present the results.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3712464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712464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I'll call you when I arrive.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4370831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370831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Will you join the meeting?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5029200"/>
            <a:ext cx="457200" cy="457200"/>
          </a:xfrm>
          <a:prstGeom prst="ellipse">
            <a:avLst/>
          </a:prstGeom>
          <a:solidFill>
            <a:srgbClr val="895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029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✓ By Monday, we will have finished the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13 · TU SEMANA EN INGLÉS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Cuéntala con los cuatro futuros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783080"/>
            <a:ext cx="3017520" cy="73152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F1E0D"/>
                </a:solidFill>
                <a:latin typeface="Arial"/>
              </a:rPr>
              <a:t>Algo agendado</a:t>
            </a:r>
          </a:p>
          <a:p>
            <a:pPr algn="ctr"/>
            <a:r>
              <a:rPr sz="1300" b="1">
                <a:solidFill>
                  <a:srgbClr val="3F1E0D"/>
                </a:solidFill>
                <a:latin typeface="Arial"/>
              </a:rPr>
              <a:t>present continuous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83080"/>
            <a:ext cx="5212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7B6A58"/>
                </a:solidFill>
                <a:latin typeface="Georgia"/>
              </a:rPr>
              <a:t>I'm meeting… on…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651760"/>
            <a:ext cx="3017520" cy="73152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F1E0D"/>
                </a:solidFill>
                <a:latin typeface="Arial"/>
              </a:rPr>
              <a:t>Un plan que ya decidiste</a:t>
            </a:r>
          </a:p>
          <a:p>
            <a:pPr algn="ctr"/>
            <a:r>
              <a:rPr sz="1300" b="1">
                <a:solidFill>
                  <a:srgbClr val="3F1E0D"/>
                </a:solidFill>
                <a:latin typeface="Arial"/>
              </a:rPr>
              <a:t>going 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651760"/>
            <a:ext cx="5212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7B6A58"/>
                </a:solidFill>
                <a:latin typeface="Georgia"/>
              </a:rPr>
              <a:t>We're going to…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520439"/>
            <a:ext cx="3017520" cy="73152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F1E0D"/>
                </a:solidFill>
                <a:latin typeface="Arial"/>
              </a:rPr>
              <a:t>Algo que prometes</a:t>
            </a:r>
          </a:p>
          <a:p>
            <a:pPr algn="ctr"/>
            <a:r>
              <a:rPr sz="1300" b="1">
                <a:solidFill>
                  <a:srgbClr val="3F1E0D"/>
                </a:solidFill>
                <a:latin typeface="Arial"/>
              </a:rPr>
              <a:t>will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520439"/>
            <a:ext cx="5212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7B6A58"/>
                </a:solidFill>
                <a:latin typeface="Georgia"/>
              </a:rPr>
              <a:t>I'll send… by…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4389120"/>
            <a:ext cx="3017520" cy="731520"/>
          </a:xfrm>
          <a:prstGeom prst="rect">
            <a:avLst/>
          </a:prstGeom>
          <a:solidFill>
            <a:srgbClr val="ED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F1E0D"/>
                </a:solidFill>
                <a:latin typeface="Arial"/>
              </a:rPr>
              <a:t>Un deadline</a:t>
            </a:r>
          </a:p>
          <a:p>
            <a:pPr algn="ctr"/>
            <a:r>
              <a:rPr sz="1300" b="1">
                <a:solidFill>
                  <a:srgbClr val="3F1E0D"/>
                </a:solidFill>
                <a:latin typeface="Arial"/>
              </a:rPr>
              <a:t>will have + participio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4389120"/>
            <a:ext cx="5212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E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7B6A58"/>
                </a:solidFill>
                <a:latin typeface="Georgia"/>
              </a:rPr>
              <a:t>By…, I'll have…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3949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7B6A58"/>
                </a:solidFill>
                <a:latin typeface="Georgia"/>
              </a:rPr>
              <a:t>Worksheet, ejercicio 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95325"/>
                </a:solidFill>
                <a:latin typeface="Arial"/>
              </a:rPr>
              <a:t>14 · TU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F1E0D"/>
                </a:solidFill>
                <a:latin typeface="Georgia"/>
              </a:rPr>
              <a:t>Hoy, con tu worksheet</a:t>
            </a:r>
          </a:p>
        </p:txBody>
      </p:sp>
      <p:sp>
        <p:nvSpPr>
          <p:cNvPr id="5" name="Oval 4"/>
          <p:cNvSpPr/>
          <p:nvPr/>
        </p:nvSpPr>
        <p:spPr>
          <a:xfrm>
            <a:off x="3566160" y="1783080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Haz los ejercicios 4 y 5 sin mirar las respuestas.</a:t>
            </a:r>
          </a:p>
        </p:txBody>
      </p:sp>
      <p:sp>
        <p:nvSpPr>
          <p:cNvPr id="7" name="Oval 6"/>
          <p:cNvSpPr/>
          <p:nvPr/>
        </p:nvSpPr>
        <p:spPr>
          <a:xfrm>
            <a:off x="3566160" y="2606040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6517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Escribe tu semana real con los cuatro futuros (ejercicio 6).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3429000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4747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Dila en voz alta, como si se la contaras a tu manager.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4251960"/>
            <a:ext cx="548640" cy="548640"/>
          </a:xfrm>
          <a:prstGeom prst="ellipse">
            <a:avLst/>
          </a:prstGeom>
          <a:solidFill>
            <a:srgbClr val="C68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2976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F1E0D"/>
                </a:solidFill>
                <a:latin typeface="Georgia"/>
              </a:rPr>
              <a:t>Role Play: tu manager te pregunta por tus planes. Haz tu Retry.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48640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895325"/>
                </a:solidFill>
                <a:latin typeface="Georgia"/>
              </a:rPr>
              <a:t>No eliges el futuro por la fecha. Lo eliges por qué tan decidido está.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