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ya viste el Roadmap y entiendes para qué sirve cada módulo, quiero explicarte cómo vas a recorrerlo en la práctica durante estos cinco meses.
Porque hay algo importante: AT WORK tiene una estructura, pero no funciona como un curso escolar donde hasta que no terminas un módulo no puedes tocar el siguiente tema.
Tu trabajo real no aparece en ese orden. Una semana puedes necesitar organizar mejor tus ideas. Otra, trabajar pronunciación. Otra, corregir un patrón gramatical que se está repitiendo.
Entonces vamos a tener un foco principal en cada etapa, pero vamos a trabajar lo que tu comunicación real necesite cuando aparezca.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guía general, este va a ser tu ritmo de referencia.
La primera semana es para instalar el sistema y completar el onboarding.
De la semana 2 a la 4 vamos a poner el foco en Activate Your English, porque primero necesitas aprender a convertir situaciones reales en práctica útil y activar el inglés que ya tienes.
De la semana 5 a la 10 vamos a pasar a Communicate in Real Time, donde entrenamos cómo organizar, responder, recuperar el hilo, ir al punto y seguir comunicándote cuando no puedes depender de un guion.
De la semana 11 a la 16 vamos a dedicar un bloque más sistemático a Polish Your English, para estabilizar los patrones de precisión que venimos detectando.
De la semana 17 a la 19 el foco principal va a ser Understand &amp; Be Understood: entender mejor el inglés hablado y hacerte entender con más facilidad.
Y en la semana 20 hacemos el review final e integración: comparamos con tu Starting Point, miramos el proceso completo y definimos tu siguiente nivel.
Pero esto es una guía de foco, no una cárcel curricular.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que te quedes con esta idea: los módulos indican el foco principal de una etapa. No limitan lo que podemos trabajar.
Si en la semana tres aparece un problema de pronunciación que está afectando tu inteligibilidad, no vamos a esperar cuatro meses para tocarlo.
Si detectamos un patrón gramatical que se repite y está interfiriendo con tu mensaje, lo podemos trabajar antes de llegar al bloque de precisión.
Y si tienes una reunión importante que requiere una herramienta del módulo de comunicación, podemos adelantarla si tiene sentido para tu situación.
El programa se adapta a tu comunicación real, no al revés.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tres cosas que pueden aparecer durante todo AT WORK.
La primera es la práctica con situaciones reales de tu trabajo. Eso atraviesa todo el programa.
La segunda es pronunciación y listening. No es algo que reservamos para el final. Lo vamos a trabajar cuando sea relevante para que entiendas mejor y te hagas entender con más facilidad.
Y la tercera es precisión. Si tu producción muestra un patrón recurrente, podemos intervenir sobre esa estructura en el momento en que aparece.
Después habrá etapas donde profundicemos más en cada área, pero no tienes que esperar a llegar a un módulo para trabajar una necesidad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Otra cosa importante: no quiero que consumas AT WORK como Netflix.
Ver una clase no significa integrar una habilidad.
No ganas nada por mirar cinco videos seguidos un domingo si después no usas ninguna de esas herramientas.
Prefiero que veas una clase, la pruebes, la lleves a una situación real, recibas feedback y vuelvas a intentarlo.
Una herramienta aplicada vale más que cinco clases vistas.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veas una clase del programa, piensa en este ciclo.
Primero la miras y entiendes la herramienta.
Después buscas dónde aparece en tu trabajo.
La pruebas.
La practicas.
Si necesitas feedback, lo pides o la traes a nuestra sesión.
Y después haces retry.
No tienes que completar cada paso de manera perfecta antes de seguir, pero sí quiero que evites avanzar únicamente porque ya terminaste de ver un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referencia, quiero que protejas dos o tres espacios semanales de veinte a treinta minutos para AT WORK.
Y no todos tienen que ser para mirar contenido.
Un bloque puede ser para ver una clase.
Otro para aplicar la herramienta a una situación de tu trabajo.
Y otro para practicar, hacer retry o preparar algo que quieras traer a sesión.
Además, tu trabajo diario también es parte del entrenamiento. Cada reunión, presentación o conversación te da información sobre qué está disponible y qué todavía necesita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 a haber semanas más intensas. Eso es normal.
Si una semana no pudiste hacer lo que habías planeado, no quiero que al domingo siguiente intentes ponerte al día mirando cinco clases juntas.
Vuelve a tu foco actual.
Elige la herramienta más relevante.
Haz una práctica concreta.
Y sigue desde ahí.
Consistencia no significa hacer siempre muchísimo. Significa volver al proceso una y otra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avanzar, no te preguntes solamente si terminaste todas las clases.
Pregúntate si entiendes la herramienta, si la probaste, si puedes relacionarla con una situación real y si sabes qué necesitas seguir entrenando.
No necesito que una habilidad esté perfecta para pasar a la siguiente etapa. De hecho, muchas se siguen consolidando durante todo el programa.
Lo que buscamos es que vayas construyendo autonomía y cada vez puedas usar mejor las herramientas cuando las necesitas.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piensa el Roadmap como una dirección, no como una lista rígida de materias.
Yo te voy a ayudar a priorizar el foco, y tu trabajo real nos va a mostrar qué necesita atención en cada momento.
En tu Weekly System vas a definir cada semana qué parte del programa te toca trabajar y cuándo la vas a practicar.
No necesitas hacerlo todo. Necesitas trabajar con intención y sostener el proceso durante estos cinco meses.
Revisa tu calendario y reserva desde ahora dos o tres espacios semanales de 20–30 minutos para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1E0D"/>
        </a:solidFill>
      </p:bgPr>
    </p:bg>
    <p:spTree>
      <p:nvGrpSpPr>
        <p:cNvPr id="1" name=""/>
        <p:cNvGrpSpPr/>
        <p:nvPr/>
      </p:nvGrpSpPr>
      <p:grpSpPr>
        <a:xfrm>
          <a:off x="0" y="0"/>
          <a:ext cx="0" cy="0"/>
          <a:chOff x="0" y="0"/>
          <a:chExt cx="0" cy="0"/>
        </a:xfrm>
      </p:grpSpPr>
      <p:sp>
        <p:nvSpPr>
          <p:cNvPr id="3" name="Shape 0"/>
          <p:cNvSpPr/>
          <p:nvPr/>
        </p:nvSpPr>
        <p:spPr>
          <a:xfrm>
            <a:off x="640080" y="685800"/>
            <a:ext cx="1874520" cy="384048"/>
          </a:xfrm>
          <a:prstGeom prst="roundRect">
            <a:avLst>
              <a:gd name="adj" fmla="val 50000"/>
            </a:avLst>
          </a:prstGeom>
          <a:solidFill>
            <a:srgbClr val="C68C6C"/>
          </a:solidFill>
          <a:ln w="12700">
            <a:solidFill>
              <a:srgbClr val="C68C6C"/>
            </a:solidFill>
            <a:prstDash val="solid"/>
          </a:ln>
        </p:spPr>
      </p:sp>
      <p:sp>
        <p:nvSpPr>
          <p:cNvPr id="4" name="Text 1"/>
          <p:cNvSpPr txBox="1"/>
          <p:nvPr/>
        </p:nvSpPr>
        <p:spPr>
          <a:xfrm>
            <a:off x="640080" y="685800"/>
            <a:ext cx="1874520" cy="384048"/>
          </a:xfrm>
          <a:prstGeom prst="rect">
            <a:avLst/>
          </a:prstGeom>
          <a:noFill/>
          <a:ln/>
        </p:spPr>
        <p:txBody>
          <a:bodyPr wrap="square" lIns="0" tIns="0" rIns="0" bIns="0" rtlCol="0" anchor="ctr"/>
          <a:lstStyle/>
          <a:p>
            <a:pPr algn="ctr" indent="0" marL="0">
              <a:buNone/>
            </a:pPr>
            <a:r>
              <a:rPr lang="en-US" sz="1100" b="1" spc="200" kern="0" dirty="0">
                <a:solidFill>
                  <a:srgbClr val="3F1E0D"/>
                </a:solidFill>
                <a:latin typeface="Open Sans" pitchFamily="34" charset="0"/>
                <a:ea typeface="Open Sans" pitchFamily="34" charset="-122"/>
                <a:cs typeface="Open Sans" pitchFamily="34" charset="-120"/>
              </a:rPr>
              <a:t>ONBOARDING · 07</a:t>
            </a:r>
            <a:endParaRPr lang="en-US" sz="1100" dirty="0"/>
          </a:p>
        </p:txBody>
      </p:sp>
      <p:sp>
        <p:nvSpPr>
          <p:cNvPr id="5" name="Text 2"/>
          <p:cNvSpPr txBox="1"/>
          <p:nvPr/>
        </p:nvSpPr>
        <p:spPr>
          <a:xfrm>
            <a:off x="640080" y="1325880"/>
            <a:ext cx="5760720" cy="1783080"/>
          </a:xfrm>
          <a:prstGeom prst="rect">
            <a:avLst/>
          </a:prstGeom>
          <a:noFill/>
          <a:ln/>
        </p:spPr>
        <p:txBody>
          <a:bodyPr wrap="square" lIns="0" tIns="0" rIns="0" bIns="0" rtlCol="0" anchor="t"/>
          <a:lstStyle/>
          <a:p>
            <a:pPr indent="0" marL="0">
              <a:lnSpc>
                <a:spcPct val="90000"/>
              </a:lnSpc>
              <a:buNone/>
            </a:pPr>
            <a:r>
              <a:rPr lang="en-US" sz="4000" b="1" dirty="0">
                <a:solidFill>
                  <a:srgbClr val="F8F5EE"/>
                </a:solidFill>
                <a:latin typeface="Source Serif Pro" pitchFamily="34" charset="0"/>
                <a:ea typeface="Source Serif Pro" pitchFamily="34" charset="-122"/>
                <a:cs typeface="Source Serif Pro" pitchFamily="34" charset="-120"/>
              </a:rPr>
              <a:t>Cómo recorrer AT WORK durante estos 5 meses</a:t>
            </a:r>
            <a:endParaRPr lang="en-US" sz="4000" dirty="0"/>
          </a:p>
        </p:txBody>
      </p:sp>
      <p:sp>
        <p:nvSpPr>
          <p:cNvPr id="6" name="Text 3"/>
          <p:cNvSpPr txBox="1"/>
          <p:nvPr/>
        </p:nvSpPr>
        <p:spPr>
          <a:xfrm>
            <a:off x="640080" y="3200400"/>
            <a:ext cx="5486400" cy="384048"/>
          </a:xfrm>
          <a:prstGeom prst="rect">
            <a:avLst/>
          </a:prstGeom>
          <a:noFill/>
          <a:ln/>
        </p:spPr>
        <p:txBody>
          <a:bodyPr wrap="square" lIns="0" tIns="0" rIns="0" bIns="0" rtlCol="0" anchor="t"/>
          <a:lstStyle/>
          <a:p>
            <a:pPr indent="0" marL="0">
              <a:buNone/>
            </a:pPr>
            <a:r>
              <a:rPr lang="en-US" sz="1700" i="1" dirty="0">
                <a:solidFill>
                  <a:srgbClr val="EDE5CC"/>
                </a:solidFill>
                <a:latin typeface="Source Serif Pro" pitchFamily="34" charset="0"/>
                <a:ea typeface="Source Serif Pro" pitchFamily="34" charset="-122"/>
                <a:cs typeface="Source Serif Pro" pitchFamily="34" charset="-120"/>
              </a:rPr>
              <a:t>Una estructura que se adapta a tu trabajo real</a:t>
            </a:r>
            <a:endParaRPr lang="en-US" sz="1700" dirty="0"/>
          </a:p>
        </p:txBody>
      </p:sp>
      <p:pic>
        <p:nvPicPr>
          <p:cNvPr id="7" name="Image 0" descr="preencoded.png">    </p:cNvPr>
          <p:cNvPicPr>
            <a:picLocks noChangeAspect="1"/>
          </p:cNvPicPr>
          <p:nvPr/>
        </p:nvPicPr>
        <p:blipFill>
          <a:blip r:embed="rId1"/>
          <a:stretch>
            <a:fillRect/>
          </a:stretch>
        </p:blipFill>
        <p:spPr>
          <a:xfrm>
            <a:off x="8732520" y="502920"/>
            <a:ext cx="2743200" cy="1252005"/>
          </a:xfrm>
          <a:prstGeom prst="rect">
            <a:avLst/>
          </a:prstGeom>
        </p:spPr>
      </p:pic>
      <p:sp>
        <p:nvSpPr>
          <p:cNvPr id="8" name="Text 4"/>
          <p:cNvSpPr txBox="1"/>
          <p:nvPr/>
        </p:nvSpPr>
        <p:spPr>
          <a:xfrm>
            <a:off x="7086600" y="2103120"/>
            <a:ext cx="4462272" cy="320040"/>
          </a:xfrm>
          <a:prstGeom prst="rect">
            <a:avLst/>
          </a:prstGeom>
          <a:noFill/>
          <a:ln/>
        </p:spPr>
        <p:txBody>
          <a:bodyPr wrap="square" lIns="0" tIns="0" rIns="0" bIns="0" rtlCol="0" anchor="ctr"/>
          <a:lstStyle/>
          <a:p>
            <a:pPr indent="0" marL="0">
              <a:buNone/>
            </a:pPr>
            <a:r>
              <a:rPr lang="en-US" sz="1100" b="1" spc="300" kern="0" dirty="0">
                <a:solidFill>
                  <a:srgbClr val="C68C6C"/>
                </a:solidFill>
                <a:latin typeface="Open Sans" pitchFamily="34" charset="0"/>
                <a:ea typeface="Open Sans" pitchFamily="34" charset="-122"/>
                <a:cs typeface="Open Sans" pitchFamily="34" charset="-120"/>
              </a:rPr>
              <a:t>EN ESTA CLASE</a:t>
            </a:r>
            <a:endParaRPr lang="en-US" sz="1100" dirty="0"/>
          </a:p>
        </p:txBody>
      </p:sp>
      <p:sp>
        <p:nvSpPr>
          <p:cNvPr id="9" name="Shape 5"/>
          <p:cNvSpPr/>
          <p:nvPr/>
        </p:nvSpPr>
        <p:spPr>
          <a:xfrm>
            <a:off x="7086600" y="25603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0" name="Shape 6"/>
          <p:cNvSpPr/>
          <p:nvPr/>
        </p:nvSpPr>
        <p:spPr>
          <a:xfrm>
            <a:off x="7251192" y="2688336"/>
            <a:ext cx="493776" cy="493776"/>
          </a:xfrm>
          <a:prstGeom prst="ellipse">
            <a:avLst/>
          </a:prstGeom>
          <a:solidFill>
            <a:srgbClr val="C68C6C"/>
          </a:solidFill>
          <a:ln w="12700">
            <a:solidFill>
              <a:srgbClr val="C68C6C"/>
            </a:solidFill>
            <a:prstDash val="solid"/>
          </a:ln>
        </p:spPr>
      </p:sp>
      <p:pic>
        <p:nvPicPr>
          <p:cNvPr id="11" name="Image 1" descr="preencoded.png">    </p:cNvPr>
          <p:cNvPicPr>
            <a:picLocks noChangeAspect="1"/>
          </p:cNvPicPr>
          <p:nvPr/>
        </p:nvPicPr>
        <p:blipFill>
          <a:blip r:embed="rId2"/>
          <a:stretch>
            <a:fillRect/>
          </a:stretch>
        </p:blipFill>
        <p:spPr>
          <a:xfrm>
            <a:off x="7384512" y="2821656"/>
            <a:ext cx="227137" cy="227137"/>
          </a:xfrm>
          <a:prstGeom prst="rect">
            <a:avLst/>
          </a:prstGeom>
        </p:spPr>
      </p:pic>
      <p:sp>
        <p:nvSpPr>
          <p:cNvPr id="12" name="Text 7"/>
          <p:cNvSpPr txBox="1"/>
          <p:nvPr/>
        </p:nvSpPr>
        <p:spPr>
          <a:xfrm>
            <a:off x="7909560" y="25603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No es un curso escolar</a:t>
            </a:r>
            <a:endParaRPr lang="en-US" sz="1500" dirty="0"/>
          </a:p>
        </p:txBody>
      </p:sp>
      <p:sp>
        <p:nvSpPr>
          <p:cNvPr id="13" name="Shape 8"/>
          <p:cNvSpPr/>
          <p:nvPr/>
        </p:nvSpPr>
        <p:spPr>
          <a:xfrm>
            <a:off x="7086600" y="34747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4" name="Shape 9"/>
          <p:cNvSpPr/>
          <p:nvPr/>
        </p:nvSpPr>
        <p:spPr>
          <a:xfrm>
            <a:off x="7251192" y="3602736"/>
            <a:ext cx="493776" cy="493776"/>
          </a:xfrm>
          <a:prstGeom prst="ellipse">
            <a:avLst/>
          </a:prstGeom>
          <a:solidFill>
            <a:srgbClr val="C68C6C"/>
          </a:solidFill>
          <a:ln w="12700">
            <a:solidFill>
              <a:srgbClr val="C68C6C"/>
            </a:solidFill>
            <a:prstDash val="solid"/>
          </a:ln>
        </p:spPr>
      </p:sp>
      <p:pic>
        <p:nvPicPr>
          <p:cNvPr id="15" name="Image 2" descr="preencoded.png">    </p:cNvPr>
          <p:cNvPicPr>
            <a:picLocks noChangeAspect="1"/>
          </p:cNvPicPr>
          <p:nvPr/>
        </p:nvPicPr>
        <p:blipFill>
          <a:blip r:embed="rId3"/>
          <a:stretch>
            <a:fillRect/>
          </a:stretch>
        </p:blipFill>
        <p:spPr>
          <a:xfrm>
            <a:off x="7384512" y="3736056"/>
            <a:ext cx="227137" cy="227137"/>
          </a:xfrm>
          <a:prstGeom prst="rect">
            <a:avLst/>
          </a:prstGeom>
        </p:spPr>
      </p:pic>
      <p:sp>
        <p:nvSpPr>
          <p:cNvPr id="16" name="Text 10"/>
          <p:cNvSpPr txBox="1"/>
          <p:nvPr/>
        </p:nvSpPr>
        <p:spPr>
          <a:xfrm>
            <a:off x="7909560" y="34747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Tu ritmo de referencia</a:t>
            </a:r>
            <a:endParaRPr lang="en-US" sz="1500" dirty="0"/>
          </a:p>
        </p:txBody>
      </p:sp>
      <p:sp>
        <p:nvSpPr>
          <p:cNvPr id="17" name="Shape 11"/>
          <p:cNvSpPr/>
          <p:nvPr/>
        </p:nvSpPr>
        <p:spPr>
          <a:xfrm>
            <a:off x="7086600" y="43891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8" name="Shape 12"/>
          <p:cNvSpPr/>
          <p:nvPr/>
        </p:nvSpPr>
        <p:spPr>
          <a:xfrm>
            <a:off x="7251192" y="4517136"/>
            <a:ext cx="493776" cy="493776"/>
          </a:xfrm>
          <a:prstGeom prst="ellipse">
            <a:avLst/>
          </a:prstGeom>
          <a:solidFill>
            <a:srgbClr val="C68C6C"/>
          </a:solidFill>
          <a:ln w="12700">
            <a:solidFill>
              <a:srgbClr val="C68C6C"/>
            </a:solidFill>
            <a:prstDash val="solid"/>
          </a:ln>
        </p:spPr>
      </p:sp>
      <p:pic>
        <p:nvPicPr>
          <p:cNvPr id="19" name="Image 3" descr="preencoded.png">    </p:cNvPr>
          <p:cNvPicPr>
            <a:picLocks noChangeAspect="1"/>
          </p:cNvPicPr>
          <p:nvPr/>
        </p:nvPicPr>
        <p:blipFill>
          <a:blip r:embed="rId4"/>
          <a:stretch>
            <a:fillRect/>
          </a:stretch>
        </p:blipFill>
        <p:spPr>
          <a:xfrm>
            <a:off x="7384512" y="4650456"/>
            <a:ext cx="227137" cy="227137"/>
          </a:xfrm>
          <a:prstGeom prst="rect">
            <a:avLst/>
          </a:prstGeom>
        </p:spPr>
      </p:pic>
      <p:sp>
        <p:nvSpPr>
          <p:cNvPr id="20" name="Text 13"/>
          <p:cNvSpPr txBox="1"/>
          <p:nvPr/>
        </p:nvSpPr>
        <p:spPr>
          <a:xfrm>
            <a:off x="7909560" y="43891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El ciclo de cada clase</a:t>
            </a:r>
            <a:endParaRPr lang="en-US" sz="1500" dirty="0"/>
          </a:p>
        </p:txBody>
      </p:sp>
      <p:sp>
        <p:nvSpPr>
          <p:cNvPr id="21" name="Shape 14"/>
          <p:cNvSpPr/>
          <p:nvPr/>
        </p:nvSpPr>
        <p:spPr>
          <a:xfrm>
            <a:off x="7086600" y="53035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22" name="Shape 15"/>
          <p:cNvSpPr/>
          <p:nvPr/>
        </p:nvSpPr>
        <p:spPr>
          <a:xfrm>
            <a:off x="7251192" y="5431536"/>
            <a:ext cx="493776" cy="493776"/>
          </a:xfrm>
          <a:prstGeom prst="ellipse">
            <a:avLst/>
          </a:prstGeom>
          <a:solidFill>
            <a:srgbClr val="C68C6C"/>
          </a:solidFill>
          <a:ln w="12700">
            <a:solidFill>
              <a:srgbClr val="C68C6C"/>
            </a:solidFill>
            <a:prstDash val="solid"/>
          </a:ln>
        </p:spPr>
      </p:sp>
      <p:pic>
        <p:nvPicPr>
          <p:cNvPr id="23" name="Image 4" descr="preencoded.png">    </p:cNvPr>
          <p:cNvPicPr>
            <a:picLocks noChangeAspect="1"/>
          </p:cNvPicPr>
          <p:nvPr/>
        </p:nvPicPr>
        <p:blipFill>
          <a:blip r:embed="rId5"/>
          <a:stretch>
            <a:fillRect/>
          </a:stretch>
        </p:blipFill>
        <p:spPr>
          <a:xfrm>
            <a:off x="7384512" y="5564856"/>
            <a:ext cx="227137" cy="227137"/>
          </a:xfrm>
          <a:prstGeom prst="rect">
            <a:avLst/>
          </a:prstGeom>
        </p:spPr>
      </p:pic>
      <p:sp>
        <p:nvSpPr>
          <p:cNvPr id="24" name="Text 16"/>
          <p:cNvSpPr txBox="1"/>
          <p:nvPr/>
        </p:nvSpPr>
        <p:spPr>
          <a:xfrm>
            <a:off x="7909560" y="53035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Cómo sostenerlo cada semana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02 / 10</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Tu ritmo de referencia</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Una guía de foco, no una cárcel curricular</a:t>
            </a:r>
            <a:endParaRPr lang="en-US" sz="1600" dirty="0"/>
          </a:p>
        </p:txBody>
      </p:sp>
      <p:sp>
        <p:nvSpPr>
          <p:cNvPr id="7" name="Shape 3"/>
          <p:cNvSpPr/>
          <p:nvPr/>
        </p:nvSpPr>
        <p:spPr>
          <a:xfrm>
            <a:off x="4389120" y="1280160"/>
            <a:ext cx="7159752" cy="693420"/>
          </a:xfrm>
          <a:prstGeom prst="roundRect">
            <a:avLst>
              <a:gd name="adj" fmla="val 2109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63440" y="1394460"/>
            <a:ext cx="464820" cy="464820"/>
          </a:xfrm>
          <a:prstGeom prst="ellipse">
            <a:avLst/>
          </a:prstGeom>
          <a:solidFill>
            <a:srgbClr val="C68C6C"/>
          </a:solidFill>
          <a:ln w="12700">
            <a:solidFill>
              <a:srgbClr val="C68C6C"/>
            </a:solidFill>
            <a:prstDash val="solid"/>
          </a:ln>
        </p:spPr>
      </p:sp>
      <p:sp>
        <p:nvSpPr>
          <p:cNvPr id="9" name="Text 5"/>
          <p:cNvSpPr txBox="1"/>
          <p:nvPr/>
        </p:nvSpPr>
        <p:spPr>
          <a:xfrm>
            <a:off x="4663440" y="1394460"/>
            <a:ext cx="464820" cy="464820"/>
          </a:xfrm>
          <a:prstGeom prst="rect">
            <a:avLst/>
          </a:prstGeom>
          <a:noFill/>
          <a:ln/>
        </p:spPr>
        <p:txBody>
          <a:bodyPr wrap="square" lIns="0" tIns="0" rIns="0" bIns="0" rtlCol="0" anchor="ctr"/>
          <a:lstStyle/>
          <a:p>
            <a:pPr algn="ctr" indent="0" marL="0">
              <a:buNone/>
            </a:pPr>
            <a:r>
              <a:rPr lang="en-US" sz="1423" b="1" dirty="0">
                <a:solidFill>
                  <a:srgbClr val="FFFDF9"/>
                </a:solidFill>
                <a:latin typeface="Source Serif Pro" pitchFamily="34" charset="0"/>
                <a:ea typeface="Source Serif Pro" pitchFamily="34" charset="-122"/>
                <a:cs typeface="Source Serif Pro" pitchFamily="34" charset="-120"/>
              </a:rPr>
              <a:t>1</a:t>
            </a:r>
            <a:endParaRPr lang="en-US" sz="1423" dirty="0"/>
          </a:p>
        </p:txBody>
      </p:sp>
      <p:sp>
        <p:nvSpPr>
          <p:cNvPr id="10" name="Text 6"/>
          <p:cNvSpPr txBox="1"/>
          <p:nvPr/>
        </p:nvSpPr>
        <p:spPr>
          <a:xfrm>
            <a:off x="5402580" y="1280160"/>
            <a:ext cx="5826252" cy="693420"/>
          </a:xfrm>
          <a:prstGeom prst="rect">
            <a:avLst/>
          </a:prstGeom>
          <a:noFill/>
          <a:ln/>
        </p:spPr>
        <p:txBody>
          <a:bodyPr wrap="square" lIns="0" tIns="0" rIns="0" bIns="0" rtlCol="0" anchor="ctr"/>
          <a:lstStyle/>
          <a:p>
            <a:pPr indent="0" marL="0">
              <a:spcAft>
                <a:spcPts val="200"/>
              </a:spcAft>
              <a:buNone/>
            </a:pPr>
            <a:r>
              <a:rPr lang="en-US" sz="1450" b="1" dirty="0">
                <a:solidFill>
                  <a:srgbClr val="3F1E0D"/>
                </a:solidFill>
                <a:latin typeface="Open Sans" pitchFamily="34" charset="0"/>
                <a:ea typeface="Open Sans" pitchFamily="34" charset="-122"/>
                <a:cs typeface="Open Sans" pitchFamily="34" charset="-120"/>
              </a:rPr>
              <a:t>Semana 1 · Onboarding</a:t>
            </a:r>
            <a:endParaRPr lang="en-US" sz="1450" dirty="0"/>
          </a:p>
          <a:p>
            <a:pPr indent="0" marL="0">
              <a:spcAft>
                <a:spcPts val="200"/>
              </a:spcAft>
              <a:buNone/>
            </a:pPr>
            <a:r>
              <a:rPr lang="en-US" sz="1150" dirty="0">
                <a:solidFill>
                  <a:srgbClr val="8A6A55"/>
                </a:solidFill>
                <a:latin typeface="Open Sans" pitchFamily="34" charset="0"/>
                <a:ea typeface="Open Sans" pitchFamily="34" charset="-122"/>
                <a:cs typeface="Open Sans" pitchFamily="34" charset="-120"/>
              </a:rPr>
              <a:t>Tu sistema de trabajo queda instalado</a:t>
            </a:r>
            <a:endParaRPr lang="en-US" sz="1450" dirty="0"/>
          </a:p>
        </p:txBody>
      </p:sp>
      <p:sp>
        <p:nvSpPr>
          <p:cNvPr id="11" name="Shape 7"/>
          <p:cNvSpPr/>
          <p:nvPr/>
        </p:nvSpPr>
        <p:spPr>
          <a:xfrm>
            <a:off x="4389120" y="2156460"/>
            <a:ext cx="7159752" cy="693420"/>
          </a:xfrm>
          <a:prstGeom prst="roundRect">
            <a:avLst>
              <a:gd name="adj" fmla="val 2109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2" name="Shape 8"/>
          <p:cNvSpPr/>
          <p:nvPr/>
        </p:nvSpPr>
        <p:spPr>
          <a:xfrm>
            <a:off x="4663440" y="2270760"/>
            <a:ext cx="464820" cy="464820"/>
          </a:xfrm>
          <a:prstGeom prst="ellipse">
            <a:avLst/>
          </a:prstGeom>
          <a:solidFill>
            <a:srgbClr val="C68C6C"/>
          </a:solidFill>
          <a:ln w="12700">
            <a:solidFill>
              <a:srgbClr val="C68C6C"/>
            </a:solidFill>
            <a:prstDash val="solid"/>
          </a:ln>
        </p:spPr>
      </p:sp>
      <p:sp>
        <p:nvSpPr>
          <p:cNvPr id="13" name="Text 9"/>
          <p:cNvSpPr txBox="1"/>
          <p:nvPr/>
        </p:nvSpPr>
        <p:spPr>
          <a:xfrm>
            <a:off x="4663440" y="2270760"/>
            <a:ext cx="464820" cy="464820"/>
          </a:xfrm>
          <a:prstGeom prst="rect">
            <a:avLst/>
          </a:prstGeom>
          <a:noFill/>
          <a:ln/>
        </p:spPr>
        <p:txBody>
          <a:bodyPr wrap="square" lIns="0" tIns="0" rIns="0" bIns="0" rtlCol="0" anchor="ctr"/>
          <a:lstStyle/>
          <a:p>
            <a:pPr algn="ctr" indent="0" marL="0">
              <a:buNone/>
            </a:pPr>
            <a:r>
              <a:rPr lang="en-US" sz="1423" b="1" dirty="0">
                <a:solidFill>
                  <a:srgbClr val="FFFDF9"/>
                </a:solidFill>
                <a:latin typeface="Source Serif Pro" pitchFamily="34" charset="0"/>
                <a:ea typeface="Source Serif Pro" pitchFamily="34" charset="-122"/>
                <a:cs typeface="Source Serif Pro" pitchFamily="34" charset="-120"/>
              </a:rPr>
              <a:t>2</a:t>
            </a:r>
            <a:endParaRPr lang="en-US" sz="1423" dirty="0"/>
          </a:p>
        </p:txBody>
      </p:sp>
      <p:sp>
        <p:nvSpPr>
          <p:cNvPr id="14" name="Text 10"/>
          <p:cNvSpPr txBox="1"/>
          <p:nvPr/>
        </p:nvSpPr>
        <p:spPr>
          <a:xfrm>
            <a:off x="5402580" y="2156460"/>
            <a:ext cx="5826252" cy="693420"/>
          </a:xfrm>
          <a:prstGeom prst="rect">
            <a:avLst/>
          </a:prstGeom>
          <a:noFill/>
          <a:ln/>
        </p:spPr>
        <p:txBody>
          <a:bodyPr wrap="square" lIns="0" tIns="0" rIns="0" bIns="0" rtlCol="0" anchor="ctr"/>
          <a:lstStyle/>
          <a:p>
            <a:pPr indent="0" marL="0">
              <a:spcAft>
                <a:spcPts val="200"/>
              </a:spcAft>
              <a:buNone/>
            </a:pPr>
            <a:r>
              <a:rPr lang="en-US" sz="1450" b="1" dirty="0">
                <a:solidFill>
                  <a:srgbClr val="3F1E0D"/>
                </a:solidFill>
                <a:latin typeface="Open Sans" pitchFamily="34" charset="0"/>
                <a:ea typeface="Open Sans" pitchFamily="34" charset="-122"/>
                <a:cs typeface="Open Sans" pitchFamily="34" charset="-120"/>
              </a:rPr>
              <a:t>Semanas 2–4 · Activate Your English</a:t>
            </a:r>
            <a:endParaRPr lang="en-US" sz="1450" dirty="0"/>
          </a:p>
          <a:p>
            <a:pPr indent="0" marL="0">
              <a:spcAft>
                <a:spcPts val="200"/>
              </a:spcAft>
              <a:buNone/>
            </a:pPr>
            <a:r>
              <a:rPr lang="en-US" sz="1150" dirty="0">
                <a:solidFill>
                  <a:srgbClr val="8A6A55"/>
                </a:solidFill>
                <a:latin typeface="Open Sans" pitchFamily="34" charset="0"/>
                <a:ea typeface="Open Sans" pitchFamily="34" charset="-122"/>
                <a:cs typeface="Open Sans" pitchFamily="34" charset="-120"/>
              </a:rPr>
              <a:t>Conviertes situaciones reales en práctica y activas el inglés que ya tienes</a:t>
            </a:r>
            <a:endParaRPr lang="en-US" sz="1450" dirty="0"/>
          </a:p>
        </p:txBody>
      </p:sp>
      <p:sp>
        <p:nvSpPr>
          <p:cNvPr id="15" name="Shape 11"/>
          <p:cNvSpPr/>
          <p:nvPr/>
        </p:nvSpPr>
        <p:spPr>
          <a:xfrm>
            <a:off x="4389120" y="3032760"/>
            <a:ext cx="7159752" cy="693420"/>
          </a:xfrm>
          <a:prstGeom prst="roundRect">
            <a:avLst>
              <a:gd name="adj" fmla="val 2109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6" name="Shape 12"/>
          <p:cNvSpPr/>
          <p:nvPr/>
        </p:nvSpPr>
        <p:spPr>
          <a:xfrm>
            <a:off x="4663440" y="3147060"/>
            <a:ext cx="464820" cy="464820"/>
          </a:xfrm>
          <a:prstGeom prst="ellipse">
            <a:avLst/>
          </a:prstGeom>
          <a:solidFill>
            <a:srgbClr val="C68C6C"/>
          </a:solidFill>
          <a:ln w="12700">
            <a:solidFill>
              <a:srgbClr val="C68C6C"/>
            </a:solidFill>
            <a:prstDash val="solid"/>
          </a:ln>
        </p:spPr>
      </p:sp>
      <p:sp>
        <p:nvSpPr>
          <p:cNvPr id="17" name="Text 13"/>
          <p:cNvSpPr txBox="1"/>
          <p:nvPr/>
        </p:nvSpPr>
        <p:spPr>
          <a:xfrm>
            <a:off x="4663440" y="3147060"/>
            <a:ext cx="464820" cy="464820"/>
          </a:xfrm>
          <a:prstGeom prst="rect">
            <a:avLst/>
          </a:prstGeom>
          <a:noFill/>
          <a:ln/>
        </p:spPr>
        <p:txBody>
          <a:bodyPr wrap="square" lIns="0" tIns="0" rIns="0" bIns="0" rtlCol="0" anchor="ctr"/>
          <a:lstStyle/>
          <a:p>
            <a:pPr algn="ctr" indent="0" marL="0">
              <a:buNone/>
            </a:pPr>
            <a:r>
              <a:rPr lang="en-US" sz="1423" b="1" dirty="0">
                <a:solidFill>
                  <a:srgbClr val="FFFDF9"/>
                </a:solidFill>
                <a:latin typeface="Source Serif Pro" pitchFamily="34" charset="0"/>
                <a:ea typeface="Source Serif Pro" pitchFamily="34" charset="-122"/>
                <a:cs typeface="Source Serif Pro" pitchFamily="34" charset="-120"/>
              </a:rPr>
              <a:t>3</a:t>
            </a:r>
            <a:endParaRPr lang="en-US" sz="1423" dirty="0"/>
          </a:p>
        </p:txBody>
      </p:sp>
      <p:sp>
        <p:nvSpPr>
          <p:cNvPr id="18" name="Text 14"/>
          <p:cNvSpPr txBox="1"/>
          <p:nvPr/>
        </p:nvSpPr>
        <p:spPr>
          <a:xfrm>
            <a:off x="5402580" y="3032760"/>
            <a:ext cx="5826252" cy="693420"/>
          </a:xfrm>
          <a:prstGeom prst="rect">
            <a:avLst/>
          </a:prstGeom>
          <a:noFill/>
          <a:ln/>
        </p:spPr>
        <p:txBody>
          <a:bodyPr wrap="square" lIns="0" tIns="0" rIns="0" bIns="0" rtlCol="0" anchor="ctr"/>
          <a:lstStyle/>
          <a:p>
            <a:pPr indent="0" marL="0">
              <a:spcAft>
                <a:spcPts val="200"/>
              </a:spcAft>
              <a:buNone/>
            </a:pPr>
            <a:r>
              <a:rPr lang="en-US" sz="1450" b="1" dirty="0">
                <a:solidFill>
                  <a:srgbClr val="3F1E0D"/>
                </a:solidFill>
                <a:latin typeface="Open Sans" pitchFamily="34" charset="0"/>
                <a:ea typeface="Open Sans" pitchFamily="34" charset="-122"/>
                <a:cs typeface="Open Sans" pitchFamily="34" charset="-120"/>
              </a:rPr>
              <a:t>Semanas 5–10 · Communicate in Real Time</a:t>
            </a:r>
            <a:endParaRPr lang="en-US" sz="1450" dirty="0"/>
          </a:p>
          <a:p>
            <a:pPr indent="0" marL="0">
              <a:spcAft>
                <a:spcPts val="200"/>
              </a:spcAft>
              <a:buNone/>
            </a:pPr>
            <a:r>
              <a:rPr lang="en-US" sz="1150" dirty="0">
                <a:solidFill>
                  <a:srgbClr val="8A6A55"/>
                </a:solidFill>
                <a:latin typeface="Open Sans" pitchFamily="34" charset="0"/>
                <a:ea typeface="Open Sans" pitchFamily="34" charset="-122"/>
                <a:cs typeface="Open Sans" pitchFamily="34" charset="-120"/>
              </a:rPr>
              <a:t>Organizas y sostienes mensajes claros en tiempo real, sin depender de un guion</a:t>
            </a:r>
            <a:endParaRPr lang="en-US" sz="1450" dirty="0"/>
          </a:p>
        </p:txBody>
      </p:sp>
      <p:sp>
        <p:nvSpPr>
          <p:cNvPr id="19" name="Shape 15"/>
          <p:cNvSpPr/>
          <p:nvPr/>
        </p:nvSpPr>
        <p:spPr>
          <a:xfrm>
            <a:off x="4389120" y="3909060"/>
            <a:ext cx="7159752" cy="693420"/>
          </a:xfrm>
          <a:prstGeom prst="roundRect">
            <a:avLst>
              <a:gd name="adj" fmla="val 2109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0" name="Shape 16"/>
          <p:cNvSpPr/>
          <p:nvPr/>
        </p:nvSpPr>
        <p:spPr>
          <a:xfrm>
            <a:off x="4663440" y="4023360"/>
            <a:ext cx="464820" cy="464820"/>
          </a:xfrm>
          <a:prstGeom prst="ellipse">
            <a:avLst/>
          </a:prstGeom>
          <a:solidFill>
            <a:srgbClr val="C68C6C"/>
          </a:solidFill>
          <a:ln w="12700">
            <a:solidFill>
              <a:srgbClr val="C68C6C"/>
            </a:solidFill>
            <a:prstDash val="solid"/>
          </a:ln>
        </p:spPr>
      </p:sp>
      <p:sp>
        <p:nvSpPr>
          <p:cNvPr id="21" name="Text 17"/>
          <p:cNvSpPr txBox="1"/>
          <p:nvPr/>
        </p:nvSpPr>
        <p:spPr>
          <a:xfrm>
            <a:off x="4663440" y="4023360"/>
            <a:ext cx="464820" cy="464820"/>
          </a:xfrm>
          <a:prstGeom prst="rect">
            <a:avLst/>
          </a:prstGeom>
          <a:noFill/>
          <a:ln/>
        </p:spPr>
        <p:txBody>
          <a:bodyPr wrap="square" lIns="0" tIns="0" rIns="0" bIns="0" rtlCol="0" anchor="ctr"/>
          <a:lstStyle/>
          <a:p>
            <a:pPr algn="ctr" indent="0" marL="0">
              <a:buNone/>
            </a:pPr>
            <a:r>
              <a:rPr lang="en-US" sz="1423" b="1" dirty="0">
                <a:solidFill>
                  <a:srgbClr val="FFFDF9"/>
                </a:solidFill>
                <a:latin typeface="Source Serif Pro" pitchFamily="34" charset="0"/>
                <a:ea typeface="Source Serif Pro" pitchFamily="34" charset="-122"/>
                <a:cs typeface="Source Serif Pro" pitchFamily="34" charset="-120"/>
              </a:rPr>
              <a:t>4</a:t>
            </a:r>
            <a:endParaRPr lang="en-US" sz="1423" dirty="0"/>
          </a:p>
        </p:txBody>
      </p:sp>
      <p:sp>
        <p:nvSpPr>
          <p:cNvPr id="22" name="Text 18"/>
          <p:cNvSpPr txBox="1"/>
          <p:nvPr/>
        </p:nvSpPr>
        <p:spPr>
          <a:xfrm>
            <a:off x="5402580" y="3909060"/>
            <a:ext cx="5826252" cy="693420"/>
          </a:xfrm>
          <a:prstGeom prst="rect">
            <a:avLst/>
          </a:prstGeom>
          <a:noFill/>
          <a:ln/>
        </p:spPr>
        <p:txBody>
          <a:bodyPr wrap="square" lIns="0" tIns="0" rIns="0" bIns="0" rtlCol="0" anchor="ctr"/>
          <a:lstStyle/>
          <a:p>
            <a:pPr indent="0" marL="0">
              <a:spcAft>
                <a:spcPts val="200"/>
              </a:spcAft>
              <a:buNone/>
            </a:pPr>
            <a:r>
              <a:rPr lang="en-US" sz="1450" b="1" dirty="0">
                <a:solidFill>
                  <a:srgbClr val="3F1E0D"/>
                </a:solidFill>
                <a:latin typeface="Open Sans" pitchFamily="34" charset="0"/>
                <a:ea typeface="Open Sans" pitchFamily="34" charset="-122"/>
                <a:cs typeface="Open Sans" pitchFamily="34" charset="-120"/>
              </a:rPr>
              <a:t>Semanas 11–16 · Polish Your English</a:t>
            </a:r>
            <a:endParaRPr lang="en-US" sz="1450" dirty="0"/>
          </a:p>
          <a:p>
            <a:pPr indent="0" marL="0">
              <a:spcAft>
                <a:spcPts val="200"/>
              </a:spcAft>
              <a:buNone/>
            </a:pPr>
            <a:r>
              <a:rPr lang="en-US" sz="1150" dirty="0">
                <a:solidFill>
                  <a:srgbClr val="8A6A55"/>
                </a:solidFill>
                <a:latin typeface="Open Sans" pitchFamily="34" charset="0"/>
                <a:ea typeface="Open Sans" pitchFamily="34" charset="-122"/>
                <a:cs typeface="Open Sans" pitchFamily="34" charset="-120"/>
              </a:rPr>
              <a:t>Estabilizas los patrones que limitan tu claridad y precisión</a:t>
            </a:r>
            <a:endParaRPr lang="en-US" sz="1450" dirty="0"/>
          </a:p>
        </p:txBody>
      </p:sp>
      <p:sp>
        <p:nvSpPr>
          <p:cNvPr id="23" name="Shape 19"/>
          <p:cNvSpPr/>
          <p:nvPr/>
        </p:nvSpPr>
        <p:spPr>
          <a:xfrm>
            <a:off x="4389120" y="4785360"/>
            <a:ext cx="7159752" cy="693420"/>
          </a:xfrm>
          <a:prstGeom prst="roundRect">
            <a:avLst>
              <a:gd name="adj" fmla="val 2109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4" name="Shape 20"/>
          <p:cNvSpPr/>
          <p:nvPr/>
        </p:nvSpPr>
        <p:spPr>
          <a:xfrm>
            <a:off x="4663440" y="4899660"/>
            <a:ext cx="464820" cy="464820"/>
          </a:xfrm>
          <a:prstGeom prst="ellipse">
            <a:avLst/>
          </a:prstGeom>
          <a:solidFill>
            <a:srgbClr val="C68C6C"/>
          </a:solidFill>
          <a:ln w="12700">
            <a:solidFill>
              <a:srgbClr val="C68C6C"/>
            </a:solidFill>
            <a:prstDash val="solid"/>
          </a:ln>
        </p:spPr>
      </p:sp>
      <p:sp>
        <p:nvSpPr>
          <p:cNvPr id="25" name="Text 21"/>
          <p:cNvSpPr txBox="1"/>
          <p:nvPr/>
        </p:nvSpPr>
        <p:spPr>
          <a:xfrm>
            <a:off x="4663440" y="4899660"/>
            <a:ext cx="464820" cy="464820"/>
          </a:xfrm>
          <a:prstGeom prst="rect">
            <a:avLst/>
          </a:prstGeom>
          <a:noFill/>
          <a:ln/>
        </p:spPr>
        <p:txBody>
          <a:bodyPr wrap="square" lIns="0" tIns="0" rIns="0" bIns="0" rtlCol="0" anchor="ctr"/>
          <a:lstStyle/>
          <a:p>
            <a:pPr algn="ctr" indent="0" marL="0">
              <a:buNone/>
            </a:pPr>
            <a:r>
              <a:rPr lang="en-US" sz="1423" b="1" dirty="0">
                <a:solidFill>
                  <a:srgbClr val="FFFDF9"/>
                </a:solidFill>
                <a:latin typeface="Source Serif Pro" pitchFamily="34" charset="0"/>
                <a:ea typeface="Source Serif Pro" pitchFamily="34" charset="-122"/>
                <a:cs typeface="Source Serif Pro" pitchFamily="34" charset="-120"/>
              </a:rPr>
              <a:t>5</a:t>
            </a:r>
            <a:endParaRPr lang="en-US" sz="1423" dirty="0"/>
          </a:p>
        </p:txBody>
      </p:sp>
      <p:sp>
        <p:nvSpPr>
          <p:cNvPr id="26" name="Text 22"/>
          <p:cNvSpPr txBox="1"/>
          <p:nvPr/>
        </p:nvSpPr>
        <p:spPr>
          <a:xfrm>
            <a:off x="5402580" y="4785360"/>
            <a:ext cx="5826252" cy="693420"/>
          </a:xfrm>
          <a:prstGeom prst="rect">
            <a:avLst/>
          </a:prstGeom>
          <a:noFill/>
          <a:ln/>
        </p:spPr>
        <p:txBody>
          <a:bodyPr wrap="square" lIns="0" tIns="0" rIns="0" bIns="0" rtlCol="0" anchor="ctr"/>
          <a:lstStyle/>
          <a:p>
            <a:pPr indent="0" marL="0">
              <a:spcAft>
                <a:spcPts val="200"/>
              </a:spcAft>
              <a:buNone/>
            </a:pPr>
            <a:r>
              <a:rPr lang="en-US" sz="1450" b="1" dirty="0">
                <a:solidFill>
                  <a:srgbClr val="3F1E0D"/>
                </a:solidFill>
                <a:latin typeface="Open Sans" pitchFamily="34" charset="0"/>
                <a:ea typeface="Open Sans" pitchFamily="34" charset="-122"/>
                <a:cs typeface="Open Sans" pitchFamily="34" charset="-120"/>
              </a:rPr>
              <a:t>Semanas 17–19 · Understand &amp; Be Understood</a:t>
            </a:r>
            <a:endParaRPr lang="en-US" sz="1450" dirty="0"/>
          </a:p>
          <a:p>
            <a:pPr indent="0" marL="0">
              <a:spcAft>
                <a:spcPts val="200"/>
              </a:spcAft>
              <a:buNone/>
            </a:pPr>
            <a:r>
              <a:rPr lang="en-US" sz="1150" dirty="0">
                <a:solidFill>
                  <a:srgbClr val="8A6A55"/>
                </a:solidFill>
                <a:latin typeface="Open Sans" pitchFamily="34" charset="0"/>
                <a:ea typeface="Open Sans" pitchFamily="34" charset="-122"/>
                <a:cs typeface="Open Sans" pitchFamily="34" charset="-120"/>
              </a:rPr>
              <a:t>Entiendes mejor el inglés hablado y te haces entender con más facilidad</a:t>
            </a:r>
            <a:endParaRPr lang="en-US" sz="1450" dirty="0"/>
          </a:p>
        </p:txBody>
      </p:sp>
      <p:sp>
        <p:nvSpPr>
          <p:cNvPr id="27" name="Shape 23"/>
          <p:cNvSpPr/>
          <p:nvPr/>
        </p:nvSpPr>
        <p:spPr>
          <a:xfrm>
            <a:off x="4389120" y="5661660"/>
            <a:ext cx="7159752" cy="693420"/>
          </a:xfrm>
          <a:prstGeom prst="roundRect">
            <a:avLst>
              <a:gd name="adj" fmla="val 2109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8" name="Shape 24"/>
          <p:cNvSpPr/>
          <p:nvPr/>
        </p:nvSpPr>
        <p:spPr>
          <a:xfrm>
            <a:off x="4663440" y="5775960"/>
            <a:ext cx="464820" cy="464820"/>
          </a:xfrm>
          <a:prstGeom prst="ellipse">
            <a:avLst/>
          </a:prstGeom>
          <a:solidFill>
            <a:srgbClr val="C68C6C"/>
          </a:solidFill>
          <a:ln w="12700">
            <a:solidFill>
              <a:srgbClr val="C68C6C"/>
            </a:solidFill>
            <a:prstDash val="solid"/>
          </a:ln>
        </p:spPr>
      </p:sp>
      <p:sp>
        <p:nvSpPr>
          <p:cNvPr id="29" name="Text 25"/>
          <p:cNvSpPr txBox="1"/>
          <p:nvPr/>
        </p:nvSpPr>
        <p:spPr>
          <a:xfrm>
            <a:off x="4663440" y="5775960"/>
            <a:ext cx="464820" cy="464820"/>
          </a:xfrm>
          <a:prstGeom prst="rect">
            <a:avLst/>
          </a:prstGeom>
          <a:noFill/>
          <a:ln/>
        </p:spPr>
        <p:txBody>
          <a:bodyPr wrap="square" lIns="0" tIns="0" rIns="0" bIns="0" rtlCol="0" anchor="ctr"/>
          <a:lstStyle/>
          <a:p>
            <a:pPr algn="ctr" indent="0" marL="0">
              <a:buNone/>
            </a:pPr>
            <a:r>
              <a:rPr lang="en-US" sz="1423" b="1" dirty="0">
                <a:solidFill>
                  <a:srgbClr val="FFFDF9"/>
                </a:solidFill>
                <a:latin typeface="Source Serif Pro" pitchFamily="34" charset="0"/>
                <a:ea typeface="Source Serif Pro" pitchFamily="34" charset="-122"/>
                <a:cs typeface="Source Serif Pro" pitchFamily="34" charset="-120"/>
              </a:rPr>
              <a:t>6</a:t>
            </a:r>
            <a:endParaRPr lang="en-US" sz="1423" dirty="0"/>
          </a:p>
        </p:txBody>
      </p:sp>
      <p:sp>
        <p:nvSpPr>
          <p:cNvPr id="30" name="Text 26"/>
          <p:cNvSpPr txBox="1"/>
          <p:nvPr/>
        </p:nvSpPr>
        <p:spPr>
          <a:xfrm>
            <a:off x="5402580" y="5661660"/>
            <a:ext cx="5826252" cy="693420"/>
          </a:xfrm>
          <a:prstGeom prst="rect">
            <a:avLst/>
          </a:prstGeom>
          <a:noFill/>
          <a:ln/>
        </p:spPr>
        <p:txBody>
          <a:bodyPr wrap="square" lIns="0" tIns="0" rIns="0" bIns="0" rtlCol="0" anchor="ctr"/>
          <a:lstStyle/>
          <a:p>
            <a:pPr indent="0" marL="0">
              <a:spcAft>
                <a:spcPts val="200"/>
              </a:spcAft>
              <a:buNone/>
            </a:pPr>
            <a:r>
              <a:rPr lang="en-US" sz="1450" b="1" dirty="0">
                <a:solidFill>
                  <a:srgbClr val="3F1E0D"/>
                </a:solidFill>
                <a:latin typeface="Open Sans" pitchFamily="34" charset="0"/>
                <a:ea typeface="Open Sans" pitchFamily="34" charset="-122"/>
                <a:cs typeface="Open Sans" pitchFamily="34" charset="-120"/>
              </a:rPr>
              <a:t>Semana 20 · Review final e integración</a:t>
            </a:r>
            <a:endParaRPr lang="en-US" sz="1450" dirty="0"/>
          </a:p>
          <a:p>
            <a:pPr indent="0" marL="0">
              <a:spcAft>
                <a:spcPts val="200"/>
              </a:spcAft>
              <a:buNone/>
            </a:pPr>
            <a:r>
              <a:rPr lang="en-US" sz="1150" dirty="0">
                <a:solidFill>
                  <a:srgbClr val="8A6A55"/>
                </a:solidFill>
                <a:latin typeface="Open Sans" pitchFamily="34" charset="0"/>
                <a:ea typeface="Open Sans" pitchFamily="34" charset="-122"/>
                <a:cs typeface="Open Sans" pitchFamily="34" charset="-120"/>
              </a:rPr>
              <a:t>Integras todo, comparas con tu Starting Point y defines tu siguiente nivel</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03 / 10</a:t>
            </a:r>
            <a:endParaRPr lang="en-US" sz="1100" dirty="0"/>
          </a:p>
        </p:txBody>
      </p:sp>
      <p:sp>
        <p:nvSpPr>
          <p:cNvPr id="5" name="Text 1"/>
          <p:cNvSpPr txBox="1"/>
          <p:nvPr/>
        </p:nvSpPr>
        <p:spPr>
          <a:xfrm>
            <a:off x="640080" y="1280160"/>
            <a:ext cx="3429000" cy="1331976"/>
          </a:xfrm>
          <a:prstGeom prst="rect">
            <a:avLst/>
          </a:prstGeom>
          <a:noFill/>
          <a:ln/>
        </p:spPr>
        <p:txBody>
          <a:bodyPr wrap="square" lIns="0" tIns="0" rIns="0" bIns="0" rtlCol="0" anchor="t"/>
          <a:lstStyle/>
          <a:p>
            <a:pPr indent="0" marL="0">
              <a:lnSpc>
                <a:spcPct val="92000"/>
              </a:lnSpc>
              <a:buNone/>
            </a:pPr>
            <a:r>
              <a:rPr lang="en-US" sz="2800" b="1" dirty="0">
                <a:solidFill>
                  <a:srgbClr val="81552E"/>
                </a:solidFill>
                <a:latin typeface="Source Serif Pro" pitchFamily="34" charset="0"/>
                <a:ea typeface="Source Serif Pro" pitchFamily="34" charset="-122"/>
                <a:cs typeface="Source Serif Pro" pitchFamily="34" charset="-120"/>
              </a:rPr>
              <a:t>Los módulos marcan el foco, no el límite</a:t>
            </a:r>
            <a:endParaRPr lang="en-US" sz="2800" dirty="0"/>
          </a:p>
        </p:txBody>
      </p:sp>
      <p:sp>
        <p:nvSpPr>
          <p:cNvPr id="6" name="Text 2"/>
          <p:cNvSpPr txBox="1"/>
          <p:nvPr/>
        </p:nvSpPr>
        <p:spPr>
          <a:xfrm>
            <a:off x="640080" y="2749296"/>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El programa se adapta a tu comunicación real, no al revés</a:t>
            </a:r>
            <a:endParaRPr lang="en-US" sz="1600" dirty="0"/>
          </a:p>
        </p:txBody>
      </p:sp>
      <p:sp>
        <p:nvSpPr>
          <p:cNvPr id="7" name="Shape 3"/>
          <p:cNvSpPr/>
          <p:nvPr/>
        </p:nvSpPr>
        <p:spPr>
          <a:xfrm>
            <a:off x="4389120"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17720" y="1554480"/>
            <a:ext cx="566928" cy="566928"/>
          </a:xfrm>
          <a:prstGeom prst="ellipse">
            <a:avLst/>
          </a:prstGeom>
          <a:solidFill>
            <a:srgbClr val="FBF2D0"/>
          </a:solidFill>
          <a:ln w="12700">
            <a:solidFill>
              <a:srgbClr val="FBF2D0"/>
            </a:solidFill>
            <a:prstDash val="solid"/>
          </a:ln>
        </p:spPr>
      </p:sp>
      <p:pic>
        <p:nvPicPr>
          <p:cNvPr id="9" name="Image 1" descr="preencoded.png">    </p:cNvPr>
          <p:cNvPicPr>
            <a:picLocks noChangeAspect="1"/>
          </p:cNvPicPr>
          <p:nvPr/>
        </p:nvPicPr>
        <p:blipFill>
          <a:blip r:embed="rId2"/>
          <a:stretch>
            <a:fillRect/>
          </a:stretch>
        </p:blipFill>
        <p:spPr>
          <a:xfrm>
            <a:off x="4770791" y="1707551"/>
            <a:ext cx="260787" cy="260787"/>
          </a:xfrm>
          <a:prstGeom prst="rect">
            <a:avLst/>
          </a:prstGeom>
        </p:spPr>
      </p:pic>
      <p:sp>
        <p:nvSpPr>
          <p:cNvPr id="10" name="Text 5"/>
          <p:cNvSpPr txBox="1"/>
          <p:nvPr/>
        </p:nvSpPr>
        <p:spPr>
          <a:xfrm>
            <a:off x="4617720" y="2258568"/>
            <a:ext cx="1758696" cy="816864"/>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Pronunciación en la semana tres</a:t>
            </a:r>
            <a:endParaRPr lang="en-US" sz="1600" dirty="0"/>
          </a:p>
        </p:txBody>
      </p:sp>
      <p:sp>
        <p:nvSpPr>
          <p:cNvPr id="11" name="Text 6"/>
          <p:cNvSpPr txBox="1"/>
          <p:nvPr/>
        </p:nvSpPr>
        <p:spPr>
          <a:xfrm>
            <a:off x="4617720" y="3121152"/>
            <a:ext cx="1758696" cy="947928"/>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Si afecta tu inteligibilidad, no vamos a esperar cuatro meses para tocarla.</a:t>
            </a:r>
            <a:endParaRPr lang="en-US" sz="1300" dirty="0"/>
          </a:p>
        </p:txBody>
      </p:sp>
      <p:sp>
        <p:nvSpPr>
          <p:cNvPr id="12" name="Shape 7"/>
          <p:cNvSpPr/>
          <p:nvPr/>
        </p:nvSpPr>
        <p:spPr>
          <a:xfrm>
            <a:off x="6861048"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7089648" y="1554480"/>
            <a:ext cx="566928" cy="566928"/>
          </a:xfrm>
          <a:prstGeom prst="ellipse">
            <a:avLst/>
          </a:prstGeom>
          <a:solidFill>
            <a:srgbClr val="FBF2D0"/>
          </a:solidFill>
          <a:ln w="12700">
            <a:solidFill>
              <a:srgbClr val="FBF2D0"/>
            </a:solidFill>
            <a:prstDash val="solid"/>
          </a:ln>
        </p:spPr>
      </p:sp>
      <p:pic>
        <p:nvPicPr>
          <p:cNvPr id="14" name="Image 2" descr="preencoded.png">    </p:cNvPr>
          <p:cNvPicPr>
            <a:picLocks noChangeAspect="1"/>
          </p:cNvPicPr>
          <p:nvPr/>
        </p:nvPicPr>
        <p:blipFill>
          <a:blip r:embed="rId3"/>
          <a:stretch>
            <a:fillRect/>
          </a:stretch>
        </p:blipFill>
        <p:spPr>
          <a:xfrm>
            <a:off x="7242719" y="1707551"/>
            <a:ext cx="260787" cy="260787"/>
          </a:xfrm>
          <a:prstGeom prst="rect">
            <a:avLst/>
          </a:prstGeom>
        </p:spPr>
      </p:pic>
      <p:sp>
        <p:nvSpPr>
          <p:cNvPr id="15" name="Text 9"/>
          <p:cNvSpPr txBox="1"/>
          <p:nvPr/>
        </p:nvSpPr>
        <p:spPr>
          <a:xfrm>
            <a:off x="7089648" y="2258568"/>
            <a:ext cx="1758696" cy="816864"/>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Un patrón gramatical que se repite</a:t>
            </a:r>
            <a:endParaRPr lang="en-US" sz="1600" dirty="0"/>
          </a:p>
        </p:txBody>
      </p:sp>
      <p:sp>
        <p:nvSpPr>
          <p:cNvPr id="16" name="Text 10"/>
          <p:cNvSpPr txBox="1"/>
          <p:nvPr/>
        </p:nvSpPr>
        <p:spPr>
          <a:xfrm>
            <a:off x="7089648" y="3121152"/>
            <a:ext cx="1758696" cy="947928"/>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Si interfiere con tu mensaje, lo trabajamos antes de llegar al bloque de precisión.</a:t>
            </a:r>
            <a:endParaRPr lang="en-US" sz="1300" dirty="0"/>
          </a:p>
        </p:txBody>
      </p:sp>
      <p:sp>
        <p:nvSpPr>
          <p:cNvPr id="17" name="Shape 11"/>
          <p:cNvSpPr/>
          <p:nvPr/>
        </p:nvSpPr>
        <p:spPr>
          <a:xfrm>
            <a:off x="9332976"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9561576" y="1554480"/>
            <a:ext cx="566928" cy="566928"/>
          </a:xfrm>
          <a:prstGeom prst="ellipse">
            <a:avLst/>
          </a:prstGeom>
          <a:solidFill>
            <a:srgbClr val="FBF2D0"/>
          </a:solidFill>
          <a:ln w="12700">
            <a:solidFill>
              <a:srgbClr val="FBF2D0"/>
            </a:solidFill>
            <a:prstDash val="solid"/>
          </a:ln>
        </p:spPr>
      </p:sp>
      <p:pic>
        <p:nvPicPr>
          <p:cNvPr id="19" name="Image 3" descr="preencoded.png">    </p:cNvPr>
          <p:cNvPicPr>
            <a:picLocks noChangeAspect="1"/>
          </p:cNvPicPr>
          <p:nvPr/>
        </p:nvPicPr>
        <p:blipFill>
          <a:blip r:embed="rId4"/>
          <a:stretch>
            <a:fillRect/>
          </a:stretch>
        </p:blipFill>
        <p:spPr>
          <a:xfrm>
            <a:off x="9714647" y="1707551"/>
            <a:ext cx="260787" cy="260787"/>
          </a:xfrm>
          <a:prstGeom prst="rect">
            <a:avLst/>
          </a:prstGeom>
        </p:spPr>
      </p:pic>
      <p:sp>
        <p:nvSpPr>
          <p:cNvPr id="20" name="Text 13"/>
          <p:cNvSpPr txBox="1"/>
          <p:nvPr/>
        </p:nvSpPr>
        <p:spPr>
          <a:xfrm>
            <a:off x="9561576" y="2258568"/>
            <a:ext cx="1758696" cy="568960"/>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Una reunión importante</a:t>
            </a:r>
            <a:endParaRPr lang="en-US" sz="1600" dirty="0"/>
          </a:p>
        </p:txBody>
      </p:sp>
      <p:sp>
        <p:nvSpPr>
          <p:cNvPr id="21" name="Text 14"/>
          <p:cNvSpPr txBox="1"/>
          <p:nvPr/>
        </p:nvSpPr>
        <p:spPr>
          <a:xfrm>
            <a:off x="9561576" y="2873248"/>
            <a:ext cx="1758696" cy="1195832"/>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Si necesitas una herramienta del módulo de comunicación, podemos adelantarla.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04 / 10</a:t>
            </a:r>
            <a:endParaRPr lang="en-US" sz="1100" dirty="0"/>
          </a:p>
        </p:txBody>
      </p:sp>
      <p:sp>
        <p:nvSpPr>
          <p:cNvPr id="5" name="Text 1"/>
          <p:cNvSpPr txBox="1"/>
          <p:nvPr/>
        </p:nvSpPr>
        <p:spPr>
          <a:xfrm>
            <a:off x="640080" y="1280160"/>
            <a:ext cx="3429000" cy="1331976"/>
          </a:xfrm>
          <a:prstGeom prst="rect">
            <a:avLst/>
          </a:prstGeom>
          <a:noFill/>
          <a:ln/>
        </p:spPr>
        <p:txBody>
          <a:bodyPr wrap="square" lIns="0" tIns="0" rIns="0" bIns="0" rtlCol="0" anchor="t"/>
          <a:lstStyle/>
          <a:p>
            <a:pPr indent="0" marL="0">
              <a:lnSpc>
                <a:spcPct val="92000"/>
              </a:lnSpc>
              <a:buNone/>
            </a:pPr>
            <a:r>
              <a:rPr lang="en-US" sz="2800" b="1" dirty="0">
                <a:solidFill>
                  <a:srgbClr val="81552E"/>
                </a:solidFill>
                <a:latin typeface="Source Serif Pro" pitchFamily="34" charset="0"/>
                <a:ea typeface="Source Serif Pro" pitchFamily="34" charset="-122"/>
                <a:cs typeface="Source Serif Pro" pitchFamily="34" charset="-120"/>
              </a:rPr>
              <a:t>Tres cosas que aparecen durante todo AT WORK</a:t>
            </a:r>
            <a:endParaRPr lang="en-US" sz="2800" dirty="0"/>
          </a:p>
        </p:txBody>
      </p:sp>
      <p:sp>
        <p:nvSpPr>
          <p:cNvPr id="6" name="Text 2"/>
          <p:cNvSpPr txBox="1"/>
          <p:nvPr/>
        </p:nvSpPr>
        <p:spPr>
          <a:xfrm>
            <a:off x="640080" y="2749296"/>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tienes que esperar a un módulo para trabajar una necesidad real</a:t>
            </a:r>
            <a:endParaRPr lang="en-US" sz="1600" dirty="0"/>
          </a:p>
        </p:txBody>
      </p:sp>
      <p:sp>
        <p:nvSpPr>
          <p:cNvPr id="7" name="Shape 3"/>
          <p:cNvSpPr/>
          <p:nvPr/>
        </p:nvSpPr>
        <p:spPr>
          <a:xfrm>
            <a:off x="4389120" y="1280160"/>
            <a:ext cx="2203704" cy="388620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389120" y="1280160"/>
            <a:ext cx="2203704" cy="1554480"/>
          </a:xfrm>
          <a:prstGeom prst="roundRect">
            <a:avLst>
              <a:gd name="adj" fmla="val 9412"/>
            </a:avLst>
          </a:prstGeom>
          <a:solidFill>
            <a:srgbClr val="81552E"/>
          </a:solidFill>
          <a:ln w="12700">
            <a:solidFill>
              <a:srgbClr val="81552E"/>
            </a:solidFill>
            <a:prstDash val="solid"/>
          </a:ln>
        </p:spPr>
      </p:sp>
      <p:sp>
        <p:nvSpPr>
          <p:cNvPr id="9" name="Shape 5"/>
          <p:cNvSpPr/>
          <p:nvPr/>
        </p:nvSpPr>
        <p:spPr>
          <a:xfrm>
            <a:off x="4389120" y="2560320"/>
            <a:ext cx="2203704" cy="274320"/>
          </a:xfrm>
          <a:prstGeom prst="rect">
            <a:avLst/>
          </a:prstGeom>
          <a:solidFill>
            <a:srgbClr val="81552E"/>
          </a:solidFill>
          <a:ln w="12700">
            <a:solidFill>
              <a:srgbClr val="81552E"/>
            </a:solidFill>
            <a:prstDash val="solid"/>
          </a:ln>
        </p:spPr>
      </p:sp>
      <p:pic>
        <p:nvPicPr>
          <p:cNvPr id="10" name="Image 1" descr="preencoded.png">    </p:cNvPr>
          <p:cNvPicPr>
            <a:picLocks noChangeAspect="1"/>
          </p:cNvPicPr>
          <p:nvPr/>
        </p:nvPicPr>
        <p:blipFill>
          <a:blip r:embed="rId2"/>
          <a:stretch>
            <a:fillRect/>
          </a:stretch>
        </p:blipFill>
        <p:spPr>
          <a:xfrm>
            <a:off x="4663440" y="1508760"/>
            <a:ext cx="365760" cy="365760"/>
          </a:xfrm>
          <a:prstGeom prst="rect">
            <a:avLst/>
          </a:prstGeom>
        </p:spPr>
      </p:pic>
      <p:sp>
        <p:nvSpPr>
          <p:cNvPr id="11" name="Text 6"/>
          <p:cNvSpPr txBox="1"/>
          <p:nvPr/>
        </p:nvSpPr>
        <p:spPr>
          <a:xfrm>
            <a:off x="4663440" y="1938528"/>
            <a:ext cx="1746504" cy="548640"/>
          </a:xfrm>
          <a:prstGeom prst="rect">
            <a:avLst/>
          </a:prstGeom>
          <a:noFill/>
          <a:ln/>
        </p:spPr>
        <p:txBody>
          <a:bodyPr wrap="square" lIns="0" tIns="0" rIns="0" bIns="0" rtlCol="0" anchor="ctr"/>
          <a:lstStyle/>
          <a:p>
            <a:pPr indent="0" marL="0">
              <a:lnSpc>
                <a:spcPct val="90000"/>
              </a:lnSpc>
              <a:buNone/>
            </a:pPr>
            <a:r>
              <a:rPr lang="en-US" sz="1700" b="1" dirty="0">
                <a:solidFill>
                  <a:srgbClr val="F8F5EE"/>
                </a:solidFill>
                <a:latin typeface="Source Serif Pro" pitchFamily="34" charset="0"/>
                <a:ea typeface="Source Serif Pro" pitchFamily="34" charset="-122"/>
                <a:cs typeface="Source Serif Pro" pitchFamily="34" charset="-120"/>
              </a:rPr>
              <a:t>Situaciones reales</a:t>
            </a:r>
            <a:endParaRPr lang="en-US" sz="1700" dirty="0"/>
          </a:p>
        </p:txBody>
      </p:sp>
      <p:sp>
        <p:nvSpPr>
          <p:cNvPr id="12" name="Text 7"/>
          <p:cNvSpPr txBox="1"/>
          <p:nvPr/>
        </p:nvSpPr>
        <p:spPr>
          <a:xfrm>
            <a:off x="4663440" y="2487168"/>
            <a:ext cx="1746504" cy="256032"/>
          </a:xfrm>
          <a:prstGeom prst="rect">
            <a:avLst/>
          </a:prstGeom>
          <a:noFill/>
          <a:ln/>
        </p:spPr>
        <p:txBody>
          <a:bodyPr wrap="square" lIns="0" tIns="0" rIns="0" bIns="0" rtlCol="0" anchor="ctr"/>
          <a:lstStyle/>
          <a:p>
            <a:pPr indent="0" marL="0">
              <a:buNone/>
            </a:pPr>
            <a:r>
              <a:rPr lang="en-US" sz="1050" i="1" dirty="0">
                <a:solidFill>
                  <a:srgbClr val="EDE5CC"/>
                </a:solidFill>
                <a:latin typeface="Open Sans" pitchFamily="34" charset="0"/>
                <a:ea typeface="Open Sans" pitchFamily="34" charset="-122"/>
                <a:cs typeface="Open Sans" pitchFamily="34" charset="-120"/>
              </a:rPr>
              <a:t>atraviesa todo el programa</a:t>
            </a:r>
            <a:endParaRPr lang="en-US" sz="1050" dirty="0"/>
          </a:p>
        </p:txBody>
      </p:sp>
      <p:sp>
        <p:nvSpPr>
          <p:cNvPr id="13" name="Text 8"/>
          <p:cNvSpPr txBox="1"/>
          <p:nvPr/>
        </p:nvSpPr>
        <p:spPr>
          <a:xfrm>
            <a:off x="4617720" y="3063240"/>
            <a:ext cx="1792224" cy="19659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F1E0D"/>
                </a:solidFill>
                <a:latin typeface="Open Sans" pitchFamily="34" charset="0"/>
                <a:ea typeface="Open Sans" pitchFamily="34" charset="-122"/>
                <a:cs typeface="Open Sans" pitchFamily="34" charset="-120"/>
              </a:rPr>
              <a:t>práctica con situaciones reales de tu trabajo</a:t>
            </a:r>
            <a:endParaRPr lang="en-US" sz="1400" dirty="0"/>
          </a:p>
        </p:txBody>
      </p:sp>
      <p:sp>
        <p:nvSpPr>
          <p:cNvPr id="14" name="Shape 9"/>
          <p:cNvSpPr/>
          <p:nvPr/>
        </p:nvSpPr>
        <p:spPr>
          <a:xfrm>
            <a:off x="6867144" y="1280160"/>
            <a:ext cx="2203704" cy="388620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5" name="Shape 10"/>
          <p:cNvSpPr/>
          <p:nvPr/>
        </p:nvSpPr>
        <p:spPr>
          <a:xfrm>
            <a:off x="6867144" y="1280160"/>
            <a:ext cx="2203704" cy="1554480"/>
          </a:xfrm>
          <a:prstGeom prst="roundRect">
            <a:avLst>
              <a:gd name="adj" fmla="val 9412"/>
            </a:avLst>
          </a:prstGeom>
          <a:solidFill>
            <a:srgbClr val="C68C6C"/>
          </a:solidFill>
          <a:ln w="12700">
            <a:solidFill>
              <a:srgbClr val="C68C6C"/>
            </a:solidFill>
            <a:prstDash val="solid"/>
          </a:ln>
        </p:spPr>
      </p:sp>
      <p:sp>
        <p:nvSpPr>
          <p:cNvPr id="16" name="Shape 11"/>
          <p:cNvSpPr/>
          <p:nvPr/>
        </p:nvSpPr>
        <p:spPr>
          <a:xfrm>
            <a:off x="6867144" y="2560320"/>
            <a:ext cx="2203704" cy="274320"/>
          </a:xfrm>
          <a:prstGeom prst="rect">
            <a:avLst/>
          </a:prstGeom>
          <a:solidFill>
            <a:srgbClr val="C68C6C"/>
          </a:solidFill>
          <a:ln w="12700">
            <a:solidFill>
              <a:srgbClr val="C68C6C"/>
            </a:solidFill>
            <a:prstDash val="solid"/>
          </a:ln>
        </p:spPr>
      </p:sp>
      <p:pic>
        <p:nvPicPr>
          <p:cNvPr id="17" name="Image 2" descr="preencoded.png">    </p:cNvPr>
          <p:cNvPicPr>
            <a:picLocks noChangeAspect="1"/>
          </p:cNvPicPr>
          <p:nvPr/>
        </p:nvPicPr>
        <p:blipFill>
          <a:blip r:embed="rId3"/>
          <a:stretch>
            <a:fillRect/>
          </a:stretch>
        </p:blipFill>
        <p:spPr>
          <a:xfrm>
            <a:off x="7141464" y="1508760"/>
            <a:ext cx="365760" cy="365760"/>
          </a:xfrm>
          <a:prstGeom prst="rect">
            <a:avLst/>
          </a:prstGeom>
        </p:spPr>
      </p:pic>
      <p:sp>
        <p:nvSpPr>
          <p:cNvPr id="18" name="Text 12"/>
          <p:cNvSpPr txBox="1"/>
          <p:nvPr/>
        </p:nvSpPr>
        <p:spPr>
          <a:xfrm>
            <a:off x="7141464" y="1938528"/>
            <a:ext cx="1746504" cy="548640"/>
          </a:xfrm>
          <a:prstGeom prst="rect">
            <a:avLst/>
          </a:prstGeom>
          <a:noFill/>
          <a:ln/>
        </p:spPr>
        <p:txBody>
          <a:bodyPr wrap="square" lIns="0" tIns="0" rIns="0" bIns="0" rtlCol="0" anchor="ctr"/>
          <a:lstStyle/>
          <a:p>
            <a:pPr indent="0" marL="0">
              <a:lnSpc>
                <a:spcPct val="90000"/>
              </a:lnSpc>
              <a:buNone/>
            </a:pPr>
            <a:r>
              <a:rPr lang="en-US" sz="1700" b="1" dirty="0">
                <a:solidFill>
                  <a:srgbClr val="F8F5EE"/>
                </a:solidFill>
                <a:latin typeface="Source Serif Pro" pitchFamily="34" charset="0"/>
                <a:ea typeface="Source Serif Pro" pitchFamily="34" charset="-122"/>
                <a:cs typeface="Source Serif Pro" pitchFamily="34" charset="-120"/>
              </a:rPr>
              <a:t>Pronunciación y listening</a:t>
            </a:r>
            <a:endParaRPr lang="en-US" sz="1700" dirty="0"/>
          </a:p>
        </p:txBody>
      </p:sp>
      <p:sp>
        <p:nvSpPr>
          <p:cNvPr id="19" name="Text 13"/>
          <p:cNvSpPr txBox="1"/>
          <p:nvPr/>
        </p:nvSpPr>
        <p:spPr>
          <a:xfrm>
            <a:off x="7141464" y="2487168"/>
            <a:ext cx="1746504" cy="256032"/>
          </a:xfrm>
          <a:prstGeom prst="rect">
            <a:avLst/>
          </a:prstGeom>
          <a:noFill/>
          <a:ln/>
        </p:spPr>
        <p:txBody>
          <a:bodyPr wrap="square" lIns="0" tIns="0" rIns="0" bIns="0" rtlCol="0" anchor="ctr"/>
          <a:lstStyle/>
          <a:p>
            <a:pPr indent="0" marL="0">
              <a:buNone/>
            </a:pPr>
            <a:r>
              <a:rPr lang="en-US" sz="1050" i="1" dirty="0">
                <a:solidFill>
                  <a:srgbClr val="EDE5CC"/>
                </a:solidFill>
                <a:latin typeface="Open Sans" pitchFamily="34" charset="0"/>
                <a:ea typeface="Open Sans" pitchFamily="34" charset="-122"/>
                <a:cs typeface="Open Sans" pitchFamily="34" charset="-120"/>
              </a:rPr>
              <a:t>cuando sea relevante</a:t>
            </a:r>
            <a:endParaRPr lang="en-US" sz="1050" dirty="0"/>
          </a:p>
        </p:txBody>
      </p:sp>
      <p:sp>
        <p:nvSpPr>
          <p:cNvPr id="20" name="Text 14"/>
          <p:cNvSpPr txBox="1"/>
          <p:nvPr/>
        </p:nvSpPr>
        <p:spPr>
          <a:xfrm>
            <a:off x="7095744" y="3063240"/>
            <a:ext cx="1792224" cy="19659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F1E0D"/>
                </a:solidFill>
                <a:latin typeface="Open Sans" pitchFamily="34" charset="0"/>
                <a:ea typeface="Open Sans" pitchFamily="34" charset="-122"/>
                <a:cs typeface="Open Sans" pitchFamily="34" charset="-120"/>
              </a:rPr>
              <a:t>para que entiendas mejor</a:t>
            </a:r>
            <a:endParaRPr lang="en-US" sz="1400" dirty="0"/>
          </a:p>
          <a:p>
            <a:pPr marL="177800" indent="-177800">
              <a:spcAft>
                <a:spcPts val="700"/>
              </a:spcAft>
              <a:buSzPct val="100000"/>
              <a:buChar char="•"/>
            </a:pPr>
            <a:r>
              <a:rPr lang="en-US" sz="1400" dirty="0">
                <a:solidFill>
                  <a:srgbClr val="3F1E0D"/>
                </a:solidFill>
                <a:latin typeface="Open Sans" pitchFamily="34" charset="0"/>
                <a:ea typeface="Open Sans" pitchFamily="34" charset="-122"/>
                <a:cs typeface="Open Sans" pitchFamily="34" charset="-120"/>
              </a:rPr>
              <a:t>y te hagas entender con más facilidad</a:t>
            </a:r>
            <a:endParaRPr lang="en-US" sz="1400" dirty="0"/>
          </a:p>
        </p:txBody>
      </p:sp>
      <p:sp>
        <p:nvSpPr>
          <p:cNvPr id="21" name="Shape 15"/>
          <p:cNvSpPr/>
          <p:nvPr/>
        </p:nvSpPr>
        <p:spPr>
          <a:xfrm>
            <a:off x="9345168" y="1280160"/>
            <a:ext cx="2203704" cy="388620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2" name="Shape 16"/>
          <p:cNvSpPr/>
          <p:nvPr/>
        </p:nvSpPr>
        <p:spPr>
          <a:xfrm>
            <a:off x="9345168" y="1280160"/>
            <a:ext cx="2203704" cy="1554480"/>
          </a:xfrm>
          <a:prstGeom prst="roundRect">
            <a:avLst>
              <a:gd name="adj" fmla="val 9412"/>
            </a:avLst>
          </a:prstGeom>
          <a:solidFill>
            <a:srgbClr val="3F1E0D"/>
          </a:solidFill>
          <a:ln w="12700">
            <a:solidFill>
              <a:srgbClr val="3F1E0D"/>
            </a:solidFill>
            <a:prstDash val="solid"/>
          </a:ln>
        </p:spPr>
      </p:sp>
      <p:sp>
        <p:nvSpPr>
          <p:cNvPr id="23" name="Shape 17"/>
          <p:cNvSpPr/>
          <p:nvPr/>
        </p:nvSpPr>
        <p:spPr>
          <a:xfrm>
            <a:off x="9345168" y="2560320"/>
            <a:ext cx="2203704" cy="274320"/>
          </a:xfrm>
          <a:prstGeom prst="rect">
            <a:avLst/>
          </a:prstGeom>
          <a:solidFill>
            <a:srgbClr val="3F1E0D"/>
          </a:solidFill>
          <a:ln w="12700">
            <a:solidFill>
              <a:srgbClr val="3F1E0D"/>
            </a:solidFill>
            <a:prstDash val="solid"/>
          </a:ln>
        </p:spPr>
      </p:sp>
      <p:pic>
        <p:nvPicPr>
          <p:cNvPr id="24" name="Image 3" descr="preencoded.png">    </p:cNvPr>
          <p:cNvPicPr>
            <a:picLocks noChangeAspect="1"/>
          </p:cNvPicPr>
          <p:nvPr/>
        </p:nvPicPr>
        <p:blipFill>
          <a:blip r:embed="rId4"/>
          <a:stretch>
            <a:fillRect/>
          </a:stretch>
        </p:blipFill>
        <p:spPr>
          <a:xfrm>
            <a:off x="9619488" y="1508760"/>
            <a:ext cx="365760" cy="365760"/>
          </a:xfrm>
          <a:prstGeom prst="rect">
            <a:avLst/>
          </a:prstGeom>
        </p:spPr>
      </p:pic>
      <p:sp>
        <p:nvSpPr>
          <p:cNvPr id="25" name="Text 18"/>
          <p:cNvSpPr txBox="1"/>
          <p:nvPr/>
        </p:nvSpPr>
        <p:spPr>
          <a:xfrm>
            <a:off x="9619488" y="1938528"/>
            <a:ext cx="1746504" cy="548640"/>
          </a:xfrm>
          <a:prstGeom prst="rect">
            <a:avLst/>
          </a:prstGeom>
          <a:noFill/>
          <a:ln/>
        </p:spPr>
        <p:txBody>
          <a:bodyPr wrap="square" lIns="0" tIns="0" rIns="0" bIns="0" rtlCol="0" anchor="ctr"/>
          <a:lstStyle/>
          <a:p>
            <a:pPr indent="0" marL="0">
              <a:lnSpc>
                <a:spcPct val="90000"/>
              </a:lnSpc>
              <a:buNone/>
            </a:pPr>
            <a:r>
              <a:rPr lang="en-US" sz="1700" b="1" dirty="0">
                <a:solidFill>
                  <a:srgbClr val="F8F5EE"/>
                </a:solidFill>
                <a:latin typeface="Source Serif Pro" pitchFamily="34" charset="0"/>
                <a:ea typeface="Source Serif Pro" pitchFamily="34" charset="-122"/>
                <a:cs typeface="Source Serif Pro" pitchFamily="34" charset="-120"/>
              </a:rPr>
              <a:t>Precisión</a:t>
            </a:r>
            <a:endParaRPr lang="en-US" sz="1700" dirty="0"/>
          </a:p>
        </p:txBody>
      </p:sp>
      <p:sp>
        <p:nvSpPr>
          <p:cNvPr id="26" name="Text 19"/>
          <p:cNvSpPr txBox="1"/>
          <p:nvPr/>
        </p:nvSpPr>
        <p:spPr>
          <a:xfrm>
            <a:off x="9619488" y="2487168"/>
            <a:ext cx="1746504" cy="256032"/>
          </a:xfrm>
          <a:prstGeom prst="rect">
            <a:avLst/>
          </a:prstGeom>
          <a:noFill/>
          <a:ln/>
        </p:spPr>
        <p:txBody>
          <a:bodyPr wrap="square" lIns="0" tIns="0" rIns="0" bIns="0" rtlCol="0" anchor="ctr"/>
          <a:lstStyle/>
          <a:p>
            <a:pPr indent="0" marL="0">
              <a:buNone/>
            </a:pPr>
            <a:r>
              <a:rPr lang="en-US" sz="1050" i="1" dirty="0">
                <a:solidFill>
                  <a:srgbClr val="EDE5CC"/>
                </a:solidFill>
                <a:latin typeface="Open Sans" pitchFamily="34" charset="0"/>
                <a:ea typeface="Open Sans" pitchFamily="34" charset="-122"/>
                <a:cs typeface="Open Sans" pitchFamily="34" charset="-120"/>
              </a:rPr>
              <a:t>en el momento en que aparece</a:t>
            </a:r>
            <a:endParaRPr lang="en-US" sz="1050" dirty="0"/>
          </a:p>
        </p:txBody>
      </p:sp>
      <p:sp>
        <p:nvSpPr>
          <p:cNvPr id="27" name="Text 20"/>
          <p:cNvSpPr txBox="1"/>
          <p:nvPr/>
        </p:nvSpPr>
        <p:spPr>
          <a:xfrm>
            <a:off x="9573768" y="3063240"/>
            <a:ext cx="1792224" cy="196596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rgbClr val="3F1E0D"/>
                </a:solidFill>
                <a:latin typeface="Open Sans" pitchFamily="34" charset="0"/>
                <a:ea typeface="Open Sans" pitchFamily="34" charset="-122"/>
                <a:cs typeface="Open Sans" pitchFamily="34" charset="-120"/>
              </a:rPr>
              <a:t>si tu producción muestra un patrón recurrente, intervenimos sobre esa estructura</a:t>
            </a:r>
            <a:endParaRPr lang="en-US" sz="1400" dirty="0"/>
          </a:p>
        </p:txBody>
      </p:sp>
      <p:sp>
        <p:nvSpPr>
          <p:cNvPr id="28" name="Shape 21"/>
          <p:cNvSpPr/>
          <p:nvPr/>
        </p:nvSpPr>
        <p:spPr>
          <a:xfrm>
            <a:off x="4389120" y="5440680"/>
            <a:ext cx="7159752" cy="914400"/>
          </a:xfrm>
          <a:prstGeom prst="roundRect">
            <a:avLst>
              <a:gd name="adj" fmla="val 16000"/>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9" name="Shape 22"/>
          <p:cNvSpPr/>
          <p:nvPr/>
        </p:nvSpPr>
        <p:spPr>
          <a:xfrm>
            <a:off x="4754880" y="5577840"/>
            <a:ext cx="640080" cy="640080"/>
          </a:xfrm>
          <a:prstGeom prst="ellipse">
            <a:avLst/>
          </a:prstGeom>
          <a:solidFill>
            <a:srgbClr val="C68C6C"/>
          </a:solidFill>
          <a:ln w="12700">
            <a:solidFill>
              <a:srgbClr val="C68C6C"/>
            </a:solidFill>
            <a:prstDash val="solid"/>
          </a:ln>
        </p:spPr>
      </p:sp>
      <p:pic>
        <p:nvPicPr>
          <p:cNvPr id="30" name="Image 4" descr="preencoded.png">    </p:cNvPr>
          <p:cNvPicPr>
            <a:picLocks noChangeAspect="1"/>
          </p:cNvPicPr>
          <p:nvPr/>
        </p:nvPicPr>
        <p:blipFill>
          <a:blip r:embed="rId5"/>
          <a:stretch>
            <a:fillRect/>
          </a:stretch>
        </p:blipFill>
        <p:spPr>
          <a:xfrm>
            <a:off x="4927702" y="5750662"/>
            <a:ext cx="294437" cy="294437"/>
          </a:xfrm>
          <a:prstGeom prst="rect">
            <a:avLst/>
          </a:prstGeom>
        </p:spPr>
      </p:pic>
      <p:sp>
        <p:nvSpPr>
          <p:cNvPr id="31" name="Text 23"/>
          <p:cNvSpPr txBox="1"/>
          <p:nvPr/>
        </p:nvSpPr>
        <p:spPr>
          <a:xfrm>
            <a:off x="5715000" y="5440680"/>
            <a:ext cx="5513832" cy="914400"/>
          </a:xfrm>
          <a:prstGeom prst="rect">
            <a:avLst/>
          </a:prstGeom>
          <a:noFill/>
          <a:ln/>
        </p:spPr>
        <p:txBody>
          <a:bodyPr wrap="square" lIns="0" tIns="0" rIns="0" bIns="0" rtlCol="0" anchor="ctr"/>
          <a:lstStyle/>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Después habrá etapas donde profundicemos más en cada área.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05 / 10</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No consumas AT WORK como Netflix</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Ver una clase no significa integrar una habilidad</a:t>
            </a:r>
            <a:endParaRPr lang="en-US" sz="1600" dirty="0"/>
          </a:p>
        </p:txBody>
      </p:sp>
      <p:sp>
        <p:nvSpPr>
          <p:cNvPr id="7" name="Shape 3"/>
          <p:cNvSpPr/>
          <p:nvPr/>
        </p:nvSpPr>
        <p:spPr>
          <a:xfrm>
            <a:off x="4389120" y="1280160"/>
            <a:ext cx="7159752" cy="1828800"/>
          </a:xfrm>
          <a:prstGeom prst="roundRect">
            <a:avLst>
              <a:gd name="adj" fmla="val 8000"/>
            </a:avLst>
          </a:prstGeom>
          <a:solidFill>
            <a:srgbClr val="3F1E0D"/>
          </a:solidFill>
          <a:ln w="12700">
            <a:solidFill>
              <a:srgbClr val="3F1E0D"/>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846320" y="1600200"/>
            <a:ext cx="6245352" cy="1234440"/>
          </a:xfrm>
          <a:prstGeom prst="rect">
            <a:avLst/>
          </a:prstGeom>
          <a:noFill/>
          <a:ln/>
        </p:spPr>
        <p:txBody>
          <a:bodyPr wrap="square" lIns="0" tIns="0" rIns="0" bIns="0" rtlCol="0" anchor="ctr"/>
          <a:lstStyle/>
          <a:p>
            <a:pPr indent="0" marL="0">
              <a:buNone/>
            </a:pPr>
            <a:r>
              <a:rPr lang="en-US" sz="2800" b="1" dirty="0">
                <a:solidFill>
                  <a:srgbClr val="F8F5EE"/>
                </a:solidFill>
                <a:latin typeface="Source Serif Pro" pitchFamily="34" charset="0"/>
                <a:ea typeface="Source Serif Pro" pitchFamily="34" charset="-122"/>
                <a:cs typeface="Source Serif Pro" pitchFamily="34" charset="-120"/>
              </a:rPr>
              <a:t>Una herramienta aplicada vale más que cinco clases vistas.</a:t>
            </a:r>
            <a:endParaRPr lang="en-US" sz="2800" dirty="0"/>
          </a:p>
        </p:txBody>
      </p:sp>
      <p:sp>
        <p:nvSpPr>
          <p:cNvPr id="9" name="Shape 5"/>
          <p:cNvSpPr/>
          <p:nvPr/>
        </p:nvSpPr>
        <p:spPr>
          <a:xfrm>
            <a:off x="4389120" y="3383280"/>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0" name="Shape 6"/>
          <p:cNvSpPr/>
          <p:nvPr/>
        </p:nvSpPr>
        <p:spPr>
          <a:xfrm>
            <a:off x="4617720" y="3657600"/>
            <a:ext cx="548640" cy="548640"/>
          </a:xfrm>
          <a:prstGeom prst="ellipse">
            <a:avLst/>
          </a:prstGeom>
          <a:solidFill>
            <a:srgbClr val="FBF2D0"/>
          </a:solidFill>
          <a:ln w="12700">
            <a:solidFill>
              <a:srgbClr val="FBF2D0"/>
            </a:solidFill>
            <a:prstDash val="solid"/>
          </a:ln>
        </p:spPr>
      </p:sp>
      <p:pic>
        <p:nvPicPr>
          <p:cNvPr id="11" name="Image 1" descr="preencoded.png">    </p:cNvPr>
          <p:cNvPicPr>
            <a:picLocks noChangeAspect="1"/>
          </p:cNvPicPr>
          <p:nvPr/>
        </p:nvPicPr>
        <p:blipFill>
          <a:blip r:embed="rId2"/>
          <a:stretch>
            <a:fillRect/>
          </a:stretch>
        </p:blipFill>
        <p:spPr>
          <a:xfrm>
            <a:off x="4765853" y="3805733"/>
            <a:ext cx="252374" cy="252374"/>
          </a:xfrm>
          <a:prstGeom prst="rect">
            <a:avLst/>
          </a:prstGeom>
        </p:spPr>
      </p:pic>
      <p:sp>
        <p:nvSpPr>
          <p:cNvPr id="12" name="Text 7"/>
          <p:cNvSpPr txBox="1"/>
          <p:nvPr/>
        </p:nvSpPr>
        <p:spPr>
          <a:xfrm>
            <a:off x="5349240" y="3383280"/>
            <a:ext cx="6016752" cy="1097280"/>
          </a:xfrm>
          <a:prstGeom prst="rect">
            <a:avLst/>
          </a:prstGeom>
          <a:noFill/>
          <a:ln/>
        </p:spPr>
        <p:txBody>
          <a:bodyPr wrap="square" lIns="0" tIns="0" rIns="0" bIns="0" rtlCol="0" anchor="ctr"/>
          <a:lstStyle/>
          <a:p>
            <a:pPr indent="0" marL="0">
              <a:buNone/>
            </a:pPr>
            <a:r>
              <a:rPr lang="en-US" sz="1400" b="1" dirty="0">
                <a:solidFill>
                  <a:srgbClr val="3F1E0D"/>
                </a:solidFill>
                <a:latin typeface="Open Sans" pitchFamily="34" charset="0"/>
                <a:ea typeface="Open Sans" pitchFamily="34" charset="-122"/>
                <a:cs typeface="Open Sans" pitchFamily="34" charset="-120"/>
              </a:rPr>
              <a:t>No: </a:t>
            </a:r>
            <a:pPr indent="0" marL="0">
              <a:buNone/>
            </a:pPr>
            <a:r>
              <a:rPr lang="en-US" sz="1400" dirty="0">
                <a:solidFill>
                  <a:srgbClr val="3F1E0D"/>
                </a:solidFill>
                <a:latin typeface="Open Sans" pitchFamily="34" charset="0"/>
                <a:ea typeface="Open Sans" pitchFamily="34" charset="-122"/>
                <a:cs typeface="Open Sans" pitchFamily="34" charset="-120"/>
              </a:rPr>
              <a:t>mirar cinco videos seguidos un domingo y no usar ninguna herramienta</a:t>
            </a:r>
            <a:endParaRPr lang="en-US" sz="1400" dirty="0"/>
          </a:p>
        </p:txBody>
      </p:sp>
      <p:sp>
        <p:nvSpPr>
          <p:cNvPr id="13" name="Shape 8"/>
          <p:cNvSpPr/>
          <p:nvPr/>
        </p:nvSpPr>
        <p:spPr>
          <a:xfrm>
            <a:off x="4389120" y="4736592"/>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4" name="Shape 9"/>
          <p:cNvSpPr/>
          <p:nvPr/>
        </p:nvSpPr>
        <p:spPr>
          <a:xfrm>
            <a:off x="4617720" y="5010912"/>
            <a:ext cx="548640" cy="548640"/>
          </a:xfrm>
          <a:prstGeom prst="ellipse">
            <a:avLst/>
          </a:prstGeom>
          <a:solidFill>
            <a:srgbClr val="FBF2D0"/>
          </a:solidFill>
          <a:ln w="12700">
            <a:solidFill>
              <a:srgbClr val="FBF2D0"/>
            </a:solidFill>
            <a:prstDash val="solid"/>
          </a:ln>
        </p:spPr>
      </p:sp>
      <p:pic>
        <p:nvPicPr>
          <p:cNvPr id="15" name="Image 2" descr="preencoded.png">    </p:cNvPr>
          <p:cNvPicPr>
            <a:picLocks noChangeAspect="1"/>
          </p:cNvPicPr>
          <p:nvPr/>
        </p:nvPicPr>
        <p:blipFill>
          <a:blip r:embed="rId3"/>
          <a:stretch>
            <a:fillRect/>
          </a:stretch>
        </p:blipFill>
        <p:spPr>
          <a:xfrm>
            <a:off x="4765853" y="5159045"/>
            <a:ext cx="252374" cy="252374"/>
          </a:xfrm>
          <a:prstGeom prst="rect">
            <a:avLst/>
          </a:prstGeom>
        </p:spPr>
      </p:pic>
      <p:sp>
        <p:nvSpPr>
          <p:cNvPr id="16" name="Text 10"/>
          <p:cNvSpPr txBox="1"/>
          <p:nvPr/>
        </p:nvSpPr>
        <p:spPr>
          <a:xfrm>
            <a:off x="5349240" y="4736592"/>
            <a:ext cx="6016752" cy="1097280"/>
          </a:xfrm>
          <a:prstGeom prst="rect">
            <a:avLst/>
          </a:prstGeom>
          <a:noFill/>
          <a:ln/>
        </p:spPr>
        <p:txBody>
          <a:bodyPr wrap="square" lIns="0" tIns="0" rIns="0" bIns="0" rtlCol="0" anchor="ctr"/>
          <a:lstStyle/>
          <a:p>
            <a:pPr indent="0" marL="0">
              <a:buNone/>
            </a:pPr>
            <a:r>
              <a:rPr lang="en-US" sz="1400" b="1" dirty="0">
                <a:solidFill>
                  <a:srgbClr val="3F1E0D"/>
                </a:solidFill>
                <a:latin typeface="Open Sans" pitchFamily="34" charset="0"/>
                <a:ea typeface="Open Sans" pitchFamily="34" charset="-122"/>
                <a:cs typeface="Open Sans" pitchFamily="34" charset="-120"/>
              </a:rPr>
              <a:t>Sí: </a:t>
            </a:r>
            <a:pPr indent="0" marL="0">
              <a:buNone/>
            </a:pPr>
            <a:r>
              <a:rPr lang="en-US" sz="1400" dirty="0">
                <a:solidFill>
                  <a:srgbClr val="3F1E0D"/>
                </a:solidFill>
                <a:latin typeface="Open Sans" pitchFamily="34" charset="0"/>
                <a:ea typeface="Open Sans" pitchFamily="34" charset="-122"/>
                <a:cs typeface="Open Sans" pitchFamily="34" charset="-120"/>
              </a:rPr>
              <a:t>ver una clase, probarla, llevarla a una situación real, recibir feedback y volver a intentarlo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06 / 10</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El ciclo de cada clase</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Evita avanzar solo porque terminaste un video</a:t>
            </a:r>
            <a:endParaRPr lang="en-US" sz="1600" dirty="0"/>
          </a:p>
        </p:txBody>
      </p:sp>
      <p:sp>
        <p:nvSpPr>
          <p:cNvPr id="7" name="Shape 3"/>
          <p:cNvSpPr/>
          <p:nvPr/>
        </p:nvSpPr>
        <p:spPr>
          <a:xfrm>
            <a:off x="4389120" y="1280160"/>
            <a:ext cx="2215896" cy="2103120"/>
          </a:xfrm>
          <a:prstGeom prst="roundRect">
            <a:avLst>
              <a:gd name="adj" fmla="val 695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17720" y="1554480"/>
            <a:ext cx="566928" cy="566928"/>
          </a:xfrm>
          <a:prstGeom prst="ellipse">
            <a:avLst/>
          </a:prstGeom>
          <a:solidFill>
            <a:srgbClr val="C68C6C"/>
          </a:solidFill>
          <a:ln w="12700">
            <a:solidFill>
              <a:srgbClr val="C68C6C"/>
            </a:solidFill>
            <a:prstDash val="solid"/>
          </a:ln>
        </p:spPr>
      </p:sp>
      <p:sp>
        <p:nvSpPr>
          <p:cNvPr id="9" name="Text 5"/>
          <p:cNvSpPr txBox="1"/>
          <p:nvPr/>
        </p:nvSpPr>
        <p:spPr>
          <a:xfrm>
            <a:off x="4617720" y="1554480"/>
            <a:ext cx="566928" cy="566928"/>
          </a:xfrm>
          <a:prstGeom prst="rect">
            <a:avLst/>
          </a:prstGeom>
          <a:noFill/>
          <a:ln/>
        </p:spPr>
        <p:txBody>
          <a:bodyPr wrap="square" lIns="0" tIns="0" rIns="0" bIns="0" rtlCol="0" anchor="ctr"/>
          <a:lstStyle/>
          <a:p>
            <a:pPr algn="ctr" indent="0" marL="0">
              <a:buNone/>
            </a:pPr>
            <a:r>
              <a:rPr lang="en-US" sz="1736" b="1" dirty="0">
                <a:solidFill>
                  <a:srgbClr val="FFFDF9"/>
                </a:solidFill>
                <a:latin typeface="Source Serif Pro" pitchFamily="34" charset="0"/>
                <a:ea typeface="Source Serif Pro" pitchFamily="34" charset="-122"/>
                <a:cs typeface="Source Serif Pro" pitchFamily="34" charset="-120"/>
              </a:rPr>
              <a:t>1</a:t>
            </a:r>
            <a:endParaRPr lang="en-US" sz="1736" dirty="0"/>
          </a:p>
        </p:txBody>
      </p:sp>
      <p:sp>
        <p:nvSpPr>
          <p:cNvPr id="10" name="Text 6"/>
          <p:cNvSpPr txBox="1"/>
          <p:nvPr/>
        </p:nvSpPr>
        <p:spPr>
          <a:xfrm>
            <a:off x="4617720" y="2258568"/>
            <a:ext cx="1758696" cy="941832"/>
          </a:xfrm>
          <a:prstGeom prst="rect">
            <a:avLst/>
          </a:prstGeom>
          <a:noFill/>
          <a:ln/>
        </p:spPr>
        <p:txBody>
          <a:bodyPr wrap="square" lIns="0" tIns="0" rIns="0" bIns="0" rtlCol="0" anchor="t"/>
          <a:lstStyle/>
          <a:p>
            <a:pPr indent="0" marL="0">
              <a:buNone/>
            </a:pPr>
            <a:r>
              <a:rPr lang="en-US" sz="1500" b="1" dirty="0">
                <a:solidFill>
                  <a:srgbClr val="81552E"/>
                </a:solidFill>
                <a:latin typeface="Open Sans" pitchFamily="34" charset="0"/>
                <a:ea typeface="Open Sans" pitchFamily="34" charset="-122"/>
                <a:cs typeface="Open Sans" pitchFamily="34" charset="-120"/>
              </a:rPr>
              <a:t>La miras y entiendes la herramienta</a:t>
            </a:r>
            <a:endParaRPr lang="en-US" sz="1500" dirty="0"/>
          </a:p>
        </p:txBody>
      </p:sp>
      <p:sp>
        <p:nvSpPr>
          <p:cNvPr id="11" name="Shape 7"/>
          <p:cNvSpPr/>
          <p:nvPr/>
        </p:nvSpPr>
        <p:spPr>
          <a:xfrm>
            <a:off x="6861048" y="1280160"/>
            <a:ext cx="2215896" cy="2103120"/>
          </a:xfrm>
          <a:prstGeom prst="roundRect">
            <a:avLst>
              <a:gd name="adj" fmla="val 695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2" name="Shape 8"/>
          <p:cNvSpPr/>
          <p:nvPr/>
        </p:nvSpPr>
        <p:spPr>
          <a:xfrm>
            <a:off x="7089648" y="1554480"/>
            <a:ext cx="566928" cy="566928"/>
          </a:xfrm>
          <a:prstGeom prst="ellipse">
            <a:avLst/>
          </a:prstGeom>
          <a:solidFill>
            <a:srgbClr val="C68C6C"/>
          </a:solidFill>
          <a:ln w="12700">
            <a:solidFill>
              <a:srgbClr val="C68C6C"/>
            </a:solidFill>
            <a:prstDash val="solid"/>
          </a:ln>
        </p:spPr>
      </p:sp>
      <p:sp>
        <p:nvSpPr>
          <p:cNvPr id="13" name="Text 9"/>
          <p:cNvSpPr txBox="1"/>
          <p:nvPr/>
        </p:nvSpPr>
        <p:spPr>
          <a:xfrm>
            <a:off x="7089648" y="1554480"/>
            <a:ext cx="566928" cy="566928"/>
          </a:xfrm>
          <a:prstGeom prst="rect">
            <a:avLst/>
          </a:prstGeom>
          <a:noFill/>
          <a:ln/>
        </p:spPr>
        <p:txBody>
          <a:bodyPr wrap="square" lIns="0" tIns="0" rIns="0" bIns="0" rtlCol="0" anchor="ctr"/>
          <a:lstStyle/>
          <a:p>
            <a:pPr algn="ctr" indent="0" marL="0">
              <a:buNone/>
            </a:pPr>
            <a:r>
              <a:rPr lang="en-US" sz="1736" b="1" dirty="0">
                <a:solidFill>
                  <a:srgbClr val="FFFDF9"/>
                </a:solidFill>
                <a:latin typeface="Source Serif Pro" pitchFamily="34" charset="0"/>
                <a:ea typeface="Source Serif Pro" pitchFamily="34" charset="-122"/>
                <a:cs typeface="Source Serif Pro" pitchFamily="34" charset="-120"/>
              </a:rPr>
              <a:t>2</a:t>
            </a:r>
            <a:endParaRPr lang="en-US" sz="1736" dirty="0"/>
          </a:p>
        </p:txBody>
      </p:sp>
      <p:sp>
        <p:nvSpPr>
          <p:cNvPr id="14" name="Text 10"/>
          <p:cNvSpPr txBox="1"/>
          <p:nvPr/>
        </p:nvSpPr>
        <p:spPr>
          <a:xfrm>
            <a:off x="7089648" y="2258568"/>
            <a:ext cx="1758696" cy="941832"/>
          </a:xfrm>
          <a:prstGeom prst="rect">
            <a:avLst/>
          </a:prstGeom>
          <a:noFill/>
          <a:ln/>
        </p:spPr>
        <p:txBody>
          <a:bodyPr wrap="square" lIns="0" tIns="0" rIns="0" bIns="0" rtlCol="0" anchor="t"/>
          <a:lstStyle/>
          <a:p>
            <a:pPr indent="0" marL="0">
              <a:buNone/>
            </a:pPr>
            <a:r>
              <a:rPr lang="en-US" sz="1500" b="1" dirty="0">
                <a:solidFill>
                  <a:srgbClr val="81552E"/>
                </a:solidFill>
                <a:latin typeface="Open Sans" pitchFamily="34" charset="0"/>
                <a:ea typeface="Open Sans" pitchFamily="34" charset="-122"/>
                <a:cs typeface="Open Sans" pitchFamily="34" charset="-120"/>
              </a:rPr>
              <a:t>Buscas dónde aparece en tu trabajo</a:t>
            </a:r>
            <a:endParaRPr lang="en-US" sz="1500" dirty="0"/>
          </a:p>
        </p:txBody>
      </p:sp>
      <p:sp>
        <p:nvSpPr>
          <p:cNvPr id="15" name="Shape 11"/>
          <p:cNvSpPr/>
          <p:nvPr/>
        </p:nvSpPr>
        <p:spPr>
          <a:xfrm>
            <a:off x="9332976" y="1280160"/>
            <a:ext cx="2215896" cy="2103120"/>
          </a:xfrm>
          <a:prstGeom prst="roundRect">
            <a:avLst>
              <a:gd name="adj" fmla="val 695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6" name="Shape 12"/>
          <p:cNvSpPr/>
          <p:nvPr/>
        </p:nvSpPr>
        <p:spPr>
          <a:xfrm>
            <a:off x="9561576" y="1554480"/>
            <a:ext cx="566928" cy="566928"/>
          </a:xfrm>
          <a:prstGeom prst="ellipse">
            <a:avLst/>
          </a:prstGeom>
          <a:solidFill>
            <a:srgbClr val="C68C6C"/>
          </a:solidFill>
          <a:ln w="12700">
            <a:solidFill>
              <a:srgbClr val="C68C6C"/>
            </a:solidFill>
            <a:prstDash val="solid"/>
          </a:ln>
        </p:spPr>
      </p:sp>
      <p:sp>
        <p:nvSpPr>
          <p:cNvPr id="17" name="Text 13"/>
          <p:cNvSpPr txBox="1"/>
          <p:nvPr/>
        </p:nvSpPr>
        <p:spPr>
          <a:xfrm>
            <a:off x="9561576" y="1554480"/>
            <a:ext cx="566928" cy="566928"/>
          </a:xfrm>
          <a:prstGeom prst="rect">
            <a:avLst/>
          </a:prstGeom>
          <a:noFill/>
          <a:ln/>
        </p:spPr>
        <p:txBody>
          <a:bodyPr wrap="square" lIns="0" tIns="0" rIns="0" bIns="0" rtlCol="0" anchor="ctr"/>
          <a:lstStyle/>
          <a:p>
            <a:pPr algn="ctr" indent="0" marL="0">
              <a:buNone/>
            </a:pPr>
            <a:r>
              <a:rPr lang="en-US" sz="1736" b="1" dirty="0">
                <a:solidFill>
                  <a:srgbClr val="FFFDF9"/>
                </a:solidFill>
                <a:latin typeface="Source Serif Pro" pitchFamily="34" charset="0"/>
                <a:ea typeface="Source Serif Pro" pitchFamily="34" charset="-122"/>
                <a:cs typeface="Source Serif Pro" pitchFamily="34" charset="-120"/>
              </a:rPr>
              <a:t>3</a:t>
            </a:r>
            <a:endParaRPr lang="en-US" sz="1736" dirty="0"/>
          </a:p>
        </p:txBody>
      </p:sp>
      <p:sp>
        <p:nvSpPr>
          <p:cNvPr id="18" name="Text 14"/>
          <p:cNvSpPr txBox="1"/>
          <p:nvPr/>
        </p:nvSpPr>
        <p:spPr>
          <a:xfrm>
            <a:off x="9561576" y="2258568"/>
            <a:ext cx="1758696" cy="941832"/>
          </a:xfrm>
          <a:prstGeom prst="rect">
            <a:avLst/>
          </a:prstGeom>
          <a:noFill/>
          <a:ln/>
        </p:spPr>
        <p:txBody>
          <a:bodyPr wrap="square" lIns="0" tIns="0" rIns="0" bIns="0" rtlCol="0" anchor="t"/>
          <a:lstStyle/>
          <a:p>
            <a:pPr indent="0" marL="0">
              <a:buNone/>
            </a:pPr>
            <a:r>
              <a:rPr lang="en-US" sz="1500" b="1" dirty="0">
                <a:solidFill>
                  <a:srgbClr val="81552E"/>
                </a:solidFill>
                <a:latin typeface="Open Sans" pitchFamily="34" charset="0"/>
                <a:ea typeface="Open Sans" pitchFamily="34" charset="-122"/>
                <a:cs typeface="Open Sans" pitchFamily="34" charset="-120"/>
              </a:rPr>
              <a:t>La pruebas</a:t>
            </a:r>
            <a:endParaRPr lang="en-US" sz="1500" dirty="0"/>
          </a:p>
        </p:txBody>
      </p:sp>
      <p:sp>
        <p:nvSpPr>
          <p:cNvPr id="19" name="Shape 15"/>
          <p:cNvSpPr/>
          <p:nvPr/>
        </p:nvSpPr>
        <p:spPr>
          <a:xfrm>
            <a:off x="4389120" y="3639312"/>
            <a:ext cx="2215896" cy="2103120"/>
          </a:xfrm>
          <a:prstGeom prst="roundRect">
            <a:avLst>
              <a:gd name="adj" fmla="val 695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0" name="Shape 16"/>
          <p:cNvSpPr/>
          <p:nvPr/>
        </p:nvSpPr>
        <p:spPr>
          <a:xfrm>
            <a:off x="4617720" y="3913632"/>
            <a:ext cx="566928" cy="566928"/>
          </a:xfrm>
          <a:prstGeom prst="ellipse">
            <a:avLst/>
          </a:prstGeom>
          <a:solidFill>
            <a:srgbClr val="C68C6C"/>
          </a:solidFill>
          <a:ln w="12700">
            <a:solidFill>
              <a:srgbClr val="C68C6C"/>
            </a:solidFill>
            <a:prstDash val="solid"/>
          </a:ln>
        </p:spPr>
      </p:sp>
      <p:sp>
        <p:nvSpPr>
          <p:cNvPr id="21" name="Text 17"/>
          <p:cNvSpPr txBox="1"/>
          <p:nvPr/>
        </p:nvSpPr>
        <p:spPr>
          <a:xfrm>
            <a:off x="4617720" y="3913632"/>
            <a:ext cx="566928" cy="566928"/>
          </a:xfrm>
          <a:prstGeom prst="rect">
            <a:avLst/>
          </a:prstGeom>
          <a:noFill/>
          <a:ln/>
        </p:spPr>
        <p:txBody>
          <a:bodyPr wrap="square" lIns="0" tIns="0" rIns="0" bIns="0" rtlCol="0" anchor="ctr"/>
          <a:lstStyle/>
          <a:p>
            <a:pPr algn="ctr" indent="0" marL="0">
              <a:buNone/>
            </a:pPr>
            <a:r>
              <a:rPr lang="en-US" sz="1736" b="1" dirty="0">
                <a:solidFill>
                  <a:srgbClr val="FFFDF9"/>
                </a:solidFill>
                <a:latin typeface="Source Serif Pro" pitchFamily="34" charset="0"/>
                <a:ea typeface="Source Serif Pro" pitchFamily="34" charset="-122"/>
                <a:cs typeface="Source Serif Pro" pitchFamily="34" charset="-120"/>
              </a:rPr>
              <a:t>4</a:t>
            </a:r>
            <a:endParaRPr lang="en-US" sz="1736" dirty="0"/>
          </a:p>
        </p:txBody>
      </p:sp>
      <p:sp>
        <p:nvSpPr>
          <p:cNvPr id="22" name="Text 18"/>
          <p:cNvSpPr txBox="1"/>
          <p:nvPr/>
        </p:nvSpPr>
        <p:spPr>
          <a:xfrm>
            <a:off x="4617720" y="4617720"/>
            <a:ext cx="1758696" cy="941832"/>
          </a:xfrm>
          <a:prstGeom prst="rect">
            <a:avLst/>
          </a:prstGeom>
          <a:noFill/>
          <a:ln/>
        </p:spPr>
        <p:txBody>
          <a:bodyPr wrap="square" lIns="0" tIns="0" rIns="0" bIns="0" rtlCol="0" anchor="t"/>
          <a:lstStyle/>
          <a:p>
            <a:pPr indent="0" marL="0">
              <a:buNone/>
            </a:pPr>
            <a:r>
              <a:rPr lang="en-US" sz="1500" b="1" dirty="0">
                <a:solidFill>
                  <a:srgbClr val="81552E"/>
                </a:solidFill>
                <a:latin typeface="Open Sans" pitchFamily="34" charset="0"/>
                <a:ea typeface="Open Sans" pitchFamily="34" charset="-122"/>
                <a:cs typeface="Open Sans" pitchFamily="34" charset="-120"/>
              </a:rPr>
              <a:t>La practicas</a:t>
            </a:r>
            <a:endParaRPr lang="en-US" sz="1500" dirty="0"/>
          </a:p>
        </p:txBody>
      </p:sp>
      <p:sp>
        <p:nvSpPr>
          <p:cNvPr id="23" name="Shape 19"/>
          <p:cNvSpPr/>
          <p:nvPr/>
        </p:nvSpPr>
        <p:spPr>
          <a:xfrm>
            <a:off x="6861048" y="3639312"/>
            <a:ext cx="2215896" cy="2103120"/>
          </a:xfrm>
          <a:prstGeom prst="roundRect">
            <a:avLst>
              <a:gd name="adj" fmla="val 6957"/>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4" name="Shape 20"/>
          <p:cNvSpPr/>
          <p:nvPr/>
        </p:nvSpPr>
        <p:spPr>
          <a:xfrm>
            <a:off x="7089648" y="3913632"/>
            <a:ext cx="566928" cy="566928"/>
          </a:xfrm>
          <a:prstGeom prst="ellipse">
            <a:avLst/>
          </a:prstGeom>
          <a:solidFill>
            <a:srgbClr val="C68C6C"/>
          </a:solidFill>
          <a:ln w="12700">
            <a:solidFill>
              <a:srgbClr val="C68C6C"/>
            </a:solidFill>
            <a:prstDash val="solid"/>
          </a:ln>
        </p:spPr>
      </p:sp>
      <p:sp>
        <p:nvSpPr>
          <p:cNvPr id="25" name="Text 21"/>
          <p:cNvSpPr txBox="1"/>
          <p:nvPr/>
        </p:nvSpPr>
        <p:spPr>
          <a:xfrm>
            <a:off x="7089648" y="3913632"/>
            <a:ext cx="566928" cy="566928"/>
          </a:xfrm>
          <a:prstGeom prst="rect">
            <a:avLst/>
          </a:prstGeom>
          <a:noFill/>
          <a:ln/>
        </p:spPr>
        <p:txBody>
          <a:bodyPr wrap="square" lIns="0" tIns="0" rIns="0" bIns="0" rtlCol="0" anchor="ctr"/>
          <a:lstStyle/>
          <a:p>
            <a:pPr algn="ctr" indent="0" marL="0">
              <a:buNone/>
            </a:pPr>
            <a:r>
              <a:rPr lang="en-US" sz="1736" b="1" dirty="0">
                <a:solidFill>
                  <a:srgbClr val="FFFDF9"/>
                </a:solidFill>
                <a:latin typeface="Source Serif Pro" pitchFamily="34" charset="0"/>
                <a:ea typeface="Source Serif Pro" pitchFamily="34" charset="-122"/>
                <a:cs typeface="Source Serif Pro" pitchFamily="34" charset="-120"/>
              </a:rPr>
              <a:t>5</a:t>
            </a:r>
            <a:endParaRPr lang="en-US" sz="1736" dirty="0"/>
          </a:p>
        </p:txBody>
      </p:sp>
      <p:sp>
        <p:nvSpPr>
          <p:cNvPr id="26" name="Text 22"/>
          <p:cNvSpPr txBox="1"/>
          <p:nvPr/>
        </p:nvSpPr>
        <p:spPr>
          <a:xfrm>
            <a:off x="7089648" y="4617720"/>
            <a:ext cx="1758696" cy="941832"/>
          </a:xfrm>
          <a:prstGeom prst="rect">
            <a:avLst/>
          </a:prstGeom>
          <a:noFill/>
          <a:ln/>
        </p:spPr>
        <p:txBody>
          <a:bodyPr wrap="square" lIns="0" tIns="0" rIns="0" bIns="0" rtlCol="0" anchor="t"/>
          <a:lstStyle/>
          <a:p>
            <a:pPr indent="0" marL="0">
              <a:buNone/>
            </a:pPr>
            <a:r>
              <a:rPr lang="en-US" sz="1500" b="1" dirty="0">
                <a:solidFill>
                  <a:srgbClr val="81552E"/>
                </a:solidFill>
                <a:latin typeface="Open Sans" pitchFamily="34" charset="0"/>
                <a:ea typeface="Open Sans" pitchFamily="34" charset="-122"/>
                <a:cs typeface="Open Sans" pitchFamily="34" charset="-120"/>
              </a:rPr>
              <a:t>Pides feedback o la traes a sesión</a:t>
            </a:r>
            <a:endParaRPr lang="en-US" sz="1500" dirty="0"/>
          </a:p>
        </p:txBody>
      </p:sp>
      <p:sp>
        <p:nvSpPr>
          <p:cNvPr id="27" name="Shape 23"/>
          <p:cNvSpPr/>
          <p:nvPr/>
        </p:nvSpPr>
        <p:spPr>
          <a:xfrm>
            <a:off x="9332976" y="3639312"/>
            <a:ext cx="2215896" cy="2103120"/>
          </a:xfrm>
          <a:prstGeom prst="roundRect">
            <a:avLst>
              <a:gd name="adj" fmla="val 6957"/>
            </a:avLst>
          </a:prstGeom>
          <a:solidFill>
            <a:srgbClr val="81552E"/>
          </a:solidFill>
          <a:ln w="12700">
            <a:solidFill>
              <a:srgbClr val="81552E"/>
            </a:solidFill>
            <a:prstDash val="solid"/>
          </a:ln>
          <a:effectLst>
            <a:outerShdw sx="100000" sy="100000" kx="0" ky="0" algn="bl" rotWithShape="0" blurRad="177800" dist="38100" dir="5400000">
              <a:srgbClr val="3F1E0D">
                <a:alpha val="10000"/>
              </a:srgbClr>
            </a:outerShdw>
          </a:effectLst>
        </p:spPr>
      </p:sp>
      <p:sp>
        <p:nvSpPr>
          <p:cNvPr id="28" name="Shape 24"/>
          <p:cNvSpPr/>
          <p:nvPr/>
        </p:nvSpPr>
        <p:spPr>
          <a:xfrm>
            <a:off x="9561576" y="3913632"/>
            <a:ext cx="566928" cy="566928"/>
          </a:xfrm>
          <a:prstGeom prst="ellipse">
            <a:avLst/>
          </a:prstGeom>
          <a:solidFill>
            <a:srgbClr val="C68C6C"/>
          </a:solidFill>
          <a:ln w="12700">
            <a:solidFill>
              <a:srgbClr val="C68C6C"/>
            </a:solidFill>
            <a:prstDash val="solid"/>
          </a:ln>
        </p:spPr>
      </p:sp>
      <p:sp>
        <p:nvSpPr>
          <p:cNvPr id="29" name="Text 25"/>
          <p:cNvSpPr txBox="1"/>
          <p:nvPr/>
        </p:nvSpPr>
        <p:spPr>
          <a:xfrm>
            <a:off x="9561576" y="3913632"/>
            <a:ext cx="566928" cy="566928"/>
          </a:xfrm>
          <a:prstGeom prst="rect">
            <a:avLst/>
          </a:prstGeom>
          <a:noFill/>
          <a:ln/>
        </p:spPr>
        <p:txBody>
          <a:bodyPr wrap="square" lIns="0" tIns="0" rIns="0" bIns="0" rtlCol="0" anchor="ctr"/>
          <a:lstStyle/>
          <a:p>
            <a:pPr algn="ctr" indent="0" marL="0">
              <a:buNone/>
            </a:pPr>
            <a:r>
              <a:rPr lang="en-US" sz="1736" b="1" dirty="0">
                <a:solidFill>
                  <a:srgbClr val="FFFDF9"/>
                </a:solidFill>
                <a:latin typeface="Source Serif Pro" pitchFamily="34" charset="0"/>
                <a:ea typeface="Source Serif Pro" pitchFamily="34" charset="-122"/>
                <a:cs typeface="Source Serif Pro" pitchFamily="34" charset="-120"/>
              </a:rPr>
              <a:t>6</a:t>
            </a:r>
            <a:endParaRPr lang="en-US" sz="1736" dirty="0"/>
          </a:p>
        </p:txBody>
      </p:sp>
      <p:sp>
        <p:nvSpPr>
          <p:cNvPr id="30" name="Text 26"/>
          <p:cNvSpPr txBox="1"/>
          <p:nvPr/>
        </p:nvSpPr>
        <p:spPr>
          <a:xfrm>
            <a:off x="9561576" y="4617720"/>
            <a:ext cx="1758696" cy="941832"/>
          </a:xfrm>
          <a:prstGeom prst="rect">
            <a:avLst/>
          </a:prstGeom>
          <a:noFill/>
          <a:ln/>
        </p:spPr>
        <p:txBody>
          <a:bodyPr wrap="square" lIns="0" tIns="0" rIns="0" bIns="0" rtlCol="0" anchor="t"/>
          <a:lstStyle/>
          <a:p>
            <a:pPr indent="0" marL="0">
              <a:buNone/>
            </a:pPr>
            <a:r>
              <a:rPr lang="en-US" sz="1500" b="1" dirty="0">
                <a:solidFill>
                  <a:srgbClr val="F8F5EE"/>
                </a:solidFill>
                <a:latin typeface="Open Sans" pitchFamily="34" charset="0"/>
                <a:ea typeface="Open Sans" pitchFamily="34" charset="-122"/>
                <a:cs typeface="Open Sans" pitchFamily="34" charset="-120"/>
              </a:rPr>
              <a:t>Haces retry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07 / 10</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Dos o tres espacios por semana</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De 20 a 30 minutos cada uno. No todos para mirar contenido.</a:t>
            </a:r>
            <a:endParaRPr lang="en-US" sz="1600" dirty="0"/>
          </a:p>
        </p:txBody>
      </p:sp>
      <p:sp>
        <p:nvSpPr>
          <p:cNvPr id="7" name="Shape 3"/>
          <p:cNvSpPr/>
          <p:nvPr/>
        </p:nvSpPr>
        <p:spPr>
          <a:xfrm>
            <a:off x="4389120"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17720" y="1554480"/>
            <a:ext cx="566928" cy="566928"/>
          </a:xfrm>
          <a:prstGeom prst="ellipse">
            <a:avLst/>
          </a:prstGeom>
          <a:solidFill>
            <a:srgbClr val="FBF2D0"/>
          </a:solidFill>
          <a:ln w="12700">
            <a:solidFill>
              <a:srgbClr val="FBF2D0"/>
            </a:solidFill>
            <a:prstDash val="solid"/>
          </a:ln>
        </p:spPr>
      </p:sp>
      <p:pic>
        <p:nvPicPr>
          <p:cNvPr id="9" name="Image 1" descr="preencoded.png">    </p:cNvPr>
          <p:cNvPicPr>
            <a:picLocks noChangeAspect="1"/>
          </p:cNvPicPr>
          <p:nvPr/>
        </p:nvPicPr>
        <p:blipFill>
          <a:blip r:embed="rId2"/>
          <a:stretch>
            <a:fillRect/>
          </a:stretch>
        </p:blipFill>
        <p:spPr>
          <a:xfrm>
            <a:off x="4770791" y="1707551"/>
            <a:ext cx="260787" cy="260787"/>
          </a:xfrm>
          <a:prstGeom prst="rect">
            <a:avLst/>
          </a:prstGeom>
        </p:spPr>
      </p:pic>
      <p:sp>
        <p:nvSpPr>
          <p:cNvPr id="10" name="Text 5"/>
          <p:cNvSpPr txBox="1"/>
          <p:nvPr/>
        </p:nvSpPr>
        <p:spPr>
          <a:xfrm>
            <a:off x="4617720" y="2258568"/>
            <a:ext cx="1758696" cy="321056"/>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Un bloque</a:t>
            </a:r>
            <a:endParaRPr lang="en-US" sz="1600" dirty="0"/>
          </a:p>
        </p:txBody>
      </p:sp>
      <p:sp>
        <p:nvSpPr>
          <p:cNvPr id="11" name="Text 6"/>
          <p:cNvSpPr txBox="1"/>
          <p:nvPr/>
        </p:nvSpPr>
        <p:spPr>
          <a:xfrm>
            <a:off x="4617720" y="2625344"/>
            <a:ext cx="1758696" cy="1443736"/>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para ver una clase</a:t>
            </a:r>
            <a:endParaRPr lang="en-US" sz="1300" dirty="0"/>
          </a:p>
        </p:txBody>
      </p:sp>
      <p:sp>
        <p:nvSpPr>
          <p:cNvPr id="12" name="Shape 7"/>
          <p:cNvSpPr/>
          <p:nvPr/>
        </p:nvSpPr>
        <p:spPr>
          <a:xfrm>
            <a:off x="6861048"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7089648" y="1554480"/>
            <a:ext cx="566928" cy="566928"/>
          </a:xfrm>
          <a:prstGeom prst="ellipse">
            <a:avLst/>
          </a:prstGeom>
          <a:solidFill>
            <a:srgbClr val="FBF2D0"/>
          </a:solidFill>
          <a:ln w="12700">
            <a:solidFill>
              <a:srgbClr val="FBF2D0"/>
            </a:solidFill>
            <a:prstDash val="solid"/>
          </a:ln>
        </p:spPr>
      </p:sp>
      <p:pic>
        <p:nvPicPr>
          <p:cNvPr id="14" name="Image 2" descr="preencoded.png">    </p:cNvPr>
          <p:cNvPicPr>
            <a:picLocks noChangeAspect="1"/>
          </p:cNvPicPr>
          <p:nvPr/>
        </p:nvPicPr>
        <p:blipFill>
          <a:blip r:embed="rId3"/>
          <a:stretch>
            <a:fillRect/>
          </a:stretch>
        </p:blipFill>
        <p:spPr>
          <a:xfrm>
            <a:off x="7242719" y="1707551"/>
            <a:ext cx="260787" cy="260787"/>
          </a:xfrm>
          <a:prstGeom prst="rect">
            <a:avLst/>
          </a:prstGeom>
        </p:spPr>
      </p:pic>
      <p:sp>
        <p:nvSpPr>
          <p:cNvPr id="15" name="Text 9"/>
          <p:cNvSpPr txBox="1"/>
          <p:nvPr/>
        </p:nvSpPr>
        <p:spPr>
          <a:xfrm>
            <a:off x="7089648" y="2258568"/>
            <a:ext cx="1758696" cy="321056"/>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Otro bloque</a:t>
            </a:r>
            <a:endParaRPr lang="en-US" sz="1600" dirty="0"/>
          </a:p>
        </p:txBody>
      </p:sp>
      <p:sp>
        <p:nvSpPr>
          <p:cNvPr id="16" name="Text 10"/>
          <p:cNvSpPr txBox="1"/>
          <p:nvPr/>
        </p:nvSpPr>
        <p:spPr>
          <a:xfrm>
            <a:off x="7089648" y="2625344"/>
            <a:ext cx="1758696" cy="1443736"/>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para aplicar la herramienta a una situación de tu trabajo</a:t>
            </a:r>
            <a:endParaRPr lang="en-US" sz="1300" dirty="0"/>
          </a:p>
        </p:txBody>
      </p:sp>
      <p:sp>
        <p:nvSpPr>
          <p:cNvPr id="17" name="Shape 11"/>
          <p:cNvSpPr/>
          <p:nvPr/>
        </p:nvSpPr>
        <p:spPr>
          <a:xfrm>
            <a:off x="9332976" y="1280160"/>
            <a:ext cx="2215896" cy="2926080"/>
          </a:xfrm>
          <a:prstGeom prst="roundRect">
            <a:avLst>
              <a:gd name="adj" fmla="val 6602"/>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9561576" y="1554480"/>
            <a:ext cx="566928" cy="566928"/>
          </a:xfrm>
          <a:prstGeom prst="ellipse">
            <a:avLst/>
          </a:prstGeom>
          <a:solidFill>
            <a:srgbClr val="FBF2D0"/>
          </a:solidFill>
          <a:ln w="12700">
            <a:solidFill>
              <a:srgbClr val="FBF2D0"/>
            </a:solidFill>
            <a:prstDash val="solid"/>
          </a:ln>
        </p:spPr>
      </p:sp>
      <p:pic>
        <p:nvPicPr>
          <p:cNvPr id="19" name="Image 3" descr="preencoded.png">    </p:cNvPr>
          <p:cNvPicPr>
            <a:picLocks noChangeAspect="1"/>
          </p:cNvPicPr>
          <p:nvPr/>
        </p:nvPicPr>
        <p:blipFill>
          <a:blip r:embed="rId4"/>
          <a:stretch>
            <a:fillRect/>
          </a:stretch>
        </p:blipFill>
        <p:spPr>
          <a:xfrm>
            <a:off x="9714647" y="1707551"/>
            <a:ext cx="260787" cy="260787"/>
          </a:xfrm>
          <a:prstGeom prst="rect">
            <a:avLst/>
          </a:prstGeom>
        </p:spPr>
      </p:pic>
      <p:sp>
        <p:nvSpPr>
          <p:cNvPr id="20" name="Text 13"/>
          <p:cNvSpPr txBox="1"/>
          <p:nvPr/>
        </p:nvSpPr>
        <p:spPr>
          <a:xfrm>
            <a:off x="9561576" y="2258568"/>
            <a:ext cx="1758696" cy="321056"/>
          </a:xfrm>
          <a:prstGeom prst="rect">
            <a:avLst/>
          </a:prstGeom>
          <a:noFill/>
          <a:ln/>
        </p:spPr>
        <p:txBody>
          <a:bodyPr wrap="square" lIns="0" tIns="0" rIns="0" bIns="0" rtlCol="0" anchor="t"/>
          <a:lstStyle/>
          <a:p>
            <a:pPr indent="0" marL="0">
              <a:buNone/>
            </a:pPr>
            <a:r>
              <a:rPr lang="en-US" sz="1600" b="1" dirty="0">
                <a:solidFill>
                  <a:srgbClr val="81552E"/>
                </a:solidFill>
                <a:latin typeface="Source Serif Pro" pitchFamily="34" charset="0"/>
                <a:ea typeface="Source Serif Pro" pitchFamily="34" charset="-122"/>
                <a:cs typeface="Source Serif Pro" pitchFamily="34" charset="-120"/>
              </a:rPr>
              <a:t>Otro bloque</a:t>
            </a:r>
            <a:endParaRPr lang="en-US" sz="1600" dirty="0"/>
          </a:p>
        </p:txBody>
      </p:sp>
      <p:sp>
        <p:nvSpPr>
          <p:cNvPr id="21" name="Text 14"/>
          <p:cNvSpPr txBox="1"/>
          <p:nvPr/>
        </p:nvSpPr>
        <p:spPr>
          <a:xfrm>
            <a:off x="9561576" y="2625344"/>
            <a:ext cx="1758696" cy="1443736"/>
          </a:xfrm>
          <a:prstGeom prst="rect">
            <a:avLst/>
          </a:prstGeom>
          <a:noFill/>
          <a:ln/>
        </p:spPr>
        <p:txBody>
          <a:bodyPr wrap="square" lIns="0" tIns="0" rIns="0" bIns="0" rtlCol="0" anchor="t"/>
          <a:lstStyle/>
          <a:p>
            <a:pPr indent="0" marL="0">
              <a:buNone/>
            </a:pPr>
            <a:r>
              <a:rPr lang="en-US" sz="1300" dirty="0">
                <a:solidFill>
                  <a:srgbClr val="3F1E0D"/>
                </a:solidFill>
                <a:latin typeface="Open Sans" pitchFamily="34" charset="0"/>
                <a:ea typeface="Open Sans" pitchFamily="34" charset="-122"/>
                <a:cs typeface="Open Sans" pitchFamily="34" charset="-120"/>
              </a:rPr>
              <a:t>para practicar, hacer retry o preparar algo para la sesión</a:t>
            </a:r>
            <a:endParaRPr lang="en-US" sz="1300" dirty="0"/>
          </a:p>
        </p:txBody>
      </p:sp>
      <p:sp>
        <p:nvSpPr>
          <p:cNvPr id="22" name="Shape 15"/>
          <p:cNvSpPr/>
          <p:nvPr/>
        </p:nvSpPr>
        <p:spPr>
          <a:xfrm>
            <a:off x="4389120" y="4892040"/>
            <a:ext cx="7159752" cy="1463040"/>
          </a:xfrm>
          <a:prstGeom prst="roundRect">
            <a:avLst>
              <a:gd name="adj" fmla="val 10000"/>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4754880" y="5234940"/>
            <a:ext cx="777240" cy="777240"/>
          </a:xfrm>
          <a:prstGeom prst="ellipse">
            <a:avLst/>
          </a:prstGeom>
          <a:solidFill>
            <a:srgbClr val="C68C6C"/>
          </a:solidFill>
          <a:ln w="12700">
            <a:solidFill>
              <a:srgbClr val="C68C6C"/>
            </a:solidFill>
            <a:prstDash val="solid"/>
          </a:ln>
        </p:spPr>
      </p:sp>
      <p:pic>
        <p:nvPicPr>
          <p:cNvPr id="24" name="Image 4" descr="preencoded.png">    </p:cNvPr>
          <p:cNvPicPr>
            <a:picLocks noChangeAspect="1"/>
          </p:cNvPicPr>
          <p:nvPr/>
        </p:nvPicPr>
        <p:blipFill>
          <a:blip r:embed="rId5"/>
          <a:stretch>
            <a:fillRect/>
          </a:stretch>
        </p:blipFill>
        <p:spPr>
          <a:xfrm>
            <a:off x="4964735" y="5444795"/>
            <a:ext cx="357530" cy="357530"/>
          </a:xfrm>
          <a:prstGeom prst="rect">
            <a:avLst/>
          </a:prstGeom>
        </p:spPr>
      </p:pic>
      <p:sp>
        <p:nvSpPr>
          <p:cNvPr id="25" name="Text 17"/>
          <p:cNvSpPr txBox="1"/>
          <p:nvPr/>
        </p:nvSpPr>
        <p:spPr>
          <a:xfrm>
            <a:off x="5852160" y="4892040"/>
            <a:ext cx="5376672" cy="146304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Tu trabajo diario también es entrenamiento</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Cada reunión, presentación o conversación te muestra qué está disponible y qué todavía necesita práctica.</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08 / 10</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Cuando una semana se complica</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Consistencia es volver al proceso una y otra vez</a:t>
            </a:r>
            <a:endParaRPr lang="en-US" sz="1600" dirty="0"/>
          </a:p>
        </p:txBody>
      </p:sp>
      <p:sp>
        <p:nvSpPr>
          <p:cNvPr id="7" name="Shape 3"/>
          <p:cNvSpPr/>
          <p:nvPr/>
        </p:nvSpPr>
        <p:spPr>
          <a:xfrm>
            <a:off x="4389120" y="1280160"/>
            <a:ext cx="7159752" cy="811530"/>
          </a:xfrm>
          <a:prstGeom prst="roundRect">
            <a:avLst>
              <a:gd name="adj" fmla="val 18028"/>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63440" y="1411605"/>
            <a:ext cx="548640" cy="548640"/>
          </a:xfrm>
          <a:prstGeom prst="ellipse">
            <a:avLst/>
          </a:prstGeom>
          <a:solidFill>
            <a:srgbClr val="C68C6C"/>
          </a:solidFill>
          <a:ln w="12700">
            <a:solidFill>
              <a:srgbClr val="C68C6C"/>
            </a:solidFill>
            <a:prstDash val="solid"/>
          </a:ln>
        </p:spPr>
      </p:sp>
      <p:sp>
        <p:nvSpPr>
          <p:cNvPr id="9" name="Text 5"/>
          <p:cNvSpPr txBox="1"/>
          <p:nvPr/>
        </p:nvSpPr>
        <p:spPr>
          <a:xfrm>
            <a:off x="4663440" y="1411605"/>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1</a:t>
            </a:r>
            <a:endParaRPr lang="en-US" sz="1680" dirty="0"/>
          </a:p>
        </p:txBody>
      </p:sp>
      <p:sp>
        <p:nvSpPr>
          <p:cNvPr id="10" name="Text 6"/>
          <p:cNvSpPr txBox="1"/>
          <p:nvPr/>
        </p:nvSpPr>
        <p:spPr>
          <a:xfrm>
            <a:off x="5486400" y="1280160"/>
            <a:ext cx="5056632" cy="81153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Vuelve a tu foco actual</a:t>
            </a:r>
            <a:endParaRPr lang="en-US" sz="1750" dirty="0"/>
          </a:p>
        </p:txBody>
      </p:sp>
      <p:pic>
        <p:nvPicPr>
          <p:cNvPr id="11" name="Image 1" descr="preencoded.png">    </p:cNvPr>
          <p:cNvPicPr>
            <a:picLocks noChangeAspect="1"/>
          </p:cNvPicPr>
          <p:nvPr/>
        </p:nvPicPr>
        <p:blipFill>
          <a:blip r:embed="rId2"/>
          <a:stretch>
            <a:fillRect/>
          </a:stretch>
        </p:blipFill>
        <p:spPr>
          <a:xfrm>
            <a:off x="10817352" y="1493901"/>
            <a:ext cx="384048" cy="384048"/>
          </a:xfrm>
          <a:prstGeom prst="rect">
            <a:avLst/>
          </a:prstGeom>
        </p:spPr>
      </p:pic>
      <p:sp>
        <p:nvSpPr>
          <p:cNvPr id="12" name="Shape 7"/>
          <p:cNvSpPr/>
          <p:nvPr/>
        </p:nvSpPr>
        <p:spPr>
          <a:xfrm>
            <a:off x="4389120" y="2274570"/>
            <a:ext cx="7159752" cy="811530"/>
          </a:xfrm>
          <a:prstGeom prst="roundRect">
            <a:avLst>
              <a:gd name="adj" fmla="val 18028"/>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4663440" y="2406015"/>
            <a:ext cx="548640" cy="548640"/>
          </a:xfrm>
          <a:prstGeom prst="ellipse">
            <a:avLst/>
          </a:prstGeom>
          <a:solidFill>
            <a:srgbClr val="C68C6C"/>
          </a:solidFill>
          <a:ln w="12700">
            <a:solidFill>
              <a:srgbClr val="C68C6C"/>
            </a:solidFill>
            <a:prstDash val="solid"/>
          </a:ln>
        </p:spPr>
      </p:sp>
      <p:sp>
        <p:nvSpPr>
          <p:cNvPr id="14" name="Text 9"/>
          <p:cNvSpPr txBox="1"/>
          <p:nvPr/>
        </p:nvSpPr>
        <p:spPr>
          <a:xfrm>
            <a:off x="4663440" y="2406015"/>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2</a:t>
            </a:r>
            <a:endParaRPr lang="en-US" sz="1680" dirty="0"/>
          </a:p>
        </p:txBody>
      </p:sp>
      <p:sp>
        <p:nvSpPr>
          <p:cNvPr id="15" name="Text 10"/>
          <p:cNvSpPr txBox="1"/>
          <p:nvPr/>
        </p:nvSpPr>
        <p:spPr>
          <a:xfrm>
            <a:off x="5486400" y="2274570"/>
            <a:ext cx="5056632" cy="81153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Elige la herramienta más relevante</a:t>
            </a:r>
            <a:endParaRPr lang="en-US" sz="1750" dirty="0"/>
          </a:p>
        </p:txBody>
      </p:sp>
      <p:pic>
        <p:nvPicPr>
          <p:cNvPr id="16" name="Image 2" descr="preencoded.png">    </p:cNvPr>
          <p:cNvPicPr>
            <a:picLocks noChangeAspect="1"/>
          </p:cNvPicPr>
          <p:nvPr/>
        </p:nvPicPr>
        <p:blipFill>
          <a:blip r:embed="rId3"/>
          <a:stretch>
            <a:fillRect/>
          </a:stretch>
        </p:blipFill>
        <p:spPr>
          <a:xfrm>
            <a:off x="10817352" y="2488311"/>
            <a:ext cx="384048" cy="384048"/>
          </a:xfrm>
          <a:prstGeom prst="rect">
            <a:avLst/>
          </a:prstGeom>
        </p:spPr>
      </p:pic>
      <p:sp>
        <p:nvSpPr>
          <p:cNvPr id="17" name="Shape 11"/>
          <p:cNvSpPr/>
          <p:nvPr/>
        </p:nvSpPr>
        <p:spPr>
          <a:xfrm>
            <a:off x="4389120" y="3268980"/>
            <a:ext cx="7159752" cy="811530"/>
          </a:xfrm>
          <a:prstGeom prst="roundRect">
            <a:avLst>
              <a:gd name="adj" fmla="val 18028"/>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4663440" y="3400425"/>
            <a:ext cx="548640" cy="548640"/>
          </a:xfrm>
          <a:prstGeom prst="ellipse">
            <a:avLst/>
          </a:prstGeom>
          <a:solidFill>
            <a:srgbClr val="C68C6C"/>
          </a:solidFill>
          <a:ln w="12700">
            <a:solidFill>
              <a:srgbClr val="C68C6C"/>
            </a:solidFill>
            <a:prstDash val="solid"/>
          </a:ln>
        </p:spPr>
      </p:sp>
      <p:sp>
        <p:nvSpPr>
          <p:cNvPr id="19" name="Text 13"/>
          <p:cNvSpPr txBox="1"/>
          <p:nvPr/>
        </p:nvSpPr>
        <p:spPr>
          <a:xfrm>
            <a:off x="4663440" y="3400425"/>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3</a:t>
            </a:r>
            <a:endParaRPr lang="en-US" sz="1680" dirty="0"/>
          </a:p>
        </p:txBody>
      </p:sp>
      <p:sp>
        <p:nvSpPr>
          <p:cNvPr id="20" name="Text 14"/>
          <p:cNvSpPr txBox="1"/>
          <p:nvPr/>
        </p:nvSpPr>
        <p:spPr>
          <a:xfrm>
            <a:off x="5486400" y="3268980"/>
            <a:ext cx="5056632" cy="81153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Haz una práctica concreta</a:t>
            </a:r>
            <a:endParaRPr lang="en-US" sz="1750" dirty="0"/>
          </a:p>
        </p:txBody>
      </p:sp>
      <p:pic>
        <p:nvPicPr>
          <p:cNvPr id="21" name="Image 3" descr="preencoded.png">    </p:cNvPr>
          <p:cNvPicPr>
            <a:picLocks noChangeAspect="1"/>
          </p:cNvPicPr>
          <p:nvPr/>
        </p:nvPicPr>
        <p:blipFill>
          <a:blip r:embed="rId4"/>
          <a:stretch>
            <a:fillRect/>
          </a:stretch>
        </p:blipFill>
        <p:spPr>
          <a:xfrm>
            <a:off x="10817352" y="3482721"/>
            <a:ext cx="384048" cy="384048"/>
          </a:xfrm>
          <a:prstGeom prst="rect">
            <a:avLst/>
          </a:prstGeom>
        </p:spPr>
      </p:pic>
      <p:sp>
        <p:nvSpPr>
          <p:cNvPr id="22" name="Shape 15"/>
          <p:cNvSpPr/>
          <p:nvPr/>
        </p:nvSpPr>
        <p:spPr>
          <a:xfrm>
            <a:off x="4389120" y="4263390"/>
            <a:ext cx="7159752" cy="811530"/>
          </a:xfrm>
          <a:prstGeom prst="roundRect">
            <a:avLst>
              <a:gd name="adj" fmla="val 18028"/>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4663440" y="4394835"/>
            <a:ext cx="548640" cy="548640"/>
          </a:xfrm>
          <a:prstGeom prst="ellipse">
            <a:avLst/>
          </a:prstGeom>
          <a:solidFill>
            <a:srgbClr val="C68C6C"/>
          </a:solidFill>
          <a:ln w="12700">
            <a:solidFill>
              <a:srgbClr val="C68C6C"/>
            </a:solidFill>
            <a:prstDash val="solid"/>
          </a:ln>
        </p:spPr>
      </p:sp>
      <p:sp>
        <p:nvSpPr>
          <p:cNvPr id="24" name="Text 17"/>
          <p:cNvSpPr txBox="1"/>
          <p:nvPr/>
        </p:nvSpPr>
        <p:spPr>
          <a:xfrm>
            <a:off x="4663440" y="4394835"/>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4</a:t>
            </a:r>
            <a:endParaRPr lang="en-US" sz="1680" dirty="0"/>
          </a:p>
        </p:txBody>
      </p:sp>
      <p:sp>
        <p:nvSpPr>
          <p:cNvPr id="25" name="Text 18"/>
          <p:cNvSpPr txBox="1"/>
          <p:nvPr/>
        </p:nvSpPr>
        <p:spPr>
          <a:xfrm>
            <a:off x="5486400" y="4263390"/>
            <a:ext cx="5056632" cy="811530"/>
          </a:xfrm>
          <a:prstGeom prst="rect">
            <a:avLst/>
          </a:prstGeom>
          <a:noFill/>
          <a:ln/>
        </p:spPr>
        <p:txBody>
          <a:bodyPr wrap="square" lIns="0" tIns="0" rIns="0" bIns="0" rtlCol="0" anchor="ctr"/>
          <a:lstStyle/>
          <a:p>
            <a:pPr indent="0" marL="0">
              <a:spcAft>
                <a:spcPts val="200"/>
              </a:spcAft>
              <a:buNone/>
            </a:pPr>
            <a:r>
              <a:rPr lang="en-US" sz="1750" dirty="0">
                <a:solidFill>
                  <a:srgbClr val="3F1E0D"/>
                </a:solidFill>
                <a:latin typeface="Open Sans" pitchFamily="34" charset="0"/>
                <a:ea typeface="Open Sans" pitchFamily="34" charset="-122"/>
                <a:cs typeface="Open Sans" pitchFamily="34" charset="-120"/>
              </a:rPr>
              <a:t>Sigue desde ahí</a:t>
            </a:r>
            <a:endParaRPr lang="en-US" sz="1750" dirty="0"/>
          </a:p>
        </p:txBody>
      </p:sp>
      <p:pic>
        <p:nvPicPr>
          <p:cNvPr id="26" name="Image 4" descr="preencoded.png">    </p:cNvPr>
          <p:cNvPicPr>
            <a:picLocks noChangeAspect="1"/>
          </p:cNvPicPr>
          <p:nvPr/>
        </p:nvPicPr>
        <p:blipFill>
          <a:blip r:embed="rId5"/>
          <a:stretch>
            <a:fillRect/>
          </a:stretch>
        </p:blipFill>
        <p:spPr>
          <a:xfrm>
            <a:off x="10817352" y="4477131"/>
            <a:ext cx="384048" cy="384048"/>
          </a:xfrm>
          <a:prstGeom prst="rect">
            <a:avLst/>
          </a:prstGeom>
        </p:spPr>
      </p:pic>
      <p:sp>
        <p:nvSpPr>
          <p:cNvPr id="27" name="Shape 19"/>
          <p:cNvSpPr/>
          <p:nvPr/>
        </p:nvSpPr>
        <p:spPr>
          <a:xfrm>
            <a:off x="4389120" y="5349240"/>
            <a:ext cx="7159752" cy="1005840"/>
          </a:xfrm>
          <a:prstGeom prst="roundRect">
            <a:avLst>
              <a:gd name="adj" fmla="val 14545"/>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8" name="Shape 20"/>
          <p:cNvSpPr/>
          <p:nvPr/>
        </p:nvSpPr>
        <p:spPr>
          <a:xfrm>
            <a:off x="4754880" y="5486400"/>
            <a:ext cx="731520" cy="731520"/>
          </a:xfrm>
          <a:prstGeom prst="ellipse">
            <a:avLst/>
          </a:prstGeom>
          <a:solidFill>
            <a:srgbClr val="C68C6C"/>
          </a:solidFill>
          <a:ln w="12700">
            <a:solidFill>
              <a:srgbClr val="C68C6C"/>
            </a:solidFill>
            <a:prstDash val="solid"/>
          </a:ln>
        </p:spPr>
      </p:sp>
      <p:pic>
        <p:nvPicPr>
          <p:cNvPr id="29" name="Image 5" descr="preencoded.png">    </p:cNvPr>
          <p:cNvPicPr>
            <a:picLocks noChangeAspect="1"/>
          </p:cNvPicPr>
          <p:nvPr/>
        </p:nvPicPr>
        <p:blipFill>
          <a:blip r:embed="rId6"/>
          <a:stretch>
            <a:fillRect/>
          </a:stretch>
        </p:blipFill>
        <p:spPr>
          <a:xfrm>
            <a:off x="4952390" y="5683910"/>
            <a:ext cx="336499" cy="336499"/>
          </a:xfrm>
          <a:prstGeom prst="rect">
            <a:avLst/>
          </a:prstGeom>
        </p:spPr>
      </p:pic>
      <p:sp>
        <p:nvSpPr>
          <p:cNvPr id="30" name="Text 21"/>
          <p:cNvSpPr txBox="1"/>
          <p:nvPr/>
        </p:nvSpPr>
        <p:spPr>
          <a:xfrm>
            <a:off x="5806440" y="5349240"/>
            <a:ext cx="5422392" cy="1005840"/>
          </a:xfrm>
          <a:prstGeom prst="rect">
            <a:avLst/>
          </a:prstGeom>
          <a:noFill/>
          <a:ln/>
        </p:spPr>
        <p:txBody>
          <a:bodyPr wrap="square" lIns="0" tIns="0" rIns="0" bIns="0" rtlCol="0" anchor="ctr"/>
          <a:lstStyle/>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No intentes ponerte al día el domingo mirando cinco clases juntas.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09 / 10</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Antes de avanzar, pregúntate</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solamente si terminaste todas las clases</a:t>
            </a:r>
            <a:endParaRPr lang="en-US" sz="1600" dirty="0"/>
          </a:p>
        </p:txBody>
      </p:sp>
      <p:sp>
        <p:nvSpPr>
          <p:cNvPr id="7" name="Shape 3"/>
          <p:cNvSpPr/>
          <p:nvPr/>
        </p:nvSpPr>
        <p:spPr>
          <a:xfrm>
            <a:off x="4389120" y="1280160"/>
            <a:ext cx="7159752" cy="708660"/>
          </a:xfrm>
          <a:prstGeom prst="roundRect">
            <a:avLst>
              <a:gd name="adj" fmla="val 2064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8" name="Image 1" descr="preencoded.png">    </p:cNvPr>
          <p:cNvPicPr>
            <a:picLocks noChangeAspect="1"/>
          </p:cNvPicPr>
          <p:nvPr/>
        </p:nvPicPr>
        <p:blipFill>
          <a:blip r:embed="rId2"/>
          <a:stretch>
            <a:fillRect/>
          </a:stretch>
        </p:blipFill>
        <p:spPr>
          <a:xfrm>
            <a:off x="4663440" y="1460754"/>
            <a:ext cx="347472" cy="347472"/>
          </a:xfrm>
          <a:prstGeom prst="rect">
            <a:avLst/>
          </a:prstGeom>
        </p:spPr>
      </p:pic>
      <p:sp>
        <p:nvSpPr>
          <p:cNvPr id="9" name="Text 4"/>
          <p:cNvSpPr txBox="1"/>
          <p:nvPr/>
        </p:nvSpPr>
        <p:spPr>
          <a:xfrm>
            <a:off x="5212080" y="1280160"/>
            <a:ext cx="6153912" cy="708660"/>
          </a:xfrm>
          <a:prstGeom prst="rect">
            <a:avLst/>
          </a:prstGeom>
          <a:noFill/>
          <a:ln/>
        </p:spPr>
        <p:txBody>
          <a:bodyPr wrap="square" lIns="0" tIns="0" rIns="0" bIns="0" rtlCol="0" anchor="ctr"/>
          <a:lstStyle/>
          <a:p>
            <a:pPr indent="0" marL="0">
              <a:buNone/>
            </a:pPr>
            <a:r>
              <a:rPr lang="en-US" sz="1500" dirty="0">
                <a:solidFill>
                  <a:srgbClr val="3F1E0D"/>
                </a:solidFill>
                <a:latin typeface="Open Sans" pitchFamily="34" charset="0"/>
                <a:ea typeface="Open Sans" pitchFamily="34" charset="-122"/>
                <a:cs typeface="Open Sans" pitchFamily="34" charset="-120"/>
              </a:rPr>
              <a:t>¿Entiendo la herramienta?</a:t>
            </a:r>
            <a:endParaRPr lang="en-US" sz="1500" dirty="0"/>
          </a:p>
        </p:txBody>
      </p:sp>
      <p:sp>
        <p:nvSpPr>
          <p:cNvPr id="10" name="Shape 5"/>
          <p:cNvSpPr/>
          <p:nvPr/>
        </p:nvSpPr>
        <p:spPr>
          <a:xfrm>
            <a:off x="4389120" y="2171700"/>
            <a:ext cx="7159752" cy="708660"/>
          </a:xfrm>
          <a:prstGeom prst="roundRect">
            <a:avLst>
              <a:gd name="adj" fmla="val 2064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11" name="Image 2" descr="preencoded.png">    </p:cNvPr>
          <p:cNvPicPr>
            <a:picLocks noChangeAspect="1"/>
          </p:cNvPicPr>
          <p:nvPr/>
        </p:nvPicPr>
        <p:blipFill>
          <a:blip r:embed="rId3"/>
          <a:stretch>
            <a:fillRect/>
          </a:stretch>
        </p:blipFill>
        <p:spPr>
          <a:xfrm>
            <a:off x="4663440" y="2352294"/>
            <a:ext cx="347472" cy="347472"/>
          </a:xfrm>
          <a:prstGeom prst="rect">
            <a:avLst/>
          </a:prstGeom>
        </p:spPr>
      </p:pic>
      <p:sp>
        <p:nvSpPr>
          <p:cNvPr id="12" name="Text 6"/>
          <p:cNvSpPr txBox="1"/>
          <p:nvPr/>
        </p:nvSpPr>
        <p:spPr>
          <a:xfrm>
            <a:off x="5212080" y="2171700"/>
            <a:ext cx="6153912" cy="708660"/>
          </a:xfrm>
          <a:prstGeom prst="rect">
            <a:avLst/>
          </a:prstGeom>
          <a:noFill/>
          <a:ln/>
        </p:spPr>
        <p:txBody>
          <a:bodyPr wrap="square" lIns="0" tIns="0" rIns="0" bIns="0" rtlCol="0" anchor="ctr"/>
          <a:lstStyle/>
          <a:p>
            <a:pPr indent="0" marL="0">
              <a:buNone/>
            </a:pPr>
            <a:r>
              <a:rPr lang="en-US" sz="1500" dirty="0">
                <a:solidFill>
                  <a:srgbClr val="3F1E0D"/>
                </a:solidFill>
                <a:latin typeface="Open Sans" pitchFamily="34" charset="0"/>
                <a:ea typeface="Open Sans" pitchFamily="34" charset="-122"/>
                <a:cs typeface="Open Sans" pitchFamily="34" charset="-120"/>
              </a:rPr>
              <a:t>¿La probé?</a:t>
            </a:r>
            <a:endParaRPr lang="en-US" sz="1500" dirty="0"/>
          </a:p>
        </p:txBody>
      </p:sp>
      <p:sp>
        <p:nvSpPr>
          <p:cNvPr id="13" name="Shape 7"/>
          <p:cNvSpPr/>
          <p:nvPr/>
        </p:nvSpPr>
        <p:spPr>
          <a:xfrm>
            <a:off x="4389120" y="3063240"/>
            <a:ext cx="7159752" cy="708660"/>
          </a:xfrm>
          <a:prstGeom prst="roundRect">
            <a:avLst>
              <a:gd name="adj" fmla="val 2064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14" name="Image 3" descr="preencoded.png">    </p:cNvPr>
          <p:cNvPicPr>
            <a:picLocks noChangeAspect="1"/>
          </p:cNvPicPr>
          <p:nvPr/>
        </p:nvPicPr>
        <p:blipFill>
          <a:blip r:embed="rId4"/>
          <a:stretch>
            <a:fillRect/>
          </a:stretch>
        </p:blipFill>
        <p:spPr>
          <a:xfrm>
            <a:off x="4663440" y="3243834"/>
            <a:ext cx="347472" cy="347472"/>
          </a:xfrm>
          <a:prstGeom prst="rect">
            <a:avLst/>
          </a:prstGeom>
        </p:spPr>
      </p:pic>
      <p:sp>
        <p:nvSpPr>
          <p:cNvPr id="15" name="Text 8"/>
          <p:cNvSpPr txBox="1"/>
          <p:nvPr/>
        </p:nvSpPr>
        <p:spPr>
          <a:xfrm>
            <a:off x="5212080" y="3063240"/>
            <a:ext cx="6153912" cy="708660"/>
          </a:xfrm>
          <a:prstGeom prst="rect">
            <a:avLst/>
          </a:prstGeom>
          <a:noFill/>
          <a:ln/>
        </p:spPr>
        <p:txBody>
          <a:bodyPr wrap="square" lIns="0" tIns="0" rIns="0" bIns="0" rtlCol="0" anchor="ctr"/>
          <a:lstStyle/>
          <a:p>
            <a:pPr indent="0" marL="0">
              <a:buNone/>
            </a:pPr>
            <a:r>
              <a:rPr lang="en-US" sz="1500" dirty="0">
                <a:solidFill>
                  <a:srgbClr val="3F1E0D"/>
                </a:solidFill>
                <a:latin typeface="Open Sans" pitchFamily="34" charset="0"/>
                <a:ea typeface="Open Sans" pitchFamily="34" charset="-122"/>
                <a:cs typeface="Open Sans" pitchFamily="34" charset="-120"/>
              </a:rPr>
              <a:t>¿Puedo relacionarla con una situación real?</a:t>
            </a:r>
            <a:endParaRPr lang="en-US" sz="1500" dirty="0"/>
          </a:p>
        </p:txBody>
      </p:sp>
      <p:sp>
        <p:nvSpPr>
          <p:cNvPr id="16" name="Shape 9"/>
          <p:cNvSpPr/>
          <p:nvPr/>
        </p:nvSpPr>
        <p:spPr>
          <a:xfrm>
            <a:off x="4389120" y="3954780"/>
            <a:ext cx="7159752" cy="708660"/>
          </a:xfrm>
          <a:prstGeom prst="roundRect">
            <a:avLst>
              <a:gd name="adj" fmla="val 20645"/>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pic>
        <p:nvPicPr>
          <p:cNvPr id="17" name="Image 4" descr="preencoded.png">    </p:cNvPr>
          <p:cNvPicPr>
            <a:picLocks noChangeAspect="1"/>
          </p:cNvPicPr>
          <p:nvPr/>
        </p:nvPicPr>
        <p:blipFill>
          <a:blip r:embed="rId5"/>
          <a:stretch>
            <a:fillRect/>
          </a:stretch>
        </p:blipFill>
        <p:spPr>
          <a:xfrm>
            <a:off x="4663440" y="4135374"/>
            <a:ext cx="347472" cy="347472"/>
          </a:xfrm>
          <a:prstGeom prst="rect">
            <a:avLst/>
          </a:prstGeom>
        </p:spPr>
      </p:pic>
      <p:sp>
        <p:nvSpPr>
          <p:cNvPr id="18" name="Text 10"/>
          <p:cNvSpPr txBox="1"/>
          <p:nvPr/>
        </p:nvSpPr>
        <p:spPr>
          <a:xfrm>
            <a:off x="5212080" y="3954780"/>
            <a:ext cx="6153912" cy="708660"/>
          </a:xfrm>
          <a:prstGeom prst="rect">
            <a:avLst/>
          </a:prstGeom>
          <a:noFill/>
          <a:ln/>
        </p:spPr>
        <p:txBody>
          <a:bodyPr wrap="square" lIns="0" tIns="0" rIns="0" bIns="0" rtlCol="0" anchor="ctr"/>
          <a:lstStyle/>
          <a:p>
            <a:pPr indent="0" marL="0">
              <a:buNone/>
            </a:pPr>
            <a:r>
              <a:rPr lang="en-US" sz="1500" dirty="0">
                <a:solidFill>
                  <a:srgbClr val="3F1E0D"/>
                </a:solidFill>
                <a:latin typeface="Open Sans" pitchFamily="34" charset="0"/>
                <a:ea typeface="Open Sans" pitchFamily="34" charset="-122"/>
                <a:cs typeface="Open Sans" pitchFamily="34" charset="-120"/>
              </a:rPr>
              <a:t>¿Sé qué necesito seguir entrenando?</a:t>
            </a:r>
            <a:endParaRPr lang="en-US" sz="1500" dirty="0"/>
          </a:p>
        </p:txBody>
      </p:sp>
      <p:sp>
        <p:nvSpPr>
          <p:cNvPr id="19" name="Shape 11"/>
          <p:cNvSpPr/>
          <p:nvPr/>
        </p:nvSpPr>
        <p:spPr>
          <a:xfrm>
            <a:off x="4389120" y="4937760"/>
            <a:ext cx="7159752" cy="1417320"/>
          </a:xfrm>
          <a:prstGeom prst="roundRect">
            <a:avLst>
              <a:gd name="adj" fmla="val 1032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0" name="Shape 12"/>
          <p:cNvSpPr/>
          <p:nvPr/>
        </p:nvSpPr>
        <p:spPr>
          <a:xfrm>
            <a:off x="4754880" y="5257800"/>
            <a:ext cx="777240" cy="777240"/>
          </a:xfrm>
          <a:prstGeom prst="ellipse">
            <a:avLst/>
          </a:prstGeom>
          <a:solidFill>
            <a:srgbClr val="C68C6C"/>
          </a:solidFill>
          <a:ln w="12700">
            <a:solidFill>
              <a:srgbClr val="C68C6C"/>
            </a:solidFill>
            <a:prstDash val="solid"/>
          </a:ln>
        </p:spPr>
      </p:sp>
      <p:pic>
        <p:nvPicPr>
          <p:cNvPr id="21" name="Image 5" descr="preencoded.png">    </p:cNvPr>
          <p:cNvPicPr>
            <a:picLocks noChangeAspect="1"/>
          </p:cNvPicPr>
          <p:nvPr/>
        </p:nvPicPr>
        <p:blipFill>
          <a:blip r:embed="rId6"/>
          <a:stretch>
            <a:fillRect/>
          </a:stretch>
        </p:blipFill>
        <p:spPr>
          <a:xfrm>
            <a:off x="4964735" y="5467655"/>
            <a:ext cx="357530" cy="357530"/>
          </a:xfrm>
          <a:prstGeom prst="rect">
            <a:avLst/>
          </a:prstGeom>
        </p:spPr>
      </p:pic>
      <p:sp>
        <p:nvSpPr>
          <p:cNvPr id="22" name="Text 13"/>
          <p:cNvSpPr txBox="1"/>
          <p:nvPr/>
        </p:nvSpPr>
        <p:spPr>
          <a:xfrm>
            <a:off x="5852160" y="4937760"/>
            <a:ext cx="5376672" cy="141732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No necesito que una habilidad esté perfecta para pasar a la siguiente etapa</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Muchas se siguen consolidando durante todo el programa. Buscamos que construyas autonomía.</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68C6C"/>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3F1E0D"/>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3F1E0D"/>
                </a:solidFill>
                <a:latin typeface="Open Sans" pitchFamily="34" charset="0"/>
                <a:ea typeface="Open Sans" pitchFamily="34" charset="-122"/>
                <a:cs typeface="Open Sans" pitchFamily="34" charset="-120"/>
              </a:rPr>
              <a:t>   ·   10 / 10</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3F1E0D"/>
                </a:solidFill>
                <a:latin typeface="Source Serif Pro" pitchFamily="34" charset="0"/>
                <a:ea typeface="Source Serif Pro" pitchFamily="34" charset="-122"/>
                <a:cs typeface="Source Serif Pro" pitchFamily="34" charset="-120"/>
              </a:rPr>
              <a:t>El Roadmap es una dirección</a:t>
            </a:r>
            <a:endParaRPr lang="en-US" sz="3400" dirty="0"/>
          </a:p>
        </p:txBody>
      </p:sp>
      <p:sp>
        <p:nvSpPr>
          <p:cNvPr id="6" name="Text 2"/>
          <p:cNvSpPr txBox="1"/>
          <p:nvPr/>
        </p:nvSpPr>
        <p:spPr>
          <a:xfrm>
            <a:off x="640080" y="2521712"/>
            <a:ext cx="3291840" cy="365760"/>
          </a:xfrm>
          <a:prstGeom prst="rect">
            <a:avLst/>
          </a:prstGeom>
          <a:noFill/>
          <a:ln/>
        </p:spPr>
        <p:txBody>
          <a:bodyPr wrap="square" lIns="0" tIns="0" rIns="0" bIns="0" rtlCol="0" anchor="t"/>
          <a:lstStyle/>
          <a:p>
            <a:pPr indent="0" marL="0">
              <a:buNone/>
            </a:pPr>
            <a:r>
              <a:rPr lang="en-US" sz="1600" i="1" dirty="0">
                <a:solidFill>
                  <a:srgbClr val="3F1E0D"/>
                </a:solidFill>
                <a:latin typeface="Source Serif Pro" pitchFamily="34" charset="0"/>
                <a:ea typeface="Source Serif Pro" pitchFamily="34" charset="-122"/>
                <a:cs typeface="Source Serif Pro" pitchFamily="34" charset="-120"/>
              </a:rPr>
              <a:t>No una lista rígida de materias</a:t>
            </a:r>
            <a:endParaRPr lang="en-US" sz="1600" dirty="0"/>
          </a:p>
        </p:txBody>
      </p:sp>
      <p:sp>
        <p:nvSpPr>
          <p:cNvPr id="7" name="Shape 3"/>
          <p:cNvSpPr/>
          <p:nvPr/>
        </p:nvSpPr>
        <p:spPr>
          <a:xfrm>
            <a:off x="4389120" y="1280160"/>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09160" y="1527048"/>
            <a:ext cx="603504" cy="603504"/>
          </a:xfrm>
          <a:prstGeom prst="ellipse">
            <a:avLst/>
          </a:prstGeom>
          <a:solidFill>
            <a:srgbClr val="3F1E0D"/>
          </a:solidFill>
          <a:ln w="12700">
            <a:solidFill>
              <a:srgbClr val="3F1E0D"/>
            </a:solidFill>
            <a:prstDash val="solid"/>
          </a:ln>
        </p:spPr>
      </p:sp>
      <p:pic>
        <p:nvPicPr>
          <p:cNvPr id="9" name="Image 1" descr="preencoded.png">    </p:cNvPr>
          <p:cNvPicPr>
            <a:picLocks noChangeAspect="1"/>
          </p:cNvPicPr>
          <p:nvPr/>
        </p:nvPicPr>
        <p:blipFill>
          <a:blip r:embed="rId2"/>
          <a:stretch>
            <a:fillRect/>
          </a:stretch>
        </p:blipFill>
        <p:spPr>
          <a:xfrm>
            <a:off x="4872106" y="1689994"/>
            <a:ext cx="277612" cy="277612"/>
          </a:xfrm>
          <a:prstGeom prst="rect">
            <a:avLst/>
          </a:prstGeom>
        </p:spPr>
      </p:pic>
      <p:sp>
        <p:nvSpPr>
          <p:cNvPr id="10" name="Text 5"/>
          <p:cNvSpPr txBox="1"/>
          <p:nvPr/>
        </p:nvSpPr>
        <p:spPr>
          <a:xfrm>
            <a:off x="5577840" y="1280160"/>
            <a:ext cx="5696712" cy="1097280"/>
          </a:xfrm>
          <a:prstGeom prst="rect">
            <a:avLst/>
          </a:prstGeom>
          <a:noFill/>
          <a:ln/>
        </p:spPr>
        <p:txBody>
          <a:bodyPr wrap="square" lIns="0" tIns="0" rIns="0" bIns="0" rtlCol="0" anchor="ctr"/>
          <a:lstStyle/>
          <a:p>
            <a:pPr indent="0" marL="0">
              <a:buNone/>
            </a:pPr>
            <a:r>
              <a:rPr lang="en-US" sz="1650" b="1" dirty="0">
                <a:solidFill>
                  <a:srgbClr val="3F1E0D"/>
                </a:solidFill>
                <a:latin typeface="Open Sans" pitchFamily="34" charset="0"/>
                <a:ea typeface="Open Sans" pitchFamily="34" charset="-122"/>
                <a:cs typeface="Open Sans" pitchFamily="34" charset="-120"/>
              </a:rPr>
              <a:t>Yo te ayudo a priorizar el foco; </a:t>
            </a:r>
            <a:pPr indent="0" marL="0">
              <a:buNone/>
            </a:pPr>
            <a:r>
              <a:rPr lang="en-US" sz="1650" dirty="0">
                <a:solidFill>
                  <a:srgbClr val="3F1E0D"/>
                </a:solidFill>
                <a:latin typeface="Open Sans" pitchFamily="34" charset="0"/>
                <a:ea typeface="Open Sans" pitchFamily="34" charset="-122"/>
                <a:cs typeface="Open Sans" pitchFamily="34" charset="-120"/>
              </a:rPr>
              <a:t>tu trabajo real nos muestra qué necesita atención</a:t>
            </a:r>
            <a:endParaRPr lang="en-US" sz="1650" dirty="0"/>
          </a:p>
        </p:txBody>
      </p:sp>
      <p:sp>
        <p:nvSpPr>
          <p:cNvPr id="11" name="Shape 6"/>
          <p:cNvSpPr/>
          <p:nvPr/>
        </p:nvSpPr>
        <p:spPr>
          <a:xfrm>
            <a:off x="4389120" y="2578608"/>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4709160" y="2825496"/>
            <a:ext cx="603504" cy="603504"/>
          </a:xfrm>
          <a:prstGeom prst="ellipse">
            <a:avLst/>
          </a:prstGeom>
          <a:solidFill>
            <a:srgbClr val="3F1E0D"/>
          </a:solidFill>
          <a:ln w="12700">
            <a:solidFill>
              <a:srgbClr val="3F1E0D"/>
            </a:solidFill>
            <a:prstDash val="solid"/>
          </a:ln>
        </p:spPr>
      </p:sp>
      <p:pic>
        <p:nvPicPr>
          <p:cNvPr id="13" name="Image 2" descr="preencoded.png">    </p:cNvPr>
          <p:cNvPicPr>
            <a:picLocks noChangeAspect="1"/>
          </p:cNvPicPr>
          <p:nvPr/>
        </p:nvPicPr>
        <p:blipFill>
          <a:blip r:embed="rId3"/>
          <a:stretch>
            <a:fillRect/>
          </a:stretch>
        </p:blipFill>
        <p:spPr>
          <a:xfrm>
            <a:off x="4872106" y="2988442"/>
            <a:ext cx="277612" cy="277612"/>
          </a:xfrm>
          <a:prstGeom prst="rect">
            <a:avLst/>
          </a:prstGeom>
        </p:spPr>
      </p:pic>
      <p:sp>
        <p:nvSpPr>
          <p:cNvPr id="14" name="Text 8"/>
          <p:cNvSpPr txBox="1"/>
          <p:nvPr/>
        </p:nvSpPr>
        <p:spPr>
          <a:xfrm>
            <a:off x="5577840" y="2578608"/>
            <a:ext cx="5696712" cy="1097280"/>
          </a:xfrm>
          <a:prstGeom prst="rect">
            <a:avLst/>
          </a:prstGeom>
          <a:noFill/>
          <a:ln/>
        </p:spPr>
        <p:txBody>
          <a:bodyPr wrap="square" lIns="0" tIns="0" rIns="0" bIns="0" rtlCol="0" anchor="ctr"/>
          <a:lstStyle/>
          <a:p>
            <a:pPr indent="0" marL="0">
              <a:buNone/>
            </a:pPr>
            <a:r>
              <a:rPr lang="en-US" sz="1650" b="1" dirty="0">
                <a:solidFill>
                  <a:srgbClr val="3F1E0D"/>
                </a:solidFill>
                <a:latin typeface="Open Sans" pitchFamily="34" charset="0"/>
                <a:ea typeface="Open Sans" pitchFamily="34" charset="-122"/>
                <a:cs typeface="Open Sans" pitchFamily="34" charset="-120"/>
              </a:rPr>
              <a:t>En tu Weekly System </a:t>
            </a:r>
            <a:pPr indent="0" marL="0">
              <a:buNone/>
            </a:pPr>
            <a:r>
              <a:rPr lang="en-US" sz="1650" dirty="0">
                <a:solidFill>
                  <a:srgbClr val="3F1E0D"/>
                </a:solidFill>
                <a:latin typeface="Open Sans" pitchFamily="34" charset="0"/>
                <a:ea typeface="Open Sans" pitchFamily="34" charset="-122"/>
                <a:cs typeface="Open Sans" pitchFamily="34" charset="-120"/>
              </a:rPr>
              <a:t>defines cada semana qué trabajar y cuándo practicarlo</a:t>
            </a:r>
            <a:endParaRPr lang="en-US" sz="1650" dirty="0"/>
          </a:p>
        </p:txBody>
      </p:sp>
      <p:sp>
        <p:nvSpPr>
          <p:cNvPr id="15" name="Shape 9"/>
          <p:cNvSpPr/>
          <p:nvPr/>
        </p:nvSpPr>
        <p:spPr>
          <a:xfrm>
            <a:off x="4389120" y="3877056"/>
            <a:ext cx="7159752" cy="1097280"/>
          </a:xfrm>
          <a:prstGeom prst="roundRect">
            <a:avLst>
              <a:gd name="adj" fmla="val 13333"/>
            </a:avLst>
          </a:prstGeom>
          <a:solidFill>
            <a:srgbClr val="F8F5EE"/>
          </a:solidFill>
          <a:ln w="12700">
            <a:solidFill>
              <a:srgbClr val="F8F5EE"/>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4709160" y="4123944"/>
            <a:ext cx="603504" cy="603504"/>
          </a:xfrm>
          <a:prstGeom prst="ellipse">
            <a:avLst/>
          </a:prstGeom>
          <a:solidFill>
            <a:srgbClr val="3F1E0D"/>
          </a:solidFill>
          <a:ln w="12700">
            <a:solidFill>
              <a:srgbClr val="3F1E0D"/>
            </a:solidFill>
            <a:prstDash val="solid"/>
          </a:ln>
        </p:spPr>
      </p:sp>
      <p:pic>
        <p:nvPicPr>
          <p:cNvPr id="17" name="Image 3" descr="preencoded.png">    </p:cNvPr>
          <p:cNvPicPr>
            <a:picLocks noChangeAspect="1"/>
          </p:cNvPicPr>
          <p:nvPr/>
        </p:nvPicPr>
        <p:blipFill>
          <a:blip r:embed="rId4"/>
          <a:stretch>
            <a:fillRect/>
          </a:stretch>
        </p:blipFill>
        <p:spPr>
          <a:xfrm>
            <a:off x="4872106" y="4286890"/>
            <a:ext cx="277612" cy="277612"/>
          </a:xfrm>
          <a:prstGeom prst="rect">
            <a:avLst/>
          </a:prstGeom>
        </p:spPr>
      </p:pic>
      <p:sp>
        <p:nvSpPr>
          <p:cNvPr id="18" name="Text 11"/>
          <p:cNvSpPr txBox="1"/>
          <p:nvPr/>
        </p:nvSpPr>
        <p:spPr>
          <a:xfrm>
            <a:off x="5577840" y="3877056"/>
            <a:ext cx="5696712" cy="1097280"/>
          </a:xfrm>
          <a:prstGeom prst="rect">
            <a:avLst/>
          </a:prstGeom>
          <a:noFill/>
          <a:ln/>
        </p:spPr>
        <p:txBody>
          <a:bodyPr wrap="square" lIns="0" tIns="0" rIns="0" bIns="0" rtlCol="0" anchor="ctr"/>
          <a:lstStyle/>
          <a:p>
            <a:pPr indent="0" marL="0">
              <a:buNone/>
            </a:pPr>
            <a:r>
              <a:rPr lang="en-US" sz="1650" dirty="0">
                <a:solidFill>
                  <a:srgbClr val="3F1E0D"/>
                </a:solidFill>
                <a:latin typeface="Open Sans" pitchFamily="34" charset="0"/>
                <a:ea typeface="Open Sans" pitchFamily="34" charset="-122"/>
                <a:cs typeface="Open Sans" pitchFamily="34" charset="-120"/>
              </a:rPr>
              <a:t>Revisa tu calendario y reserva desde ahora </a:t>
            </a:r>
            <a:pPr indent="0" marL="0">
              <a:buNone/>
            </a:pPr>
            <a:r>
              <a:rPr lang="en-US" sz="1650" b="1" dirty="0">
                <a:solidFill>
                  <a:srgbClr val="3F1E0D"/>
                </a:solidFill>
                <a:latin typeface="Open Sans" pitchFamily="34" charset="0"/>
                <a:ea typeface="Open Sans" pitchFamily="34" charset="-122"/>
                <a:cs typeface="Open Sans" pitchFamily="34" charset="-120"/>
              </a:rPr>
              <a:t>dos o tres espacios semanales de 20–30 minutos</a:t>
            </a:r>
            <a:endParaRPr lang="en-US" sz="1650" dirty="0"/>
          </a:p>
        </p:txBody>
      </p:sp>
      <p:sp>
        <p:nvSpPr>
          <p:cNvPr id="19" name="Text 12"/>
          <p:cNvSpPr txBox="1"/>
          <p:nvPr/>
        </p:nvSpPr>
        <p:spPr>
          <a:xfrm>
            <a:off x="4389120" y="5760720"/>
            <a:ext cx="7159752" cy="594360"/>
          </a:xfrm>
          <a:prstGeom prst="rect">
            <a:avLst/>
          </a:prstGeom>
          <a:noFill/>
          <a:ln/>
        </p:spPr>
        <p:txBody>
          <a:bodyPr wrap="square" lIns="0" tIns="0" rIns="0" bIns="0" rtlCol="0" anchor="ctr"/>
          <a:lstStyle/>
          <a:p>
            <a:pPr indent="0" marL="0">
              <a:buNone/>
            </a:pPr>
            <a:r>
              <a:rPr lang="en-US" sz="1500" i="1" dirty="0">
                <a:solidFill>
                  <a:srgbClr val="3F1E0D"/>
                </a:solidFill>
                <a:latin typeface="Source Serif Pro" pitchFamily="34" charset="0"/>
                <a:ea typeface="Source Serif Pro" pitchFamily="34" charset="-122"/>
                <a:cs typeface="Source Serif Pro" pitchFamily="34" charset="-120"/>
              </a:rPr>
              <a:t>No necesitas hacerlo todo. Necesitas trabajar con intención y sostener el proceso.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ONB 07 · Cómo recorrer AT WORK durante estos 5 meses</dc:title>
  <dc:subject>PptxGenJS Presentation</dc:subject>
  <dc:creator>Flor Pérsico</dc:creator>
  <cp:lastModifiedBy>Flor Pérsico</cp:lastModifiedBy>
  <cp:revision>1</cp:revision>
  <dcterms:created xsi:type="dcterms:W3CDTF">2026-09-23T14:07:04Z</dcterms:created>
  <dcterms:modified xsi:type="dcterms:W3CDTF">2026-09-23T14:07:04Z</dcterms:modified>
</cp:coreProperties>
</file>