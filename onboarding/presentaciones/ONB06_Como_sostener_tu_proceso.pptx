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una parte de AT WORK que para mí es tan importante como las herramientas de comunicación, la gramática o la pronunciación: aprender a sostener el proceso.
Porque cinco meses no se sostienen solamente con motivación. Hay semanas excelentes y otras en las que vas a estar cansada, con muchísimo trabajo o sintiendo que no avanzaste tanto como querías.
Y especialmente si eres una persona exigente, es muy fácil caer en una trampa: esperar un gran resultado para recién ahí reconocer que estás progresando.
Durante AT WORK quiero que entrenemos otra manera de mirar 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personas exigentes solemos mover el estándar todo el tiempo.
Algo que hace dos semanas parecía dificilísimo, cuando finalmente lo hacemos, enseguida se vuelve normal. Y nuestra cabeza ya está mirando lo próximo que falta.
Entonces puedes estar avanzando de verdad y, sin embargo, sentir que nunca es suficiente.
Por eso quiero que aprendas a reconocer evidencia mientras está ocurriendo. No solamente al final del programa y no solamente cuando pasa algo enorme.
Necesitamos darle a tu cerebro estímulos frecuentes de que el proceso se está moviendo. No para conformarte, sino para que puedas sostener el esfuerzo el tiempo suficiente como para seguir creciendo.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 se conecta directamente con la participación.
Para mí, participar no significa hablar por hablar en la comunidad ni estar escribiendo todos los días.
Participar significa hacer visible tu proceso.
Puede ser contarme que mañana tienes una reunión que te preocupa. Compartir una práctica. Preguntar algo que no te quedó claro. Pedir feedback. Contar qué pasó después de una situación que preparamos juntas.
Cuanto más visible sea tu proceso, mejor puedo acompañarte. Y además, poner en palabras lo que te está pasando te ayuda a ti misma a observarlo.
No quiero que hagas AT WORK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Otra cosa importante: no midas estos cinco meses solamente por cómo te sientes con tu inglés.
Puedes seguir sintiendo nervios y, al mismo tiempo, estar participando mucho más en reuniones.
Puedes sentir que todavía te falta muchísimo y estar resolviendo situaciones que antes evitabas.
Puedes salir de una reunión pensando en tres errores y olvidarte de que respondiste una pregunta inesperada sin quedarte en blanco.
La confianza muchas veces tarda más que la evidencia.
Por eso quiero que te preguntes: ¿qué hice diferente? ¿Qué pude sostener mejor? ¿Qué dejé de evitar? ¿Qué situación resolví de otra manera?
Eso también es progreso.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acá aparece algo que quiero que tomes muy en serio dentro de AT WORK: tus wins.
Un win no tiene que ser conseguir un ascenso, liderar una presentación enorme o sentirte completamente segura hablando inglés.
A veces el win ni siquiera es el resultado. Es haber sostenido el proceso.
Tuviste una semana complicada y aun así hiciste tu práctica.
Una reunión no salió como querías, pero en vez de desaparecer trajiste la situación, pediste feedback y volviste a intentarlo.
Te faltó una palabra y seguiste hablando.
Interviniste una vez cuando normalmente te hubieras quedado callada.
Retomaste después de una semana desordenada en lugar de abandonar.
Todo eso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aparezca uno de esos wins, quiero que lo compartas.
Primero, porque ponerlo en palabras te obliga a registrarlo. Si no lo registras, tu cabeza probablemente lo normalice y vuelva inmediatamente a mirar lo que falta.
Y segundo, porque tu experiencia puede ayudar a otra mujer que está atravesando algo parecido.
Quizás para ti decir que hoy participaste un poco más parece mínimo. Para otra alumna puede ser exactamente la evidencia que necesita para entender que el cambio ocurre de a poco.
No quiero que la comunidad exista solamente para problemas y preguntas. También quiero que sea un lugar donde podamos reconocer lo que va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como quiero que me cuentes cuando algo te cuesta, también necesito que me cuentes cuando algo te está ayudando.
Dime qué herramienta te sirvió. Qué cambió. Qué pudiste hacer diferente. Qué necesitas que ajustemos.
No esperes al final de los cinco meses para contarme qué tuvo impacto.
Tu feedback me permite acompañarte mejor y tomar mejores decisiones sobre tu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de las mujeres que llegan a AT WORK creen que son las únicas a las que les pasa esto.
Tienen experiencia, conocimiento y usan inglés en su trabajo, pero sienten que en una reunión no pueden mostrar todo lo que realmente saben.
Por eso los wins, el feedback, los testimonios y algunos fragmentos del proceso pueden ayudar a otra profesional a reconocerse y animarse.
Siempre cuidando la información confidencial de tu trabajo y respetando lo establecido en nuestro Acuerdo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si quiero dejarte una idea de esta clase, es ésta: no hagas AT WORK en silencio y no esperes un resultado enorme para reconocer que el proceso está funcionando.
Participa. Pide ayuda. Comparte evidencia. Cuéntame lo que va cambiando.
Y educa tu atención para reconocer también los pequeños wins.
Esta semana tu primera acción es muy simple: si todavía no lo hiciste, preséntate en la comunidad. Y durante la semana, busca al menos un win real y compártelo.
No tiene que ser enorme. Tiene que ser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06</a:t>
            </a:r>
            <a:endParaRPr lang="en-US" sz="1100" dirty="0"/>
          </a:p>
        </p:txBody>
      </p:sp>
      <p:sp>
        <p:nvSpPr>
          <p:cNvPr id="5" name="Text 2"/>
          <p:cNvSpPr txBox="1"/>
          <p:nvPr/>
        </p:nvSpPr>
        <p:spPr>
          <a:xfrm>
            <a:off x="640080" y="1325880"/>
            <a:ext cx="5760720" cy="1516380"/>
          </a:xfrm>
          <a:prstGeom prst="rect">
            <a:avLst/>
          </a:prstGeom>
          <a:noFill/>
          <a:ln/>
        </p:spPr>
        <p:txBody>
          <a:bodyPr wrap="square" lIns="0" tIns="0" rIns="0" bIns="0" rtlCol="0" anchor="t"/>
          <a:lstStyle/>
          <a:p>
            <a:pPr indent="0" marL="0">
              <a:lnSpc>
                <a:spcPct val="90000"/>
              </a:lnSpc>
              <a:buNone/>
            </a:pPr>
            <a:r>
              <a:rPr lang="en-US" sz="5000" b="1" dirty="0">
                <a:solidFill>
                  <a:srgbClr val="F8F5EE"/>
                </a:solidFill>
                <a:latin typeface="Source Serif Pro" pitchFamily="34" charset="0"/>
                <a:ea typeface="Source Serif Pro" pitchFamily="34" charset="-122"/>
                <a:cs typeface="Source Serif Pro" pitchFamily="34" charset="-120"/>
              </a:rPr>
              <a:t>Cómo sostener tu proceso</a:t>
            </a:r>
            <a:endParaRPr lang="en-US" sz="5000" dirty="0"/>
          </a:p>
        </p:txBody>
      </p:sp>
      <p:sp>
        <p:nvSpPr>
          <p:cNvPr id="6" name="Text 3"/>
          <p:cNvSpPr txBox="1"/>
          <p:nvPr/>
        </p:nvSpPr>
        <p:spPr>
          <a:xfrm>
            <a:off x="640080" y="29337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Cinco meses no se sostienen solamente con motivación</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Reconocer evidencia mientras ocurre</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Hacer visible tu proceso</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Tus wins</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Contarme qué te está ayudando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09</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El estándar que se mueve</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Puedes estar avanzando de verdad y sentir que nunca es suficiente</a:t>
            </a:r>
            <a:endParaRPr lang="en-US" sz="1600" dirty="0"/>
          </a:p>
        </p:txBody>
      </p:sp>
      <p:sp>
        <p:nvSpPr>
          <p:cNvPr id="7" name="Shape 3"/>
          <p:cNvSpPr/>
          <p:nvPr/>
        </p:nvSpPr>
        <p:spPr>
          <a:xfrm>
            <a:off x="4389120" y="1280160"/>
            <a:ext cx="7159752" cy="1737360"/>
          </a:xfrm>
          <a:prstGeom prst="roundRect">
            <a:avLst>
              <a:gd name="adj" fmla="val 8421"/>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00200"/>
            <a:ext cx="6245352" cy="274320"/>
          </a:xfrm>
          <a:prstGeom prst="rect">
            <a:avLst/>
          </a:prstGeom>
          <a:noFill/>
          <a:ln/>
        </p:spPr>
        <p:txBody>
          <a:bodyPr wrap="square" lIns="0" tIns="0" rIns="0" bIns="0" rtlCol="0" anchor="ctr"/>
          <a:lstStyle/>
          <a:p>
            <a:pPr indent="0" marL="0">
              <a:buNone/>
            </a:pPr>
            <a:r>
              <a:rPr lang="en-US" sz="1150" b="1" spc="300" kern="0" dirty="0">
                <a:solidFill>
                  <a:srgbClr val="C68C6C"/>
                </a:solidFill>
                <a:latin typeface="Open Sans" pitchFamily="34" charset="0"/>
                <a:ea typeface="Open Sans" pitchFamily="34" charset="-122"/>
                <a:cs typeface="Open Sans" pitchFamily="34" charset="-120"/>
              </a:rPr>
              <a:t>QUIERO QUE APRENDAS A</a:t>
            </a:r>
            <a:endParaRPr lang="en-US" sz="1150" dirty="0"/>
          </a:p>
        </p:txBody>
      </p:sp>
      <p:sp>
        <p:nvSpPr>
          <p:cNvPr id="9" name="Text 5"/>
          <p:cNvSpPr txBox="1"/>
          <p:nvPr/>
        </p:nvSpPr>
        <p:spPr>
          <a:xfrm>
            <a:off x="4846320" y="1920240"/>
            <a:ext cx="6245352" cy="822960"/>
          </a:xfrm>
          <a:prstGeom prst="rect">
            <a:avLst/>
          </a:prstGeom>
          <a:noFill/>
          <a:ln/>
        </p:spPr>
        <p:txBody>
          <a:bodyPr wrap="square" lIns="0" tIns="0" rIns="0" bIns="0" rtlCol="0" anchor="ctr"/>
          <a:lstStyle/>
          <a:p>
            <a:pPr indent="0" marL="0">
              <a:buNone/>
            </a:pPr>
            <a:r>
              <a:rPr lang="en-US" sz="2800" b="1" dirty="0">
                <a:solidFill>
                  <a:srgbClr val="F8F5EE"/>
                </a:solidFill>
                <a:latin typeface="Source Serif Pro" pitchFamily="34" charset="0"/>
                <a:ea typeface="Source Serif Pro" pitchFamily="34" charset="-122"/>
                <a:cs typeface="Source Serif Pro" pitchFamily="34" charset="-120"/>
              </a:rPr>
              <a:t>Reconocer evidencia mientras está ocurriendo.</a:t>
            </a:r>
            <a:endParaRPr lang="en-US" sz="2800" dirty="0"/>
          </a:p>
        </p:txBody>
      </p:sp>
      <p:sp>
        <p:nvSpPr>
          <p:cNvPr id="10" name="Shape 6"/>
          <p:cNvSpPr/>
          <p:nvPr/>
        </p:nvSpPr>
        <p:spPr>
          <a:xfrm>
            <a:off x="4389120" y="3291840"/>
            <a:ext cx="3451860" cy="1143000"/>
          </a:xfrm>
          <a:prstGeom prst="roundRect">
            <a:avLst>
              <a:gd name="adj" fmla="val 128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1" name="Shape 7"/>
          <p:cNvSpPr/>
          <p:nvPr/>
        </p:nvSpPr>
        <p:spPr>
          <a:xfrm>
            <a:off x="4617720" y="3589020"/>
            <a:ext cx="548640" cy="548640"/>
          </a:xfrm>
          <a:prstGeom prst="ellipse">
            <a:avLst/>
          </a:prstGeom>
          <a:solidFill>
            <a:srgbClr val="FBF2D0"/>
          </a:solidFill>
          <a:ln w="12700">
            <a:solidFill>
              <a:srgbClr val="FBF2D0"/>
            </a:solidFill>
            <a:prstDash val="solid"/>
          </a:ln>
        </p:spPr>
      </p:sp>
      <p:pic>
        <p:nvPicPr>
          <p:cNvPr id="12" name="Image 1" descr="preencoded.png">    </p:cNvPr>
          <p:cNvPicPr>
            <a:picLocks noChangeAspect="1"/>
          </p:cNvPicPr>
          <p:nvPr/>
        </p:nvPicPr>
        <p:blipFill>
          <a:blip r:embed="rId2"/>
          <a:stretch>
            <a:fillRect/>
          </a:stretch>
        </p:blipFill>
        <p:spPr>
          <a:xfrm>
            <a:off x="4765853" y="3737153"/>
            <a:ext cx="252374" cy="252374"/>
          </a:xfrm>
          <a:prstGeom prst="rect">
            <a:avLst/>
          </a:prstGeom>
        </p:spPr>
      </p:pic>
      <p:sp>
        <p:nvSpPr>
          <p:cNvPr id="13" name="Text 8"/>
          <p:cNvSpPr txBox="1"/>
          <p:nvPr/>
        </p:nvSpPr>
        <p:spPr>
          <a:xfrm>
            <a:off x="5349240" y="3291840"/>
            <a:ext cx="2308860" cy="11430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No solamente al final del programa</a:t>
            </a:r>
            <a:endParaRPr lang="en-US" sz="1400" dirty="0"/>
          </a:p>
        </p:txBody>
      </p:sp>
      <p:sp>
        <p:nvSpPr>
          <p:cNvPr id="14" name="Shape 9"/>
          <p:cNvSpPr/>
          <p:nvPr/>
        </p:nvSpPr>
        <p:spPr>
          <a:xfrm>
            <a:off x="8097012" y="3291840"/>
            <a:ext cx="3451860" cy="1143000"/>
          </a:xfrm>
          <a:prstGeom prst="roundRect">
            <a:avLst>
              <a:gd name="adj" fmla="val 128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0"/>
          <p:cNvSpPr/>
          <p:nvPr/>
        </p:nvSpPr>
        <p:spPr>
          <a:xfrm>
            <a:off x="8325612" y="3589020"/>
            <a:ext cx="548640" cy="548640"/>
          </a:xfrm>
          <a:prstGeom prst="ellipse">
            <a:avLst/>
          </a:prstGeom>
          <a:solidFill>
            <a:srgbClr val="FBF2D0"/>
          </a:solidFill>
          <a:ln w="12700">
            <a:solidFill>
              <a:srgbClr val="FBF2D0"/>
            </a:solidFill>
            <a:prstDash val="solid"/>
          </a:ln>
        </p:spPr>
      </p:sp>
      <p:pic>
        <p:nvPicPr>
          <p:cNvPr id="16" name="Image 2" descr="preencoded.png">    </p:cNvPr>
          <p:cNvPicPr>
            <a:picLocks noChangeAspect="1"/>
          </p:cNvPicPr>
          <p:nvPr/>
        </p:nvPicPr>
        <p:blipFill>
          <a:blip r:embed="rId3"/>
          <a:stretch>
            <a:fillRect/>
          </a:stretch>
        </p:blipFill>
        <p:spPr>
          <a:xfrm>
            <a:off x="8473745" y="3737153"/>
            <a:ext cx="252374" cy="252374"/>
          </a:xfrm>
          <a:prstGeom prst="rect">
            <a:avLst/>
          </a:prstGeom>
        </p:spPr>
      </p:pic>
      <p:sp>
        <p:nvSpPr>
          <p:cNvPr id="17" name="Text 11"/>
          <p:cNvSpPr txBox="1"/>
          <p:nvPr/>
        </p:nvSpPr>
        <p:spPr>
          <a:xfrm>
            <a:off x="9057132" y="3291840"/>
            <a:ext cx="2308860" cy="114300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No solamente cuando pasa algo enorme</a:t>
            </a:r>
            <a:endParaRPr lang="en-US" sz="1400" dirty="0"/>
          </a:p>
        </p:txBody>
      </p:sp>
      <p:sp>
        <p:nvSpPr>
          <p:cNvPr id="18" name="Shape 12"/>
          <p:cNvSpPr/>
          <p:nvPr/>
        </p:nvSpPr>
        <p:spPr>
          <a:xfrm>
            <a:off x="4389120" y="4983480"/>
            <a:ext cx="7159752" cy="1371600"/>
          </a:xfrm>
          <a:prstGeom prst="roundRect">
            <a:avLst>
              <a:gd name="adj" fmla="val 10667"/>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9" name="Shape 13"/>
          <p:cNvSpPr/>
          <p:nvPr/>
        </p:nvSpPr>
        <p:spPr>
          <a:xfrm>
            <a:off x="4754880" y="5280660"/>
            <a:ext cx="777240" cy="777240"/>
          </a:xfrm>
          <a:prstGeom prst="ellipse">
            <a:avLst/>
          </a:prstGeom>
          <a:solidFill>
            <a:srgbClr val="C68C6C"/>
          </a:solidFill>
          <a:ln w="12700">
            <a:solidFill>
              <a:srgbClr val="C68C6C"/>
            </a:solidFill>
            <a:prstDash val="solid"/>
          </a:ln>
        </p:spPr>
      </p:sp>
      <p:pic>
        <p:nvPicPr>
          <p:cNvPr id="20" name="Image 3" descr="preencoded.png">    </p:cNvPr>
          <p:cNvPicPr>
            <a:picLocks noChangeAspect="1"/>
          </p:cNvPicPr>
          <p:nvPr/>
        </p:nvPicPr>
        <p:blipFill>
          <a:blip r:embed="rId4"/>
          <a:stretch>
            <a:fillRect/>
          </a:stretch>
        </p:blipFill>
        <p:spPr>
          <a:xfrm>
            <a:off x="4964735" y="5490515"/>
            <a:ext cx="357530" cy="357530"/>
          </a:xfrm>
          <a:prstGeom prst="rect">
            <a:avLst/>
          </a:prstGeom>
        </p:spPr>
      </p:pic>
      <p:sp>
        <p:nvSpPr>
          <p:cNvPr id="21" name="Text 14"/>
          <p:cNvSpPr txBox="1"/>
          <p:nvPr/>
        </p:nvSpPr>
        <p:spPr>
          <a:xfrm>
            <a:off x="5852160" y="4983480"/>
            <a:ext cx="5376672" cy="13716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Estímulos frecuentes de que el proceso se mueve</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No para conformarte, sino para sostener el esfuerzo el tiempo suficiente como para seguir creciendo.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09</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Participar es hacer visible tu proceso</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es hablar por hablar ni escribir todos los días</a:t>
            </a:r>
            <a:endParaRPr lang="en-US" sz="1600" dirty="0"/>
          </a:p>
        </p:txBody>
      </p:sp>
      <p:sp>
        <p:nvSpPr>
          <p:cNvPr id="7" name="Shape 3"/>
          <p:cNvSpPr/>
          <p:nvPr/>
        </p:nvSpPr>
        <p:spPr>
          <a:xfrm>
            <a:off x="4389120" y="1280160"/>
            <a:ext cx="7159752" cy="543154"/>
          </a:xfrm>
          <a:prstGeom prst="roundRect">
            <a:avLst>
              <a:gd name="adj" fmla="val 2693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590288" y="1380744"/>
            <a:ext cx="341986" cy="341986"/>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682624" y="1473080"/>
            <a:ext cx="157313" cy="157313"/>
          </a:xfrm>
          <a:prstGeom prst="rect">
            <a:avLst/>
          </a:prstGeom>
        </p:spPr>
      </p:pic>
      <p:sp>
        <p:nvSpPr>
          <p:cNvPr id="10" name="Text 5"/>
          <p:cNvSpPr txBox="1"/>
          <p:nvPr/>
        </p:nvSpPr>
        <p:spPr>
          <a:xfrm>
            <a:off x="5160874" y="1280160"/>
            <a:ext cx="6223406" cy="543154"/>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Contarme que mañana tienes una reunión que te preocupa</a:t>
            </a:r>
            <a:endParaRPr lang="en-US" sz="1500" dirty="0"/>
          </a:p>
        </p:txBody>
      </p:sp>
      <p:sp>
        <p:nvSpPr>
          <p:cNvPr id="11" name="Shape 6"/>
          <p:cNvSpPr/>
          <p:nvPr/>
        </p:nvSpPr>
        <p:spPr>
          <a:xfrm>
            <a:off x="4389120" y="2024482"/>
            <a:ext cx="7159752" cy="543154"/>
          </a:xfrm>
          <a:prstGeom prst="roundRect">
            <a:avLst>
              <a:gd name="adj" fmla="val 2693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590288" y="2125066"/>
            <a:ext cx="341986" cy="341986"/>
          </a:xfrm>
          <a:prstGeom prst="ellipse">
            <a:avLst/>
          </a:prstGeom>
          <a:solidFill>
            <a:srgbClr val="FBF2D0"/>
          </a:solidFill>
          <a:ln w="12700">
            <a:solidFill>
              <a:srgbClr val="FBF2D0"/>
            </a:solidFill>
            <a:prstDash val="solid"/>
          </a:ln>
        </p:spPr>
      </p:sp>
      <p:pic>
        <p:nvPicPr>
          <p:cNvPr id="13" name="Image 2" descr="preencoded.png">    </p:cNvPr>
          <p:cNvPicPr>
            <a:picLocks noChangeAspect="1"/>
          </p:cNvPicPr>
          <p:nvPr/>
        </p:nvPicPr>
        <p:blipFill>
          <a:blip r:embed="rId3"/>
          <a:stretch>
            <a:fillRect/>
          </a:stretch>
        </p:blipFill>
        <p:spPr>
          <a:xfrm>
            <a:off x="4682624" y="2217402"/>
            <a:ext cx="157313" cy="157313"/>
          </a:xfrm>
          <a:prstGeom prst="rect">
            <a:avLst/>
          </a:prstGeom>
        </p:spPr>
      </p:pic>
      <p:sp>
        <p:nvSpPr>
          <p:cNvPr id="14" name="Text 8"/>
          <p:cNvSpPr txBox="1"/>
          <p:nvPr/>
        </p:nvSpPr>
        <p:spPr>
          <a:xfrm>
            <a:off x="5160874" y="2024482"/>
            <a:ext cx="6223406" cy="543154"/>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Compartir una práctica</a:t>
            </a:r>
            <a:endParaRPr lang="en-US" sz="1500" dirty="0"/>
          </a:p>
        </p:txBody>
      </p:sp>
      <p:sp>
        <p:nvSpPr>
          <p:cNvPr id="15" name="Shape 9"/>
          <p:cNvSpPr/>
          <p:nvPr/>
        </p:nvSpPr>
        <p:spPr>
          <a:xfrm>
            <a:off x="4389120" y="2768803"/>
            <a:ext cx="7159752" cy="543154"/>
          </a:xfrm>
          <a:prstGeom prst="roundRect">
            <a:avLst>
              <a:gd name="adj" fmla="val 2693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590288" y="2869387"/>
            <a:ext cx="341986" cy="341986"/>
          </a:xfrm>
          <a:prstGeom prst="ellipse">
            <a:avLst/>
          </a:prstGeom>
          <a:solidFill>
            <a:srgbClr val="FBF2D0"/>
          </a:solidFill>
          <a:ln w="12700">
            <a:solidFill>
              <a:srgbClr val="FBF2D0"/>
            </a:solidFill>
            <a:prstDash val="solid"/>
          </a:ln>
        </p:spPr>
      </p:sp>
      <p:pic>
        <p:nvPicPr>
          <p:cNvPr id="17" name="Image 3" descr="preencoded.png">    </p:cNvPr>
          <p:cNvPicPr>
            <a:picLocks noChangeAspect="1"/>
          </p:cNvPicPr>
          <p:nvPr/>
        </p:nvPicPr>
        <p:blipFill>
          <a:blip r:embed="rId4"/>
          <a:stretch>
            <a:fillRect/>
          </a:stretch>
        </p:blipFill>
        <p:spPr>
          <a:xfrm>
            <a:off x="4682624" y="2961723"/>
            <a:ext cx="157313" cy="157313"/>
          </a:xfrm>
          <a:prstGeom prst="rect">
            <a:avLst/>
          </a:prstGeom>
        </p:spPr>
      </p:pic>
      <p:sp>
        <p:nvSpPr>
          <p:cNvPr id="18" name="Text 11"/>
          <p:cNvSpPr txBox="1"/>
          <p:nvPr/>
        </p:nvSpPr>
        <p:spPr>
          <a:xfrm>
            <a:off x="5160874" y="2768803"/>
            <a:ext cx="6223406" cy="543154"/>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Preguntar algo que no te quedó claro</a:t>
            </a:r>
            <a:endParaRPr lang="en-US" sz="1500" dirty="0"/>
          </a:p>
        </p:txBody>
      </p:sp>
      <p:sp>
        <p:nvSpPr>
          <p:cNvPr id="19" name="Shape 12"/>
          <p:cNvSpPr/>
          <p:nvPr/>
        </p:nvSpPr>
        <p:spPr>
          <a:xfrm>
            <a:off x="4389120" y="3513125"/>
            <a:ext cx="7159752" cy="543154"/>
          </a:xfrm>
          <a:prstGeom prst="roundRect">
            <a:avLst>
              <a:gd name="adj" fmla="val 2693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4590288" y="3613709"/>
            <a:ext cx="341986" cy="341986"/>
          </a:xfrm>
          <a:prstGeom prst="ellipse">
            <a:avLst/>
          </a:prstGeom>
          <a:solidFill>
            <a:srgbClr val="FBF2D0"/>
          </a:solidFill>
          <a:ln w="12700">
            <a:solidFill>
              <a:srgbClr val="FBF2D0"/>
            </a:solidFill>
            <a:prstDash val="solid"/>
          </a:ln>
        </p:spPr>
      </p:sp>
      <p:pic>
        <p:nvPicPr>
          <p:cNvPr id="21" name="Image 4" descr="preencoded.png">    </p:cNvPr>
          <p:cNvPicPr>
            <a:picLocks noChangeAspect="1"/>
          </p:cNvPicPr>
          <p:nvPr/>
        </p:nvPicPr>
        <p:blipFill>
          <a:blip r:embed="rId5"/>
          <a:stretch>
            <a:fillRect/>
          </a:stretch>
        </p:blipFill>
        <p:spPr>
          <a:xfrm>
            <a:off x="4682624" y="3706045"/>
            <a:ext cx="157313" cy="157313"/>
          </a:xfrm>
          <a:prstGeom prst="rect">
            <a:avLst/>
          </a:prstGeom>
        </p:spPr>
      </p:pic>
      <p:sp>
        <p:nvSpPr>
          <p:cNvPr id="22" name="Text 14"/>
          <p:cNvSpPr txBox="1"/>
          <p:nvPr/>
        </p:nvSpPr>
        <p:spPr>
          <a:xfrm>
            <a:off x="5160874" y="3513125"/>
            <a:ext cx="6223406" cy="543154"/>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Pedir feedback</a:t>
            </a:r>
            <a:endParaRPr lang="en-US" sz="1500" dirty="0"/>
          </a:p>
        </p:txBody>
      </p:sp>
      <p:sp>
        <p:nvSpPr>
          <p:cNvPr id="23" name="Shape 15"/>
          <p:cNvSpPr/>
          <p:nvPr/>
        </p:nvSpPr>
        <p:spPr>
          <a:xfrm>
            <a:off x="4389120" y="4257446"/>
            <a:ext cx="7159752" cy="543154"/>
          </a:xfrm>
          <a:prstGeom prst="roundRect">
            <a:avLst>
              <a:gd name="adj" fmla="val 2693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4" name="Shape 16"/>
          <p:cNvSpPr/>
          <p:nvPr/>
        </p:nvSpPr>
        <p:spPr>
          <a:xfrm>
            <a:off x="4590288" y="4358030"/>
            <a:ext cx="341986" cy="341986"/>
          </a:xfrm>
          <a:prstGeom prst="ellipse">
            <a:avLst/>
          </a:prstGeom>
          <a:solidFill>
            <a:srgbClr val="FBF2D0"/>
          </a:solidFill>
          <a:ln w="12700">
            <a:solidFill>
              <a:srgbClr val="FBF2D0"/>
            </a:solidFill>
            <a:prstDash val="solid"/>
          </a:ln>
        </p:spPr>
      </p:sp>
      <p:pic>
        <p:nvPicPr>
          <p:cNvPr id="25" name="Image 5" descr="preencoded.png">    </p:cNvPr>
          <p:cNvPicPr>
            <a:picLocks noChangeAspect="1"/>
          </p:cNvPicPr>
          <p:nvPr/>
        </p:nvPicPr>
        <p:blipFill>
          <a:blip r:embed="rId6"/>
          <a:stretch>
            <a:fillRect/>
          </a:stretch>
        </p:blipFill>
        <p:spPr>
          <a:xfrm>
            <a:off x="4682624" y="4450367"/>
            <a:ext cx="157313" cy="157313"/>
          </a:xfrm>
          <a:prstGeom prst="rect">
            <a:avLst/>
          </a:prstGeom>
        </p:spPr>
      </p:pic>
      <p:sp>
        <p:nvSpPr>
          <p:cNvPr id="26" name="Text 17"/>
          <p:cNvSpPr txBox="1"/>
          <p:nvPr/>
        </p:nvSpPr>
        <p:spPr>
          <a:xfrm>
            <a:off x="5160874" y="4257446"/>
            <a:ext cx="6223406" cy="543154"/>
          </a:xfrm>
          <a:prstGeom prst="rect">
            <a:avLst/>
          </a:prstGeom>
          <a:noFill/>
          <a:ln/>
        </p:spPr>
        <p:txBody>
          <a:bodyPr wrap="square" lIns="0" tIns="0" rIns="0" bIns="0" rtlCol="0" anchor="ctr"/>
          <a:lstStyle/>
          <a:p>
            <a:pPr indent="0" marL="0">
              <a:buNone/>
            </a:pPr>
            <a:r>
              <a:rPr lang="en-US" sz="1500" b="1" dirty="0">
                <a:solidFill>
                  <a:srgbClr val="81552E"/>
                </a:solidFill>
                <a:latin typeface="Open Sans" pitchFamily="34" charset="0"/>
                <a:ea typeface="Open Sans" pitchFamily="34" charset="-122"/>
                <a:cs typeface="Open Sans" pitchFamily="34" charset="-120"/>
              </a:rPr>
              <a:t>Contar qué pasó después de una situación que preparamos juntas</a:t>
            </a:r>
            <a:endParaRPr lang="en-US" sz="1500" dirty="0"/>
          </a:p>
        </p:txBody>
      </p:sp>
      <p:sp>
        <p:nvSpPr>
          <p:cNvPr id="27" name="Shape 18"/>
          <p:cNvSpPr/>
          <p:nvPr/>
        </p:nvSpPr>
        <p:spPr>
          <a:xfrm>
            <a:off x="4389120" y="5074920"/>
            <a:ext cx="7159752" cy="1280160"/>
          </a:xfrm>
          <a:prstGeom prst="roundRect">
            <a:avLst>
              <a:gd name="adj" fmla="val 11429"/>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19"/>
          <p:cNvSpPr/>
          <p:nvPr/>
        </p:nvSpPr>
        <p:spPr>
          <a:xfrm>
            <a:off x="4754880" y="5326380"/>
            <a:ext cx="777240" cy="777240"/>
          </a:xfrm>
          <a:prstGeom prst="ellipse">
            <a:avLst/>
          </a:prstGeom>
          <a:solidFill>
            <a:srgbClr val="C68C6C"/>
          </a:solidFill>
          <a:ln w="12700">
            <a:solidFill>
              <a:srgbClr val="C68C6C"/>
            </a:solidFill>
            <a:prstDash val="solid"/>
          </a:ln>
        </p:spPr>
      </p:sp>
      <p:pic>
        <p:nvPicPr>
          <p:cNvPr id="29" name="Image 6" descr="preencoded.png">    </p:cNvPr>
          <p:cNvPicPr>
            <a:picLocks noChangeAspect="1"/>
          </p:cNvPicPr>
          <p:nvPr/>
        </p:nvPicPr>
        <p:blipFill>
          <a:blip r:embed="rId7"/>
          <a:stretch>
            <a:fillRect/>
          </a:stretch>
        </p:blipFill>
        <p:spPr>
          <a:xfrm>
            <a:off x="4964735" y="5536235"/>
            <a:ext cx="357530" cy="357530"/>
          </a:xfrm>
          <a:prstGeom prst="rect">
            <a:avLst/>
          </a:prstGeom>
        </p:spPr>
      </p:pic>
      <p:sp>
        <p:nvSpPr>
          <p:cNvPr id="30" name="Text 20"/>
          <p:cNvSpPr txBox="1"/>
          <p:nvPr/>
        </p:nvSpPr>
        <p:spPr>
          <a:xfrm>
            <a:off x="5852160" y="5074920"/>
            <a:ext cx="5376672" cy="128016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No quiero que hagas AT WORK en silencio</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Cuanto más visible sea tu proceso, mejor puedo acompañarte. Y ponerlo en palabras te ayuda a observarlo.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09</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No midas solo cómo te sientes</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La confianza muchas veces tarda más que la evidencia</a:t>
            </a:r>
            <a:endParaRPr lang="en-US" sz="1600" dirty="0"/>
          </a:p>
        </p:txBody>
      </p:sp>
      <p:sp>
        <p:nvSpPr>
          <p:cNvPr id="7" name="Shape 3"/>
          <p:cNvSpPr/>
          <p:nvPr/>
        </p:nvSpPr>
        <p:spPr>
          <a:xfrm>
            <a:off x="4389120"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70791" y="1707551"/>
            <a:ext cx="260787" cy="260787"/>
          </a:xfrm>
          <a:prstGeom prst="rect">
            <a:avLst/>
          </a:prstGeom>
        </p:spPr>
      </p:pic>
      <p:sp>
        <p:nvSpPr>
          <p:cNvPr id="10" name="Text 5"/>
          <p:cNvSpPr txBox="1"/>
          <p:nvPr/>
        </p:nvSpPr>
        <p:spPr>
          <a:xfrm>
            <a:off x="4617720" y="22585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Sigues sintiendo nervios…</a:t>
            </a:r>
            <a:endParaRPr lang="en-US" sz="1600" dirty="0"/>
          </a:p>
        </p:txBody>
      </p:sp>
      <p:sp>
        <p:nvSpPr>
          <p:cNvPr id="11" name="Text 6"/>
          <p:cNvSpPr txBox="1"/>
          <p:nvPr/>
        </p:nvSpPr>
        <p:spPr>
          <a:xfrm>
            <a:off x="4617720" y="3121152"/>
            <a:ext cx="1758696" cy="94792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y al mismo tiempo participas mucho más en reuniones</a:t>
            </a:r>
            <a:endParaRPr lang="en-US" sz="1300" dirty="0"/>
          </a:p>
        </p:txBody>
      </p:sp>
      <p:sp>
        <p:nvSpPr>
          <p:cNvPr id="12" name="Shape 7"/>
          <p:cNvSpPr/>
          <p:nvPr/>
        </p:nvSpPr>
        <p:spPr>
          <a:xfrm>
            <a:off x="6861048"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089648" y="1554480"/>
            <a:ext cx="566928" cy="566928"/>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7242719" y="1707551"/>
            <a:ext cx="260787" cy="260787"/>
          </a:xfrm>
          <a:prstGeom prst="rect">
            <a:avLst/>
          </a:prstGeom>
        </p:spPr>
      </p:pic>
      <p:sp>
        <p:nvSpPr>
          <p:cNvPr id="15" name="Text 9"/>
          <p:cNvSpPr txBox="1"/>
          <p:nvPr/>
        </p:nvSpPr>
        <p:spPr>
          <a:xfrm>
            <a:off x="7089648" y="22585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Sientes que te falta muchísimo…</a:t>
            </a:r>
            <a:endParaRPr lang="en-US" sz="1600" dirty="0"/>
          </a:p>
        </p:txBody>
      </p:sp>
      <p:sp>
        <p:nvSpPr>
          <p:cNvPr id="16" name="Text 10"/>
          <p:cNvSpPr txBox="1"/>
          <p:nvPr/>
        </p:nvSpPr>
        <p:spPr>
          <a:xfrm>
            <a:off x="7089648" y="3121152"/>
            <a:ext cx="1758696" cy="94792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y resuelves situaciones que antes evitabas</a:t>
            </a:r>
            <a:endParaRPr lang="en-US" sz="1300" dirty="0"/>
          </a:p>
        </p:txBody>
      </p:sp>
      <p:sp>
        <p:nvSpPr>
          <p:cNvPr id="17" name="Shape 11"/>
          <p:cNvSpPr/>
          <p:nvPr/>
        </p:nvSpPr>
        <p:spPr>
          <a:xfrm>
            <a:off x="9332976"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9561576" y="1554480"/>
            <a:ext cx="566928" cy="566928"/>
          </a:xfrm>
          <a:prstGeom prst="ellipse">
            <a:avLst/>
          </a:prstGeom>
          <a:solidFill>
            <a:srgbClr val="FBF2D0"/>
          </a:solidFill>
          <a:ln w="12700">
            <a:solidFill>
              <a:srgbClr val="FBF2D0"/>
            </a:solidFill>
            <a:prstDash val="solid"/>
          </a:ln>
        </p:spPr>
      </p:sp>
      <p:pic>
        <p:nvPicPr>
          <p:cNvPr id="19" name="Image 3" descr="preencoded.png">    </p:cNvPr>
          <p:cNvPicPr>
            <a:picLocks noChangeAspect="1"/>
          </p:cNvPicPr>
          <p:nvPr/>
        </p:nvPicPr>
        <p:blipFill>
          <a:blip r:embed="rId4"/>
          <a:stretch>
            <a:fillRect/>
          </a:stretch>
        </p:blipFill>
        <p:spPr>
          <a:xfrm>
            <a:off x="9714647" y="1707551"/>
            <a:ext cx="260787" cy="260787"/>
          </a:xfrm>
          <a:prstGeom prst="rect">
            <a:avLst/>
          </a:prstGeom>
        </p:spPr>
      </p:pic>
      <p:sp>
        <p:nvSpPr>
          <p:cNvPr id="20" name="Text 13"/>
          <p:cNvSpPr txBox="1"/>
          <p:nvPr/>
        </p:nvSpPr>
        <p:spPr>
          <a:xfrm>
            <a:off x="9561576" y="22585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Sales pensando en tres errores…</a:t>
            </a:r>
            <a:endParaRPr lang="en-US" sz="1600" dirty="0"/>
          </a:p>
        </p:txBody>
      </p:sp>
      <p:sp>
        <p:nvSpPr>
          <p:cNvPr id="21" name="Text 14"/>
          <p:cNvSpPr txBox="1"/>
          <p:nvPr/>
        </p:nvSpPr>
        <p:spPr>
          <a:xfrm>
            <a:off x="9561576" y="3121152"/>
            <a:ext cx="1758696" cy="94792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y olvidas que respondiste una pregunta inesperada sin quedarte en blanco</a:t>
            </a:r>
            <a:endParaRPr lang="en-US" sz="1300" dirty="0"/>
          </a:p>
        </p:txBody>
      </p:sp>
      <p:sp>
        <p:nvSpPr>
          <p:cNvPr id="22" name="Shape 15"/>
          <p:cNvSpPr/>
          <p:nvPr/>
        </p:nvSpPr>
        <p:spPr>
          <a:xfrm>
            <a:off x="4389120" y="4892040"/>
            <a:ext cx="7159752" cy="1463040"/>
          </a:xfrm>
          <a:prstGeom prst="roundRect">
            <a:avLst>
              <a:gd name="adj" fmla="val 10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754880" y="5234940"/>
            <a:ext cx="777240" cy="777240"/>
          </a:xfrm>
          <a:prstGeom prst="ellipse">
            <a:avLst/>
          </a:prstGeom>
          <a:solidFill>
            <a:srgbClr val="C68C6C"/>
          </a:solidFill>
          <a:ln w="12700">
            <a:solidFill>
              <a:srgbClr val="C68C6C"/>
            </a:solidFill>
            <a:prstDash val="solid"/>
          </a:ln>
        </p:spPr>
      </p:sp>
      <p:pic>
        <p:nvPicPr>
          <p:cNvPr id="24" name="Image 4" descr="preencoded.png">    </p:cNvPr>
          <p:cNvPicPr>
            <a:picLocks noChangeAspect="1"/>
          </p:cNvPicPr>
          <p:nvPr/>
        </p:nvPicPr>
        <p:blipFill>
          <a:blip r:embed="rId5"/>
          <a:stretch>
            <a:fillRect/>
          </a:stretch>
        </p:blipFill>
        <p:spPr>
          <a:xfrm>
            <a:off x="4964735" y="5444795"/>
            <a:ext cx="357530" cy="357530"/>
          </a:xfrm>
          <a:prstGeom prst="rect">
            <a:avLst/>
          </a:prstGeom>
        </p:spPr>
      </p:pic>
      <p:sp>
        <p:nvSpPr>
          <p:cNvPr id="25" name="Text 17"/>
          <p:cNvSpPr txBox="1"/>
          <p:nvPr/>
        </p:nvSpPr>
        <p:spPr>
          <a:xfrm>
            <a:off x="5852160" y="4892040"/>
            <a:ext cx="5376672" cy="146304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Pregúntate</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¿Qué hice diferente? ¿Qué pude sostener mejor? ¿Qué dejé de evitar? ¿Qué situación resolví de otra manera? Eso también es progreso.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09</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Tus wins</a:t>
            </a:r>
            <a:endParaRPr lang="en-US" sz="3400" dirty="0"/>
          </a:p>
        </p:txBody>
      </p:sp>
      <p:sp>
        <p:nvSpPr>
          <p:cNvPr id="6" name="Text 2"/>
          <p:cNvSpPr txBox="1"/>
          <p:nvPr/>
        </p:nvSpPr>
        <p:spPr>
          <a:xfrm>
            <a:off x="640080" y="20380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A veces el win no es el resultado: es haber sostenido el proceso</a:t>
            </a:r>
            <a:endParaRPr lang="en-US" sz="1600" dirty="0"/>
          </a:p>
        </p:txBody>
      </p:sp>
      <p:sp>
        <p:nvSpPr>
          <p:cNvPr id="7" name="Shape 3"/>
          <p:cNvSpPr/>
          <p:nvPr/>
        </p:nvSpPr>
        <p:spPr>
          <a:xfrm>
            <a:off x="4389120" y="1280160"/>
            <a:ext cx="7159752" cy="625450"/>
          </a:xfrm>
          <a:prstGeom prst="roundRect">
            <a:avLst>
              <a:gd name="adj" fmla="val 2339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590288" y="1380744"/>
            <a:ext cx="424282" cy="424282"/>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04844" y="1495300"/>
            <a:ext cx="195170" cy="195170"/>
          </a:xfrm>
          <a:prstGeom prst="rect">
            <a:avLst/>
          </a:prstGeom>
        </p:spPr>
      </p:pic>
      <p:sp>
        <p:nvSpPr>
          <p:cNvPr id="10" name="Text 5"/>
          <p:cNvSpPr txBox="1"/>
          <p:nvPr/>
        </p:nvSpPr>
        <p:spPr>
          <a:xfrm>
            <a:off x="5243170" y="1280160"/>
            <a:ext cx="6141110" cy="625450"/>
          </a:xfrm>
          <a:prstGeom prst="rect">
            <a:avLst/>
          </a:prstGeom>
          <a:noFill/>
          <a:ln/>
        </p:spPr>
        <p:txBody>
          <a:bodyPr wrap="square" lIns="0" tIns="0" rIns="0" bIns="0" rtlCol="0" anchor="ctr"/>
          <a:lstStyle/>
          <a:p>
            <a:pPr indent="0" marL="0">
              <a:buNone/>
            </a:pPr>
            <a:r>
              <a:rPr lang="en-US" sz="1450" b="1" dirty="0">
                <a:solidFill>
                  <a:srgbClr val="81552E"/>
                </a:solidFill>
                <a:latin typeface="Open Sans" pitchFamily="34" charset="0"/>
                <a:ea typeface="Open Sans" pitchFamily="34" charset="-122"/>
                <a:cs typeface="Open Sans" pitchFamily="34" charset="-120"/>
              </a:rPr>
              <a:t>Tuviste una semana complicada y aun así hiciste tu práctica</a:t>
            </a:r>
            <a:endParaRPr lang="en-US" sz="1450" dirty="0"/>
          </a:p>
        </p:txBody>
      </p:sp>
      <p:sp>
        <p:nvSpPr>
          <p:cNvPr id="11" name="Shape 6"/>
          <p:cNvSpPr/>
          <p:nvPr/>
        </p:nvSpPr>
        <p:spPr>
          <a:xfrm>
            <a:off x="4389120" y="2106778"/>
            <a:ext cx="7159752" cy="625450"/>
          </a:xfrm>
          <a:prstGeom prst="roundRect">
            <a:avLst>
              <a:gd name="adj" fmla="val 2339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590288" y="2207362"/>
            <a:ext cx="424282" cy="424282"/>
          </a:xfrm>
          <a:prstGeom prst="ellipse">
            <a:avLst/>
          </a:prstGeom>
          <a:solidFill>
            <a:srgbClr val="FBF2D0"/>
          </a:solidFill>
          <a:ln w="12700">
            <a:solidFill>
              <a:srgbClr val="FBF2D0"/>
            </a:solidFill>
            <a:prstDash val="solid"/>
          </a:ln>
        </p:spPr>
      </p:sp>
      <p:pic>
        <p:nvPicPr>
          <p:cNvPr id="13" name="Image 2" descr="preencoded.png">    </p:cNvPr>
          <p:cNvPicPr>
            <a:picLocks noChangeAspect="1"/>
          </p:cNvPicPr>
          <p:nvPr/>
        </p:nvPicPr>
        <p:blipFill>
          <a:blip r:embed="rId3"/>
          <a:stretch>
            <a:fillRect/>
          </a:stretch>
        </p:blipFill>
        <p:spPr>
          <a:xfrm>
            <a:off x="4704844" y="2321918"/>
            <a:ext cx="195170" cy="195170"/>
          </a:xfrm>
          <a:prstGeom prst="rect">
            <a:avLst/>
          </a:prstGeom>
        </p:spPr>
      </p:pic>
      <p:sp>
        <p:nvSpPr>
          <p:cNvPr id="14" name="Text 8"/>
          <p:cNvSpPr txBox="1"/>
          <p:nvPr/>
        </p:nvSpPr>
        <p:spPr>
          <a:xfrm>
            <a:off x="5243170" y="2106778"/>
            <a:ext cx="6141110" cy="625450"/>
          </a:xfrm>
          <a:prstGeom prst="rect">
            <a:avLst/>
          </a:prstGeom>
          <a:noFill/>
          <a:ln/>
        </p:spPr>
        <p:txBody>
          <a:bodyPr wrap="square" lIns="0" tIns="0" rIns="0" bIns="0" rtlCol="0" anchor="ctr"/>
          <a:lstStyle/>
          <a:p>
            <a:pPr indent="0" marL="0">
              <a:buNone/>
            </a:pPr>
            <a:r>
              <a:rPr lang="en-US" sz="1450" b="1" dirty="0">
                <a:solidFill>
                  <a:srgbClr val="81552E"/>
                </a:solidFill>
                <a:latin typeface="Open Sans" pitchFamily="34" charset="0"/>
                <a:ea typeface="Open Sans" pitchFamily="34" charset="-122"/>
                <a:cs typeface="Open Sans" pitchFamily="34" charset="-120"/>
              </a:rPr>
              <a:t>Una reunión no salió como querías, pero trajiste la situación, pediste feedback y volviste a intentarlo</a:t>
            </a:r>
            <a:endParaRPr lang="en-US" sz="1450" dirty="0"/>
          </a:p>
        </p:txBody>
      </p:sp>
      <p:sp>
        <p:nvSpPr>
          <p:cNvPr id="15" name="Shape 9"/>
          <p:cNvSpPr/>
          <p:nvPr/>
        </p:nvSpPr>
        <p:spPr>
          <a:xfrm>
            <a:off x="4389120" y="2933395"/>
            <a:ext cx="7159752" cy="625450"/>
          </a:xfrm>
          <a:prstGeom prst="roundRect">
            <a:avLst>
              <a:gd name="adj" fmla="val 2339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590288" y="3033979"/>
            <a:ext cx="424282" cy="424282"/>
          </a:xfrm>
          <a:prstGeom prst="ellipse">
            <a:avLst/>
          </a:prstGeom>
          <a:solidFill>
            <a:srgbClr val="FBF2D0"/>
          </a:solidFill>
          <a:ln w="12700">
            <a:solidFill>
              <a:srgbClr val="FBF2D0"/>
            </a:solidFill>
            <a:prstDash val="solid"/>
          </a:ln>
        </p:spPr>
      </p:sp>
      <p:pic>
        <p:nvPicPr>
          <p:cNvPr id="17" name="Image 3" descr="preencoded.png">    </p:cNvPr>
          <p:cNvPicPr>
            <a:picLocks noChangeAspect="1"/>
          </p:cNvPicPr>
          <p:nvPr/>
        </p:nvPicPr>
        <p:blipFill>
          <a:blip r:embed="rId4"/>
          <a:stretch>
            <a:fillRect/>
          </a:stretch>
        </p:blipFill>
        <p:spPr>
          <a:xfrm>
            <a:off x="4704844" y="3148535"/>
            <a:ext cx="195170" cy="195170"/>
          </a:xfrm>
          <a:prstGeom prst="rect">
            <a:avLst/>
          </a:prstGeom>
        </p:spPr>
      </p:pic>
      <p:sp>
        <p:nvSpPr>
          <p:cNvPr id="18" name="Text 11"/>
          <p:cNvSpPr txBox="1"/>
          <p:nvPr/>
        </p:nvSpPr>
        <p:spPr>
          <a:xfrm>
            <a:off x="5243170" y="2933395"/>
            <a:ext cx="6141110" cy="625450"/>
          </a:xfrm>
          <a:prstGeom prst="rect">
            <a:avLst/>
          </a:prstGeom>
          <a:noFill/>
          <a:ln/>
        </p:spPr>
        <p:txBody>
          <a:bodyPr wrap="square" lIns="0" tIns="0" rIns="0" bIns="0" rtlCol="0" anchor="ctr"/>
          <a:lstStyle/>
          <a:p>
            <a:pPr indent="0" marL="0">
              <a:buNone/>
            </a:pPr>
            <a:r>
              <a:rPr lang="en-US" sz="1450" b="1" dirty="0">
                <a:solidFill>
                  <a:srgbClr val="81552E"/>
                </a:solidFill>
                <a:latin typeface="Open Sans" pitchFamily="34" charset="0"/>
                <a:ea typeface="Open Sans" pitchFamily="34" charset="-122"/>
                <a:cs typeface="Open Sans" pitchFamily="34" charset="-120"/>
              </a:rPr>
              <a:t>Te faltó una palabra y seguiste hablando</a:t>
            </a:r>
            <a:endParaRPr lang="en-US" sz="1450" dirty="0"/>
          </a:p>
        </p:txBody>
      </p:sp>
      <p:sp>
        <p:nvSpPr>
          <p:cNvPr id="19" name="Shape 12"/>
          <p:cNvSpPr/>
          <p:nvPr/>
        </p:nvSpPr>
        <p:spPr>
          <a:xfrm>
            <a:off x="4389120" y="3760013"/>
            <a:ext cx="7159752" cy="625450"/>
          </a:xfrm>
          <a:prstGeom prst="roundRect">
            <a:avLst>
              <a:gd name="adj" fmla="val 2339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4590288" y="3860597"/>
            <a:ext cx="424282" cy="424282"/>
          </a:xfrm>
          <a:prstGeom prst="ellipse">
            <a:avLst/>
          </a:prstGeom>
          <a:solidFill>
            <a:srgbClr val="FBF2D0"/>
          </a:solidFill>
          <a:ln w="12700">
            <a:solidFill>
              <a:srgbClr val="FBF2D0"/>
            </a:solidFill>
            <a:prstDash val="solid"/>
          </a:ln>
        </p:spPr>
      </p:sp>
      <p:pic>
        <p:nvPicPr>
          <p:cNvPr id="21" name="Image 4" descr="preencoded.png">    </p:cNvPr>
          <p:cNvPicPr>
            <a:picLocks noChangeAspect="1"/>
          </p:cNvPicPr>
          <p:nvPr/>
        </p:nvPicPr>
        <p:blipFill>
          <a:blip r:embed="rId5"/>
          <a:stretch>
            <a:fillRect/>
          </a:stretch>
        </p:blipFill>
        <p:spPr>
          <a:xfrm>
            <a:off x="4704844" y="3975153"/>
            <a:ext cx="195170" cy="195170"/>
          </a:xfrm>
          <a:prstGeom prst="rect">
            <a:avLst/>
          </a:prstGeom>
        </p:spPr>
      </p:pic>
      <p:sp>
        <p:nvSpPr>
          <p:cNvPr id="22" name="Text 14"/>
          <p:cNvSpPr txBox="1"/>
          <p:nvPr/>
        </p:nvSpPr>
        <p:spPr>
          <a:xfrm>
            <a:off x="5243170" y="3760013"/>
            <a:ext cx="6141110" cy="625450"/>
          </a:xfrm>
          <a:prstGeom prst="rect">
            <a:avLst/>
          </a:prstGeom>
          <a:noFill/>
          <a:ln/>
        </p:spPr>
        <p:txBody>
          <a:bodyPr wrap="square" lIns="0" tIns="0" rIns="0" bIns="0" rtlCol="0" anchor="ctr"/>
          <a:lstStyle/>
          <a:p>
            <a:pPr indent="0" marL="0">
              <a:buNone/>
            </a:pPr>
            <a:r>
              <a:rPr lang="en-US" sz="1450" b="1" dirty="0">
                <a:solidFill>
                  <a:srgbClr val="81552E"/>
                </a:solidFill>
                <a:latin typeface="Open Sans" pitchFamily="34" charset="0"/>
                <a:ea typeface="Open Sans" pitchFamily="34" charset="-122"/>
                <a:cs typeface="Open Sans" pitchFamily="34" charset="-120"/>
              </a:rPr>
              <a:t>Interviniste una vez cuando normalmente te hubieras quedado callada</a:t>
            </a:r>
            <a:endParaRPr lang="en-US" sz="1450" dirty="0"/>
          </a:p>
        </p:txBody>
      </p:sp>
      <p:sp>
        <p:nvSpPr>
          <p:cNvPr id="23" name="Shape 15"/>
          <p:cNvSpPr/>
          <p:nvPr/>
        </p:nvSpPr>
        <p:spPr>
          <a:xfrm>
            <a:off x="4389120" y="4586630"/>
            <a:ext cx="7159752" cy="625450"/>
          </a:xfrm>
          <a:prstGeom prst="roundRect">
            <a:avLst>
              <a:gd name="adj" fmla="val 2339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4" name="Shape 16"/>
          <p:cNvSpPr/>
          <p:nvPr/>
        </p:nvSpPr>
        <p:spPr>
          <a:xfrm>
            <a:off x="4590288" y="4687214"/>
            <a:ext cx="424282" cy="424282"/>
          </a:xfrm>
          <a:prstGeom prst="ellipse">
            <a:avLst/>
          </a:prstGeom>
          <a:solidFill>
            <a:srgbClr val="FBF2D0"/>
          </a:solidFill>
          <a:ln w="12700">
            <a:solidFill>
              <a:srgbClr val="FBF2D0"/>
            </a:solidFill>
            <a:prstDash val="solid"/>
          </a:ln>
        </p:spPr>
      </p:sp>
      <p:pic>
        <p:nvPicPr>
          <p:cNvPr id="25" name="Image 5" descr="preencoded.png">    </p:cNvPr>
          <p:cNvPicPr>
            <a:picLocks noChangeAspect="1"/>
          </p:cNvPicPr>
          <p:nvPr/>
        </p:nvPicPr>
        <p:blipFill>
          <a:blip r:embed="rId6"/>
          <a:stretch>
            <a:fillRect/>
          </a:stretch>
        </p:blipFill>
        <p:spPr>
          <a:xfrm>
            <a:off x="4704844" y="4801770"/>
            <a:ext cx="195170" cy="195170"/>
          </a:xfrm>
          <a:prstGeom prst="rect">
            <a:avLst/>
          </a:prstGeom>
        </p:spPr>
      </p:pic>
      <p:sp>
        <p:nvSpPr>
          <p:cNvPr id="26" name="Text 17"/>
          <p:cNvSpPr txBox="1"/>
          <p:nvPr/>
        </p:nvSpPr>
        <p:spPr>
          <a:xfrm>
            <a:off x="5243170" y="4586630"/>
            <a:ext cx="6141110" cy="625450"/>
          </a:xfrm>
          <a:prstGeom prst="rect">
            <a:avLst/>
          </a:prstGeom>
          <a:noFill/>
          <a:ln/>
        </p:spPr>
        <p:txBody>
          <a:bodyPr wrap="square" lIns="0" tIns="0" rIns="0" bIns="0" rtlCol="0" anchor="ctr"/>
          <a:lstStyle/>
          <a:p>
            <a:pPr indent="0" marL="0">
              <a:buNone/>
            </a:pPr>
            <a:r>
              <a:rPr lang="en-US" sz="1450" b="1" dirty="0">
                <a:solidFill>
                  <a:srgbClr val="81552E"/>
                </a:solidFill>
                <a:latin typeface="Open Sans" pitchFamily="34" charset="0"/>
                <a:ea typeface="Open Sans" pitchFamily="34" charset="-122"/>
                <a:cs typeface="Open Sans" pitchFamily="34" charset="-120"/>
              </a:rPr>
              <a:t>Retomaste después de una semana desordenada en lugar de abandonar</a:t>
            </a:r>
            <a:endParaRPr lang="en-US" sz="1450" dirty="0"/>
          </a:p>
        </p:txBody>
      </p:sp>
      <p:sp>
        <p:nvSpPr>
          <p:cNvPr id="27" name="Shape 18"/>
          <p:cNvSpPr/>
          <p:nvPr/>
        </p:nvSpPr>
        <p:spPr>
          <a:xfrm>
            <a:off x="4389120" y="5486400"/>
            <a:ext cx="7159752" cy="868680"/>
          </a:xfrm>
          <a:prstGeom prst="roundRect">
            <a:avLst>
              <a:gd name="adj" fmla="val 16842"/>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19"/>
          <p:cNvSpPr/>
          <p:nvPr/>
        </p:nvSpPr>
        <p:spPr>
          <a:xfrm>
            <a:off x="4754880" y="5623560"/>
            <a:ext cx="594360" cy="594360"/>
          </a:xfrm>
          <a:prstGeom prst="ellipse">
            <a:avLst/>
          </a:prstGeom>
          <a:solidFill>
            <a:srgbClr val="C68C6C"/>
          </a:solidFill>
          <a:ln w="12700">
            <a:solidFill>
              <a:srgbClr val="C68C6C"/>
            </a:solidFill>
            <a:prstDash val="solid"/>
          </a:ln>
        </p:spPr>
      </p:sp>
      <p:pic>
        <p:nvPicPr>
          <p:cNvPr id="29" name="Image 6" descr="preencoded.png">    </p:cNvPr>
          <p:cNvPicPr>
            <a:picLocks noChangeAspect="1"/>
          </p:cNvPicPr>
          <p:nvPr/>
        </p:nvPicPr>
        <p:blipFill>
          <a:blip r:embed="rId7"/>
          <a:stretch>
            <a:fillRect/>
          </a:stretch>
        </p:blipFill>
        <p:spPr>
          <a:xfrm>
            <a:off x="4915357" y="5784037"/>
            <a:ext cx="273406" cy="273406"/>
          </a:xfrm>
          <a:prstGeom prst="rect">
            <a:avLst/>
          </a:prstGeom>
        </p:spPr>
      </p:pic>
      <p:sp>
        <p:nvSpPr>
          <p:cNvPr id="30" name="Text 20"/>
          <p:cNvSpPr txBox="1"/>
          <p:nvPr/>
        </p:nvSpPr>
        <p:spPr>
          <a:xfrm>
            <a:off x="5669280" y="5486400"/>
            <a:ext cx="5559552" cy="868680"/>
          </a:xfrm>
          <a:prstGeom prst="rect">
            <a:avLst/>
          </a:prstGeom>
          <a:noFill/>
          <a:ln/>
        </p:spPr>
        <p:txBody>
          <a:bodyPr wrap="square" lIns="0" tIns="0" rIns="0" bIns="0" rtlCol="0" anchor="ctr"/>
          <a:lstStyle/>
          <a:p>
            <a:pPr indent="0" marL="0">
              <a:spcAft>
                <a:spcPts val="500"/>
              </a:spcAft>
              <a:buNone/>
            </a:pPr>
            <a:r>
              <a:rPr lang="en-US" sz="1800" b="1" dirty="0">
                <a:solidFill>
                  <a:srgbClr val="3F1E0D"/>
                </a:solidFill>
                <a:latin typeface="Open Sans" pitchFamily="34" charset="0"/>
                <a:ea typeface="Open Sans" pitchFamily="34" charset="-122"/>
                <a:cs typeface="Open Sans" pitchFamily="34" charset="-120"/>
              </a:rPr>
              <a:t>Todo eso cuenta.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09</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Comparte tus wins</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La comunidad también es para reconocer lo que va funcionando</a:t>
            </a:r>
            <a:endParaRPr lang="en-US" sz="1600" dirty="0"/>
          </a:p>
        </p:txBody>
      </p:sp>
      <p:sp>
        <p:nvSpPr>
          <p:cNvPr id="7" name="Shape 3"/>
          <p:cNvSpPr/>
          <p:nvPr/>
        </p:nvSpPr>
        <p:spPr>
          <a:xfrm>
            <a:off x="4389120" y="1280160"/>
            <a:ext cx="3451860" cy="2926080"/>
          </a:xfrm>
          <a:prstGeom prst="roundRect">
            <a:avLst>
              <a:gd name="adj" fmla="val 5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54480"/>
            <a:ext cx="640080" cy="640080"/>
          </a:xfrm>
          <a:prstGeom prst="ellipse">
            <a:avLst/>
          </a:prstGeom>
          <a:solidFill>
            <a:srgbClr val="C68C6C"/>
          </a:solidFill>
          <a:ln w="12700">
            <a:solidFill>
              <a:srgbClr val="C68C6C"/>
            </a:solidFill>
            <a:prstDash val="solid"/>
          </a:ln>
        </p:spPr>
      </p:sp>
      <p:sp>
        <p:nvSpPr>
          <p:cNvPr id="9" name="Text 5"/>
          <p:cNvSpPr txBox="1"/>
          <p:nvPr/>
        </p:nvSpPr>
        <p:spPr>
          <a:xfrm>
            <a:off x="4709160" y="1554480"/>
            <a:ext cx="640080" cy="640080"/>
          </a:xfrm>
          <a:prstGeom prst="rect">
            <a:avLst/>
          </a:prstGeom>
          <a:noFill/>
          <a:ln/>
        </p:spPr>
        <p:txBody>
          <a:bodyPr wrap="square" lIns="0" tIns="0" rIns="0" bIns="0" rtlCol="0" anchor="ctr"/>
          <a:lstStyle/>
          <a:p>
            <a:pPr algn="ctr" indent="0" marL="0">
              <a:buNone/>
            </a:pPr>
            <a:r>
              <a:rPr lang="en-US" sz="1960" b="1" dirty="0">
                <a:solidFill>
                  <a:srgbClr val="FFFDF9"/>
                </a:solidFill>
                <a:latin typeface="Source Serif Pro" pitchFamily="34" charset="0"/>
                <a:ea typeface="Source Serif Pro" pitchFamily="34" charset="-122"/>
                <a:cs typeface="Source Serif Pro" pitchFamily="34" charset="-120"/>
              </a:rPr>
              <a:t>1</a:t>
            </a:r>
            <a:endParaRPr lang="en-US" sz="1960" dirty="0"/>
          </a:p>
        </p:txBody>
      </p:sp>
      <p:sp>
        <p:nvSpPr>
          <p:cNvPr id="10" name="Text 6"/>
          <p:cNvSpPr txBox="1"/>
          <p:nvPr/>
        </p:nvSpPr>
        <p:spPr>
          <a:xfrm>
            <a:off x="4709160" y="2331720"/>
            <a:ext cx="2811780" cy="367538"/>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Para registrarlo</a:t>
            </a:r>
            <a:endParaRPr lang="en-US" sz="1900" dirty="0"/>
          </a:p>
        </p:txBody>
      </p:sp>
      <p:sp>
        <p:nvSpPr>
          <p:cNvPr id="11" name="Text 7"/>
          <p:cNvSpPr txBox="1"/>
          <p:nvPr/>
        </p:nvSpPr>
        <p:spPr>
          <a:xfrm>
            <a:off x="4709160" y="2744978"/>
            <a:ext cx="2811780" cy="1324102"/>
          </a:xfrm>
          <a:prstGeom prst="rect">
            <a:avLst/>
          </a:prstGeom>
          <a:noFill/>
          <a:ln/>
        </p:spPr>
        <p:txBody>
          <a:bodyPr wrap="square" lIns="0" tIns="0" rIns="0" bIns="0" rtlCol="0" anchor="t"/>
          <a:lstStyle/>
          <a:p>
            <a:pPr indent="0" marL="0">
              <a:buNone/>
            </a:pPr>
            <a:r>
              <a:rPr lang="en-US" sz="1450" dirty="0">
                <a:solidFill>
                  <a:srgbClr val="3F1E0D"/>
                </a:solidFill>
                <a:latin typeface="Open Sans" pitchFamily="34" charset="0"/>
                <a:ea typeface="Open Sans" pitchFamily="34" charset="-122"/>
                <a:cs typeface="Open Sans" pitchFamily="34" charset="-120"/>
              </a:rPr>
              <a:t>Si no lo pones en palabras, tu cabeza probablemente lo normalice y vuelva a mirar lo que falta.</a:t>
            </a:r>
            <a:endParaRPr lang="en-US" sz="1450" dirty="0"/>
          </a:p>
        </p:txBody>
      </p:sp>
      <p:sp>
        <p:nvSpPr>
          <p:cNvPr id="12" name="Shape 8"/>
          <p:cNvSpPr/>
          <p:nvPr/>
        </p:nvSpPr>
        <p:spPr>
          <a:xfrm>
            <a:off x="8097012" y="1280160"/>
            <a:ext cx="3451860" cy="2926080"/>
          </a:xfrm>
          <a:prstGeom prst="roundRect">
            <a:avLst>
              <a:gd name="adj" fmla="val 5000"/>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13" name="Shape 9"/>
          <p:cNvSpPr/>
          <p:nvPr/>
        </p:nvSpPr>
        <p:spPr>
          <a:xfrm>
            <a:off x="8417052" y="1554480"/>
            <a:ext cx="640080" cy="640080"/>
          </a:xfrm>
          <a:prstGeom prst="ellipse">
            <a:avLst/>
          </a:prstGeom>
          <a:solidFill>
            <a:srgbClr val="C68C6C"/>
          </a:solidFill>
          <a:ln w="12700">
            <a:solidFill>
              <a:srgbClr val="C68C6C"/>
            </a:solidFill>
            <a:prstDash val="solid"/>
          </a:ln>
        </p:spPr>
      </p:sp>
      <p:sp>
        <p:nvSpPr>
          <p:cNvPr id="14" name="Text 10"/>
          <p:cNvSpPr txBox="1"/>
          <p:nvPr/>
        </p:nvSpPr>
        <p:spPr>
          <a:xfrm>
            <a:off x="8417052" y="1554480"/>
            <a:ext cx="640080" cy="640080"/>
          </a:xfrm>
          <a:prstGeom prst="rect">
            <a:avLst/>
          </a:prstGeom>
          <a:noFill/>
          <a:ln/>
        </p:spPr>
        <p:txBody>
          <a:bodyPr wrap="square" lIns="0" tIns="0" rIns="0" bIns="0" rtlCol="0" anchor="ctr"/>
          <a:lstStyle/>
          <a:p>
            <a:pPr algn="ctr" indent="0" marL="0">
              <a:buNone/>
            </a:pPr>
            <a:r>
              <a:rPr lang="en-US" sz="1960" b="1" dirty="0">
                <a:solidFill>
                  <a:srgbClr val="FFFDF9"/>
                </a:solidFill>
                <a:latin typeface="Source Serif Pro" pitchFamily="34" charset="0"/>
                <a:ea typeface="Source Serif Pro" pitchFamily="34" charset="-122"/>
                <a:cs typeface="Source Serif Pro" pitchFamily="34" charset="-120"/>
              </a:rPr>
              <a:t>2</a:t>
            </a:r>
            <a:endParaRPr lang="en-US" sz="1960" dirty="0"/>
          </a:p>
        </p:txBody>
      </p:sp>
      <p:sp>
        <p:nvSpPr>
          <p:cNvPr id="15" name="Text 11"/>
          <p:cNvSpPr txBox="1"/>
          <p:nvPr/>
        </p:nvSpPr>
        <p:spPr>
          <a:xfrm>
            <a:off x="8417052" y="2331720"/>
            <a:ext cx="2811780" cy="661924"/>
          </a:xfrm>
          <a:prstGeom prst="rect">
            <a:avLst/>
          </a:prstGeom>
          <a:noFill/>
          <a:ln/>
        </p:spPr>
        <p:txBody>
          <a:bodyPr wrap="square" lIns="0" tIns="0" rIns="0" bIns="0" rtlCol="0" anchor="t"/>
          <a:lstStyle/>
          <a:p>
            <a:pPr indent="0" marL="0">
              <a:buNone/>
            </a:pPr>
            <a:r>
              <a:rPr lang="en-US" sz="1900" b="1" dirty="0">
                <a:solidFill>
                  <a:srgbClr val="F8F5EE"/>
                </a:solidFill>
                <a:latin typeface="Source Serif Pro" pitchFamily="34" charset="0"/>
                <a:ea typeface="Source Serif Pro" pitchFamily="34" charset="-122"/>
                <a:cs typeface="Source Serif Pro" pitchFamily="34" charset="-120"/>
              </a:rPr>
              <a:t>Para ayudar a otra mujer</a:t>
            </a:r>
            <a:endParaRPr lang="en-US" sz="1900" dirty="0"/>
          </a:p>
        </p:txBody>
      </p:sp>
      <p:sp>
        <p:nvSpPr>
          <p:cNvPr id="16" name="Text 12"/>
          <p:cNvSpPr txBox="1"/>
          <p:nvPr/>
        </p:nvSpPr>
        <p:spPr>
          <a:xfrm>
            <a:off x="8417052" y="3039364"/>
            <a:ext cx="2811780" cy="1029716"/>
          </a:xfrm>
          <a:prstGeom prst="rect">
            <a:avLst/>
          </a:prstGeom>
          <a:noFill/>
          <a:ln/>
        </p:spPr>
        <p:txBody>
          <a:bodyPr wrap="square" lIns="0" tIns="0" rIns="0" bIns="0" rtlCol="0" anchor="t"/>
          <a:lstStyle/>
          <a:p>
            <a:pPr indent="0" marL="0">
              <a:buNone/>
            </a:pPr>
            <a:r>
              <a:rPr lang="en-US" sz="1450" dirty="0">
                <a:solidFill>
                  <a:srgbClr val="EDE5CC"/>
                </a:solidFill>
                <a:latin typeface="Open Sans" pitchFamily="34" charset="0"/>
                <a:ea typeface="Open Sans" pitchFamily="34" charset="-122"/>
                <a:cs typeface="Open Sans" pitchFamily="34" charset="-120"/>
              </a:rPr>
              <a:t>Lo que para ti parece mínimo puede ser exactamente la evidencia que otra alumna necesita para entender que el cambio ocurre de a poco.</a:t>
            </a:r>
            <a:endParaRPr lang="en-US" sz="1450" dirty="0"/>
          </a:p>
        </p:txBody>
      </p:sp>
      <p:sp>
        <p:nvSpPr>
          <p:cNvPr id="17" name="Shape 13"/>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8" name="Shape 14"/>
          <p:cNvSpPr/>
          <p:nvPr/>
        </p:nvSpPr>
        <p:spPr>
          <a:xfrm>
            <a:off x="4754880" y="5486400"/>
            <a:ext cx="731520" cy="731520"/>
          </a:xfrm>
          <a:prstGeom prst="ellipse">
            <a:avLst/>
          </a:prstGeom>
          <a:solidFill>
            <a:srgbClr val="C68C6C"/>
          </a:solidFill>
          <a:ln w="12700">
            <a:solidFill>
              <a:srgbClr val="C68C6C"/>
            </a:solidFill>
            <a:prstDash val="solid"/>
          </a:ln>
        </p:spPr>
      </p:sp>
      <p:pic>
        <p:nvPicPr>
          <p:cNvPr id="19" name="Image 1" descr="preencoded.png">    </p:cNvPr>
          <p:cNvPicPr>
            <a:picLocks noChangeAspect="1"/>
          </p:cNvPicPr>
          <p:nvPr/>
        </p:nvPicPr>
        <p:blipFill>
          <a:blip r:embed="rId2"/>
          <a:stretch>
            <a:fillRect/>
          </a:stretch>
        </p:blipFill>
        <p:spPr>
          <a:xfrm>
            <a:off x="4952390" y="5683910"/>
            <a:ext cx="336499" cy="336499"/>
          </a:xfrm>
          <a:prstGeom prst="rect">
            <a:avLst/>
          </a:prstGeom>
        </p:spPr>
      </p:pic>
      <p:sp>
        <p:nvSpPr>
          <p:cNvPr id="20" name="Text 15"/>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No quiero que la comunidad exista solamente para problemas y preguntas.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09</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Cuéntame qué te está ayudando</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Tu feedback me permite acompañarte mejor</a:t>
            </a:r>
            <a:endParaRPr lang="en-US" sz="1600" dirty="0"/>
          </a:p>
        </p:txBody>
      </p:sp>
      <p:sp>
        <p:nvSpPr>
          <p:cNvPr id="7" name="Shape 3"/>
          <p:cNvSpPr/>
          <p:nvPr/>
        </p:nvSpPr>
        <p:spPr>
          <a:xfrm>
            <a:off x="4389120" y="1280160"/>
            <a:ext cx="1597914" cy="2103120"/>
          </a:xfrm>
          <a:prstGeom prst="roundRect">
            <a:avLst>
              <a:gd name="adj" fmla="val 915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70791" y="1707551"/>
            <a:ext cx="260787" cy="260787"/>
          </a:xfrm>
          <a:prstGeom prst="rect">
            <a:avLst/>
          </a:prstGeom>
        </p:spPr>
      </p:pic>
      <p:sp>
        <p:nvSpPr>
          <p:cNvPr id="10" name="Text 5"/>
          <p:cNvSpPr txBox="1"/>
          <p:nvPr/>
        </p:nvSpPr>
        <p:spPr>
          <a:xfrm>
            <a:off x="4617720" y="2258568"/>
            <a:ext cx="1140714" cy="941832"/>
          </a:xfrm>
          <a:prstGeom prst="rect">
            <a:avLst/>
          </a:prstGeom>
          <a:noFill/>
          <a:ln/>
        </p:spPr>
        <p:txBody>
          <a:bodyPr wrap="square" lIns="0" tIns="0" rIns="0" bIns="0" rtlCol="0" anchor="t"/>
          <a:lstStyle/>
          <a:p>
            <a:pPr indent="0" marL="0">
              <a:buNone/>
            </a:pPr>
            <a:r>
              <a:rPr lang="en-US" sz="1450" b="1" dirty="0">
                <a:solidFill>
                  <a:srgbClr val="81552E"/>
                </a:solidFill>
                <a:latin typeface="Open Sans" pitchFamily="34" charset="0"/>
                <a:ea typeface="Open Sans" pitchFamily="34" charset="-122"/>
                <a:cs typeface="Open Sans" pitchFamily="34" charset="-120"/>
              </a:rPr>
              <a:t>Qué herramienta te sirvió</a:t>
            </a:r>
            <a:endParaRPr lang="en-US" sz="1450" dirty="0"/>
          </a:p>
        </p:txBody>
      </p:sp>
      <p:sp>
        <p:nvSpPr>
          <p:cNvPr id="11" name="Shape 6"/>
          <p:cNvSpPr/>
          <p:nvPr/>
        </p:nvSpPr>
        <p:spPr>
          <a:xfrm>
            <a:off x="6243066" y="1280160"/>
            <a:ext cx="1597914" cy="2103120"/>
          </a:xfrm>
          <a:prstGeom prst="roundRect">
            <a:avLst>
              <a:gd name="adj" fmla="val 915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6471666" y="1554480"/>
            <a:ext cx="566928" cy="566928"/>
          </a:xfrm>
          <a:prstGeom prst="ellipse">
            <a:avLst/>
          </a:prstGeom>
          <a:solidFill>
            <a:srgbClr val="FBF2D0"/>
          </a:solidFill>
          <a:ln w="12700">
            <a:solidFill>
              <a:srgbClr val="FBF2D0"/>
            </a:solidFill>
            <a:prstDash val="solid"/>
          </a:ln>
        </p:spPr>
      </p:sp>
      <p:pic>
        <p:nvPicPr>
          <p:cNvPr id="13" name="Image 2" descr="preencoded.png">    </p:cNvPr>
          <p:cNvPicPr>
            <a:picLocks noChangeAspect="1"/>
          </p:cNvPicPr>
          <p:nvPr/>
        </p:nvPicPr>
        <p:blipFill>
          <a:blip r:embed="rId3"/>
          <a:stretch>
            <a:fillRect/>
          </a:stretch>
        </p:blipFill>
        <p:spPr>
          <a:xfrm>
            <a:off x="6624737" y="1707551"/>
            <a:ext cx="260787" cy="260787"/>
          </a:xfrm>
          <a:prstGeom prst="rect">
            <a:avLst/>
          </a:prstGeom>
        </p:spPr>
      </p:pic>
      <p:sp>
        <p:nvSpPr>
          <p:cNvPr id="14" name="Text 8"/>
          <p:cNvSpPr txBox="1"/>
          <p:nvPr/>
        </p:nvSpPr>
        <p:spPr>
          <a:xfrm>
            <a:off x="6471666" y="2258568"/>
            <a:ext cx="1140714" cy="941832"/>
          </a:xfrm>
          <a:prstGeom prst="rect">
            <a:avLst/>
          </a:prstGeom>
          <a:noFill/>
          <a:ln/>
        </p:spPr>
        <p:txBody>
          <a:bodyPr wrap="square" lIns="0" tIns="0" rIns="0" bIns="0" rtlCol="0" anchor="t"/>
          <a:lstStyle/>
          <a:p>
            <a:pPr indent="0" marL="0">
              <a:buNone/>
            </a:pPr>
            <a:r>
              <a:rPr lang="en-US" sz="1450" b="1" dirty="0">
                <a:solidFill>
                  <a:srgbClr val="81552E"/>
                </a:solidFill>
                <a:latin typeface="Open Sans" pitchFamily="34" charset="0"/>
                <a:ea typeface="Open Sans" pitchFamily="34" charset="-122"/>
                <a:cs typeface="Open Sans" pitchFamily="34" charset="-120"/>
              </a:rPr>
              <a:t>Qué cambió</a:t>
            </a:r>
            <a:endParaRPr lang="en-US" sz="1450" dirty="0"/>
          </a:p>
        </p:txBody>
      </p:sp>
      <p:sp>
        <p:nvSpPr>
          <p:cNvPr id="15" name="Shape 9"/>
          <p:cNvSpPr/>
          <p:nvPr/>
        </p:nvSpPr>
        <p:spPr>
          <a:xfrm>
            <a:off x="8097012" y="1280160"/>
            <a:ext cx="1597914" cy="2103120"/>
          </a:xfrm>
          <a:prstGeom prst="roundRect">
            <a:avLst>
              <a:gd name="adj" fmla="val 915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8325612" y="1554480"/>
            <a:ext cx="566928" cy="566928"/>
          </a:xfrm>
          <a:prstGeom prst="ellipse">
            <a:avLst/>
          </a:prstGeom>
          <a:solidFill>
            <a:srgbClr val="FBF2D0"/>
          </a:solidFill>
          <a:ln w="12700">
            <a:solidFill>
              <a:srgbClr val="FBF2D0"/>
            </a:solidFill>
            <a:prstDash val="solid"/>
          </a:ln>
        </p:spPr>
      </p:sp>
      <p:pic>
        <p:nvPicPr>
          <p:cNvPr id="17" name="Image 3" descr="preencoded.png">    </p:cNvPr>
          <p:cNvPicPr>
            <a:picLocks noChangeAspect="1"/>
          </p:cNvPicPr>
          <p:nvPr/>
        </p:nvPicPr>
        <p:blipFill>
          <a:blip r:embed="rId4"/>
          <a:stretch>
            <a:fillRect/>
          </a:stretch>
        </p:blipFill>
        <p:spPr>
          <a:xfrm>
            <a:off x="8478683" y="1707551"/>
            <a:ext cx="260787" cy="260787"/>
          </a:xfrm>
          <a:prstGeom prst="rect">
            <a:avLst/>
          </a:prstGeom>
        </p:spPr>
      </p:pic>
      <p:sp>
        <p:nvSpPr>
          <p:cNvPr id="18" name="Text 11"/>
          <p:cNvSpPr txBox="1"/>
          <p:nvPr/>
        </p:nvSpPr>
        <p:spPr>
          <a:xfrm>
            <a:off x="8325612" y="2258568"/>
            <a:ext cx="1140714" cy="941832"/>
          </a:xfrm>
          <a:prstGeom prst="rect">
            <a:avLst/>
          </a:prstGeom>
          <a:noFill/>
          <a:ln/>
        </p:spPr>
        <p:txBody>
          <a:bodyPr wrap="square" lIns="0" tIns="0" rIns="0" bIns="0" rtlCol="0" anchor="t"/>
          <a:lstStyle/>
          <a:p>
            <a:pPr indent="0" marL="0">
              <a:buNone/>
            </a:pPr>
            <a:r>
              <a:rPr lang="en-US" sz="1450" b="1" dirty="0">
                <a:solidFill>
                  <a:srgbClr val="81552E"/>
                </a:solidFill>
                <a:latin typeface="Open Sans" pitchFamily="34" charset="0"/>
                <a:ea typeface="Open Sans" pitchFamily="34" charset="-122"/>
                <a:cs typeface="Open Sans" pitchFamily="34" charset="-120"/>
              </a:rPr>
              <a:t>Qué pudiste hacer diferente</a:t>
            </a:r>
            <a:endParaRPr lang="en-US" sz="1450" dirty="0"/>
          </a:p>
        </p:txBody>
      </p:sp>
      <p:sp>
        <p:nvSpPr>
          <p:cNvPr id="19" name="Shape 12"/>
          <p:cNvSpPr/>
          <p:nvPr/>
        </p:nvSpPr>
        <p:spPr>
          <a:xfrm>
            <a:off x="9950958" y="1280160"/>
            <a:ext cx="1597914" cy="2103120"/>
          </a:xfrm>
          <a:prstGeom prst="roundRect">
            <a:avLst>
              <a:gd name="adj" fmla="val 9156"/>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10179558" y="1554480"/>
            <a:ext cx="566928" cy="566928"/>
          </a:xfrm>
          <a:prstGeom prst="ellipse">
            <a:avLst/>
          </a:prstGeom>
          <a:solidFill>
            <a:srgbClr val="FBF2D0"/>
          </a:solidFill>
          <a:ln w="12700">
            <a:solidFill>
              <a:srgbClr val="FBF2D0"/>
            </a:solidFill>
            <a:prstDash val="solid"/>
          </a:ln>
        </p:spPr>
      </p:sp>
      <p:pic>
        <p:nvPicPr>
          <p:cNvPr id="21" name="Image 4" descr="preencoded.png">    </p:cNvPr>
          <p:cNvPicPr>
            <a:picLocks noChangeAspect="1"/>
          </p:cNvPicPr>
          <p:nvPr/>
        </p:nvPicPr>
        <p:blipFill>
          <a:blip r:embed="rId5"/>
          <a:stretch>
            <a:fillRect/>
          </a:stretch>
        </p:blipFill>
        <p:spPr>
          <a:xfrm>
            <a:off x="10332629" y="1707551"/>
            <a:ext cx="260787" cy="260787"/>
          </a:xfrm>
          <a:prstGeom prst="rect">
            <a:avLst/>
          </a:prstGeom>
        </p:spPr>
      </p:pic>
      <p:sp>
        <p:nvSpPr>
          <p:cNvPr id="22" name="Text 14"/>
          <p:cNvSpPr txBox="1"/>
          <p:nvPr/>
        </p:nvSpPr>
        <p:spPr>
          <a:xfrm>
            <a:off x="10179558" y="2258568"/>
            <a:ext cx="1140714" cy="941832"/>
          </a:xfrm>
          <a:prstGeom prst="rect">
            <a:avLst/>
          </a:prstGeom>
          <a:noFill/>
          <a:ln/>
        </p:spPr>
        <p:txBody>
          <a:bodyPr wrap="square" lIns="0" tIns="0" rIns="0" bIns="0" rtlCol="0" anchor="t"/>
          <a:lstStyle/>
          <a:p>
            <a:pPr indent="0" marL="0">
              <a:buNone/>
            </a:pPr>
            <a:r>
              <a:rPr lang="en-US" sz="1450" b="1" dirty="0">
                <a:solidFill>
                  <a:srgbClr val="81552E"/>
                </a:solidFill>
                <a:latin typeface="Open Sans" pitchFamily="34" charset="0"/>
                <a:ea typeface="Open Sans" pitchFamily="34" charset="-122"/>
                <a:cs typeface="Open Sans" pitchFamily="34" charset="-120"/>
              </a:rPr>
              <a:t>Qué necesitas que ajustemos</a:t>
            </a:r>
            <a:endParaRPr lang="en-US" sz="1450" dirty="0"/>
          </a:p>
        </p:txBody>
      </p:sp>
      <p:sp>
        <p:nvSpPr>
          <p:cNvPr id="23" name="Shape 15"/>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4" name="Shape 16"/>
          <p:cNvSpPr/>
          <p:nvPr/>
        </p:nvSpPr>
        <p:spPr>
          <a:xfrm>
            <a:off x="4754880" y="5486400"/>
            <a:ext cx="731520" cy="731520"/>
          </a:xfrm>
          <a:prstGeom prst="ellipse">
            <a:avLst/>
          </a:prstGeom>
          <a:solidFill>
            <a:srgbClr val="C68C6C"/>
          </a:solidFill>
          <a:ln w="12700">
            <a:solidFill>
              <a:srgbClr val="C68C6C"/>
            </a:solidFill>
            <a:prstDash val="solid"/>
          </a:ln>
        </p:spPr>
      </p:sp>
      <p:pic>
        <p:nvPicPr>
          <p:cNvPr id="25" name="Image 5" descr="preencoded.png">    </p:cNvPr>
          <p:cNvPicPr>
            <a:picLocks noChangeAspect="1"/>
          </p:cNvPicPr>
          <p:nvPr/>
        </p:nvPicPr>
        <p:blipFill>
          <a:blip r:embed="rId6"/>
          <a:stretch>
            <a:fillRect/>
          </a:stretch>
        </p:blipFill>
        <p:spPr>
          <a:xfrm>
            <a:off x="4952390" y="5683910"/>
            <a:ext cx="336499" cy="336499"/>
          </a:xfrm>
          <a:prstGeom prst="rect">
            <a:avLst/>
          </a:prstGeom>
        </p:spPr>
      </p:pic>
      <p:sp>
        <p:nvSpPr>
          <p:cNvPr id="26" name="Text 17"/>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No esperes al final de los cinco meses para contarme qué tuvo impacto.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08 / 09</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proceso puede ayudar a otras</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Muchas creen que son las únicas a las que les pasa esto</a:t>
            </a:r>
            <a:endParaRPr lang="en-US" sz="1600" dirty="0"/>
          </a:p>
        </p:txBody>
      </p:sp>
      <p:sp>
        <p:nvSpPr>
          <p:cNvPr id="7" name="Shape 3"/>
          <p:cNvSpPr/>
          <p:nvPr/>
        </p:nvSpPr>
        <p:spPr>
          <a:xfrm>
            <a:off x="4389120" y="1280160"/>
            <a:ext cx="7159752" cy="1737360"/>
          </a:xfrm>
          <a:prstGeom prst="roundRect">
            <a:avLst>
              <a:gd name="adj" fmla="val 8421"/>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00200"/>
            <a:ext cx="6245352" cy="1143000"/>
          </a:xfrm>
          <a:prstGeom prst="rect">
            <a:avLst/>
          </a:prstGeom>
          <a:noFill/>
          <a:ln/>
        </p:spPr>
        <p:txBody>
          <a:bodyPr wrap="square" lIns="0" tIns="0" rIns="0" bIns="0" rtlCol="0" anchor="ctr"/>
          <a:lstStyle/>
          <a:p>
            <a:pPr indent="0" marL="0">
              <a:buNone/>
            </a:pPr>
            <a:r>
              <a:rPr lang="en-US" sz="1900" i="1" dirty="0">
                <a:solidFill>
                  <a:srgbClr val="F8F5EE"/>
                </a:solidFill>
                <a:latin typeface="Source Serif Pro" pitchFamily="34" charset="0"/>
                <a:ea typeface="Source Serif Pro" pitchFamily="34" charset="-122"/>
                <a:cs typeface="Source Serif Pro" pitchFamily="34" charset="-120"/>
              </a:rPr>
              <a:t>Tienen experiencia, conocimiento y usan inglés en su trabajo, pero sienten que en una reunión no pueden mostrar todo lo que saben.</a:t>
            </a:r>
            <a:endParaRPr lang="en-US" sz="1900" dirty="0"/>
          </a:p>
        </p:txBody>
      </p:sp>
      <p:sp>
        <p:nvSpPr>
          <p:cNvPr id="9" name="Shape 5"/>
          <p:cNvSpPr/>
          <p:nvPr/>
        </p:nvSpPr>
        <p:spPr>
          <a:xfrm>
            <a:off x="4389120" y="3291840"/>
            <a:ext cx="1597914"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0" name="Shape 6"/>
          <p:cNvSpPr/>
          <p:nvPr/>
        </p:nvSpPr>
        <p:spPr>
          <a:xfrm>
            <a:off x="4617720" y="3520440"/>
            <a:ext cx="548640" cy="548640"/>
          </a:xfrm>
          <a:prstGeom prst="ellipse">
            <a:avLst/>
          </a:prstGeom>
          <a:solidFill>
            <a:srgbClr val="FBF2D0"/>
          </a:solidFill>
          <a:ln w="12700">
            <a:solidFill>
              <a:srgbClr val="FBF2D0"/>
            </a:solidFill>
            <a:prstDash val="solid"/>
          </a:ln>
        </p:spPr>
      </p:sp>
      <p:pic>
        <p:nvPicPr>
          <p:cNvPr id="11" name="Image 1" descr="preencoded.png">    </p:cNvPr>
          <p:cNvPicPr>
            <a:picLocks noChangeAspect="1"/>
          </p:cNvPicPr>
          <p:nvPr/>
        </p:nvPicPr>
        <p:blipFill>
          <a:blip r:embed="rId2"/>
          <a:stretch>
            <a:fillRect/>
          </a:stretch>
        </p:blipFill>
        <p:spPr>
          <a:xfrm>
            <a:off x="4765853" y="3668573"/>
            <a:ext cx="252374" cy="252374"/>
          </a:xfrm>
          <a:prstGeom prst="rect">
            <a:avLst/>
          </a:prstGeom>
        </p:spPr>
      </p:pic>
      <p:sp>
        <p:nvSpPr>
          <p:cNvPr id="12" name="Text 7"/>
          <p:cNvSpPr txBox="1"/>
          <p:nvPr/>
        </p:nvSpPr>
        <p:spPr>
          <a:xfrm>
            <a:off x="4617720" y="4160520"/>
            <a:ext cx="1186434" cy="320040"/>
          </a:xfrm>
          <a:prstGeom prst="rect">
            <a:avLst/>
          </a:prstGeom>
          <a:noFill/>
          <a:ln/>
        </p:spPr>
        <p:txBody>
          <a:bodyPr wrap="square" lIns="0" tIns="0" rIns="0" bIns="0" rtlCol="0" anchor="t"/>
          <a:lstStyle/>
          <a:p>
            <a:pPr indent="0" marL="0">
              <a:buNone/>
            </a:pPr>
            <a:r>
              <a:rPr lang="en-US" sz="1350" b="1" dirty="0">
                <a:solidFill>
                  <a:srgbClr val="3F1E0D"/>
                </a:solidFill>
                <a:latin typeface="Open Sans" pitchFamily="34" charset="0"/>
                <a:ea typeface="Open Sans" pitchFamily="34" charset="-122"/>
                <a:cs typeface="Open Sans" pitchFamily="34" charset="-120"/>
              </a:rPr>
              <a:t>Wins</a:t>
            </a:r>
            <a:endParaRPr lang="en-US" sz="1350" dirty="0"/>
          </a:p>
        </p:txBody>
      </p:sp>
      <p:sp>
        <p:nvSpPr>
          <p:cNvPr id="13" name="Shape 8"/>
          <p:cNvSpPr/>
          <p:nvPr/>
        </p:nvSpPr>
        <p:spPr>
          <a:xfrm>
            <a:off x="6243066" y="3291840"/>
            <a:ext cx="1597914"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4" name="Shape 9"/>
          <p:cNvSpPr/>
          <p:nvPr/>
        </p:nvSpPr>
        <p:spPr>
          <a:xfrm>
            <a:off x="6471666" y="3520440"/>
            <a:ext cx="548640" cy="548640"/>
          </a:xfrm>
          <a:prstGeom prst="ellipse">
            <a:avLst/>
          </a:prstGeom>
          <a:solidFill>
            <a:srgbClr val="FBF2D0"/>
          </a:solidFill>
          <a:ln w="12700">
            <a:solidFill>
              <a:srgbClr val="FBF2D0"/>
            </a:solidFill>
            <a:prstDash val="solid"/>
          </a:ln>
        </p:spPr>
      </p:sp>
      <p:pic>
        <p:nvPicPr>
          <p:cNvPr id="15" name="Image 2" descr="preencoded.png">    </p:cNvPr>
          <p:cNvPicPr>
            <a:picLocks noChangeAspect="1"/>
          </p:cNvPicPr>
          <p:nvPr/>
        </p:nvPicPr>
        <p:blipFill>
          <a:blip r:embed="rId3"/>
          <a:stretch>
            <a:fillRect/>
          </a:stretch>
        </p:blipFill>
        <p:spPr>
          <a:xfrm>
            <a:off x="6619799" y="3668573"/>
            <a:ext cx="252374" cy="252374"/>
          </a:xfrm>
          <a:prstGeom prst="rect">
            <a:avLst/>
          </a:prstGeom>
        </p:spPr>
      </p:pic>
      <p:sp>
        <p:nvSpPr>
          <p:cNvPr id="16" name="Text 10"/>
          <p:cNvSpPr txBox="1"/>
          <p:nvPr/>
        </p:nvSpPr>
        <p:spPr>
          <a:xfrm>
            <a:off x="6471666" y="4160520"/>
            <a:ext cx="1186434" cy="320040"/>
          </a:xfrm>
          <a:prstGeom prst="rect">
            <a:avLst/>
          </a:prstGeom>
          <a:noFill/>
          <a:ln/>
        </p:spPr>
        <p:txBody>
          <a:bodyPr wrap="square" lIns="0" tIns="0" rIns="0" bIns="0" rtlCol="0" anchor="t"/>
          <a:lstStyle/>
          <a:p>
            <a:pPr indent="0" marL="0">
              <a:buNone/>
            </a:pPr>
            <a:r>
              <a:rPr lang="en-US" sz="1350" b="1" dirty="0">
                <a:solidFill>
                  <a:srgbClr val="3F1E0D"/>
                </a:solidFill>
                <a:latin typeface="Open Sans" pitchFamily="34" charset="0"/>
                <a:ea typeface="Open Sans" pitchFamily="34" charset="-122"/>
                <a:cs typeface="Open Sans" pitchFamily="34" charset="-120"/>
              </a:rPr>
              <a:t>Feedback</a:t>
            </a:r>
            <a:endParaRPr lang="en-US" sz="1350" dirty="0"/>
          </a:p>
        </p:txBody>
      </p:sp>
      <p:sp>
        <p:nvSpPr>
          <p:cNvPr id="17" name="Shape 11"/>
          <p:cNvSpPr/>
          <p:nvPr/>
        </p:nvSpPr>
        <p:spPr>
          <a:xfrm>
            <a:off x="8097012" y="3291840"/>
            <a:ext cx="1597914"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8325612" y="3520440"/>
            <a:ext cx="548640" cy="548640"/>
          </a:xfrm>
          <a:prstGeom prst="ellipse">
            <a:avLst/>
          </a:prstGeom>
          <a:solidFill>
            <a:srgbClr val="FBF2D0"/>
          </a:solidFill>
          <a:ln w="12700">
            <a:solidFill>
              <a:srgbClr val="FBF2D0"/>
            </a:solidFill>
            <a:prstDash val="solid"/>
          </a:ln>
        </p:spPr>
      </p:sp>
      <p:pic>
        <p:nvPicPr>
          <p:cNvPr id="19" name="Image 3" descr="preencoded.png">    </p:cNvPr>
          <p:cNvPicPr>
            <a:picLocks noChangeAspect="1"/>
          </p:cNvPicPr>
          <p:nvPr/>
        </p:nvPicPr>
        <p:blipFill>
          <a:blip r:embed="rId4"/>
          <a:stretch>
            <a:fillRect/>
          </a:stretch>
        </p:blipFill>
        <p:spPr>
          <a:xfrm>
            <a:off x="8473745" y="3668573"/>
            <a:ext cx="252374" cy="252374"/>
          </a:xfrm>
          <a:prstGeom prst="rect">
            <a:avLst/>
          </a:prstGeom>
        </p:spPr>
      </p:pic>
      <p:sp>
        <p:nvSpPr>
          <p:cNvPr id="20" name="Text 13"/>
          <p:cNvSpPr txBox="1"/>
          <p:nvPr/>
        </p:nvSpPr>
        <p:spPr>
          <a:xfrm>
            <a:off x="8325612" y="4160520"/>
            <a:ext cx="1186434" cy="320040"/>
          </a:xfrm>
          <a:prstGeom prst="rect">
            <a:avLst/>
          </a:prstGeom>
          <a:noFill/>
          <a:ln/>
        </p:spPr>
        <p:txBody>
          <a:bodyPr wrap="square" lIns="0" tIns="0" rIns="0" bIns="0" rtlCol="0" anchor="t"/>
          <a:lstStyle/>
          <a:p>
            <a:pPr indent="0" marL="0">
              <a:buNone/>
            </a:pPr>
            <a:r>
              <a:rPr lang="en-US" sz="1350" b="1" dirty="0">
                <a:solidFill>
                  <a:srgbClr val="3F1E0D"/>
                </a:solidFill>
                <a:latin typeface="Open Sans" pitchFamily="34" charset="0"/>
                <a:ea typeface="Open Sans" pitchFamily="34" charset="-122"/>
                <a:cs typeface="Open Sans" pitchFamily="34" charset="-120"/>
              </a:rPr>
              <a:t>Testimonios</a:t>
            </a:r>
            <a:endParaRPr lang="en-US" sz="1350" dirty="0"/>
          </a:p>
        </p:txBody>
      </p:sp>
      <p:sp>
        <p:nvSpPr>
          <p:cNvPr id="21" name="Shape 14"/>
          <p:cNvSpPr/>
          <p:nvPr/>
        </p:nvSpPr>
        <p:spPr>
          <a:xfrm>
            <a:off x="9950958" y="3291840"/>
            <a:ext cx="1597914" cy="1371600"/>
          </a:xfrm>
          <a:prstGeom prst="roundRect">
            <a:avLst>
              <a:gd name="adj" fmla="val 1066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Shape 15"/>
          <p:cNvSpPr/>
          <p:nvPr/>
        </p:nvSpPr>
        <p:spPr>
          <a:xfrm>
            <a:off x="10179558" y="3520440"/>
            <a:ext cx="548640" cy="548640"/>
          </a:xfrm>
          <a:prstGeom prst="ellipse">
            <a:avLst/>
          </a:prstGeom>
          <a:solidFill>
            <a:srgbClr val="FBF2D0"/>
          </a:solidFill>
          <a:ln w="12700">
            <a:solidFill>
              <a:srgbClr val="FBF2D0"/>
            </a:solidFill>
            <a:prstDash val="solid"/>
          </a:ln>
        </p:spPr>
      </p:sp>
      <p:pic>
        <p:nvPicPr>
          <p:cNvPr id="23" name="Image 4" descr="preencoded.png">    </p:cNvPr>
          <p:cNvPicPr>
            <a:picLocks noChangeAspect="1"/>
          </p:cNvPicPr>
          <p:nvPr/>
        </p:nvPicPr>
        <p:blipFill>
          <a:blip r:embed="rId5"/>
          <a:stretch>
            <a:fillRect/>
          </a:stretch>
        </p:blipFill>
        <p:spPr>
          <a:xfrm>
            <a:off x="10327691" y="3668573"/>
            <a:ext cx="252374" cy="252374"/>
          </a:xfrm>
          <a:prstGeom prst="rect">
            <a:avLst/>
          </a:prstGeom>
        </p:spPr>
      </p:pic>
      <p:sp>
        <p:nvSpPr>
          <p:cNvPr id="24" name="Text 16"/>
          <p:cNvSpPr txBox="1"/>
          <p:nvPr/>
        </p:nvSpPr>
        <p:spPr>
          <a:xfrm>
            <a:off x="10179558" y="4160520"/>
            <a:ext cx="1186434" cy="320040"/>
          </a:xfrm>
          <a:prstGeom prst="rect">
            <a:avLst/>
          </a:prstGeom>
          <a:noFill/>
          <a:ln/>
        </p:spPr>
        <p:txBody>
          <a:bodyPr wrap="square" lIns="0" tIns="0" rIns="0" bIns="0" rtlCol="0" anchor="t"/>
          <a:lstStyle/>
          <a:p>
            <a:pPr indent="0" marL="0">
              <a:buNone/>
            </a:pPr>
            <a:r>
              <a:rPr lang="en-US" sz="1350" b="1" dirty="0">
                <a:solidFill>
                  <a:srgbClr val="3F1E0D"/>
                </a:solidFill>
                <a:latin typeface="Open Sans" pitchFamily="34" charset="0"/>
                <a:ea typeface="Open Sans" pitchFamily="34" charset="-122"/>
                <a:cs typeface="Open Sans" pitchFamily="34" charset="-120"/>
              </a:rPr>
              <a:t>Fragmentos del proceso</a:t>
            </a:r>
            <a:endParaRPr lang="en-US" sz="1350" dirty="0"/>
          </a:p>
        </p:txBody>
      </p:sp>
      <p:sp>
        <p:nvSpPr>
          <p:cNvPr id="25" name="Shape 17"/>
          <p:cNvSpPr/>
          <p:nvPr/>
        </p:nvSpPr>
        <p:spPr>
          <a:xfrm>
            <a:off x="4389120" y="5257800"/>
            <a:ext cx="7159752" cy="1097280"/>
          </a:xfrm>
          <a:prstGeom prst="roundRect">
            <a:avLst>
              <a:gd name="adj" fmla="val 1333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6" name="Shape 18"/>
          <p:cNvSpPr/>
          <p:nvPr/>
        </p:nvSpPr>
        <p:spPr>
          <a:xfrm>
            <a:off x="4754880" y="5417820"/>
            <a:ext cx="777240" cy="777240"/>
          </a:xfrm>
          <a:prstGeom prst="ellipse">
            <a:avLst/>
          </a:prstGeom>
          <a:solidFill>
            <a:srgbClr val="C68C6C"/>
          </a:solidFill>
          <a:ln w="12700">
            <a:solidFill>
              <a:srgbClr val="C68C6C"/>
            </a:solidFill>
            <a:prstDash val="solid"/>
          </a:ln>
        </p:spPr>
      </p:sp>
      <p:pic>
        <p:nvPicPr>
          <p:cNvPr id="27" name="Image 5" descr="preencoded.png">    </p:cNvPr>
          <p:cNvPicPr>
            <a:picLocks noChangeAspect="1"/>
          </p:cNvPicPr>
          <p:nvPr/>
        </p:nvPicPr>
        <p:blipFill>
          <a:blip r:embed="rId6"/>
          <a:stretch>
            <a:fillRect/>
          </a:stretch>
        </p:blipFill>
        <p:spPr>
          <a:xfrm>
            <a:off x="4964735" y="5627675"/>
            <a:ext cx="357530" cy="357530"/>
          </a:xfrm>
          <a:prstGeom prst="rect">
            <a:avLst/>
          </a:prstGeom>
        </p:spPr>
      </p:pic>
      <p:sp>
        <p:nvSpPr>
          <p:cNvPr id="28" name="Text 19"/>
          <p:cNvSpPr txBox="1"/>
          <p:nvPr/>
        </p:nvSpPr>
        <p:spPr>
          <a:xfrm>
            <a:off x="5852160" y="5257800"/>
            <a:ext cx="5376672" cy="109728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Siempre cuidando la información confidencial de tu trabajo y respetando lo establecido en nuestro Acuerdo de Trabajo.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09 / 09</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No hagas AT WORK en silencio</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No esperes un resultado enorme para reconocer que funciona</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Participa. Pide ayuda. Comparte evidencia. </a:t>
            </a:r>
            <a:pPr indent="0" marL="0">
              <a:buNone/>
            </a:pPr>
            <a:r>
              <a:rPr lang="en-US" sz="1650" dirty="0">
                <a:solidFill>
                  <a:srgbClr val="3F1E0D"/>
                </a:solidFill>
                <a:latin typeface="Open Sans" pitchFamily="34" charset="0"/>
                <a:ea typeface="Open Sans" pitchFamily="34" charset="-122"/>
                <a:cs typeface="Open Sans" pitchFamily="34" charset="-120"/>
              </a:rPr>
              <a:t>Cuéntame lo que va cambiando.</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Si todavía no lo hiciste, </a:t>
            </a:r>
            <a:pPr indent="0" marL="0">
              <a:buNone/>
            </a:pPr>
            <a:r>
              <a:rPr lang="en-US" sz="1650" b="1" dirty="0">
                <a:solidFill>
                  <a:srgbClr val="3F1E0D"/>
                </a:solidFill>
                <a:latin typeface="Open Sans" pitchFamily="34" charset="0"/>
                <a:ea typeface="Open Sans" pitchFamily="34" charset="-122"/>
                <a:cs typeface="Open Sans" pitchFamily="34" charset="-120"/>
              </a:rPr>
              <a:t>preséntate en la comunidad</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Durante la semana, busca </a:t>
            </a:r>
            <a:pPr indent="0" marL="0">
              <a:buNone/>
            </a:pPr>
            <a:r>
              <a:rPr lang="en-US" sz="1650" b="1" dirty="0">
                <a:solidFill>
                  <a:srgbClr val="3F1E0D"/>
                </a:solidFill>
                <a:latin typeface="Open Sans" pitchFamily="34" charset="0"/>
                <a:ea typeface="Open Sans" pitchFamily="34" charset="-122"/>
                <a:cs typeface="Open Sans" pitchFamily="34" charset="-120"/>
              </a:rPr>
              <a:t>al menos un win real</a:t>
            </a:r>
            <a:pPr indent="0" marL="0">
              <a:buNone/>
            </a:pPr>
            <a:r>
              <a:rPr lang="en-US" sz="1650" dirty="0">
                <a:solidFill>
                  <a:srgbClr val="3F1E0D"/>
                </a:solidFill>
                <a:latin typeface="Open Sans" pitchFamily="34" charset="0"/>
                <a:ea typeface="Open Sans" pitchFamily="34" charset="-122"/>
                <a:cs typeface="Open Sans" pitchFamily="34" charset="-120"/>
              </a:rPr>
              <a:t> y compártelo</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No tiene que ser enorme. Tiene que ser real.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06 · Cómo sostener tu proceso</dc:title>
  <dc:subject>PptxGenJS Presentation</dc:subject>
  <dc:creator>Flor Pérsico</dc:creator>
  <cp:lastModifiedBy>Flor Pérsico</cp:lastModifiedBy>
  <cp:revision>1</cp:revision>
  <dcterms:created xsi:type="dcterms:W3CDTF">2026-09-23T13:39:01Z</dcterms:created>
  <dcterms:modified xsi:type="dcterms:W3CDTF">2026-09-23T13:39:01Z</dcterms:modified>
</cp:coreProperties>
</file>