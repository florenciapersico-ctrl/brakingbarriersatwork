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Antes de empezar el Módulo 1, quiero que hagamos una última revisión juntas.
Esta primera semana no era para avanzar rápido ni para consumir contenido. Era para dejar armado tu sistema de trabajo dentro de AT WORK y asegurarnos de que sabes exactamente cómo moverte dentro del programa.
Así que antes de seguir, quiero que revises este checklist conmigo. No se trata solo de haber visto los videos: se trata de haber completado las acciones que te van a permitir empezar el proceso con claridad, organización y un punto de partida real.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Primero, revisa que hayas completado bien tu onboarding.
Quiero que confirmes que viste todas las clases con atención, que firmaste tu Acuerdo de Trabajo y lo subiste a tu carpeta personal de AT WORK.
También deberías haber completado tu Starting Point. Ese es tu punto de partida: incluye tu autoevaluación inicial y una producción espontánea en audio o video para que podamos registrar cómo estás hoy y después comparar tu progreso con evidencia real.
Si alguno de estos puntos todavía falta, complétalo antes de avanzar.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Ahora revisemos la comunidad.
A esta altura ya deberías haberte unido a AT WORK Community y también a todos sus canales: Announcements, Weekly Reports, Wins, Questions &amp; Support y Connect &amp; Share.
Y dentro de Connect &amp; Share, deberías haber hecho tu presentación para que el resto de la comunidad pueda conocerte.
La idea es que desde el principio sepas dónde compartir cada cosa y puedas usar la comunidad como parte real de tu proceso, no como un espacio que simplemente está ahí.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Después, revisa que tengas armado tu sistema de trabajo.
Deberías haber abierto y ubicado tu carpeta personal de AT WORK, subido entre tres y cinco materiales reales de tu trabajo y reservado en tu calendario tus bloques semanales de práctica.
También quiero que tengas claro dónde y cómo pedir feedback, cómo funciona tu Weekly Report y dónde vas a guardarlo cada semana.
Y, sobre todo, que tengas claro cuál es tu foco inicial. No necesitas tener todo resuelto ni saber exactamente qué vas a trabajar durante los próximos cinco meses. Para eso está el proceso. Pero sí quiero que empieces sabiendo desde dónde partes y cuál es la prioridad ahora.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 queda un último paso.
Cuando hayas completado todo lo anterior, escríbeme para que definamos y dejemos agendado tu horario recurrente de sesiones 1:1.
No marques esta clase como completada hasta haber terminado todos los puntos del checklist.
Cuando todo esto esté listo, tu onboarding está completo y ya puedes empezar el Módulo 1.
A partir de ahí, no necesitas hacer todo de golpe. Sigue el foco de cada semana, usa tu Weekly System, trae tu trabajo real al proceso y pide ayuda cuando la necesites.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1.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1.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1.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slideLayout" Target="../slideLayouts/slideLayout1.xml"/><Relationship Id="rId9"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3F1E0D"/>
        </a:solidFill>
      </p:bgPr>
    </p:bg>
    <p:spTree>
      <p:nvGrpSpPr>
        <p:cNvPr id="1" name=""/>
        <p:cNvGrpSpPr/>
        <p:nvPr/>
      </p:nvGrpSpPr>
      <p:grpSpPr>
        <a:xfrm>
          <a:off x="0" y="0"/>
          <a:ext cx="0" cy="0"/>
          <a:chOff x="0" y="0"/>
          <a:chExt cx="0" cy="0"/>
        </a:xfrm>
      </p:grpSpPr>
      <p:sp>
        <p:nvSpPr>
          <p:cNvPr id="3" name="Shape 0"/>
          <p:cNvSpPr/>
          <p:nvPr/>
        </p:nvSpPr>
        <p:spPr>
          <a:xfrm>
            <a:off x="640080" y="685800"/>
            <a:ext cx="1874520" cy="384048"/>
          </a:xfrm>
          <a:prstGeom prst="roundRect">
            <a:avLst>
              <a:gd name="adj" fmla="val 50000"/>
            </a:avLst>
          </a:prstGeom>
          <a:solidFill>
            <a:srgbClr val="C68C6C"/>
          </a:solidFill>
          <a:ln w="12700">
            <a:solidFill>
              <a:srgbClr val="C68C6C"/>
            </a:solidFill>
            <a:prstDash val="solid"/>
          </a:ln>
        </p:spPr>
      </p:sp>
      <p:sp>
        <p:nvSpPr>
          <p:cNvPr id="4" name="Text 1"/>
          <p:cNvSpPr txBox="1"/>
          <p:nvPr/>
        </p:nvSpPr>
        <p:spPr>
          <a:xfrm>
            <a:off x="640080" y="685800"/>
            <a:ext cx="1874520" cy="384048"/>
          </a:xfrm>
          <a:prstGeom prst="rect">
            <a:avLst/>
          </a:prstGeom>
          <a:noFill/>
          <a:ln/>
        </p:spPr>
        <p:txBody>
          <a:bodyPr wrap="square" lIns="0" tIns="0" rIns="0" bIns="0" rtlCol="0" anchor="ctr"/>
          <a:lstStyle/>
          <a:p>
            <a:pPr algn="ctr" indent="0" marL="0">
              <a:buNone/>
            </a:pPr>
            <a:r>
              <a:rPr lang="en-US" sz="1100" b="1" spc="200" kern="0" dirty="0">
                <a:solidFill>
                  <a:srgbClr val="3F1E0D"/>
                </a:solidFill>
                <a:latin typeface="Open Sans" pitchFamily="34" charset="0"/>
                <a:ea typeface="Open Sans" pitchFamily="34" charset="-122"/>
                <a:cs typeface="Open Sans" pitchFamily="34" charset="-120"/>
              </a:rPr>
              <a:t>ONBOARDING · 13</a:t>
            </a:r>
            <a:endParaRPr lang="en-US" sz="1100" dirty="0"/>
          </a:p>
        </p:txBody>
      </p:sp>
      <p:sp>
        <p:nvSpPr>
          <p:cNvPr id="5" name="Text 2"/>
          <p:cNvSpPr txBox="1"/>
          <p:nvPr/>
        </p:nvSpPr>
        <p:spPr>
          <a:xfrm>
            <a:off x="640080" y="1325880"/>
            <a:ext cx="5760720" cy="1516380"/>
          </a:xfrm>
          <a:prstGeom prst="rect">
            <a:avLst/>
          </a:prstGeom>
          <a:noFill/>
          <a:ln/>
        </p:spPr>
        <p:txBody>
          <a:bodyPr wrap="square" lIns="0" tIns="0" rIns="0" bIns="0" rtlCol="0" anchor="t"/>
          <a:lstStyle/>
          <a:p>
            <a:pPr indent="0" marL="0">
              <a:lnSpc>
                <a:spcPct val="90000"/>
              </a:lnSpc>
              <a:buNone/>
            </a:pPr>
            <a:r>
              <a:rPr lang="en-US" sz="5000" b="1" dirty="0">
                <a:solidFill>
                  <a:srgbClr val="F8F5EE"/>
                </a:solidFill>
                <a:latin typeface="Source Serif Pro" pitchFamily="34" charset="0"/>
                <a:ea typeface="Source Serif Pro" pitchFamily="34" charset="-122"/>
                <a:cs typeface="Source Serif Pro" pitchFamily="34" charset="-120"/>
              </a:rPr>
              <a:t>Antes de empezar el Módulo 1</a:t>
            </a:r>
            <a:endParaRPr lang="en-US" sz="5000" dirty="0"/>
          </a:p>
        </p:txBody>
      </p:sp>
      <p:sp>
        <p:nvSpPr>
          <p:cNvPr id="6" name="Text 3"/>
          <p:cNvSpPr txBox="1"/>
          <p:nvPr/>
        </p:nvSpPr>
        <p:spPr>
          <a:xfrm>
            <a:off x="640080" y="2933700"/>
            <a:ext cx="5486400" cy="384048"/>
          </a:xfrm>
          <a:prstGeom prst="rect">
            <a:avLst/>
          </a:prstGeom>
          <a:noFill/>
          <a:ln/>
        </p:spPr>
        <p:txBody>
          <a:bodyPr wrap="square" lIns="0" tIns="0" rIns="0" bIns="0" rtlCol="0" anchor="t"/>
          <a:lstStyle/>
          <a:p>
            <a:pPr indent="0" marL="0">
              <a:buNone/>
            </a:pPr>
            <a:r>
              <a:rPr lang="en-US" sz="1700" i="1" dirty="0">
                <a:solidFill>
                  <a:srgbClr val="EDE5CC"/>
                </a:solidFill>
                <a:latin typeface="Source Serif Pro" pitchFamily="34" charset="0"/>
                <a:ea typeface="Source Serif Pro" pitchFamily="34" charset="-122"/>
                <a:cs typeface="Source Serif Pro" pitchFamily="34" charset="-120"/>
              </a:rPr>
              <a:t>Checklist final: tu sistema de trabajo, listo</a:t>
            </a:r>
            <a:endParaRPr lang="en-US" sz="1700" dirty="0"/>
          </a:p>
        </p:txBody>
      </p:sp>
      <p:pic>
        <p:nvPicPr>
          <p:cNvPr id="7" name="Image 0" descr="preencoded.png">    </p:cNvPr>
          <p:cNvPicPr>
            <a:picLocks noChangeAspect="1"/>
          </p:cNvPicPr>
          <p:nvPr/>
        </p:nvPicPr>
        <p:blipFill>
          <a:blip r:embed="rId1"/>
          <a:stretch>
            <a:fillRect/>
          </a:stretch>
        </p:blipFill>
        <p:spPr>
          <a:xfrm>
            <a:off x="8732520" y="502920"/>
            <a:ext cx="2743200" cy="1252005"/>
          </a:xfrm>
          <a:prstGeom prst="rect">
            <a:avLst/>
          </a:prstGeom>
        </p:spPr>
      </p:pic>
      <p:sp>
        <p:nvSpPr>
          <p:cNvPr id="8" name="Text 4"/>
          <p:cNvSpPr txBox="1"/>
          <p:nvPr/>
        </p:nvSpPr>
        <p:spPr>
          <a:xfrm>
            <a:off x="7086600" y="2103120"/>
            <a:ext cx="4462272" cy="320040"/>
          </a:xfrm>
          <a:prstGeom prst="rect">
            <a:avLst/>
          </a:prstGeom>
          <a:noFill/>
          <a:ln/>
        </p:spPr>
        <p:txBody>
          <a:bodyPr wrap="square" lIns="0" tIns="0" rIns="0" bIns="0" rtlCol="0" anchor="ctr"/>
          <a:lstStyle/>
          <a:p>
            <a:pPr indent="0" marL="0">
              <a:buNone/>
            </a:pPr>
            <a:r>
              <a:rPr lang="en-US" sz="1100" b="1" spc="300" kern="0" dirty="0">
                <a:solidFill>
                  <a:srgbClr val="C68C6C"/>
                </a:solidFill>
                <a:latin typeface="Open Sans" pitchFamily="34" charset="0"/>
                <a:ea typeface="Open Sans" pitchFamily="34" charset="-122"/>
                <a:cs typeface="Open Sans" pitchFamily="34" charset="-120"/>
              </a:rPr>
              <a:t>REVISAMOS JUNTAS</a:t>
            </a:r>
            <a:endParaRPr lang="en-US" sz="1100" dirty="0"/>
          </a:p>
        </p:txBody>
      </p:sp>
      <p:sp>
        <p:nvSpPr>
          <p:cNvPr id="9" name="Shape 5"/>
          <p:cNvSpPr/>
          <p:nvPr/>
        </p:nvSpPr>
        <p:spPr>
          <a:xfrm>
            <a:off x="7086600" y="2560320"/>
            <a:ext cx="4462272" cy="749808"/>
          </a:xfrm>
          <a:prstGeom prst="roundRect">
            <a:avLst>
              <a:gd name="adj" fmla="val 17073"/>
            </a:avLst>
          </a:prstGeom>
          <a:solidFill>
            <a:srgbClr val="81552E">
              <a:alpha val="60000"/>
            </a:srgbClr>
          </a:solidFill>
          <a:ln w="12700">
            <a:solidFill>
              <a:srgbClr val="81552E">
                <a:alpha val="60000"/>
              </a:srgbClr>
            </a:solidFill>
            <a:prstDash val="solid"/>
          </a:ln>
        </p:spPr>
      </p:sp>
      <p:sp>
        <p:nvSpPr>
          <p:cNvPr id="10" name="Shape 6"/>
          <p:cNvSpPr/>
          <p:nvPr/>
        </p:nvSpPr>
        <p:spPr>
          <a:xfrm>
            <a:off x="7251192" y="2688336"/>
            <a:ext cx="493776" cy="493776"/>
          </a:xfrm>
          <a:prstGeom prst="ellipse">
            <a:avLst/>
          </a:prstGeom>
          <a:solidFill>
            <a:srgbClr val="C68C6C"/>
          </a:solidFill>
          <a:ln w="12700">
            <a:solidFill>
              <a:srgbClr val="C68C6C"/>
            </a:solidFill>
            <a:prstDash val="solid"/>
          </a:ln>
        </p:spPr>
      </p:sp>
      <p:pic>
        <p:nvPicPr>
          <p:cNvPr id="11" name="Image 1" descr="preencoded.png">    </p:cNvPr>
          <p:cNvPicPr>
            <a:picLocks noChangeAspect="1"/>
          </p:cNvPicPr>
          <p:nvPr/>
        </p:nvPicPr>
        <p:blipFill>
          <a:blip r:embed="rId2"/>
          <a:stretch>
            <a:fillRect/>
          </a:stretch>
        </p:blipFill>
        <p:spPr>
          <a:xfrm>
            <a:off x="7384512" y="2821656"/>
            <a:ext cx="227137" cy="227137"/>
          </a:xfrm>
          <a:prstGeom prst="rect">
            <a:avLst/>
          </a:prstGeom>
        </p:spPr>
      </p:pic>
      <p:sp>
        <p:nvSpPr>
          <p:cNvPr id="12" name="Text 7"/>
          <p:cNvSpPr txBox="1"/>
          <p:nvPr/>
        </p:nvSpPr>
        <p:spPr>
          <a:xfrm>
            <a:off x="7909560" y="2560320"/>
            <a:ext cx="3547872" cy="749808"/>
          </a:xfrm>
          <a:prstGeom prst="rect">
            <a:avLst/>
          </a:prstGeom>
          <a:noFill/>
          <a:ln/>
        </p:spPr>
        <p:txBody>
          <a:bodyPr wrap="square" lIns="0" tIns="0" rIns="0" bIns="0" rtlCol="0" anchor="ctr"/>
          <a:lstStyle/>
          <a:p>
            <a:pPr indent="0" marL="0">
              <a:buNone/>
            </a:pPr>
            <a:r>
              <a:rPr lang="en-US" sz="1500" dirty="0">
                <a:solidFill>
                  <a:srgbClr val="F8F5EE"/>
                </a:solidFill>
                <a:latin typeface="Open Sans" pitchFamily="34" charset="0"/>
                <a:ea typeface="Open Sans" pitchFamily="34" charset="-122"/>
                <a:cs typeface="Open Sans" pitchFamily="34" charset="-120"/>
              </a:rPr>
              <a:t>Tu onboarding</a:t>
            </a:r>
            <a:endParaRPr lang="en-US" sz="1500" dirty="0"/>
          </a:p>
        </p:txBody>
      </p:sp>
      <p:sp>
        <p:nvSpPr>
          <p:cNvPr id="13" name="Shape 8"/>
          <p:cNvSpPr/>
          <p:nvPr/>
        </p:nvSpPr>
        <p:spPr>
          <a:xfrm>
            <a:off x="7086600" y="3474720"/>
            <a:ext cx="4462272" cy="749808"/>
          </a:xfrm>
          <a:prstGeom prst="roundRect">
            <a:avLst>
              <a:gd name="adj" fmla="val 17073"/>
            </a:avLst>
          </a:prstGeom>
          <a:solidFill>
            <a:srgbClr val="81552E">
              <a:alpha val="60000"/>
            </a:srgbClr>
          </a:solidFill>
          <a:ln w="12700">
            <a:solidFill>
              <a:srgbClr val="81552E">
                <a:alpha val="60000"/>
              </a:srgbClr>
            </a:solidFill>
            <a:prstDash val="solid"/>
          </a:ln>
        </p:spPr>
      </p:sp>
      <p:sp>
        <p:nvSpPr>
          <p:cNvPr id="14" name="Shape 9"/>
          <p:cNvSpPr/>
          <p:nvPr/>
        </p:nvSpPr>
        <p:spPr>
          <a:xfrm>
            <a:off x="7251192" y="3602736"/>
            <a:ext cx="493776" cy="493776"/>
          </a:xfrm>
          <a:prstGeom prst="ellipse">
            <a:avLst/>
          </a:prstGeom>
          <a:solidFill>
            <a:srgbClr val="C68C6C"/>
          </a:solidFill>
          <a:ln w="12700">
            <a:solidFill>
              <a:srgbClr val="C68C6C"/>
            </a:solidFill>
            <a:prstDash val="solid"/>
          </a:ln>
        </p:spPr>
      </p:sp>
      <p:pic>
        <p:nvPicPr>
          <p:cNvPr id="15" name="Image 2" descr="preencoded.png">    </p:cNvPr>
          <p:cNvPicPr>
            <a:picLocks noChangeAspect="1"/>
          </p:cNvPicPr>
          <p:nvPr/>
        </p:nvPicPr>
        <p:blipFill>
          <a:blip r:embed="rId3"/>
          <a:stretch>
            <a:fillRect/>
          </a:stretch>
        </p:blipFill>
        <p:spPr>
          <a:xfrm>
            <a:off x="7384512" y="3736056"/>
            <a:ext cx="227137" cy="227137"/>
          </a:xfrm>
          <a:prstGeom prst="rect">
            <a:avLst/>
          </a:prstGeom>
        </p:spPr>
      </p:pic>
      <p:sp>
        <p:nvSpPr>
          <p:cNvPr id="16" name="Text 10"/>
          <p:cNvSpPr txBox="1"/>
          <p:nvPr/>
        </p:nvSpPr>
        <p:spPr>
          <a:xfrm>
            <a:off x="7909560" y="3474720"/>
            <a:ext cx="3547872" cy="749808"/>
          </a:xfrm>
          <a:prstGeom prst="rect">
            <a:avLst/>
          </a:prstGeom>
          <a:noFill/>
          <a:ln/>
        </p:spPr>
        <p:txBody>
          <a:bodyPr wrap="square" lIns="0" tIns="0" rIns="0" bIns="0" rtlCol="0" anchor="ctr"/>
          <a:lstStyle/>
          <a:p>
            <a:pPr indent="0" marL="0">
              <a:buNone/>
            </a:pPr>
            <a:r>
              <a:rPr lang="en-US" sz="1500" dirty="0">
                <a:solidFill>
                  <a:srgbClr val="F8F5EE"/>
                </a:solidFill>
                <a:latin typeface="Open Sans" pitchFamily="34" charset="0"/>
                <a:ea typeface="Open Sans" pitchFamily="34" charset="-122"/>
                <a:cs typeface="Open Sans" pitchFamily="34" charset="-120"/>
              </a:rPr>
              <a:t>Tu comunidad</a:t>
            </a:r>
            <a:endParaRPr lang="en-US" sz="1500" dirty="0"/>
          </a:p>
        </p:txBody>
      </p:sp>
      <p:sp>
        <p:nvSpPr>
          <p:cNvPr id="17" name="Shape 11"/>
          <p:cNvSpPr/>
          <p:nvPr/>
        </p:nvSpPr>
        <p:spPr>
          <a:xfrm>
            <a:off x="7086600" y="4389120"/>
            <a:ext cx="4462272" cy="749808"/>
          </a:xfrm>
          <a:prstGeom prst="roundRect">
            <a:avLst>
              <a:gd name="adj" fmla="val 17073"/>
            </a:avLst>
          </a:prstGeom>
          <a:solidFill>
            <a:srgbClr val="81552E">
              <a:alpha val="60000"/>
            </a:srgbClr>
          </a:solidFill>
          <a:ln w="12700">
            <a:solidFill>
              <a:srgbClr val="81552E">
                <a:alpha val="60000"/>
              </a:srgbClr>
            </a:solidFill>
            <a:prstDash val="solid"/>
          </a:ln>
        </p:spPr>
      </p:sp>
      <p:sp>
        <p:nvSpPr>
          <p:cNvPr id="18" name="Shape 12"/>
          <p:cNvSpPr/>
          <p:nvPr/>
        </p:nvSpPr>
        <p:spPr>
          <a:xfrm>
            <a:off x="7251192" y="4517136"/>
            <a:ext cx="493776" cy="493776"/>
          </a:xfrm>
          <a:prstGeom prst="ellipse">
            <a:avLst/>
          </a:prstGeom>
          <a:solidFill>
            <a:srgbClr val="C68C6C"/>
          </a:solidFill>
          <a:ln w="12700">
            <a:solidFill>
              <a:srgbClr val="C68C6C"/>
            </a:solidFill>
            <a:prstDash val="solid"/>
          </a:ln>
        </p:spPr>
      </p:sp>
      <p:pic>
        <p:nvPicPr>
          <p:cNvPr id="19" name="Image 3" descr="preencoded.png">    </p:cNvPr>
          <p:cNvPicPr>
            <a:picLocks noChangeAspect="1"/>
          </p:cNvPicPr>
          <p:nvPr/>
        </p:nvPicPr>
        <p:blipFill>
          <a:blip r:embed="rId4"/>
          <a:stretch>
            <a:fillRect/>
          </a:stretch>
        </p:blipFill>
        <p:spPr>
          <a:xfrm>
            <a:off x="7384512" y="4650456"/>
            <a:ext cx="227137" cy="227137"/>
          </a:xfrm>
          <a:prstGeom prst="rect">
            <a:avLst/>
          </a:prstGeom>
        </p:spPr>
      </p:pic>
      <p:sp>
        <p:nvSpPr>
          <p:cNvPr id="20" name="Text 13"/>
          <p:cNvSpPr txBox="1"/>
          <p:nvPr/>
        </p:nvSpPr>
        <p:spPr>
          <a:xfrm>
            <a:off x="7909560" y="4389120"/>
            <a:ext cx="3547872" cy="749808"/>
          </a:xfrm>
          <a:prstGeom prst="rect">
            <a:avLst/>
          </a:prstGeom>
          <a:noFill/>
          <a:ln/>
        </p:spPr>
        <p:txBody>
          <a:bodyPr wrap="square" lIns="0" tIns="0" rIns="0" bIns="0" rtlCol="0" anchor="ctr"/>
          <a:lstStyle/>
          <a:p>
            <a:pPr indent="0" marL="0">
              <a:buNone/>
            </a:pPr>
            <a:r>
              <a:rPr lang="en-US" sz="1500" dirty="0">
                <a:solidFill>
                  <a:srgbClr val="F8F5EE"/>
                </a:solidFill>
                <a:latin typeface="Open Sans" pitchFamily="34" charset="0"/>
                <a:ea typeface="Open Sans" pitchFamily="34" charset="-122"/>
                <a:cs typeface="Open Sans" pitchFamily="34" charset="-120"/>
              </a:rPr>
              <a:t>Tu sistema de trabajo</a:t>
            </a:r>
            <a:endParaRPr lang="en-US" sz="1500" dirty="0"/>
          </a:p>
        </p:txBody>
      </p:sp>
      <p:sp>
        <p:nvSpPr>
          <p:cNvPr id="21" name="Shape 14"/>
          <p:cNvSpPr/>
          <p:nvPr/>
        </p:nvSpPr>
        <p:spPr>
          <a:xfrm>
            <a:off x="7086600" y="5303520"/>
            <a:ext cx="4462272" cy="749808"/>
          </a:xfrm>
          <a:prstGeom prst="roundRect">
            <a:avLst>
              <a:gd name="adj" fmla="val 17073"/>
            </a:avLst>
          </a:prstGeom>
          <a:solidFill>
            <a:srgbClr val="81552E">
              <a:alpha val="60000"/>
            </a:srgbClr>
          </a:solidFill>
          <a:ln w="12700">
            <a:solidFill>
              <a:srgbClr val="81552E">
                <a:alpha val="60000"/>
              </a:srgbClr>
            </a:solidFill>
            <a:prstDash val="solid"/>
          </a:ln>
        </p:spPr>
      </p:sp>
      <p:sp>
        <p:nvSpPr>
          <p:cNvPr id="22" name="Shape 15"/>
          <p:cNvSpPr/>
          <p:nvPr/>
        </p:nvSpPr>
        <p:spPr>
          <a:xfrm>
            <a:off x="7251192" y="5431536"/>
            <a:ext cx="493776" cy="493776"/>
          </a:xfrm>
          <a:prstGeom prst="ellipse">
            <a:avLst/>
          </a:prstGeom>
          <a:solidFill>
            <a:srgbClr val="C68C6C"/>
          </a:solidFill>
          <a:ln w="12700">
            <a:solidFill>
              <a:srgbClr val="C68C6C"/>
            </a:solidFill>
            <a:prstDash val="solid"/>
          </a:ln>
        </p:spPr>
      </p:sp>
      <p:pic>
        <p:nvPicPr>
          <p:cNvPr id="23" name="Image 4" descr="preencoded.png">    </p:cNvPr>
          <p:cNvPicPr>
            <a:picLocks noChangeAspect="1"/>
          </p:cNvPicPr>
          <p:nvPr/>
        </p:nvPicPr>
        <p:blipFill>
          <a:blip r:embed="rId5"/>
          <a:stretch>
            <a:fillRect/>
          </a:stretch>
        </p:blipFill>
        <p:spPr>
          <a:xfrm>
            <a:off x="7384512" y="5564856"/>
            <a:ext cx="227137" cy="227137"/>
          </a:xfrm>
          <a:prstGeom prst="rect">
            <a:avLst/>
          </a:prstGeom>
        </p:spPr>
      </p:pic>
      <p:sp>
        <p:nvSpPr>
          <p:cNvPr id="24" name="Text 16"/>
          <p:cNvSpPr txBox="1"/>
          <p:nvPr/>
        </p:nvSpPr>
        <p:spPr>
          <a:xfrm>
            <a:off x="7909560" y="5303520"/>
            <a:ext cx="3547872" cy="749808"/>
          </a:xfrm>
          <a:prstGeom prst="rect">
            <a:avLst/>
          </a:prstGeom>
          <a:noFill/>
          <a:ln/>
        </p:spPr>
        <p:txBody>
          <a:bodyPr wrap="square" lIns="0" tIns="0" rIns="0" bIns="0" rtlCol="0" anchor="ctr"/>
          <a:lstStyle/>
          <a:p>
            <a:pPr indent="0" marL="0">
              <a:buNone/>
            </a:pPr>
            <a:r>
              <a:rPr lang="en-US" sz="1500" dirty="0">
                <a:solidFill>
                  <a:srgbClr val="F8F5EE"/>
                </a:solidFill>
                <a:latin typeface="Open Sans" pitchFamily="34" charset="0"/>
                <a:ea typeface="Open Sans" pitchFamily="34" charset="-122"/>
                <a:cs typeface="Open Sans" pitchFamily="34" charset="-120"/>
              </a:rPr>
              <a:t>Último paso</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5EE"/>
        </a:solidFill>
      </p:bgPr>
    </p:bg>
    <p:spTree>
      <p:nvGrpSpPr>
        <p:cNvPr id="1" name=""/>
        <p:cNvGrpSpPr/>
        <p:nvPr/>
      </p:nvGrpSpPr>
      <p:grpSpPr>
        <a:xfrm>
          <a:off x="0" y="0"/>
          <a:ext cx="0" cy="0"/>
          <a:chOff x="0" y="0"/>
          <a:chExt cx="0" cy="0"/>
        </a:xfrm>
      </p:grpSpPr>
      <p:pic>
        <p:nvPicPr>
          <p:cNvPr id="3" name="Image 0" descr="Breaking Barriers at work">    </p:cNvPr>
          <p:cNvPicPr>
            <a:picLocks noChangeAspect="1"/>
          </p:cNvPicPr>
          <p:nvPr/>
        </p:nvPicPr>
        <p:blipFill>
          <a:blip r:embed="rId1"/>
          <a:stretch>
            <a:fillRect/>
          </a:stretch>
        </p:blipFill>
        <p:spPr>
          <a:xfrm>
            <a:off x="640080" y="274320"/>
            <a:ext cx="1188720" cy="542536"/>
          </a:xfrm>
          <a:prstGeom prst="rect">
            <a:avLst/>
          </a:prstGeom>
        </p:spPr>
      </p:pic>
      <p:sp>
        <p:nvSpPr>
          <p:cNvPr id="4" name="Text 0"/>
          <p:cNvSpPr txBox="1"/>
          <p:nvPr/>
        </p:nvSpPr>
        <p:spPr>
          <a:xfrm>
            <a:off x="7891272" y="384048"/>
            <a:ext cx="3657600" cy="274320"/>
          </a:xfrm>
          <a:prstGeom prst="rect">
            <a:avLst/>
          </a:prstGeom>
          <a:noFill/>
          <a:ln/>
        </p:spPr>
        <p:txBody>
          <a:bodyPr wrap="square" lIns="0" tIns="0" rIns="0" bIns="0" rtlCol="0" anchor="ctr"/>
          <a:lstStyle/>
          <a:p>
            <a:pPr algn="r" indent="0" marL="0">
              <a:buNone/>
            </a:pPr>
            <a:r>
              <a:rPr lang="en-US" sz="1100" i="1" dirty="0">
                <a:solidFill>
                  <a:srgbClr val="8A6A55"/>
                </a:solidFill>
                <a:latin typeface="Source Serif Pro" pitchFamily="34" charset="0"/>
                <a:ea typeface="Source Serif Pro" pitchFamily="34" charset="-122"/>
                <a:cs typeface="Source Serif Pro" pitchFamily="34" charset="-120"/>
              </a:rPr>
              <a:t>by Flor Pérsico</a:t>
            </a:r>
            <a:pPr algn="r" indent="0" marL="0">
              <a:buNone/>
            </a:pPr>
            <a:r>
              <a:rPr lang="en-US" sz="1100" dirty="0">
                <a:solidFill>
                  <a:srgbClr val="8A6A55"/>
                </a:solidFill>
                <a:latin typeface="Open Sans" pitchFamily="34" charset="0"/>
                <a:ea typeface="Open Sans" pitchFamily="34" charset="-122"/>
                <a:cs typeface="Open Sans" pitchFamily="34" charset="-120"/>
              </a:rPr>
              <a:t>   ·   02 / 05</a:t>
            </a:r>
            <a:endParaRPr lang="en-US" sz="1100" dirty="0"/>
          </a:p>
        </p:txBody>
      </p:sp>
      <p:sp>
        <p:nvSpPr>
          <p:cNvPr id="5" name="Text 1"/>
          <p:cNvSpPr txBox="1"/>
          <p:nvPr/>
        </p:nvSpPr>
        <p:spPr>
          <a:xfrm>
            <a:off x="640080" y="1280160"/>
            <a:ext cx="3429000" cy="620776"/>
          </a:xfrm>
          <a:prstGeom prst="rect">
            <a:avLst/>
          </a:prstGeom>
          <a:noFill/>
          <a:ln/>
        </p:spPr>
        <p:txBody>
          <a:bodyPr wrap="square" lIns="0" tIns="0" rIns="0" bIns="0" rtlCol="0" anchor="t"/>
          <a:lstStyle/>
          <a:p>
            <a:pPr indent="0" marL="0">
              <a:lnSpc>
                <a:spcPct val="92000"/>
              </a:lnSpc>
              <a:buNone/>
            </a:pPr>
            <a:r>
              <a:rPr lang="en-US" sz="3400" b="1" dirty="0">
                <a:solidFill>
                  <a:srgbClr val="81552E"/>
                </a:solidFill>
                <a:latin typeface="Source Serif Pro" pitchFamily="34" charset="0"/>
                <a:ea typeface="Source Serif Pro" pitchFamily="34" charset="-122"/>
                <a:cs typeface="Source Serif Pro" pitchFamily="34" charset="-120"/>
              </a:rPr>
              <a:t>Tu onboarding</a:t>
            </a:r>
            <a:endParaRPr lang="en-US" sz="3400" dirty="0"/>
          </a:p>
        </p:txBody>
      </p:sp>
      <p:sp>
        <p:nvSpPr>
          <p:cNvPr id="6" name="Text 2"/>
          <p:cNvSpPr txBox="1"/>
          <p:nvPr/>
        </p:nvSpPr>
        <p:spPr>
          <a:xfrm>
            <a:off x="640080" y="2038096"/>
            <a:ext cx="3291840" cy="640080"/>
          </a:xfrm>
          <a:prstGeom prst="rect">
            <a:avLst/>
          </a:prstGeom>
          <a:noFill/>
          <a:ln/>
        </p:spPr>
        <p:txBody>
          <a:bodyPr wrap="square" lIns="0" tIns="0" rIns="0" bIns="0" rtlCol="0" anchor="t"/>
          <a:lstStyle/>
          <a:p>
            <a:pPr indent="0" marL="0">
              <a:buNone/>
            </a:pPr>
            <a:r>
              <a:rPr lang="en-US" sz="1600" i="1" dirty="0">
                <a:solidFill>
                  <a:srgbClr val="8A6A55"/>
                </a:solidFill>
                <a:latin typeface="Source Serif Pro" pitchFamily="34" charset="0"/>
                <a:ea typeface="Source Serif Pro" pitchFamily="34" charset="-122"/>
                <a:cs typeface="Source Serif Pro" pitchFamily="34" charset="-120"/>
              </a:rPr>
              <a:t>Si alguno de estos puntos falta, complétalo antes de avanzar</a:t>
            </a:r>
            <a:endParaRPr lang="en-US" sz="1600" dirty="0"/>
          </a:p>
        </p:txBody>
      </p:sp>
      <p:sp>
        <p:nvSpPr>
          <p:cNvPr id="7" name="Shape 3"/>
          <p:cNvSpPr/>
          <p:nvPr/>
        </p:nvSpPr>
        <p:spPr>
          <a:xfrm>
            <a:off x="4389120" y="1280160"/>
            <a:ext cx="7159752" cy="914400"/>
          </a:xfrm>
          <a:prstGeom prst="roundRect">
            <a:avLst>
              <a:gd name="adj" fmla="val 16000"/>
            </a:avLst>
          </a:prstGeom>
          <a:solidFill>
            <a:srgbClr val="FFFDF9"/>
          </a:solidFill>
          <a:ln w="12700">
            <a:solidFill>
              <a:srgbClr val="FFFDF9"/>
            </a:solidFill>
            <a:prstDash val="solid"/>
          </a:ln>
          <a:effectLst>
            <a:outerShdw sx="100000" sy="100000" kx="0" ky="0" algn="bl" rotWithShape="0" blurRad="177800" dist="38100" dir="5400000">
              <a:srgbClr val="3F1E0D">
                <a:alpha val="10000"/>
              </a:srgbClr>
            </a:outerShdw>
          </a:effectLst>
        </p:spPr>
      </p:sp>
      <p:pic>
        <p:nvPicPr>
          <p:cNvPr id="8" name="Image 1" descr="preencoded.png">    </p:cNvPr>
          <p:cNvPicPr>
            <a:picLocks noChangeAspect="1"/>
          </p:cNvPicPr>
          <p:nvPr/>
        </p:nvPicPr>
        <p:blipFill>
          <a:blip r:embed="rId2"/>
          <a:stretch>
            <a:fillRect/>
          </a:stretch>
        </p:blipFill>
        <p:spPr>
          <a:xfrm>
            <a:off x="4663440" y="1563624"/>
            <a:ext cx="347472" cy="347472"/>
          </a:xfrm>
          <a:prstGeom prst="rect">
            <a:avLst/>
          </a:prstGeom>
        </p:spPr>
      </p:pic>
      <p:sp>
        <p:nvSpPr>
          <p:cNvPr id="9" name="Text 4"/>
          <p:cNvSpPr txBox="1"/>
          <p:nvPr/>
        </p:nvSpPr>
        <p:spPr>
          <a:xfrm>
            <a:off x="5212080" y="1280160"/>
            <a:ext cx="6153912" cy="914400"/>
          </a:xfrm>
          <a:prstGeom prst="rect">
            <a:avLst/>
          </a:prstGeom>
          <a:noFill/>
          <a:ln/>
        </p:spPr>
        <p:txBody>
          <a:bodyPr wrap="square" lIns="0" tIns="0" rIns="0" bIns="0" rtlCol="0" anchor="ctr"/>
          <a:lstStyle/>
          <a:p>
            <a:pPr indent="0" marL="0">
              <a:buNone/>
            </a:pPr>
            <a:r>
              <a:rPr lang="en-US" sz="1600" dirty="0">
                <a:solidFill>
                  <a:srgbClr val="3F1E0D"/>
                </a:solidFill>
                <a:latin typeface="Open Sans" pitchFamily="34" charset="0"/>
                <a:ea typeface="Open Sans" pitchFamily="34" charset="-122"/>
                <a:cs typeface="Open Sans" pitchFamily="34" charset="-120"/>
              </a:rPr>
              <a:t>Haber visto todo el onboarding con atención</a:t>
            </a:r>
            <a:endParaRPr lang="en-US" sz="1600" dirty="0"/>
          </a:p>
        </p:txBody>
      </p:sp>
      <p:sp>
        <p:nvSpPr>
          <p:cNvPr id="10" name="Shape 5"/>
          <p:cNvSpPr/>
          <p:nvPr/>
        </p:nvSpPr>
        <p:spPr>
          <a:xfrm>
            <a:off x="4389120" y="2377440"/>
            <a:ext cx="7159752" cy="914400"/>
          </a:xfrm>
          <a:prstGeom prst="roundRect">
            <a:avLst>
              <a:gd name="adj" fmla="val 16000"/>
            </a:avLst>
          </a:prstGeom>
          <a:solidFill>
            <a:srgbClr val="FFFDF9"/>
          </a:solidFill>
          <a:ln w="12700">
            <a:solidFill>
              <a:srgbClr val="FFFDF9"/>
            </a:solidFill>
            <a:prstDash val="solid"/>
          </a:ln>
          <a:effectLst>
            <a:outerShdw sx="100000" sy="100000" kx="0" ky="0" algn="bl" rotWithShape="0" blurRad="177800" dist="38100" dir="5400000">
              <a:srgbClr val="3F1E0D">
                <a:alpha val="10000"/>
              </a:srgbClr>
            </a:outerShdw>
          </a:effectLst>
        </p:spPr>
      </p:sp>
      <p:pic>
        <p:nvPicPr>
          <p:cNvPr id="11" name="Image 2" descr="preencoded.png">    </p:cNvPr>
          <p:cNvPicPr>
            <a:picLocks noChangeAspect="1"/>
          </p:cNvPicPr>
          <p:nvPr/>
        </p:nvPicPr>
        <p:blipFill>
          <a:blip r:embed="rId3"/>
          <a:stretch>
            <a:fillRect/>
          </a:stretch>
        </p:blipFill>
        <p:spPr>
          <a:xfrm>
            <a:off x="4663440" y="2660904"/>
            <a:ext cx="347472" cy="347472"/>
          </a:xfrm>
          <a:prstGeom prst="rect">
            <a:avLst/>
          </a:prstGeom>
        </p:spPr>
      </p:pic>
      <p:sp>
        <p:nvSpPr>
          <p:cNvPr id="12" name="Text 6"/>
          <p:cNvSpPr txBox="1"/>
          <p:nvPr/>
        </p:nvSpPr>
        <p:spPr>
          <a:xfrm>
            <a:off x="5212080" y="2377440"/>
            <a:ext cx="6153912" cy="914400"/>
          </a:xfrm>
          <a:prstGeom prst="rect">
            <a:avLst/>
          </a:prstGeom>
          <a:noFill/>
          <a:ln/>
        </p:spPr>
        <p:txBody>
          <a:bodyPr wrap="square" lIns="0" tIns="0" rIns="0" bIns="0" rtlCol="0" anchor="ctr"/>
          <a:lstStyle/>
          <a:p>
            <a:pPr indent="0" marL="0">
              <a:buNone/>
            </a:pPr>
            <a:r>
              <a:rPr lang="en-US" sz="1600" dirty="0">
                <a:solidFill>
                  <a:srgbClr val="3F1E0D"/>
                </a:solidFill>
                <a:latin typeface="Open Sans" pitchFamily="34" charset="0"/>
                <a:ea typeface="Open Sans" pitchFamily="34" charset="-122"/>
                <a:cs typeface="Open Sans" pitchFamily="34" charset="-120"/>
              </a:rPr>
              <a:t>Haber firmado el </a:t>
            </a:r>
            <a:pPr indent="0" marL="0">
              <a:buNone/>
            </a:pPr>
            <a:r>
              <a:rPr lang="en-US" sz="1600" b="1" dirty="0">
                <a:solidFill>
                  <a:srgbClr val="3F1E0D"/>
                </a:solidFill>
                <a:latin typeface="Open Sans" pitchFamily="34" charset="0"/>
                <a:ea typeface="Open Sans" pitchFamily="34" charset="-122"/>
                <a:cs typeface="Open Sans" pitchFamily="34" charset="-120"/>
              </a:rPr>
              <a:t>Acuerdo de Trabajo</a:t>
            </a:r>
            <a:pPr indent="0" marL="0">
              <a:buNone/>
            </a:pPr>
            <a:r>
              <a:rPr lang="en-US" sz="1600" dirty="0">
                <a:solidFill>
                  <a:srgbClr val="3F1E0D"/>
                </a:solidFill>
                <a:latin typeface="Open Sans" pitchFamily="34" charset="0"/>
                <a:ea typeface="Open Sans" pitchFamily="34" charset="-122"/>
                <a:cs typeface="Open Sans" pitchFamily="34" charset="-120"/>
              </a:rPr>
              <a:t> y haberlo subido a tu carpeta personal de AT WORK</a:t>
            </a:r>
            <a:endParaRPr lang="en-US" sz="1600" dirty="0"/>
          </a:p>
        </p:txBody>
      </p:sp>
      <p:sp>
        <p:nvSpPr>
          <p:cNvPr id="13" name="Shape 7"/>
          <p:cNvSpPr/>
          <p:nvPr/>
        </p:nvSpPr>
        <p:spPr>
          <a:xfrm>
            <a:off x="4389120" y="3474720"/>
            <a:ext cx="7159752" cy="914400"/>
          </a:xfrm>
          <a:prstGeom prst="roundRect">
            <a:avLst>
              <a:gd name="adj" fmla="val 16000"/>
            </a:avLst>
          </a:prstGeom>
          <a:solidFill>
            <a:srgbClr val="FFFDF9"/>
          </a:solidFill>
          <a:ln w="12700">
            <a:solidFill>
              <a:srgbClr val="FFFDF9"/>
            </a:solidFill>
            <a:prstDash val="solid"/>
          </a:ln>
          <a:effectLst>
            <a:outerShdw sx="100000" sy="100000" kx="0" ky="0" algn="bl" rotWithShape="0" blurRad="177800" dist="38100" dir="5400000">
              <a:srgbClr val="3F1E0D">
                <a:alpha val="10000"/>
              </a:srgbClr>
            </a:outerShdw>
          </a:effectLst>
        </p:spPr>
      </p:sp>
      <p:pic>
        <p:nvPicPr>
          <p:cNvPr id="14" name="Image 3" descr="preencoded.png">    </p:cNvPr>
          <p:cNvPicPr>
            <a:picLocks noChangeAspect="1"/>
          </p:cNvPicPr>
          <p:nvPr/>
        </p:nvPicPr>
        <p:blipFill>
          <a:blip r:embed="rId4"/>
          <a:stretch>
            <a:fillRect/>
          </a:stretch>
        </p:blipFill>
        <p:spPr>
          <a:xfrm>
            <a:off x="4663440" y="3758184"/>
            <a:ext cx="347472" cy="347472"/>
          </a:xfrm>
          <a:prstGeom prst="rect">
            <a:avLst/>
          </a:prstGeom>
        </p:spPr>
      </p:pic>
      <p:sp>
        <p:nvSpPr>
          <p:cNvPr id="15" name="Text 8"/>
          <p:cNvSpPr txBox="1"/>
          <p:nvPr/>
        </p:nvSpPr>
        <p:spPr>
          <a:xfrm>
            <a:off x="5212080" y="3474720"/>
            <a:ext cx="6153912" cy="914400"/>
          </a:xfrm>
          <a:prstGeom prst="rect">
            <a:avLst/>
          </a:prstGeom>
          <a:noFill/>
          <a:ln/>
        </p:spPr>
        <p:txBody>
          <a:bodyPr wrap="square" lIns="0" tIns="0" rIns="0" bIns="0" rtlCol="0" anchor="ctr"/>
          <a:lstStyle/>
          <a:p>
            <a:pPr indent="0" marL="0">
              <a:buNone/>
            </a:pPr>
            <a:r>
              <a:rPr lang="en-US" sz="1600" dirty="0">
                <a:solidFill>
                  <a:srgbClr val="3F1E0D"/>
                </a:solidFill>
                <a:latin typeface="Open Sans" pitchFamily="34" charset="0"/>
                <a:ea typeface="Open Sans" pitchFamily="34" charset="-122"/>
                <a:cs typeface="Open Sans" pitchFamily="34" charset="-120"/>
              </a:rPr>
              <a:t>Haber completado tu </a:t>
            </a:r>
            <a:pPr indent="0" marL="0">
              <a:buNone/>
            </a:pPr>
            <a:r>
              <a:rPr lang="en-US" sz="1600" b="1" dirty="0">
                <a:solidFill>
                  <a:srgbClr val="3F1E0D"/>
                </a:solidFill>
                <a:latin typeface="Open Sans" pitchFamily="34" charset="0"/>
                <a:ea typeface="Open Sans" pitchFamily="34" charset="-122"/>
                <a:cs typeface="Open Sans" pitchFamily="34" charset="-120"/>
              </a:rPr>
              <a:t>Starting Point</a:t>
            </a:r>
            <a:pPr indent="0" marL="0">
              <a:buNone/>
            </a:pPr>
            <a:r>
              <a:rPr lang="en-US" sz="1600" dirty="0">
                <a:solidFill>
                  <a:srgbClr val="3F1E0D"/>
                </a:solidFill>
                <a:latin typeface="Open Sans" pitchFamily="34" charset="0"/>
                <a:ea typeface="Open Sans" pitchFamily="34" charset="-122"/>
                <a:cs typeface="Open Sans" pitchFamily="34" charset="-120"/>
              </a:rPr>
              <a:t>: autoevaluación inicial + audio o video espontáneo de 2–3 minutos</a:t>
            </a:r>
            <a:endParaRPr lang="en-US" sz="1600" dirty="0"/>
          </a:p>
        </p:txBody>
      </p:sp>
      <p:sp>
        <p:nvSpPr>
          <p:cNvPr id="16" name="Shape 9"/>
          <p:cNvSpPr/>
          <p:nvPr/>
        </p:nvSpPr>
        <p:spPr>
          <a:xfrm>
            <a:off x="4389120" y="4983480"/>
            <a:ext cx="7159752" cy="1371600"/>
          </a:xfrm>
          <a:prstGeom prst="roundRect">
            <a:avLst>
              <a:gd name="adj" fmla="val 10667"/>
            </a:avLst>
          </a:prstGeom>
          <a:solidFill>
            <a:srgbClr val="FBF2D0"/>
          </a:solidFill>
          <a:ln w="12700">
            <a:solidFill>
              <a:srgbClr val="FBF2D0"/>
            </a:solidFill>
            <a:prstDash val="solid"/>
          </a:ln>
          <a:effectLst>
            <a:outerShdw sx="100000" sy="100000" kx="0" ky="0" algn="bl" rotWithShape="0" blurRad="177800" dist="38100" dir="5400000">
              <a:srgbClr val="3F1E0D">
                <a:alpha val="10000"/>
              </a:srgbClr>
            </a:outerShdw>
          </a:effectLst>
        </p:spPr>
      </p:sp>
      <p:sp>
        <p:nvSpPr>
          <p:cNvPr id="17" name="Shape 10"/>
          <p:cNvSpPr/>
          <p:nvPr/>
        </p:nvSpPr>
        <p:spPr>
          <a:xfrm>
            <a:off x="4754880" y="5280660"/>
            <a:ext cx="777240" cy="777240"/>
          </a:xfrm>
          <a:prstGeom prst="ellipse">
            <a:avLst/>
          </a:prstGeom>
          <a:solidFill>
            <a:srgbClr val="C68C6C"/>
          </a:solidFill>
          <a:ln w="12700">
            <a:solidFill>
              <a:srgbClr val="C68C6C"/>
            </a:solidFill>
            <a:prstDash val="solid"/>
          </a:ln>
        </p:spPr>
      </p:sp>
      <p:pic>
        <p:nvPicPr>
          <p:cNvPr id="18" name="Image 4" descr="preencoded.png">    </p:cNvPr>
          <p:cNvPicPr>
            <a:picLocks noChangeAspect="1"/>
          </p:cNvPicPr>
          <p:nvPr/>
        </p:nvPicPr>
        <p:blipFill>
          <a:blip r:embed="rId5"/>
          <a:stretch>
            <a:fillRect/>
          </a:stretch>
        </p:blipFill>
        <p:spPr>
          <a:xfrm>
            <a:off x="4964735" y="5490515"/>
            <a:ext cx="357530" cy="357530"/>
          </a:xfrm>
          <a:prstGeom prst="rect">
            <a:avLst/>
          </a:prstGeom>
        </p:spPr>
      </p:pic>
      <p:sp>
        <p:nvSpPr>
          <p:cNvPr id="19" name="Text 11"/>
          <p:cNvSpPr txBox="1"/>
          <p:nvPr/>
        </p:nvSpPr>
        <p:spPr>
          <a:xfrm>
            <a:off x="5852160" y="4983480"/>
            <a:ext cx="5376672" cy="1371600"/>
          </a:xfrm>
          <a:prstGeom prst="rect">
            <a:avLst/>
          </a:prstGeom>
          <a:noFill/>
          <a:ln/>
        </p:spPr>
        <p:txBody>
          <a:bodyPr wrap="square" lIns="0" tIns="0" rIns="0" bIns="0" rtlCol="0" anchor="ctr"/>
          <a:lstStyle/>
          <a:p>
            <a:pPr indent="0" marL="0">
              <a:spcAft>
                <a:spcPts val="500"/>
              </a:spcAft>
              <a:buNone/>
            </a:pPr>
            <a:r>
              <a:rPr lang="en-US" sz="1700" b="1" dirty="0">
                <a:solidFill>
                  <a:srgbClr val="81552E"/>
                </a:solidFill>
                <a:latin typeface="Open Sans" pitchFamily="34" charset="0"/>
                <a:ea typeface="Open Sans" pitchFamily="34" charset="-122"/>
                <a:cs typeface="Open Sans" pitchFamily="34" charset="-120"/>
              </a:rPr>
              <a:t>Tu Starting Point es tu punto de partida</a:t>
            </a:r>
            <a:endParaRPr lang="en-US" sz="1700" dirty="0"/>
          </a:p>
          <a:p>
            <a:pPr indent="0" marL="0">
              <a:spcAft>
                <a:spcPts val="500"/>
              </a:spcAft>
              <a:buNone/>
            </a:pPr>
            <a:r>
              <a:rPr lang="en-US" sz="1500" dirty="0">
                <a:solidFill>
                  <a:srgbClr val="3F1E0D"/>
                </a:solidFill>
                <a:latin typeface="Open Sans" pitchFamily="34" charset="0"/>
                <a:ea typeface="Open Sans" pitchFamily="34" charset="-122"/>
                <a:cs typeface="Open Sans" pitchFamily="34" charset="-120"/>
              </a:rPr>
              <a:t>Registra cómo estás hoy para que después podamos comparar tu progreso con evidencia real.</a:t>
            </a:r>
            <a:endParaRPr lang="en-US" sz="1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5EE"/>
        </a:solidFill>
      </p:bgPr>
    </p:bg>
    <p:spTree>
      <p:nvGrpSpPr>
        <p:cNvPr id="1" name=""/>
        <p:cNvGrpSpPr/>
        <p:nvPr/>
      </p:nvGrpSpPr>
      <p:grpSpPr>
        <a:xfrm>
          <a:off x="0" y="0"/>
          <a:ext cx="0" cy="0"/>
          <a:chOff x="0" y="0"/>
          <a:chExt cx="0" cy="0"/>
        </a:xfrm>
      </p:grpSpPr>
      <p:pic>
        <p:nvPicPr>
          <p:cNvPr id="3" name="Image 0" descr="Breaking Barriers at work">    </p:cNvPr>
          <p:cNvPicPr>
            <a:picLocks noChangeAspect="1"/>
          </p:cNvPicPr>
          <p:nvPr/>
        </p:nvPicPr>
        <p:blipFill>
          <a:blip r:embed="rId1"/>
          <a:stretch>
            <a:fillRect/>
          </a:stretch>
        </p:blipFill>
        <p:spPr>
          <a:xfrm>
            <a:off x="640080" y="274320"/>
            <a:ext cx="1188720" cy="542536"/>
          </a:xfrm>
          <a:prstGeom prst="rect">
            <a:avLst/>
          </a:prstGeom>
        </p:spPr>
      </p:pic>
      <p:sp>
        <p:nvSpPr>
          <p:cNvPr id="4" name="Text 0"/>
          <p:cNvSpPr txBox="1"/>
          <p:nvPr/>
        </p:nvSpPr>
        <p:spPr>
          <a:xfrm>
            <a:off x="7891272" y="384048"/>
            <a:ext cx="3657600" cy="274320"/>
          </a:xfrm>
          <a:prstGeom prst="rect">
            <a:avLst/>
          </a:prstGeom>
          <a:noFill/>
          <a:ln/>
        </p:spPr>
        <p:txBody>
          <a:bodyPr wrap="square" lIns="0" tIns="0" rIns="0" bIns="0" rtlCol="0" anchor="ctr"/>
          <a:lstStyle/>
          <a:p>
            <a:pPr algn="r" indent="0" marL="0">
              <a:buNone/>
            </a:pPr>
            <a:r>
              <a:rPr lang="en-US" sz="1100" i="1" dirty="0">
                <a:solidFill>
                  <a:srgbClr val="8A6A55"/>
                </a:solidFill>
                <a:latin typeface="Source Serif Pro" pitchFamily="34" charset="0"/>
                <a:ea typeface="Source Serif Pro" pitchFamily="34" charset="-122"/>
                <a:cs typeface="Source Serif Pro" pitchFamily="34" charset="-120"/>
              </a:rPr>
              <a:t>by Flor Pérsico</a:t>
            </a:r>
            <a:pPr algn="r" indent="0" marL="0">
              <a:buNone/>
            </a:pPr>
            <a:r>
              <a:rPr lang="en-US" sz="1100" dirty="0">
                <a:solidFill>
                  <a:srgbClr val="8A6A55"/>
                </a:solidFill>
                <a:latin typeface="Open Sans" pitchFamily="34" charset="0"/>
                <a:ea typeface="Open Sans" pitchFamily="34" charset="-122"/>
                <a:cs typeface="Open Sans" pitchFamily="34" charset="-120"/>
              </a:rPr>
              <a:t>   ·   03 / 05</a:t>
            </a:r>
            <a:endParaRPr lang="en-US" sz="1100" dirty="0"/>
          </a:p>
        </p:txBody>
      </p:sp>
      <p:sp>
        <p:nvSpPr>
          <p:cNvPr id="5" name="Text 1"/>
          <p:cNvSpPr txBox="1"/>
          <p:nvPr/>
        </p:nvSpPr>
        <p:spPr>
          <a:xfrm>
            <a:off x="640080" y="1280160"/>
            <a:ext cx="3429000" cy="620776"/>
          </a:xfrm>
          <a:prstGeom prst="rect">
            <a:avLst/>
          </a:prstGeom>
          <a:noFill/>
          <a:ln/>
        </p:spPr>
        <p:txBody>
          <a:bodyPr wrap="square" lIns="0" tIns="0" rIns="0" bIns="0" rtlCol="0" anchor="t"/>
          <a:lstStyle/>
          <a:p>
            <a:pPr indent="0" marL="0">
              <a:lnSpc>
                <a:spcPct val="92000"/>
              </a:lnSpc>
              <a:buNone/>
            </a:pPr>
            <a:r>
              <a:rPr lang="en-US" sz="3400" b="1" dirty="0">
                <a:solidFill>
                  <a:srgbClr val="81552E"/>
                </a:solidFill>
                <a:latin typeface="Source Serif Pro" pitchFamily="34" charset="0"/>
                <a:ea typeface="Source Serif Pro" pitchFamily="34" charset="-122"/>
                <a:cs typeface="Source Serif Pro" pitchFamily="34" charset="-120"/>
              </a:rPr>
              <a:t>Tu comunidad</a:t>
            </a:r>
            <a:endParaRPr lang="en-US" sz="3400" dirty="0"/>
          </a:p>
        </p:txBody>
      </p:sp>
      <p:sp>
        <p:nvSpPr>
          <p:cNvPr id="6" name="Text 2"/>
          <p:cNvSpPr txBox="1"/>
          <p:nvPr/>
        </p:nvSpPr>
        <p:spPr>
          <a:xfrm>
            <a:off x="640080" y="2038096"/>
            <a:ext cx="3291840" cy="640080"/>
          </a:xfrm>
          <a:prstGeom prst="rect">
            <a:avLst/>
          </a:prstGeom>
          <a:noFill/>
          <a:ln/>
        </p:spPr>
        <p:txBody>
          <a:bodyPr wrap="square" lIns="0" tIns="0" rIns="0" bIns="0" rtlCol="0" anchor="t"/>
          <a:lstStyle/>
          <a:p>
            <a:pPr indent="0" marL="0">
              <a:buNone/>
            </a:pPr>
            <a:r>
              <a:rPr lang="en-US" sz="1600" i="1" dirty="0">
                <a:solidFill>
                  <a:srgbClr val="8A6A55"/>
                </a:solidFill>
                <a:latin typeface="Source Serif Pro" pitchFamily="34" charset="0"/>
                <a:ea typeface="Source Serif Pro" pitchFamily="34" charset="-122"/>
                <a:cs typeface="Source Serif Pro" pitchFamily="34" charset="-120"/>
              </a:rPr>
              <a:t>Para que la uses como parte real de tu proceso</a:t>
            </a:r>
            <a:endParaRPr lang="en-US" sz="1600" dirty="0"/>
          </a:p>
        </p:txBody>
      </p:sp>
      <p:sp>
        <p:nvSpPr>
          <p:cNvPr id="7" name="Shape 3"/>
          <p:cNvSpPr/>
          <p:nvPr/>
        </p:nvSpPr>
        <p:spPr>
          <a:xfrm>
            <a:off x="4389120" y="1280160"/>
            <a:ext cx="7159752" cy="914400"/>
          </a:xfrm>
          <a:prstGeom prst="roundRect">
            <a:avLst>
              <a:gd name="adj" fmla="val 16000"/>
            </a:avLst>
          </a:prstGeom>
          <a:solidFill>
            <a:srgbClr val="FFFDF9"/>
          </a:solidFill>
          <a:ln w="12700">
            <a:solidFill>
              <a:srgbClr val="FFFDF9"/>
            </a:solidFill>
            <a:prstDash val="solid"/>
          </a:ln>
          <a:effectLst>
            <a:outerShdw sx="100000" sy="100000" kx="0" ky="0" algn="bl" rotWithShape="0" blurRad="177800" dist="38100" dir="5400000">
              <a:srgbClr val="3F1E0D">
                <a:alpha val="10000"/>
              </a:srgbClr>
            </a:outerShdw>
          </a:effectLst>
        </p:spPr>
      </p:sp>
      <p:pic>
        <p:nvPicPr>
          <p:cNvPr id="8" name="Image 1" descr="preencoded.png">    </p:cNvPr>
          <p:cNvPicPr>
            <a:picLocks noChangeAspect="1"/>
          </p:cNvPicPr>
          <p:nvPr/>
        </p:nvPicPr>
        <p:blipFill>
          <a:blip r:embed="rId2"/>
          <a:stretch>
            <a:fillRect/>
          </a:stretch>
        </p:blipFill>
        <p:spPr>
          <a:xfrm>
            <a:off x="4663440" y="1563624"/>
            <a:ext cx="347472" cy="347472"/>
          </a:xfrm>
          <a:prstGeom prst="rect">
            <a:avLst/>
          </a:prstGeom>
        </p:spPr>
      </p:pic>
      <p:sp>
        <p:nvSpPr>
          <p:cNvPr id="9" name="Text 4"/>
          <p:cNvSpPr txBox="1"/>
          <p:nvPr/>
        </p:nvSpPr>
        <p:spPr>
          <a:xfrm>
            <a:off x="5212080" y="1280160"/>
            <a:ext cx="6153912" cy="914400"/>
          </a:xfrm>
          <a:prstGeom prst="rect">
            <a:avLst/>
          </a:prstGeom>
          <a:noFill/>
          <a:ln/>
        </p:spPr>
        <p:txBody>
          <a:bodyPr wrap="square" lIns="0" tIns="0" rIns="0" bIns="0" rtlCol="0" anchor="ctr"/>
          <a:lstStyle/>
          <a:p>
            <a:pPr indent="0" marL="0">
              <a:buNone/>
            </a:pPr>
            <a:r>
              <a:rPr lang="en-US" sz="1600" dirty="0">
                <a:solidFill>
                  <a:srgbClr val="3F1E0D"/>
                </a:solidFill>
                <a:latin typeface="Open Sans" pitchFamily="34" charset="0"/>
                <a:ea typeface="Open Sans" pitchFamily="34" charset="-122"/>
                <a:cs typeface="Open Sans" pitchFamily="34" charset="-120"/>
              </a:rPr>
              <a:t>Haberte unido a </a:t>
            </a:r>
            <a:pPr indent="0" marL="0">
              <a:buNone/>
            </a:pPr>
            <a:r>
              <a:rPr lang="en-US" sz="1600" b="1" dirty="0">
                <a:solidFill>
                  <a:srgbClr val="3F1E0D"/>
                </a:solidFill>
                <a:latin typeface="Open Sans" pitchFamily="34" charset="0"/>
                <a:ea typeface="Open Sans" pitchFamily="34" charset="-122"/>
                <a:cs typeface="Open Sans" pitchFamily="34" charset="-120"/>
              </a:rPr>
              <a:t>AT WORK Community</a:t>
            </a:r>
            <a:endParaRPr lang="en-US" sz="1600" dirty="0"/>
          </a:p>
        </p:txBody>
      </p:sp>
      <p:sp>
        <p:nvSpPr>
          <p:cNvPr id="10" name="Shape 5"/>
          <p:cNvSpPr/>
          <p:nvPr/>
        </p:nvSpPr>
        <p:spPr>
          <a:xfrm>
            <a:off x="4389120" y="2377440"/>
            <a:ext cx="7159752" cy="914400"/>
          </a:xfrm>
          <a:prstGeom prst="roundRect">
            <a:avLst>
              <a:gd name="adj" fmla="val 16000"/>
            </a:avLst>
          </a:prstGeom>
          <a:solidFill>
            <a:srgbClr val="FFFDF9"/>
          </a:solidFill>
          <a:ln w="12700">
            <a:solidFill>
              <a:srgbClr val="FFFDF9"/>
            </a:solidFill>
            <a:prstDash val="solid"/>
          </a:ln>
          <a:effectLst>
            <a:outerShdw sx="100000" sy="100000" kx="0" ky="0" algn="bl" rotWithShape="0" blurRad="177800" dist="38100" dir="5400000">
              <a:srgbClr val="3F1E0D">
                <a:alpha val="10000"/>
              </a:srgbClr>
            </a:outerShdw>
          </a:effectLst>
        </p:spPr>
      </p:sp>
      <p:pic>
        <p:nvPicPr>
          <p:cNvPr id="11" name="Image 2" descr="preencoded.png">    </p:cNvPr>
          <p:cNvPicPr>
            <a:picLocks noChangeAspect="1"/>
          </p:cNvPicPr>
          <p:nvPr/>
        </p:nvPicPr>
        <p:blipFill>
          <a:blip r:embed="rId3"/>
          <a:stretch>
            <a:fillRect/>
          </a:stretch>
        </p:blipFill>
        <p:spPr>
          <a:xfrm>
            <a:off x="4663440" y="2660904"/>
            <a:ext cx="347472" cy="347472"/>
          </a:xfrm>
          <a:prstGeom prst="rect">
            <a:avLst/>
          </a:prstGeom>
        </p:spPr>
      </p:pic>
      <p:sp>
        <p:nvSpPr>
          <p:cNvPr id="12" name="Text 6"/>
          <p:cNvSpPr txBox="1"/>
          <p:nvPr/>
        </p:nvSpPr>
        <p:spPr>
          <a:xfrm>
            <a:off x="5212080" y="2377440"/>
            <a:ext cx="6153912" cy="914400"/>
          </a:xfrm>
          <a:prstGeom prst="rect">
            <a:avLst/>
          </a:prstGeom>
          <a:noFill/>
          <a:ln/>
        </p:spPr>
        <p:txBody>
          <a:bodyPr wrap="square" lIns="0" tIns="0" rIns="0" bIns="0" rtlCol="0" anchor="ctr"/>
          <a:lstStyle/>
          <a:p>
            <a:pPr indent="0" marL="0">
              <a:buNone/>
            </a:pPr>
            <a:r>
              <a:rPr lang="en-US" sz="1600" dirty="0">
                <a:solidFill>
                  <a:srgbClr val="3F1E0D"/>
                </a:solidFill>
                <a:latin typeface="Open Sans" pitchFamily="34" charset="0"/>
                <a:ea typeface="Open Sans" pitchFamily="34" charset="-122"/>
                <a:cs typeface="Open Sans" pitchFamily="34" charset="-120"/>
              </a:rPr>
              <a:t>Haberte unido a todos los canales</a:t>
            </a:r>
            <a:endParaRPr lang="en-US" sz="1600" dirty="0"/>
          </a:p>
        </p:txBody>
      </p:sp>
      <p:sp>
        <p:nvSpPr>
          <p:cNvPr id="13" name="Shape 7"/>
          <p:cNvSpPr/>
          <p:nvPr/>
        </p:nvSpPr>
        <p:spPr>
          <a:xfrm>
            <a:off x="4389120" y="3474720"/>
            <a:ext cx="7159752" cy="914400"/>
          </a:xfrm>
          <a:prstGeom prst="roundRect">
            <a:avLst>
              <a:gd name="adj" fmla="val 16000"/>
            </a:avLst>
          </a:prstGeom>
          <a:solidFill>
            <a:srgbClr val="FFFDF9"/>
          </a:solidFill>
          <a:ln w="12700">
            <a:solidFill>
              <a:srgbClr val="FFFDF9"/>
            </a:solidFill>
            <a:prstDash val="solid"/>
          </a:ln>
          <a:effectLst>
            <a:outerShdw sx="100000" sy="100000" kx="0" ky="0" algn="bl" rotWithShape="0" blurRad="177800" dist="38100" dir="5400000">
              <a:srgbClr val="3F1E0D">
                <a:alpha val="10000"/>
              </a:srgbClr>
            </a:outerShdw>
          </a:effectLst>
        </p:spPr>
      </p:sp>
      <p:pic>
        <p:nvPicPr>
          <p:cNvPr id="14" name="Image 3" descr="preencoded.png">    </p:cNvPr>
          <p:cNvPicPr>
            <a:picLocks noChangeAspect="1"/>
          </p:cNvPicPr>
          <p:nvPr/>
        </p:nvPicPr>
        <p:blipFill>
          <a:blip r:embed="rId4"/>
          <a:stretch>
            <a:fillRect/>
          </a:stretch>
        </p:blipFill>
        <p:spPr>
          <a:xfrm>
            <a:off x="4663440" y="3758184"/>
            <a:ext cx="347472" cy="347472"/>
          </a:xfrm>
          <a:prstGeom prst="rect">
            <a:avLst/>
          </a:prstGeom>
        </p:spPr>
      </p:pic>
      <p:sp>
        <p:nvSpPr>
          <p:cNvPr id="15" name="Text 8"/>
          <p:cNvSpPr txBox="1"/>
          <p:nvPr/>
        </p:nvSpPr>
        <p:spPr>
          <a:xfrm>
            <a:off x="5212080" y="3474720"/>
            <a:ext cx="6153912" cy="914400"/>
          </a:xfrm>
          <a:prstGeom prst="rect">
            <a:avLst/>
          </a:prstGeom>
          <a:noFill/>
          <a:ln/>
        </p:spPr>
        <p:txBody>
          <a:bodyPr wrap="square" lIns="0" tIns="0" rIns="0" bIns="0" rtlCol="0" anchor="ctr"/>
          <a:lstStyle/>
          <a:p>
            <a:pPr indent="0" marL="0">
              <a:buNone/>
            </a:pPr>
            <a:r>
              <a:rPr lang="en-US" sz="1600" dirty="0">
                <a:solidFill>
                  <a:srgbClr val="3F1E0D"/>
                </a:solidFill>
                <a:latin typeface="Open Sans" pitchFamily="34" charset="0"/>
                <a:ea typeface="Open Sans" pitchFamily="34" charset="-122"/>
                <a:cs typeface="Open Sans" pitchFamily="34" charset="-120"/>
              </a:rPr>
              <a:t>Haberte presentado en </a:t>
            </a:r>
            <a:pPr indent="0" marL="0">
              <a:buNone/>
            </a:pPr>
            <a:r>
              <a:rPr lang="en-US" sz="1600" b="1" dirty="0">
                <a:solidFill>
                  <a:srgbClr val="3F1E0D"/>
                </a:solidFill>
                <a:latin typeface="Open Sans" pitchFamily="34" charset="0"/>
                <a:ea typeface="Open Sans" pitchFamily="34" charset="-122"/>
                <a:cs typeface="Open Sans" pitchFamily="34" charset="-120"/>
              </a:rPr>
              <a:t>Connect &amp; Share</a:t>
            </a:r>
            <a:endParaRPr lang="en-US" sz="1600" dirty="0"/>
          </a:p>
        </p:txBody>
      </p:sp>
      <p:sp>
        <p:nvSpPr>
          <p:cNvPr id="16" name="Shape 9"/>
          <p:cNvSpPr/>
          <p:nvPr/>
        </p:nvSpPr>
        <p:spPr>
          <a:xfrm>
            <a:off x="4389120" y="4983480"/>
            <a:ext cx="7159752" cy="1371600"/>
          </a:xfrm>
          <a:prstGeom prst="roundRect">
            <a:avLst>
              <a:gd name="adj" fmla="val 10667"/>
            </a:avLst>
          </a:prstGeom>
          <a:solidFill>
            <a:srgbClr val="3F1E0D"/>
          </a:solidFill>
          <a:ln w="12700">
            <a:solidFill>
              <a:srgbClr val="3F1E0D"/>
            </a:solidFill>
            <a:prstDash val="solid"/>
          </a:ln>
          <a:effectLst>
            <a:outerShdw sx="100000" sy="100000" kx="0" ky="0" algn="bl" rotWithShape="0" blurRad="177800" dist="38100" dir="5400000">
              <a:srgbClr val="3F1E0D">
                <a:alpha val="10000"/>
              </a:srgbClr>
            </a:outerShdw>
          </a:effectLst>
        </p:spPr>
      </p:sp>
      <p:sp>
        <p:nvSpPr>
          <p:cNvPr id="17" name="Shape 10"/>
          <p:cNvSpPr/>
          <p:nvPr/>
        </p:nvSpPr>
        <p:spPr>
          <a:xfrm>
            <a:off x="4754880" y="5280660"/>
            <a:ext cx="777240" cy="777240"/>
          </a:xfrm>
          <a:prstGeom prst="ellipse">
            <a:avLst/>
          </a:prstGeom>
          <a:solidFill>
            <a:srgbClr val="C68C6C"/>
          </a:solidFill>
          <a:ln w="12700">
            <a:solidFill>
              <a:srgbClr val="C68C6C"/>
            </a:solidFill>
            <a:prstDash val="solid"/>
          </a:ln>
        </p:spPr>
      </p:sp>
      <p:pic>
        <p:nvPicPr>
          <p:cNvPr id="18" name="Image 4" descr="preencoded.png">    </p:cNvPr>
          <p:cNvPicPr>
            <a:picLocks noChangeAspect="1"/>
          </p:cNvPicPr>
          <p:nvPr/>
        </p:nvPicPr>
        <p:blipFill>
          <a:blip r:embed="rId5"/>
          <a:stretch>
            <a:fillRect/>
          </a:stretch>
        </p:blipFill>
        <p:spPr>
          <a:xfrm>
            <a:off x="4964735" y="5490515"/>
            <a:ext cx="357530" cy="357530"/>
          </a:xfrm>
          <a:prstGeom prst="rect">
            <a:avLst/>
          </a:prstGeom>
        </p:spPr>
      </p:pic>
      <p:sp>
        <p:nvSpPr>
          <p:cNvPr id="19" name="Text 11"/>
          <p:cNvSpPr txBox="1"/>
          <p:nvPr/>
        </p:nvSpPr>
        <p:spPr>
          <a:xfrm>
            <a:off x="5852160" y="4983480"/>
            <a:ext cx="5376672" cy="1371600"/>
          </a:xfrm>
          <a:prstGeom prst="rect">
            <a:avLst/>
          </a:prstGeom>
          <a:noFill/>
          <a:ln/>
        </p:spPr>
        <p:txBody>
          <a:bodyPr wrap="square" lIns="0" tIns="0" rIns="0" bIns="0" rtlCol="0" anchor="ctr"/>
          <a:lstStyle/>
          <a:p>
            <a:pPr indent="0" marL="0">
              <a:spcAft>
                <a:spcPts val="500"/>
              </a:spcAft>
              <a:buNone/>
            </a:pPr>
            <a:r>
              <a:rPr lang="en-US" sz="1700" b="1" dirty="0">
                <a:solidFill>
                  <a:srgbClr val="F8F5EE"/>
                </a:solidFill>
                <a:latin typeface="Open Sans" pitchFamily="34" charset="0"/>
                <a:ea typeface="Open Sans" pitchFamily="34" charset="-122"/>
                <a:cs typeface="Open Sans" pitchFamily="34" charset="-120"/>
              </a:rPr>
              <a:t>Los canales</a:t>
            </a:r>
            <a:endParaRPr lang="en-US" sz="1700" dirty="0"/>
          </a:p>
          <a:p>
            <a:pPr indent="0" marL="0">
              <a:spcAft>
                <a:spcPts val="500"/>
              </a:spcAft>
              <a:buNone/>
            </a:pPr>
            <a:r>
              <a:rPr lang="en-US" sz="1600" dirty="0">
                <a:solidFill>
                  <a:srgbClr val="EDE5CC"/>
                </a:solidFill>
                <a:latin typeface="Open Sans" pitchFamily="34" charset="0"/>
                <a:ea typeface="Open Sans" pitchFamily="34" charset="-122"/>
                <a:cs typeface="Open Sans" pitchFamily="34" charset="-120"/>
              </a:rPr>
              <a:t>Announcements · Weekly Reports · Wins · Questions &amp; Support · Connect &amp; Share</a:t>
            </a:r>
            <a:endParaRPr lang="en-US" sz="1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5EE"/>
        </a:solidFill>
      </p:bgPr>
    </p:bg>
    <p:spTree>
      <p:nvGrpSpPr>
        <p:cNvPr id="1" name=""/>
        <p:cNvGrpSpPr/>
        <p:nvPr/>
      </p:nvGrpSpPr>
      <p:grpSpPr>
        <a:xfrm>
          <a:off x="0" y="0"/>
          <a:ext cx="0" cy="0"/>
          <a:chOff x="0" y="0"/>
          <a:chExt cx="0" cy="0"/>
        </a:xfrm>
      </p:grpSpPr>
      <p:pic>
        <p:nvPicPr>
          <p:cNvPr id="3" name="Image 0" descr="Breaking Barriers at work">    </p:cNvPr>
          <p:cNvPicPr>
            <a:picLocks noChangeAspect="1"/>
          </p:cNvPicPr>
          <p:nvPr/>
        </p:nvPicPr>
        <p:blipFill>
          <a:blip r:embed="rId1"/>
          <a:stretch>
            <a:fillRect/>
          </a:stretch>
        </p:blipFill>
        <p:spPr>
          <a:xfrm>
            <a:off x="640080" y="274320"/>
            <a:ext cx="1188720" cy="542536"/>
          </a:xfrm>
          <a:prstGeom prst="rect">
            <a:avLst/>
          </a:prstGeom>
        </p:spPr>
      </p:pic>
      <p:sp>
        <p:nvSpPr>
          <p:cNvPr id="4" name="Text 0"/>
          <p:cNvSpPr txBox="1"/>
          <p:nvPr/>
        </p:nvSpPr>
        <p:spPr>
          <a:xfrm>
            <a:off x="7891272" y="384048"/>
            <a:ext cx="3657600" cy="274320"/>
          </a:xfrm>
          <a:prstGeom prst="rect">
            <a:avLst/>
          </a:prstGeom>
          <a:noFill/>
          <a:ln/>
        </p:spPr>
        <p:txBody>
          <a:bodyPr wrap="square" lIns="0" tIns="0" rIns="0" bIns="0" rtlCol="0" anchor="ctr"/>
          <a:lstStyle/>
          <a:p>
            <a:pPr algn="r" indent="0" marL="0">
              <a:buNone/>
            </a:pPr>
            <a:r>
              <a:rPr lang="en-US" sz="1100" i="1" dirty="0">
                <a:solidFill>
                  <a:srgbClr val="8A6A55"/>
                </a:solidFill>
                <a:latin typeface="Source Serif Pro" pitchFamily="34" charset="0"/>
                <a:ea typeface="Source Serif Pro" pitchFamily="34" charset="-122"/>
                <a:cs typeface="Source Serif Pro" pitchFamily="34" charset="-120"/>
              </a:rPr>
              <a:t>by Flor Pérsico</a:t>
            </a:r>
            <a:pPr algn="r" indent="0" marL="0">
              <a:buNone/>
            </a:pPr>
            <a:r>
              <a:rPr lang="en-US" sz="1100" dirty="0">
                <a:solidFill>
                  <a:srgbClr val="8A6A55"/>
                </a:solidFill>
                <a:latin typeface="Open Sans" pitchFamily="34" charset="0"/>
                <a:ea typeface="Open Sans" pitchFamily="34" charset="-122"/>
                <a:cs typeface="Open Sans" pitchFamily="34" charset="-120"/>
              </a:rPr>
              <a:t>   ·   04 / 05</a:t>
            </a:r>
            <a:endParaRPr lang="en-US" sz="1100" dirty="0"/>
          </a:p>
        </p:txBody>
      </p:sp>
      <p:sp>
        <p:nvSpPr>
          <p:cNvPr id="5" name="Text 1"/>
          <p:cNvSpPr txBox="1"/>
          <p:nvPr/>
        </p:nvSpPr>
        <p:spPr>
          <a:xfrm>
            <a:off x="640080" y="1280160"/>
            <a:ext cx="3429000" cy="1104392"/>
          </a:xfrm>
          <a:prstGeom prst="rect">
            <a:avLst/>
          </a:prstGeom>
          <a:noFill/>
          <a:ln/>
        </p:spPr>
        <p:txBody>
          <a:bodyPr wrap="square" lIns="0" tIns="0" rIns="0" bIns="0" rtlCol="0" anchor="t"/>
          <a:lstStyle/>
          <a:p>
            <a:pPr indent="0" marL="0">
              <a:lnSpc>
                <a:spcPct val="92000"/>
              </a:lnSpc>
              <a:buNone/>
            </a:pPr>
            <a:r>
              <a:rPr lang="en-US" sz="3400" b="1" dirty="0">
                <a:solidFill>
                  <a:srgbClr val="81552E"/>
                </a:solidFill>
                <a:latin typeface="Source Serif Pro" pitchFamily="34" charset="0"/>
                <a:ea typeface="Source Serif Pro" pitchFamily="34" charset="-122"/>
                <a:cs typeface="Source Serif Pro" pitchFamily="34" charset="-120"/>
              </a:rPr>
              <a:t>Tu sistema de trabajo</a:t>
            </a:r>
            <a:endParaRPr lang="en-US" sz="3400" dirty="0"/>
          </a:p>
        </p:txBody>
      </p:sp>
      <p:sp>
        <p:nvSpPr>
          <p:cNvPr id="6" name="Text 2"/>
          <p:cNvSpPr txBox="1"/>
          <p:nvPr/>
        </p:nvSpPr>
        <p:spPr>
          <a:xfrm>
            <a:off x="640080" y="2521712"/>
            <a:ext cx="3291840" cy="640080"/>
          </a:xfrm>
          <a:prstGeom prst="rect">
            <a:avLst/>
          </a:prstGeom>
          <a:noFill/>
          <a:ln/>
        </p:spPr>
        <p:txBody>
          <a:bodyPr wrap="square" lIns="0" tIns="0" rIns="0" bIns="0" rtlCol="0" anchor="t"/>
          <a:lstStyle/>
          <a:p>
            <a:pPr indent="0" marL="0">
              <a:buNone/>
            </a:pPr>
            <a:r>
              <a:rPr lang="en-US" sz="1600" i="1" dirty="0">
                <a:solidFill>
                  <a:srgbClr val="8A6A55"/>
                </a:solidFill>
                <a:latin typeface="Source Serif Pro" pitchFamily="34" charset="0"/>
                <a:ea typeface="Source Serif Pro" pitchFamily="34" charset="-122"/>
                <a:cs typeface="Source Serif Pro" pitchFamily="34" charset="-120"/>
              </a:rPr>
              <a:t>No necesitas tenerlo todo resuelto, pero sí saber desde dónde partes</a:t>
            </a:r>
            <a:endParaRPr lang="en-US" sz="1600" dirty="0"/>
          </a:p>
        </p:txBody>
      </p:sp>
      <p:sp>
        <p:nvSpPr>
          <p:cNvPr id="7" name="Shape 3"/>
          <p:cNvSpPr/>
          <p:nvPr/>
        </p:nvSpPr>
        <p:spPr>
          <a:xfrm>
            <a:off x="4389120" y="1280160"/>
            <a:ext cx="3451860" cy="914400"/>
          </a:xfrm>
          <a:prstGeom prst="roundRect">
            <a:avLst>
              <a:gd name="adj" fmla="val 16000"/>
            </a:avLst>
          </a:prstGeom>
          <a:solidFill>
            <a:srgbClr val="FFFDF9"/>
          </a:solidFill>
          <a:ln w="12700">
            <a:solidFill>
              <a:srgbClr val="FFFDF9"/>
            </a:solidFill>
            <a:prstDash val="solid"/>
          </a:ln>
          <a:effectLst>
            <a:outerShdw sx="100000" sy="100000" kx="0" ky="0" algn="bl" rotWithShape="0" blurRad="177800" dist="38100" dir="5400000">
              <a:srgbClr val="3F1E0D">
                <a:alpha val="10000"/>
              </a:srgbClr>
            </a:outerShdw>
          </a:effectLst>
        </p:spPr>
      </p:sp>
      <p:pic>
        <p:nvPicPr>
          <p:cNvPr id="8" name="Image 1" descr="preencoded.png">    </p:cNvPr>
          <p:cNvPicPr>
            <a:picLocks noChangeAspect="1"/>
          </p:cNvPicPr>
          <p:nvPr/>
        </p:nvPicPr>
        <p:blipFill>
          <a:blip r:embed="rId2"/>
          <a:stretch>
            <a:fillRect/>
          </a:stretch>
        </p:blipFill>
        <p:spPr>
          <a:xfrm>
            <a:off x="4663440" y="1563624"/>
            <a:ext cx="347472" cy="347472"/>
          </a:xfrm>
          <a:prstGeom prst="rect">
            <a:avLst/>
          </a:prstGeom>
        </p:spPr>
      </p:pic>
      <p:sp>
        <p:nvSpPr>
          <p:cNvPr id="9" name="Text 4"/>
          <p:cNvSpPr txBox="1"/>
          <p:nvPr/>
        </p:nvSpPr>
        <p:spPr>
          <a:xfrm>
            <a:off x="5212080" y="1280160"/>
            <a:ext cx="2446020" cy="914400"/>
          </a:xfrm>
          <a:prstGeom prst="rect">
            <a:avLst/>
          </a:prstGeom>
          <a:noFill/>
          <a:ln/>
        </p:spPr>
        <p:txBody>
          <a:bodyPr wrap="square" lIns="0" tIns="0" rIns="0" bIns="0" rtlCol="0" anchor="ctr"/>
          <a:lstStyle/>
          <a:p>
            <a:pPr indent="0" marL="0">
              <a:buNone/>
            </a:pPr>
            <a:r>
              <a:rPr lang="en-US" sz="1400" dirty="0">
                <a:solidFill>
                  <a:srgbClr val="3F1E0D"/>
                </a:solidFill>
                <a:latin typeface="Open Sans" pitchFamily="34" charset="0"/>
                <a:ea typeface="Open Sans" pitchFamily="34" charset="-122"/>
                <a:cs typeface="Open Sans" pitchFamily="34" charset="-120"/>
              </a:rPr>
              <a:t>Haber abierto y ubicado tu carpeta personal de AT WORK</a:t>
            </a:r>
            <a:endParaRPr lang="en-US" sz="1400" dirty="0"/>
          </a:p>
        </p:txBody>
      </p:sp>
      <p:sp>
        <p:nvSpPr>
          <p:cNvPr id="10" name="Shape 5"/>
          <p:cNvSpPr/>
          <p:nvPr/>
        </p:nvSpPr>
        <p:spPr>
          <a:xfrm>
            <a:off x="4389120" y="2377440"/>
            <a:ext cx="3451860" cy="914400"/>
          </a:xfrm>
          <a:prstGeom prst="roundRect">
            <a:avLst>
              <a:gd name="adj" fmla="val 16000"/>
            </a:avLst>
          </a:prstGeom>
          <a:solidFill>
            <a:srgbClr val="FFFDF9"/>
          </a:solidFill>
          <a:ln w="12700">
            <a:solidFill>
              <a:srgbClr val="FFFDF9"/>
            </a:solidFill>
            <a:prstDash val="solid"/>
          </a:ln>
          <a:effectLst>
            <a:outerShdw sx="100000" sy="100000" kx="0" ky="0" algn="bl" rotWithShape="0" blurRad="177800" dist="38100" dir="5400000">
              <a:srgbClr val="3F1E0D">
                <a:alpha val="10000"/>
              </a:srgbClr>
            </a:outerShdw>
          </a:effectLst>
        </p:spPr>
      </p:sp>
      <p:pic>
        <p:nvPicPr>
          <p:cNvPr id="11" name="Image 2" descr="preencoded.png">    </p:cNvPr>
          <p:cNvPicPr>
            <a:picLocks noChangeAspect="1"/>
          </p:cNvPicPr>
          <p:nvPr/>
        </p:nvPicPr>
        <p:blipFill>
          <a:blip r:embed="rId3"/>
          <a:stretch>
            <a:fillRect/>
          </a:stretch>
        </p:blipFill>
        <p:spPr>
          <a:xfrm>
            <a:off x="4663440" y="2660904"/>
            <a:ext cx="347472" cy="347472"/>
          </a:xfrm>
          <a:prstGeom prst="rect">
            <a:avLst/>
          </a:prstGeom>
        </p:spPr>
      </p:pic>
      <p:sp>
        <p:nvSpPr>
          <p:cNvPr id="12" name="Text 6"/>
          <p:cNvSpPr txBox="1"/>
          <p:nvPr/>
        </p:nvSpPr>
        <p:spPr>
          <a:xfrm>
            <a:off x="5212080" y="2377440"/>
            <a:ext cx="2446020" cy="914400"/>
          </a:xfrm>
          <a:prstGeom prst="rect">
            <a:avLst/>
          </a:prstGeom>
          <a:noFill/>
          <a:ln/>
        </p:spPr>
        <p:txBody>
          <a:bodyPr wrap="square" lIns="0" tIns="0" rIns="0" bIns="0" rtlCol="0" anchor="ctr"/>
          <a:lstStyle/>
          <a:p>
            <a:pPr indent="0" marL="0">
              <a:buNone/>
            </a:pPr>
            <a:r>
              <a:rPr lang="en-US" sz="1400" dirty="0">
                <a:solidFill>
                  <a:srgbClr val="3F1E0D"/>
                </a:solidFill>
                <a:latin typeface="Open Sans" pitchFamily="34" charset="0"/>
                <a:ea typeface="Open Sans" pitchFamily="34" charset="-122"/>
                <a:cs typeface="Open Sans" pitchFamily="34" charset="-120"/>
              </a:rPr>
              <a:t>Haber subido 3–5 materiales reales de tu trabajo</a:t>
            </a:r>
            <a:endParaRPr lang="en-US" sz="1400" dirty="0"/>
          </a:p>
        </p:txBody>
      </p:sp>
      <p:sp>
        <p:nvSpPr>
          <p:cNvPr id="13" name="Shape 7"/>
          <p:cNvSpPr/>
          <p:nvPr/>
        </p:nvSpPr>
        <p:spPr>
          <a:xfrm>
            <a:off x="4389120" y="3474720"/>
            <a:ext cx="3451860" cy="914400"/>
          </a:xfrm>
          <a:prstGeom prst="roundRect">
            <a:avLst>
              <a:gd name="adj" fmla="val 16000"/>
            </a:avLst>
          </a:prstGeom>
          <a:solidFill>
            <a:srgbClr val="FFFDF9"/>
          </a:solidFill>
          <a:ln w="12700">
            <a:solidFill>
              <a:srgbClr val="FFFDF9"/>
            </a:solidFill>
            <a:prstDash val="solid"/>
          </a:ln>
          <a:effectLst>
            <a:outerShdw sx="100000" sy="100000" kx="0" ky="0" algn="bl" rotWithShape="0" blurRad="177800" dist="38100" dir="5400000">
              <a:srgbClr val="3F1E0D">
                <a:alpha val="10000"/>
              </a:srgbClr>
            </a:outerShdw>
          </a:effectLst>
        </p:spPr>
      </p:sp>
      <p:pic>
        <p:nvPicPr>
          <p:cNvPr id="14" name="Image 3" descr="preencoded.png">    </p:cNvPr>
          <p:cNvPicPr>
            <a:picLocks noChangeAspect="1"/>
          </p:cNvPicPr>
          <p:nvPr/>
        </p:nvPicPr>
        <p:blipFill>
          <a:blip r:embed="rId4"/>
          <a:stretch>
            <a:fillRect/>
          </a:stretch>
        </p:blipFill>
        <p:spPr>
          <a:xfrm>
            <a:off x="4663440" y="3758184"/>
            <a:ext cx="347472" cy="347472"/>
          </a:xfrm>
          <a:prstGeom prst="rect">
            <a:avLst/>
          </a:prstGeom>
        </p:spPr>
      </p:pic>
      <p:sp>
        <p:nvSpPr>
          <p:cNvPr id="15" name="Text 8"/>
          <p:cNvSpPr txBox="1"/>
          <p:nvPr/>
        </p:nvSpPr>
        <p:spPr>
          <a:xfrm>
            <a:off x="5212080" y="3474720"/>
            <a:ext cx="2446020" cy="914400"/>
          </a:xfrm>
          <a:prstGeom prst="rect">
            <a:avLst/>
          </a:prstGeom>
          <a:noFill/>
          <a:ln/>
        </p:spPr>
        <p:txBody>
          <a:bodyPr wrap="square" lIns="0" tIns="0" rIns="0" bIns="0" rtlCol="0" anchor="ctr"/>
          <a:lstStyle/>
          <a:p>
            <a:pPr indent="0" marL="0">
              <a:buNone/>
            </a:pPr>
            <a:r>
              <a:rPr lang="en-US" sz="1400" dirty="0">
                <a:solidFill>
                  <a:srgbClr val="3F1E0D"/>
                </a:solidFill>
                <a:latin typeface="Open Sans" pitchFamily="34" charset="0"/>
                <a:ea typeface="Open Sans" pitchFamily="34" charset="-122"/>
                <a:cs typeface="Open Sans" pitchFamily="34" charset="-120"/>
              </a:rPr>
              <a:t>Haber reservado tus bloques semanales de práctica</a:t>
            </a:r>
            <a:endParaRPr lang="en-US" sz="1400" dirty="0"/>
          </a:p>
        </p:txBody>
      </p:sp>
      <p:sp>
        <p:nvSpPr>
          <p:cNvPr id="16" name="Shape 9"/>
          <p:cNvSpPr/>
          <p:nvPr/>
        </p:nvSpPr>
        <p:spPr>
          <a:xfrm>
            <a:off x="8097012" y="1280160"/>
            <a:ext cx="3451860" cy="914400"/>
          </a:xfrm>
          <a:prstGeom prst="roundRect">
            <a:avLst>
              <a:gd name="adj" fmla="val 16000"/>
            </a:avLst>
          </a:prstGeom>
          <a:solidFill>
            <a:srgbClr val="FFFDF9"/>
          </a:solidFill>
          <a:ln w="12700">
            <a:solidFill>
              <a:srgbClr val="FFFDF9"/>
            </a:solidFill>
            <a:prstDash val="solid"/>
          </a:ln>
          <a:effectLst>
            <a:outerShdw sx="100000" sy="100000" kx="0" ky="0" algn="bl" rotWithShape="0" blurRad="177800" dist="38100" dir="5400000">
              <a:srgbClr val="3F1E0D">
                <a:alpha val="10000"/>
              </a:srgbClr>
            </a:outerShdw>
          </a:effectLst>
        </p:spPr>
      </p:sp>
      <p:pic>
        <p:nvPicPr>
          <p:cNvPr id="17" name="Image 4" descr="preencoded.png">    </p:cNvPr>
          <p:cNvPicPr>
            <a:picLocks noChangeAspect="1"/>
          </p:cNvPicPr>
          <p:nvPr/>
        </p:nvPicPr>
        <p:blipFill>
          <a:blip r:embed="rId5"/>
          <a:stretch>
            <a:fillRect/>
          </a:stretch>
        </p:blipFill>
        <p:spPr>
          <a:xfrm>
            <a:off x="8371332" y="1563624"/>
            <a:ext cx="347472" cy="347472"/>
          </a:xfrm>
          <a:prstGeom prst="rect">
            <a:avLst/>
          </a:prstGeom>
        </p:spPr>
      </p:pic>
      <p:sp>
        <p:nvSpPr>
          <p:cNvPr id="18" name="Text 10"/>
          <p:cNvSpPr txBox="1"/>
          <p:nvPr/>
        </p:nvSpPr>
        <p:spPr>
          <a:xfrm>
            <a:off x="8919972" y="1280160"/>
            <a:ext cx="2446020" cy="914400"/>
          </a:xfrm>
          <a:prstGeom prst="rect">
            <a:avLst/>
          </a:prstGeom>
          <a:noFill/>
          <a:ln/>
        </p:spPr>
        <p:txBody>
          <a:bodyPr wrap="square" lIns="0" tIns="0" rIns="0" bIns="0" rtlCol="0" anchor="ctr"/>
          <a:lstStyle/>
          <a:p>
            <a:pPr indent="0" marL="0">
              <a:buNone/>
            </a:pPr>
            <a:r>
              <a:rPr lang="en-US" sz="1400" dirty="0">
                <a:solidFill>
                  <a:srgbClr val="3F1E0D"/>
                </a:solidFill>
                <a:latin typeface="Open Sans" pitchFamily="34" charset="0"/>
                <a:ea typeface="Open Sans" pitchFamily="34" charset="-122"/>
                <a:cs typeface="Open Sans" pitchFamily="34" charset="-120"/>
              </a:rPr>
              <a:t>Saber dónde y cómo pedir feedback</a:t>
            </a:r>
            <a:endParaRPr lang="en-US" sz="1400" dirty="0"/>
          </a:p>
        </p:txBody>
      </p:sp>
      <p:sp>
        <p:nvSpPr>
          <p:cNvPr id="19" name="Shape 11"/>
          <p:cNvSpPr/>
          <p:nvPr/>
        </p:nvSpPr>
        <p:spPr>
          <a:xfrm>
            <a:off x="8097012" y="2377440"/>
            <a:ext cx="3451860" cy="914400"/>
          </a:xfrm>
          <a:prstGeom prst="roundRect">
            <a:avLst>
              <a:gd name="adj" fmla="val 16000"/>
            </a:avLst>
          </a:prstGeom>
          <a:solidFill>
            <a:srgbClr val="FFFDF9"/>
          </a:solidFill>
          <a:ln w="12700">
            <a:solidFill>
              <a:srgbClr val="FFFDF9"/>
            </a:solidFill>
            <a:prstDash val="solid"/>
          </a:ln>
          <a:effectLst>
            <a:outerShdw sx="100000" sy="100000" kx="0" ky="0" algn="bl" rotWithShape="0" blurRad="177800" dist="38100" dir="5400000">
              <a:srgbClr val="3F1E0D">
                <a:alpha val="10000"/>
              </a:srgbClr>
            </a:outerShdw>
          </a:effectLst>
        </p:spPr>
      </p:sp>
      <p:pic>
        <p:nvPicPr>
          <p:cNvPr id="20" name="Image 5" descr="preencoded.png">    </p:cNvPr>
          <p:cNvPicPr>
            <a:picLocks noChangeAspect="1"/>
          </p:cNvPicPr>
          <p:nvPr/>
        </p:nvPicPr>
        <p:blipFill>
          <a:blip r:embed="rId6"/>
          <a:stretch>
            <a:fillRect/>
          </a:stretch>
        </p:blipFill>
        <p:spPr>
          <a:xfrm>
            <a:off x="8371332" y="2660904"/>
            <a:ext cx="347472" cy="347472"/>
          </a:xfrm>
          <a:prstGeom prst="rect">
            <a:avLst/>
          </a:prstGeom>
        </p:spPr>
      </p:pic>
      <p:sp>
        <p:nvSpPr>
          <p:cNvPr id="21" name="Text 12"/>
          <p:cNvSpPr txBox="1"/>
          <p:nvPr/>
        </p:nvSpPr>
        <p:spPr>
          <a:xfrm>
            <a:off x="8919972" y="2377440"/>
            <a:ext cx="2446020" cy="914400"/>
          </a:xfrm>
          <a:prstGeom prst="rect">
            <a:avLst/>
          </a:prstGeom>
          <a:noFill/>
          <a:ln/>
        </p:spPr>
        <p:txBody>
          <a:bodyPr wrap="square" lIns="0" tIns="0" rIns="0" bIns="0" rtlCol="0" anchor="ctr"/>
          <a:lstStyle/>
          <a:p>
            <a:pPr indent="0" marL="0">
              <a:buNone/>
            </a:pPr>
            <a:r>
              <a:rPr lang="en-US" sz="1400" dirty="0">
                <a:solidFill>
                  <a:srgbClr val="3F1E0D"/>
                </a:solidFill>
                <a:latin typeface="Open Sans" pitchFamily="34" charset="0"/>
                <a:ea typeface="Open Sans" pitchFamily="34" charset="-122"/>
                <a:cs typeface="Open Sans" pitchFamily="34" charset="-120"/>
              </a:rPr>
              <a:t>Tener claro cómo funciona el Weekly Report y dónde guardarlo</a:t>
            </a:r>
            <a:endParaRPr lang="en-US" sz="1400" dirty="0"/>
          </a:p>
        </p:txBody>
      </p:sp>
      <p:sp>
        <p:nvSpPr>
          <p:cNvPr id="22" name="Shape 13"/>
          <p:cNvSpPr/>
          <p:nvPr/>
        </p:nvSpPr>
        <p:spPr>
          <a:xfrm>
            <a:off x="8097012" y="3474720"/>
            <a:ext cx="3451860" cy="914400"/>
          </a:xfrm>
          <a:prstGeom prst="roundRect">
            <a:avLst>
              <a:gd name="adj" fmla="val 16000"/>
            </a:avLst>
          </a:prstGeom>
          <a:solidFill>
            <a:srgbClr val="FFFDF9"/>
          </a:solidFill>
          <a:ln w="12700">
            <a:solidFill>
              <a:srgbClr val="FFFDF9"/>
            </a:solidFill>
            <a:prstDash val="solid"/>
          </a:ln>
          <a:effectLst>
            <a:outerShdw sx="100000" sy="100000" kx="0" ky="0" algn="bl" rotWithShape="0" blurRad="177800" dist="38100" dir="5400000">
              <a:srgbClr val="3F1E0D">
                <a:alpha val="10000"/>
              </a:srgbClr>
            </a:outerShdw>
          </a:effectLst>
        </p:spPr>
      </p:sp>
      <p:pic>
        <p:nvPicPr>
          <p:cNvPr id="23" name="Image 6" descr="preencoded.png">    </p:cNvPr>
          <p:cNvPicPr>
            <a:picLocks noChangeAspect="1"/>
          </p:cNvPicPr>
          <p:nvPr/>
        </p:nvPicPr>
        <p:blipFill>
          <a:blip r:embed="rId7"/>
          <a:stretch>
            <a:fillRect/>
          </a:stretch>
        </p:blipFill>
        <p:spPr>
          <a:xfrm>
            <a:off x="8371332" y="3758184"/>
            <a:ext cx="347472" cy="347472"/>
          </a:xfrm>
          <a:prstGeom prst="rect">
            <a:avLst/>
          </a:prstGeom>
        </p:spPr>
      </p:pic>
      <p:sp>
        <p:nvSpPr>
          <p:cNvPr id="24" name="Text 14"/>
          <p:cNvSpPr txBox="1"/>
          <p:nvPr/>
        </p:nvSpPr>
        <p:spPr>
          <a:xfrm>
            <a:off x="8919972" y="3474720"/>
            <a:ext cx="2446020" cy="914400"/>
          </a:xfrm>
          <a:prstGeom prst="rect">
            <a:avLst/>
          </a:prstGeom>
          <a:noFill/>
          <a:ln/>
        </p:spPr>
        <p:txBody>
          <a:bodyPr wrap="square" lIns="0" tIns="0" rIns="0" bIns="0" rtlCol="0" anchor="ctr"/>
          <a:lstStyle/>
          <a:p>
            <a:pPr indent="0" marL="0">
              <a:buNone/>
            </a:pPr>
            <a:r>
              <a:rPr lang="en-US" sz="1400" dirty="0">
                <a:solidFill>
                  <a:srgbClr val="3F1E0D"/>
                </a:solidFill>
                <a:latin typeface="Open Sans" pitchFamily="34" charset="0"/>
                <a:ea typeface="Open Sans" pitchFamily="34" charset="-122"/>
                <a:cs typeface="Open Sans" pitchFamily="34" charset="-120"/>
              </a:rPr>
              <a:t>Tener claro tu </a:t>
            </a:r>
            <a:pPr indent="0" marL="0">
              <a:buNone/>
            </a:pPr>
            <a:r>
              <a:rPr lang="en-US" sz="1400" b="1" dirty="0">
                <a:solidFill>
                  <a:srgbClr val="3F1E0D"/>
                </a:solidFill>
                <a:latin typeface="Open Sans" pitchFamily="34" charset="0"/>
                <a:ea typeface="Open Sans" pitchFamily="34" charset="-122"/>
                <a:cs typeface="Open Sans" pitchFamily="34" charset="-120"/>
              </a:rPr>
              <a:t>foco inicial</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C68C6C"/>
        </a:solidFill>
      </p:bgPr>
    </p:bg>
    <p:spTree>
      <p:nvGrpSpPr>
        <p:cNvPr id="1" name=""/>
        <p:cNvGrpSpPr/>
        <p:nvPr/>
      </p:nvGrpSpPr>
      <p:grpSpPr>
        <a:xfrm>
          <a:off x="0" y="0"/>
          <a:ext cx="0" cy="0"/>
          <a:chOff x="0" y="0"/>
          <a:chExt cx="0" cy="0"/>
        </a:xfrm>
      </p:grpSpPr>
      <p:pic>
        <p:nvPicPr>
          <p:cNvPr id="3" name="Image 0" descr="Breaking Barriers at work">    </p:cNvPr>
          <p:cNvPicPr>
            <a:picLocks noChangeAspect="1"/>
          </p:cNvPicPr>
          <p:nvPr/>
        </p:nvPicPr>
        <p:blipFill>
          <a:blip r:embed="rId1"/>
          <a:stretch>
            <a:fillRect/>
          </a:stretch>
        </p:blipFill>
        <p:spPr>
          <a:xfrm>
            <a:off x="640080" y="274320"/>
            <a:ext cx="1188720" cy="542536"/>
          </a:xfrm>
          <a:prstGeom prst="rect">
            <a:avLst/>
          </a:prstGeom>
        </p:spPr>
      </p:pic>
      <p:sp>
        <p:nvSpPr>
          <p:cNvPr id="4" name="Text 0"/>
          <p:cNvSpPr txBox="1"/>
          <p:nvPr/>
        </p:nvSpPr>
        <p:spPr>
          <a:xfrm>
            <a:off x="7891272" y="384048"/>
            <a:ext cx="3657600" cy="274320"/>
          </a:xfrm>
          <a:prstGeom prst="rect">
            <a:avLst/>
          </a:prstGeom>
          <a:noFill/>
          <a:ln/>
        </p:spPr>
        <p:txBody>
          <a:bodyPr wrap="square" lIns="0" tIns="0" rIns="0" bIns="0" rtlCol="0" anchor="ctr"/>
          <a:lstStyle/>
          <a:p>
            <a:pPr algn="r" indent="0" marL="0">
              <a:buNone/>
            </a:pPr>
            <a:r>
              <a:rPr lang="en-US" sz="1100" i="1" dirty="0">
                <a:solidFill>
                  <a:srgbClr val="3F1E0D"/>
                </a:solidFill>
                <a:latin typeface="Source Serif Pro" pitchFamily="34" charset="0"/>
                <a:ea typeface="Source Serif Pro" pitchFamily="34" charset="-122"/>
                <a:cs typeface="Source Serif Pro" pitchFamily="34" charset="-120"/>
              </a:rPr>
              <a:t>by Flor Pérsico</a:t>
            </a:r>
            <a:pPr algn="r" indent="0" marL="0">
              <a:buNone/>
            </a:pPr>
            <a:r>
              <a:rPr lang="en-US" sz="1100" dirty="0">
                <a:solidFill>
                  <a:srgbClr val="3F1E0D"/>
                </a:solidFill>
                <a:latin typeface="Open Sans" pitchFamily="34" charset="0"/>
                <a:ea typeface="Open Sans" pitchFamily="34" charset="-122"/>
                <a:cs typeface="Open Sans" pitchFamily="34" charset="-120"/>
              </a:rPr>
              <a:t>   ·   05 / 05</a:t>
            </a:r>
            <a:endParaRPr lang="en-US" sz="1100" dirty="0"/>
          </a:p>
        </p:txBody>
      </p:sp>
      <p:sp>
        <p:nvSpPr>
          <p:cNvPr id="5" name="Text 1"/>
          <p:cNvSpPr txBox="1"/>
          <p:nvPr/>
        </p:nvSpPr>
        <p:spPr>
          <a:xfrm>
            <a:off x="640080" y="1280160"/>
            <a:ext cx="3429000" cy="620776"/>
          </a:xfrm>
          <a:prstGeom prst="rect">
            <a:avLst/>
          </a:prstGeom>
          <a:noFill/>
          <a:ln/>
        </p:spPr>
        <p:txBody>
          <a:bodyPr wrap="square" lIns="0" tIns="0" rIns="0" bIns="0" rtlCol="0" anchor="t"/>
          <a:lstStyle/>
          <a:p>
            <a:pPr indent="0" marL="0">
              <a:lnSpc>
                <a:spcPct val="92000"/>
              </a:lnSpc>
              <a:buNone/>
            </a:pPr>
            <a:r>
              <a:rPr lang="en-US" sz="3400" b="1" dirty="0">
                <a:solidFill>
                  <a:srgbClr val="3F1E0D"/>
                </a:solidFill>
                <a:latin typeface="Source Serif Pro" pitchFamily="34" charset="0"/>
                <a:ea typeface="Source Serif Pro" pitchFamily="34" charset="-122"/>
                <a:cs typeface="Source Serif Pro" pitchFamily="34" charset="-120"/>
              </a:rPr>
              <a:t>Último paso</a:t>
            </a:r>
            <a:endParaRPr lang="en-US" sz="3400" dirty="0"/>
          </a:p>
        </p:txBody>
      </p:sp>
      <p:sp>
        <p:nvSpPr>
          <p:cNvPr id="6" name="Text 2"/>
          <p:cNvSpPr txBox="1"/>
          <p:nvPr/>
        </p:nvSpPr>
        <p:spPr>
          <a:xfrm>
            <a:off x="640080" y="2038096"/>
            <a:ext cx="3291840" cy="640080"/>
          </a:xfrm>
          <a:prstGeom prst="rect">
            <a:avLst/>
          </a:prstGeom>
          <a:noFill/>
          <a:ln/>
        </p:spPr>
        <p:txBody>
          <a:bodyPr wrap="square" lIns="0" tIns="0" rIns="0" bIns="0" rtlCol="0" anchor="t"/>
          <a:lstStyle/>
          <a:p>
            <a:pPr indent="0" marL="0">
              <a:buNone/>
            </a:pPr>
            <a:r>
              <a:rPr lang="en-US" sz="1600" i="1" dirty="0">
                <a:solidFill>
                  <a:srgbClr val="3F1E0D"/>
                </a:solidFill>
                <a:latin typeface="Source Serif Pro" pitchFamily="34" charset="0"/>
                <a:ea typeface="Source Serif Pro" pitchFamily="34" charset="-122"/>
                <a:cs typeface="Source Serif Pro" pitchFamily="34" charset="-120"/>
              </a:rPr>
              <a:t>Cuando todo esté listo, tu onboarding está completo</a:t>
            </a:r>
            <a:endParaRPr lang="en-US" sz="1600" dirty="0"/>
          </a:p>
        </p:txBody>
      </p:sp>
      <p:sp>
        <p:nvSpPr>
          <p:cNvPr id="7" name="Shape 3"/>
          <p:cNvSpPr/>
          <p:nvPr/>
        </p:nvSpPr>
        <p:spPr>
          <a:xfrm>
            <a:off x="4389120" y="1280160"/>
            <a:ext cx="7159752" cy="1097280"/>
          </a:xfrm>
          <a:prstGeom prst="roundRect">
            <a:avLst>
              <a:gd name="adj" fmla="val 13333"/>
            </a:avLst>
          </a:prstGeom>
          <a:solidFill>
            <a:srgbClr val="F8F5EE"/>
          </a:solidFill>
          <a:ln w="12700">
            <a:solidFill>
              <a:srgbClr val="F8F5EE"/>
            </a:solidFill>
            <a:prstDash val="solid"/>
          </a:ln>
          <a:effectLst>
            <a:outerShdw sx="100000" sy="100000" kx="0" ky="0" algn="bl" rotWithShape="0" blurRad="177800" dist="38100" dir="5400000">
              <a:srgbClr val="3F1E0D">
                <a:alpha val="10000"/>
              </a:srgbClr>
            </a:outerShdw>
          </a:effectLst>
        </p:spPr>
      </p:sp>
      <p:sp>
        <p:nvSpPr>
          <p:cNvPr id="8" name="Shape 4"/>
          <p:cNvSpPr/>
          <p:nvPr/>
        </p:nvSpPr>
        <p:spPr>
          <a:xfrm>
            <a:off x="4709160" y="1527048"/>
            <a:ext cx="603504" cy="603504"/>
          </a:xfrm>
          <a:prstGeom prst="ellipse">
            <a:avLst/>
          </a:prstGeom>
          <a:solidFill>
            <a:srgbClr val="3F1E0D"/>
          </a:solidFill>
          <a:ln w="12700">
            <a:solidFill>
              <a:srgbClr val="3F1E0D"/>
            </a:solidFill>
            <a:prstDash val="solid"/>
          </a:ln>
        </p:spPr>
      </p:sp>
      <p:pic>
        <p:nvPicPr>
          <p:cNvPr id="9" name="Image 1" descr="preencoded.png">    </p:cNvPr>
          <p:cNvPicPr>
            <a:picLocks noChangeAspect="1"/>
          </p:cNvPicPr>
          <p:nvPr/>
        </p:nvPicPr>
        <p:blipFill>
          <a:blip r:embed="rId2"/>
          <a:stretch>
            <a:fillRect/>
          </a:stretch>
        </p:blipFill>
        <p:spPr>
          <a:xfrm>
            <a:off x="4872106" y="1689994"/>
            <a:ext cx="277612" cy="277612"/>
          </a:xfrm>
          <a:prstGeom prst="rect">
            <a:avLst/>
          </a:prstGeom>
        </p:spPr>
      </p:pic>
      <p:sp>
        <p:nvSpPr>
          <p:cNvPr id="10" name="Text 5"/>
          <p:cNvSpPr txBox="1"/>
          <p:nvPr/>
        </p:nvSpPr>
        <p:spPr>
          <a:xfrm>
            <a:off x="5577840" y="1280160"/>
            <a:ext cx="5696712" cy="1097280"/>
          </a:xfrm>
          <a:prstGeom prst="rect">
            <a:avLst/>
          </a:prstGeom>
          <a:noFill/>
          <a:ln/>
        </p:spPr>
        <p:txBody>
          <a:bodyPr wrap="square" lIns="0" tIns="0" rIns="0" bIns="0" rtlCol="0" anchor="ctr"/>
          <a:lstStyle/>
          <a:p>
            <a:pPr indent="0" marL="0">
              <a:buNone/>
            </a:pPr>
            <a:r>
              <a:rPr lang="en-US" sz="1650" b="1" dirty="0">
                <a:solidFill>
                  <a:srgbClr val="3F1E0D"/>
                </a:solidFill>
                <a:latin typeface="Open Sans" pitchFamily="34" charset="0"/>
                <a:ea typeface="Open Sans" pitchFamily="34" charset="-122"/>
                <a:cs typeface="Open Sans" pitchFamily="34" charset="-120"/>
              </a:rPr>
              <a:t>Escríbeme para definir y agendar tu horario recurrente de sesiones 1:1</a:t>
            </a:r>
            <a:endParaRPr lang="en-US" sz="1650" dirty="0"/>
          </a:p>
        </p:txBody>
      </p:sp>
      <p:sp>
        <p:nvSpPr>
          <p:cNvPr id="11" name="Shape 6"/>
          <p:cNvSpPr/>
          <p:nvPr/>
        </p:nvSpPr>
        <p:spPr>
          <a:xfrm>
            <a:off x="4389120" y="2578608"/>
            <a:ext cx="7159752" cy="1097280"/>
          </a:xfrm>
          <a:prstGeom prst="roundRect">
            <a:avLst>
              <a:gd name="adj" fmla="val 13333"/>
            </a:avLst>
          </a:prstGeom>
          <a:solidFill>
            <a:srgbClr val="F8F5EE"/>
          </a:solidFill>
          <a:ln w="12700">
            <a:solidFill>
              <a:srgbClr val="F8F5EE"/>
            </a:solidFill>
            <a:prstDash val="solid"/>
          </a:ln>
          <a:effectLst>
            <a:outerShdw sx="100000" sy="100000" kx="0" ky="0" algn="bl" rotWithShape="0" blurRad="177800" dist="38100" dir="5400000">
              <a:srgbClr val="3F1E0D">
                <a:alpha val="10000"/>
              </a:srgbClr>
            </a:outerShdw>
          </a:effectLst>
        </p:spPr>
      </p:sp>
      <p:sp>
        <p:nvSpPr>
          <p:cNvPr id="12" name="Shape 7"/>
          <p:cNvSpPr/>
          <p:nvPr/>
        </p:nvSpPr>
        <p:spPr>
          <a:xfrm>
            <a:off x="4709160" y="2825496"/>
            <a:ext cx="603504" cy="603504"/>
          </a:xfrm>
          <a:prstGeom prst="ellipse">
            <a:avLst/>
          </a:prstGeom>
          <a:solidFill>
            <a:srgbClr val="3F1E0D"/>
          </a:solidFill>
          <a:ln w="12700">
            <a:solidFill>
              <a:srgbClr val="3F1E0D"/>
            </a:solidFill>
            <a:prstDash val="solid"/>
          </a:ln>
        </p:spPr>
      </p:sp>
      <p:pic>
        <p:nvPicPr>
          <p:cNvPr id="13" name="Image 2" descr="preencoded.png">    </p:cNvPr>
          <p:cNvPicPr>
            <a:picLocks noChangeAspect="1"/>
          </p:cNvPicPr>
          <p:nvPr/>
        </p:nvPicPr>
        <p:blipFill>
          <a:blip r:embed="rId3"/>
          <a:stretch>
            <a:fillRect/>
          </a:stretch>
        </p:blipFill>
        <p:spPr>
          <a:xfrm>
            <a:off x="4872106" y="2988442"/>
            <a:ext cx="277612" cy="277612"/>
          </a:xfrm>
          <a:prstGeom prst="rect">
            <a:avLst/>
          </a:prstGeom>
        </p:spPr>
      </p:pic>
      <p:sp>
        <p:nvSpPr>
          <p:cNvPr id="14" name="Text 8"/>
          <p:cNvSpPr txBox="1"/>
          <p:nvPr/>
        </p:nvSpPr>
        <p:spPr>
          <a:xfrm>
            <a:off x="5577840" y="2578608"/>
            <a:ext cx="5696712" cy="1097280"/>
          </a:xfrm>
          <a:prstGeom prst="rect">
            <a:avLst/>
          </a:prstGeom>
          <a:noFill/>
          <a:ln/>
        </p:spPr>
        <p:txBody>
          <a:bodyPr wrap="square" lIns="0" tIns="0" rIns="0" bIns="0" rtlCol="0" anchor="ctr"/>
          <a:lstStyle/>
          <a:p>
            <a:pPr indent="0" marL="0">
              <a:buNone/>
            </a:pPr>
            <a:r>
              <a:rPr lang="en-US" sz="1650" dirty="0">
                <a:solidFill>
                  <a:srgbClr val="3F1E0D"/>
                </a:solidFill>
                <a:latin typeface="Open Sans" pitchFamily="34" charset="0"/>
                <a:ea typeface="Open Sans" pitchFamily="34" charset="-122"/>
                <a:cs typeface="Open Sans" pitchFamily="34" charset="-120"/>
              </a:rPr>
              <a:t>Después, empieza el Módulo 1: </a:t>
            </a:r>
            <a:pPr indent="0" marL="0">
              <a:buNone/>
            </a:pPr>
            <a:r>
              <a:rPr lang="en-US" sz="1650" b="1" dirty="0">
                <a:solidFill>
                  <a:srgbClr val="3F1E0D"/>
                </a:solidFill>
                <a:latin typeface="Open Sans" pitchFamily="34" charset="0"/>
                <a:ea typeface="Open Sans" pitchFamily="34" charset="-122"/>
                <a:cs typeface="Open Sans" pitchFamily="34" charset="-120"/>
              </a:rPr>
              <a:t>sigue el foco de cada semana</a:t>
            </a:r>
            <a:pPr indent="0" marL="0">
              <a:buNone/>
            </a:pPr>
            <a:r>
              <a:rPr lang="en-US" sz="1650" dirty="0">
                <a:solidFill>
                  <a:srgbClr val="3F1E0D"/>
                </a:solidFill>
                <a:latin typeface="Open Sans" pitchFamily="34" charset="0"/>
                <a:ea typeface="Open Sans" pitchFamily="34" charset="-122"/>
                <a:cs typeface="Open Sans" pitchFamily="34" charset="-120"/>
              </a:rPr>
              <a:t> y usa tu Weekly System</a:t>
            </a:r>
            <a:endParaRPr lang="en-US" sz="1650" dirty="0"/>
          </a:p>
        </p:txBody>
      </p:sp>
      <p:sp>
        <p:nvSpPr>
          <p:cNvPr id="15" name="Shape 9"/>
          <p:cNvSpPr/>
          <p:nvPr/>
        </p:nvSpPr>
        <p:spPr>
          <a:xfrm>
            <a:off x="4389120" y="3877056"/>
            <a:ext cx="7159752" cy="1097280"/>
          </a:xfrm>
          <a:prstGeom prst="roundRect">
            <a:avLst>
              <a:gd name="adj" fmla="val 13333"/>
            </a:avLst>
          </a:prstGeom>
          <a:solidFill>
            <a:srgbClr val="F8F5EE"/>
          </a:solidFill>
          <a:ln w="12700">
            <a:solidFill>
              <a:srgbClr val="F8F5EE"/>
            </a:solidFill>
            <a:prstDash val="solid"/>
          </a:ln>
          <a:effectLst>
            <a:outerShdw sx="100000" sy="100000" kx="0" ky="0" algn="bl" rotWithShape="0" blurRad="177800" dist="38100" dir="5400000">
              <a:srgbClr val="3F1E0D">
                <a:alpha val="10000"/>
              </a:srgbClr>
            </a:outerShdw>
          </a:effectLst>
        </p:spPr>
      </p:sp>
      <p:sp>
        <p:nvSpPr>
          <p:cNvPr id="16" name="Shape 10"/>
          <p:cNvSpPr/>
          <p:nvPr/>
        </p:nvSpPr>
        <p:spPr>
          <a:xfrm>
            <a:off x="4709160" y="4123944"/>
            <a:ext cx="603504" cy="603504"/>
          </a:xfrm>
          <a:prstGeom prst="ellipse">
            <a:avLst/>
          </a:prstGeom>
          <a:solidFill>
            <a:srgbClr val="3F1E0D"/>
          </a:solidFill>
          <a:ln w="12700">
            <a:solidFill>
              <a:srgbClr val="3F1E0D"/>
            </a:solidFill>
            <a:prstDash val="solid"/>
          </a:ln>
        </p:spPr>
      </p:sp>
      <p:pic>
        <p:nvPicPr>
          <p:cNvPr id="17" name="Image 3" descr="preencoded.png">    </p:cNvPr>
          <p:cNvPicPr>
            <a:picLocks noChangeAspect="1"/>
          </p:cNvPicPr>
          <p:nvPr/>
        </p:nvPicPr>
        <p:blipFill>
          <a:blip r:embed="rId4"/>
          <a:stretch>
            <a:fillRect/>
          </a:stretch>
        </p:blipFill>
        <p:spPr>
          <a:xfrm>
            <a:off x="4872106" y="4286890"/>
            <a:ext cx="277612" cy="277612"/>
          </a:xfrm>
          <a:prstGeom prst="rect">
            <a:avLst/>
          </a:prstGeom>
        </p:spPr>
      </p:pic>
      <p:sp>
        <p:nvSpPr>
          <p:cNvPr id="18" name="Text 11"/>
          <p:cNvSpPr txBox="1"/>
          <p:nvPr/>
        </p:nvSpPr>
        <p:spPr>
          <a:xfrm>
            <a:off x="5577840" y="3877056"/>
            <a:ext cx="5696712" cy="1097280"/>
          </a:xfrm>
          <a:prstGeom prst="rect">
            <a:avLst/>
          </a:prstGeom>
          <a:noFill/>
          <a:ln/>
        </p:spPr>
        <p:txBody>
          <a:bodyPr wrap="square" lIns="0" tIns="0" rIns="0" bIns="0" rtlCol="0" anchor="ctr"/>
          <a:lstStyle/>
          <a:p>
            <a:pPr indent="0" marL="0">
              <a:buNone/>
            </a:pPr>
            <a:r>
              <a:rPr lang="en-US" sz="1650" b="1" dirty="0">
                <a:solidFill>
                  <a:srgbClr val="3F1E0D"/>
                </a:solidFill>
                <a:latin typeface="Open Sans" pitchFamily="34" charset="0"/>
                <a:ea typeface="Open Sans" pitchFamily="34" charset="-122"/>
                <a:cs typeface="Open Sans" pitchFamily="34" charset="-120"/>
              </a:rPr>
              <a:t>Trae tu trabajo real</a:t>
            </a:r>
            <a:pPr indent="0" marL="0">
              <a:buNone/>
            </a:pPr>
            <a:r>
              <a:rPr lang="en-US" sz="1650" dirty="0">
                <a:solidFill>
                  <a:srgbClr val="3F1E0D"/>
                </a:solidFill>
                <a:latin typeface="Open Sans" pitchFamily="34" charset="0"/>
                <a:ea typeface="Open Sans" pitchFamily="34" charset="-122"/>
                <a:cs typeface="Open Sans" pitchFamily="34" charset="-120"/>
              </a:rPr>
              <a:t> al proceso y </a:t>
            </a:r>
            <a:pPr indent="0" marL="0">
              <a:buNone/>
            </a:pPr>
            <a:r>
              <a:rPr lang="en-US" sz="1650" b="1" dirty="0">
                <a:solidFill>
                  <a:srgbClr val="3F1E0D"/>
                </a:solidFill>
                <a:latin typeface="Open Sans" pitchFamily="34" charset="0"/>
                <a:ea typeface="Open Sans" pitchFamily="34" charset="-122"/>
                <a:cs typeface="Open Sans" pitchFamily="34" charset="-120"/>
              </a:rPr>
              <a:t>pide ayuda</a:t>
            </a:r>
            <a:pPr indent="0" marL="0">
              <a:buNone/>
            </a:pPr>
            <a:r>
              <a:rPr lang="en-US" sz="1650" dirty="0">
                <a:solidFill>
                  <a:srgbClr val="3F1E0D"/>
                </a:solidFill>
                <a:latin typeface="Open Sans" pitchFamily="34" charset="0"/>
                <a:ea typeface="Open Sans" pitchFamily="34" charset="-122"/>
                <a:cs typeface="Open Sans" pitchFamily="34" charset="-120"/>
              </a:rPr>
              <a:t> cuando la necesites</a:t>
            </a:r>
            <a:endParaRPr lang="en-US" sz="1650" dirty="0"/>
          </a:p>
        </p:txBody>
      </p:sp>
      <p:sp>
        <p:nvSpPr>
          <p:cNvPr id="19" name="Text 12"/>
          <p:cNvSpPr txBox="1"/>
          <p:nvPr/>
        </p:nvSpPr>
        <p:spPr>
          <a:xfrm>
            <a:off x="4389120" y="5760720"/>
            <a:ext cx="7159752" cy="594360"/>
          </a:xfrm>
          <a:prstGeom prst="rect">
            <a:avLst/>
          </a:prstGeom>
          <a:noFill/>
          <a:ln/>
        </p:spPr>
        <p:txBody>
          <a:bodyPr wrap="square" lIns="0" tIns="0" rIns="0" bIns="0" rtlCol="0" anchor="ctr"/>
          <a:lstStyle/>
          <a:p>
            <a:pPr indent="0" marL="0">
              <a:buNone/>
            </a:pPr>
            <a:r>
              <a:rPr lang="en-US" sz="1500" i="1" dirty="0">
                <a:solidFill>
                  <a:srgbClr val="3F1E0D"/>
                </a:solidFill>
                <a:latin typeface="Source Serif Pro" pitchFamily="34" charset="0"/>
                <a:ea typeface="Source Serif Pro" pitchFamily="34" charset="-122"/>
                <a:cs typeface="Source Serif Pro" pitchFamily="34" charset="-120"/>
              </a:rPr>
              <a:t>No avances al Módulo 1 ni marques esta clase como completada hasta haber terminado todos los puntos del checklist.</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ONB 13 · Antes de empezar el Módulo 1</dc:title>
  <dc:subject>PptxGenJS Presentation</dc:subject>
  <dc:creator>Flor Pérsico</dc:creator>
  <cp:lastModifiedBy>Flor Pérsico</cp:lastModifiedBy>
  <cp:revision>1</cp:revision>
  <dcterms:created xsi:type="dcterms:W3CDTF">2026-09-23T13:48:19Z</dcterms:created>
  <dcterms:modified xsi:type="dcterms:W3CDTF">2026-09-23T13:48:19Z</dcterms:modified>
</cp:coreProperties>
</file>