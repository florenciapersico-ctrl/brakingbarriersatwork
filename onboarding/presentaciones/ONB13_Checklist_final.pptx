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pasar al Módulo 1, quiero que hagamos una última revisión rápida.
Esta primera semana no era para avanzar rápido ni para consumir contenido. Era para dejar instalado tu sistema de trabajo dentro de AT WORK.
Así que antes de seguir, revisa este checklist conmigo.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Primero, confirma que ya viste todo el onboarding.
Que firmaste tu Acuerdo de Trabajo y lo subiste a 01 · MI CONTEXTO PROFESIONAL dentro de tu Drive.
Que entraste a la Comunidad AT WORK y te uniste a sus canales.
Que ya te presentaste.
Y que confirmaste que estás recibiendo correctamente los emails de AT WORK. Revisa también Spam y Promociones. Si encontraste alguno ahí, marca el remitente como seguro o agrégalo a tus contactos.
Si alguno de estos puntos falta, resuélvelo antes de avanzar.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revisa la parte operativa del proceso.
¿Abriste tu carpeta personal de AT WORK?
¿Completaste tu Starting Point?
¿Subiste entre tres y cinco materiales reales de tu trabajo?
¿Reservaste en tu calendario tus bloques semanales de práctica?
¿Sabes dónde pedir feedback y qué información incluir cuando lo pides?
¿Entendiste que cada semana vas a completar tu Weekly Report y guardarlo en tu Drive?
¿Tienes claro cuál es tu foco actual?
No necesito que todo esté perfecto. Pero sí quiero que este sistema esté armado, porque después nos permite concentrarnos en lo importante: entrenar tu inglés y tu comunicación.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todo esto está listo, ya puedes empezar el Módulo 1: Activate Your English.
A partir de ahora no necesitas hacer todo de golpe. Sigue el foco de cada semana, usa tu Weekly System, trae tu trabajo real al proceso y pide ayuda cuando la necesites.
No marques esta clase como completada hasta que hayas terminado todos los puntos del checklist.
Cuando eso esté listo, tu onboarding está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F1E0D"/>
        </a:solidFill>
      </p:bgPr>
    </p:bg>
    <p:spTree>
      <p:nvGrpSpPr>
        <p:cNvPr id="1" name=""/>
        <p:cNvGrpSpPr/>
        <p:nvPr/>
      </p:nvGrpSpPr>
      <p:grpSpPr>
        <a:xfrm>
          <a:off x="0" y="0"/>
          <a:ext cx="0" cy="0"/>
          <a:chOff x="0" y="0"/>
          <a:chExt cx="0" cy="0"/>
        </a:xfrm>
      </p:grpSpPr>
      <p:sp>
        <p:nvSpPr>
          <p:cNvPr id="3" name="Shape 0"/>
          <p:cNvSpPr/>
          <p:nvPr/>
        </p:nvSpPr>
        <p:spPr>
          <a:xfrm>
            <a:off x="640080" y="685800"/>
            <a:ext cx="1874520" cy="384048"/>
          </a:xfrm>
          <a:prstGeom prst="roundRect">
            <a:avLst>
              <a:gd name="adj" fmla="val 50000"/>
            </a:avLst>
          </a:prstGeom>
          <a:solidFill>
            <a:srgbClr val="C68C6C"/>
          </a:solidFill>
          <a:ln w="12700">
            <a:solidFill>
              <a:srgbClr val="C68C6C"/>
            </a:solidFill>
            <a:prstDash val="solid"/>
          </a:ln>
        </p:spPr>
      </p:sp>
      <p:sp>
        <p:nvSpPr>
          <p:cNvPr id="4" name="Text 1"/>
          <p:cNvSpPr txBox="1"/>
          <p:nvPr/>
        </p:nvSpPr>
        <p:spPr>
          <a:xfrm>
            <a:off x="640080" y="685800"/>
            <a:ext cx="1874520" cy="384048"/>
          </a:xfrm>
          <a:prstGeom prst="rect">
            <a:avLst/>
          </a:prstGeom>
          <a:noFill/>
          <a:ln/>
        </p:spPr>
        <p:txBody>
          <a:bodyPr wrap="square" lIns="0" tIns="0" rIns="0" bIns="0" rtlCol="0" anchor="ctr"/>
          <a:lstStyle/>
          <a:p>
            <a:pPr algn="ctr" indent="0" marL="0">
              <a:buNone/>
            </a:pPr>
            <a:r>
              <a:rPr lang="en-US" sz="1100" b="1" spc="200" kern="0" dirty="0">
                <a:solidFill>
                  <a:srgbClr val="3F1E0D"/>
                </a:solidFill>
                <a:latin typeface="Open Sans" pitchFamily="34" charset="0"/>
                <a:ea typeface="Open Sans" pitchFamily="34" charset="-122"/>
                <a:cs typeface="Open Sans" pitchFamily="34" charset="-120"/>
              </a:rPr>
              <a:t>ONBOARDING · 13</a:t>
            </a:r>
            <a:endParaRPr lang="en-US" sz="1100" dirty="0"/>
          </a:p>
        </p:txBody>
      </p:sp>
      <p:sp>
        <p:nvSpPr>
          <p:cNvPr id="5" name="Text 2"/>
          <p:cNvSpPr txBox="1"/>
          <p:nvPr/>
        </p:nvSpPr>
        <p:spPr>
          <a:xfrm>
            <a:off x="640080" y="1325880"/>
            <a:ext cx="5760720" cy="1516380"/>
          </a:xfrm>
          <a:prstGeom prst="rect">
            <a:avLst/>
          </a:prstGeom>
          <a:noFill/>
          <a:ln/>
        </p:spPr>
        <p:txBody>
          <a:bodyPr wrap="square" lIns="0" tIns="0" rIns="0" bIns="0" rtlCol="0" anchor="t"/>
          <a:lstStyle/>
          <a:p>
            <a:pPr indent="0" marL="0">
              <a:lnSpc>
                <a:spcPct val="90000"/>
              </a:lnSpc>
              <a:buNone/>
            </a:pPr>
            <a:r>
              <a:rPr lang="en-US" sz="5000" b="1" dirty="0">
                <a:solidFill>
                  <a:srgbClr val="F8F5EE"/>
                </a:solidFill>
                <a:latin typeface="Source Serif Pro" pitchFamily="34" charset="0"/>
                <a:ea typeface="Source Serif Pro" pitchFamily="34" charset="-122"/>
                <a:cs typeface="Source Serif Pro" pitchFamily="34" charset="-120"/>
              </a:rPr>
              <a:t>Antes de empezar el Módulo 1</a:t>
            </a:r>
            <a:endParaRPr lang="en-US" sz="5000" dirty="0"/>
          </a:p>
        </p:txBody>
      </p:sp>
      <p:sp>
        <p:nvSpPr>
          <p:cNvPr id="6" name="Text 3"/>
          <p:cNvSpPr txBox="1"/>
          <p:nvPr/>
        </p:nvSpPr>
        <p:spPr>
          <a:xfrm>
            <a:off x="640080" y="2933700"/>
            <a:ext cx="5486400" cy="384048"/>
          </a:xfrm>
          <a:prstGeom prst="rect">
            <a:avLst/>
          </a:prstGeom>
          <a:noFill/>
          <a:ln/>
        </p:spPr>
        <p:txBody>
          <a:bodyPr wrap="square" lIns="0" tIns="0" rIns="0" bIns="0" rtlCol="0" anchor="t"/>
          <a:lstStyle/>
          <a:p>
            <a:pPr indent="0" marL="0">
              <a:buNone/>
            </a:pPr>
            <a:r>
              <a:rPr lang="en-US" sz="1700" i="1" dirty="0">
                <a:solidFill>
                  <a:srgbClr val="EDE5CC"/>
                </a:solidFill>
                <a:latin typeface="Source Serif Pro" pitchFamily="34" charset="0"/>
                <a:ea typeface="Source Serif Pro" pitchFamily="34" charset="-122"/>
                <a:cs typeface="Source Serif Pro" pitchFamily="34" charset="-120"/>
              </a:rPr>
              <a:t>Checklist final: tu sistema de trabajo, listo</a:t>
            </a:r>
            <a:endParaRPr lang="en-US" sz="1700" dirty="0"/>
          </a:p>
        </p:txBody>
      </p:sp>
      <p:pic>
        <p:nvPicPr>
          <p:cNvPr id="7" name="Image 0" descr="preencoded.png">    </p:cNvPr>
          <p:cNvPicPr>
            <a:picLocks noChangeAspect="1"/>
          </p:cNvPicPr>
          <p:nvPr/>
        </p:nvPicPr>
        <p:blipFill>
          <a:blip r:embed="rId1"/>
          <a:stretch>
            <a:fillRect/>
          </a:stretch>
        </p:blipFill>
        <p:spPr>
          <a:xfrm>
            <a:off x="8732520" y="502920"/>
            <a:ext cx="2743200" cy="1252005"/>
          </a:xfrm>
          <a:prstGeom prst="rect">
            <a:avLst/>
          </a:prstGeom>
        </p:spPr>
      </p:pic>
      <p:sp>
        <p:nvSpPr>
          <p:cNvPr id="8" name="Text 4"/>
          <p:cNvSpPr txBox="1"/>
          <p:nvPr/>
        </p:nvSpPr>
        <p:spPr>
          <a:xfrm>
            <a:off x="7086600" y="2103120"/>
            <a:ext cx="4462272" cy="320040"/>
          </a:xfrm>
          <a:prstGeom prst="rect">
            <a:avLst/>
          </a:prstGeom>
          <a:noFill/>
          <a:ln/>
        </p:spPr>
        <p:txBody>
          <a:bodyPr wrap="square" lIns="0" tIns="0" rIns="0" bIns="0" rtlCol="0" anchor="ctr"/>
          <a:lstStyle/>
          <a:p>
            <a:pPr indent="0" marL="0">
              <a:buNone/>
            </a:pPr>
            <a:r>
              <a:rPr lang="en-US" sz="1100" b="1" spc="300" kern="0" dirty="0">
                <a:solidFill>
                  <a:srgbClr val="C68C6C"/>
                </a:solidFill>
                <a:latin typeface="Open Sans" pitchFamily="34" charset="0"/>
                <a:ea typeface="Open Sans" pitchFamily="34" charset="-122"/>
                <a:cs typeface="Open Sans" pitchFamily="34" charset="-120"/>
              </a:rPr>
              <a:t>REVISAMOS JUNTAS</a:t>
            </a:r>
            <a:endParaRPr lang="en-US" sz="1100" dirty="0"/>
          </a:p>
        </p:txBody>
      </p:sp>
      <p:sp>
        <p:nvSpPr>
          <p:cNvPr id="9" name="Shape 5"/>
          <p:cNvSpPr/>
          <p:nvPr/>
        </p:nvSpPr>
        <p:spPr>
          <a:xfrm>
            <a:off x="7086600" y="25603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0" name="Shape 6"/>
          <p:cNvSpPr/>
          <p:nvPr/>
        </p:nvSpPr>
        <p:spPr>
          <a:xfrm>
            <a:off x="7251192" y="2688336"/>
            <a:ext cx="493776" cy="493776"/>
          </a:xfrm>
          <a:prstGeom prst="ellipse">
            <a:avLst/>
          </a:prstGeom>
          <a:solidFill>
            <a:srgbClr val="C68C6C"/>
          </a:solidFill>
          <a:ln w="12700">
            <a:solidFill>
              <a:srgbClr val="C68C6C"/>
            </a:solidFill>
            <a:prstDash val="solid"/>
          </a:ln>
        </p:spPr>
      </p:sp>
      <p:pic>
        <p:nvPicPr>
          <p:cNvPr id="11" name="Image 1" descr="preencoded.png">    </p:cNvPr>
          <p:cNvPicPr>
            <a:picLocks noChangeAspect="1"/>
          </p:cNvPicPr>
          <p:nvPr/>
        </p:nvPicPr>
        <p:blipFill>
          <a:blip r:embed="rId2"/>
          <a:stretch>
            <a:fillRect/>
          </a:stretch>
        </p:blipFill>
        <p:spPr>
          <a:xfrm>
            <a:off x="7384512" y="2821656"/>
            <a:ext cx="227137" cy="227137"/>
          </a:xfrm>
          <a:prstGeom prst="rect">
            <a:avLst/>
          </a:prstGeom>
        </p:spPr>
      </p:pic>
      <p:sp>
        <p:nvSpPr>
          <p:cNvPr id="12" name="Text 7"/>
          <p:cNvSpPr txBox="1"/>
          <p:nvPr/>
        </p:nvSpPr>
        <p:spPr>
          <a:xfrm>
            <a:off x="7909560" y="25603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Onboarding y Acuerdo de Trabajo</a:t>
            </a:r>
            <a:endParaRPr lang="en-US" sz="1500" dirty="0"/>
          </a:p>
        </p:txBody>
      </p:sp>
      <p:sp>
        <p:nvSpPr>
          <p:cNvPr id="13" name="Shape 8"/>
          <p:cNvSpPr/>
          <p:nvPr/>
        </p:nvSpPr>
        <p:spPr>
          <a:xfrm>
            <a:off x="7086600" y="34747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4" name="Shape 9"/>
          <p:cNvSpPr/>
          <p:nvPr/>
        </p:nvSpPr>
        <p:spPr>
          <a:xfrm>
            <a:off x="7251192" y="3602736"/>
            <a:ext cx="493776" cy="493776"/>
          </a:xfrm>
          <a:prstGeom prst="ellipse">
            <a:avLst/>
          </a:prstGeom>
          <a:solidFill>
            <a:srgbClr val="C68C6C"/>
          </a:solidFill>
          <a:ln w="12700">
            <a:solidFill>
              <a:srgbClr val="C68C6C"/>
            </a:solidFill>
            <a:prstDash val="solid"/>
          </a:ln>
        </p:spPr>
      </p:sp>
      <p:pic>
        <p:nvPicPr>
          <p:cNvPr id="15" name="Image 2" descr="preencoded.png">    </p:cNvPr>
          <p:cNvPicPr>
            <a:picLocks noChangeAspect="1"/>
          </p:cNvPicPr>
          <p:nvPr/>
        </p:nvPicPr>
        <p:blipFill>
          <a:blip r:embed="rId3"/>
          <a:stretch>
            <a:fillRect/>
          </a:stretch>
        </p:blipFill>
        <p:spPr>
          <a:xfrm>
            <a:off x="7384512" y="3736056"/>
            <a:ext cx="227137" cy="227137"/>
          </a:xfrm>
          <a:prstGeom prst="rect">
            <a:avLst/>
          </a:prstGeom>
        </p:spPr>
      </p:pic>
      <p:sp>
        <p:nvSpPr>
          <p:cNvPr id="16" name="Text 10"/>
          <p:cNvSpPr txBox="1"/>
          <p:nvPr/>
        </p:nvSpPr>
        <p:spPr>
          <a:xfrm>
            <a:off x="7909560" y="34747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Comunidad y emails</a:t>
            </a:r>
            <a:endParaRPr lang="en-US" sz="1500" dirty="0"/>
          </a:p>
        </p:txBody>
      </p:sp>
      <p:sp>
        <p:nvSpPr>
          <p:cNvPr id="17" name="Shape 11"/>
          <p:cNvSpPr/>
          <p:nvPr/>
        </p:nvSpPr>
        <p:spPr>
          <a:xfrm>
            <a:off x="7086600" y="43891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18" name="Shape 12"/>
          <p:cNvSpPr/>
          <p:nvPr/>
        </p:nvSpPr>
        <p:spPr>
          <a:xfrm>
            <a:off x="7251192" y="4517136"/>
            <a:ext cx="493776" cy="493776"/>
          </a:xfrm>
          <a:prstGeom prst="ellipse">
            <a:avLst/>
          </a:prstGeom>
          <a:solidFill>
            <a:srgbClr val="C68C6C"/>
          </a:solidFill>
          <a:ln w="12700">
            <a:solidFill>
              <a:srgbClr val="C68C6C"/>
            </a:solidFill>
            <a:prstDash val="solid"/>
          </a:ln>
        </p:spPr>
      </p:sp>
      <p:pic>
        <p:nvPicPr>
          <p:cNvPr id="19" name="Image 3" descr="preencoded.png">    </p:cNvPr>
          <p:cNvPicPr>
            <a:picLocks noChangeAspect="1"/>
          </p:cNvPicPr>
          <p:nvPr/>
        </p:nvPicPr>
        <p:blipFill>
          <a:blip r:embed="rId4"/>
          <a:stretch>
            <a:fillRect/>
          </a:stretch>
        </p:blipFill>
        <p:spPr>
          <a:xfrm>
            <a:off x="7384512" y="4650456"/>
            <a:ext cx="227137" cy="227137"/>
          </a:xfrm>
          <a:prstGeom prst="rect">
            <a:avLst/>
          </a:prstGeom>
        </p:spPr>
      </p:pic>
      <p:sp>
        <p:nvSpPr>
          <p:cNvPr id="20" name="Text 13"/>
          <p:cNvSpPr txBox="1"/>
          <p:nvPr/>
        </p:nvSpPr>
        <p:spPr>
          <a:xfrm>
            <a:off x="7909560" y="43891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Tu Drive y tus materiales</a:t>
            </a:r>
            <a:endParaRPr lang="en-US" sz="1500" dirty="0"/>
          </a:p>
        </p:txBody>
      </p:sp>
      <p:sp>
        <p:nvSpPr>
          <p:cNvPr id="21" name="Shape 14"/>
          <p:cNvSpPr/>
          <p:nvPr/>
        </p:nvSpPr>
        <p:spPr>
          <a:xfrm>
            <a:off x="7086600" y="5303520"/>
            <a:ext cx="4462272" cy="749808"/>
          </a:xfrm>
          <a:prstGeom prst="roundRect">
            <a:avLst>
              <a:gd name="adj" fmla="val 17073"/>
            </a:avLst>
          </a:prstGeom>
          <a:solidFill>
            <a:srgbClr val="81552E">
              <a:alpha val="60000"/>
            </a:srgbClr>
          </a:solidFill>
          <a:ln w="12700">
            <a:solidFill>
              <a:srgbClr val="81552E">
                <a:alpha val="60000"/>
              </a:srgbClr>
            </a:solidFill>
            <a:prstDash val="solid"/>
          </a:ln>
        </p:spPr>
      </p:sp>
      <p:sp>
        <p:nvSpPr>
          <p:cNvPr id="22" name="Shape 15"/>
          <p:cNvSpPr/>
          <p:nvPr/>
        </p:nvSpPr>
        <p:spPr>
          <a:xfrm>
            <a:off x="7251192" y="5431536"/>
            <a:ext cx="493776" cy="493776"/>
          </a:xfrm>
          <a:prstGeom prst="ellipse">
            <a:avLst/>
          </a:prstGeom>
          <a:solidFill>
            <a:srgbClr val="C68C6C"/>
          </a:solidFill>
          <a:ln w="12700">
            <a:solidFill>
              <a:srgbClr val="C68C6C"/>
            </a:solidFill>
            <a:prstDash val="solid"/>
          </a:ln>
        </p:spPr>
      </p:sp>
      <p:pic>
        <p:nvPicPr>
          <p:cNvPr id="23" name="Image 4" descr="preencoded.png">    </p:cNvPr>
          <p:cNvPicPr>
            <a:picLocks noChangeAspect="1"/>
          </p:cNvPicPr>
          <p:nvPr/>
        </p:nvPicPr>
        <p:blipFill>
          <a:blip r:embed="rId5"/>
          <a:stretch>
            <a:fillRect/>
          </a:stretch>
        </p:blipFill>
        <p:spPr>
          <a:xfrm>
            <a:off x="7384512" y="5564856"/>
            <a:ext cx="227137" cy="227137"/>
          </a:xfrm>
          <a:prstGeom prst="rect">
            <a:avLst/>
          </a:prstGeom>
        </p:spPr>
      </p:pic>
      <p:sp>
        <p:nvSpPr>
          <p:cNvPr id="24" name="Text 16"/>
          <p:cNvSpPr txBox="1"/>
          <p:nvPr/>
        </p:nvSpPr>
        <p:spPr>
          <a:xfrm>
            <a:off x="7909560" y="5303520"/>
            <a:ext cx="3547872" cy="749808"/>
          </a:xfrm>
          <a:prstGeom prst="rect">
            <a:avLst/>
          </a:prstGeom>
          <a:noFill/>
          <a:ln/>
        </p:spPr>
        <p:txBody>
          <a:bodyPr wrap="square" lIns="0" tIns="0" rIns="0" bIns="0" rtlCol="0" anchor="ctr"/>
          <a:lstStyle/>
          <a:p>
            <a:pPr indent="0" marL="0">
              <a:buNone/>
            </a:pPr>
            <a:r>
              <a:rPr lang="en-US" sz="1500" dirty="0">
                <a:solidFill>
                  <a:srgbClr val="F8F5EE"/>
                </a:solidFill>
                <a:latin typeface="Open Sans" pitchFamily="34" charset="0"/>
                <a:ea typeface="Open Sans" pitchFamily="34" charset="-122"/>
                <a:cs typeface="Open Sans" pitchFamily="34" charset="-120"/>
              </a:rPr>
              <a:t>Tu práctica y tu foco</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02 / 04</a:t>
            </a:r>
            <a:endParaRPr lang="en-US" sz="1100" dirty="0"/>
          </a:p>
        </p:txBody>
      </p:sp>
      <p:sp>
        <p:nvSpPr>
          <p:cNvPr id="5" name="Text 1"/>
          <p:cNvSpPr txBox="1"/>
          <p:nvPr/>
        </p:nvSpPr>
        <p:spPr>
          <a:xfrm>
            <a:off x="640080" y="1280160"/>
            <a:ext cx="3429000" cy="1104392"/>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Checklist · Primeros pasos</a:t>
            </a:r>
            <a:endParaRPr lang="en-US" sz="3400" dirty="0"/>
          </a:p>
        </p:txBody>
      </p:sp>
      <p:sp>
        <p:nvSpPr>
          <p:cNvPr id="6" name="Text 2"/>
          <p:cNvSpPr txBox="1"/>
          <p:nvPr/>
        </p:nvSpPr>
        <p:spPr>
          <a:xfrm>
            <a:off x="640080" y="2521712"/>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Si alguno falta, resuélvelo antes de avanzar</a:t>
            </a:r>
            <a:endParaRPr lang="en-US" sz="1600" dirty="0"/>
          </a:p>
        </p:txBody>
      </p:sp>
      <p:sp>
        <p:nvSpPr>
          <p:cNvPr id="7" name="Shape 3"/>
          <p:cNvSpPr/>
          <p:nvPr/>
        </p:nvSpPr>
        <p:spPr>
          <a:xfrm>
            <a:off x="4389120" y="1280160"/>
            <a:ext cx="7159752" cy="868680"/>
          </a:xfrm>
          <a:prstGeom prst="roundRect">
            <a:avLst>
              <a:gd name="adj" fmla="val 1684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8" name="Image 1" descr="preencoded.png">    </p:cNvPr>
          <p:cNvPicPr>
            <a:picLocks noChangeAspect="1"/>
          </p:cNvPicPr>
          <p:nvPr/>
        </p:nvPicPr>
        <p:blipFill>
          <a:blip r:embed="rId2"/>
          <a:stretch>
            <a:fillRect/>
          </a:stretch>
        </p:blipFill>
        <p:spPr>
          <a:xfrm>
            <a:off x="4663440" y="1540764"/>
            <a:ext cx="347472" cy="347472"/>
          </a:xfrm>
          <a:prstGeom prst="rect">
            <a:avLst/>
          </a:prstGeom>
        </p:spPr>
      </p:pic>
      <p:sp>
        <p:nvSpPr>
          <p:cNvPr id="9" name="Text 4"/>
          <p:cNvSpPr txBox="1"/>
          <p:nvPr/>
        </p:nvSpPr>
        <p:spPr>
          <a:xfrm>
            <a:off x="5212080" y="1280160"/>
            <a:ext cx="6153912" cy="868680"/>
          </a:xfrm>
          <a:prstGeom prst="rect">
            <a:avLst/>
          </a:prstGeom>
          <a:noFill/>
          <a:ln/>
        </p:spPr>
        <p:txBody>
          <a:bodyPr wrap="square" lIns="0" tIns="0" rIns="0" bIns="0" rtlCol="0" anchor="ctr"/>
          <a:lstStyle/>
          <a:p>
            <a:pPr indent="0" marL="0">
              <a:buNone/>
            </a:pPr>
            <a:r>
              <a:rPr lang="en-US" sz="1500" dirty="0">
                <a:solidFill>
                  <a:srgbClr val="3F1E0D"/>
                </a:solidFill>
                <a:latin typeface="Open Sans" pitchFamily="34" charset="0"/>
                <a:ea typeface="Open Sans" pitchFamily="34" charset="-122"/>
                <a:cs typeface="Open Sans" pitchFamily="34" charset="-120"/>
              </a:rPr>
              <a:t>Viste todo el onboarding</a:t>
            </a:r>
            <a:endParaRPr lang="en-US" sz="1500" dirty="0"/>
          </a:p>
        </p:txBody>
      </p:sp>
      <p:sp>
        <p:nvSpPr>
          <p:cNvPr id="10" name="Shape 5"/>
          <p:cNvSpPr/>
          <p:nvPr/>
        </p:nvSpPr>
        <p:spPr>
          <a:xfrm>
            <a:off x="4389120" y="2331720"/>
            <a:ext cx="7159752" cy="868680"/>
          </a:xfrm>
          <a:prstGeom prst="roundRect">
            <a:avLst>
              <a:gd name="adj" fmla="val 1684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11" name="Image 2" descr="preencoded.png">    </p:cNvPr>
          <p:cNvPicPr>
            <a:picLocks noChangeAspect="1"/>
          </p:cNvPicPr>
          <p:nvPr/>
        </p:nvPicPr>
        <p:blipFill>
          <a:blip r:embed="rId3"/>
          <a:stretch>
            <a:fillRect/>
          </a:stretch>
        </p:blipFill>
        <p:spPr>
          <a:xfrm>
            <a:off x="4663440" y="2592324"/>
            <a:ext cx="347472" cy="347472"/>
          </a:xfrm>
          <a:prstGeom prst="rect">
            <a:avLst/>
          </a:prstGeom>
        </p:spPr>
      </p:pic>
      <p:sp>
        <p:nvSpPr>
          <p:cNvPr id="12" name="Text 6"/>
          <p:cNvSpPr txBox="1"/>
          <p:nvPr/>
        </p:nvSpPr>
        <p:spPr>
          <a:xfrm>
            <a:off x="5212080" y="2331720"/>
            <a:ext cx="6153912" cy="868680"/>
          </a:xfrm>
          <a:prstGeom prst="rect">
            <a:avLst/>
          </a:prstGeom>
          <a:noFill/>
          <a:ln/>
        </p:spPr>
        <p:txBody>
          <a:bodyPr wrap="square" lIns="0" tIns="0" rIns="0" bIns="0" rtlCol="0" anchor="ctr"/>
          <a:lstStyle/>
          <a:p>
            <a:pPr indent="0" marL="0">
              <a:buNone/>
            </a:pPr>
            <a:r>
              <a:rPr lang="en-US" sz="1500" dirty="0">
                <a:solidFill>
                  <a:srgbClr val="3F1E0D"/>
                </a:solidFill>
                <a:latin typeface="Open Sans" pitchFamily="34" charset="0"/>
                <a:ea typeface="Open Sans" pitchFamily="34" charset="-122"/>
                <a:cs typeface="Open Sans" pitchFamily="34" charset="-120"/>
              </a:rPr>
              <a:t>Firmaste tu Acuerdo de Trabajo y lo subiste a </a:t>
            </a:r>
            <a:pPr indent="0" marL="0">
              <a:buNone/>
            </a:pPr>
            <a:r>
              <a:rPr lang="en-US" sz="1500" b="1" dirty="0">
                <a:solidFill>
                  <a:srgbClr val="3F1E0D"/>
                </a:solidFill>
                <a:latin typeface="Open Sans" pitchFamily="34" charset="0"/>
                <a:ea typeface="Open Sans" pitchFamily="34" charset="-122"/>
                <a:cs typeface="Open Sans" pitchFamily="34" charset="-120"/>
              </a:rPr>
              <a:t>01 · MI CONTEXTO PROFESIONAL</a:t>
            </a:r>
            <a:endParaRPr lang="en-US" sz="1500" dirty="0"/>
          </a:p>
        </p:txBody>
      </p:sp>
      <p:sp>
        <p:nvSpPr>
          <p:cNvPr id="13" name="Shape 7"/>
          <p:cNvSpPr/>
          <p:nvPr/>
        </p:nvSpPr>
        <p:spPr>
          <a:xfrm>
            <a:off x="4389120" y="3383280"/>
            <a:ext cx="7159752" cy="868680"/>
          </a:xfrm>
          <a:prstGeom prst="roundRect">
            <a:avLst>
              <a:gd name="adj" fmla="val 1684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14" name="Image 3" descr="preencoded.png">    </p:cNvPr>
          <p:cNvPicPr>
            <a:picLocks noChangeAspect="1"/>
          </p:cNvPicPr>
          <p:nvPr/>
        </p:nvPicPr>
        <p:blipFill>
          <a:blip r:embed="rId4"/>
          <a:stretch>
            <a:fillRect/>
          </a:stretch>
        </p:blipFill>
        <p:spPr>
          <a:xfrm>
            <a:off x="4663440" y="3643884"/>
            <a:ext cx="347472" cy="347472"/>
          </a:xfrm>
          <a:prstGeom prst="rect">
            <a:avLst/>
          </a:prstGeom>
        </p:spPr>
      </p:pic>
      <p:sp>
        <p:nvSpPr>
          <p:cNvPr id="15" name="Text 8"/>
          <p:cNvSpPr txBox="1"/>
          <p:nvPr/>
        </p:nvSpPr>
        <p:spPr>
          <a:xfrm>
            <a:off x="5212080" y="3383280"/>
            <a:ext cx="6153912" cy="868680"/>
          </a:xfrm>
          <a:prstGeom prst="rect">
            <a:avLst/>
          </a:prstGeom>
          <a:noFill/>
          <a:ln/>
        </p:spPr>
        <p:txBody>
          <a:bodyPr wrap="square" lIns="0" tIns="0" rIns="0" bIns="0" rtlCol="0" anchor="ctr"/>
          <a:lstStyle/>
          <a:p>
            <a:pPr indent="0" marL="0">
              <a:buNone/>
            </a:pPr>
            <a:r>
              <a:rPr lang="en-US" sz="1500" dirty="0">
                <a:solidFill>
                  <a:srgbClr val="3F1E0D"/>
                </a:solidFill>
                <a:latin typeface="Open Sans" pitchFamily="34" charset="0"/>
                <a:ea typeface="Open Sans" pitchFamily="34" charset="-122"/>
                <a:cs typeface="Open Sans" pitchFamily="34" charset="-120"/>
              </a:rPr>
              <a:t>Entraste a la Comunidad AT WORK y te uniste a sus canales</a:t>
            </a:r>
            <a:endParaRPr lang="en-US" sz="1500" dirty="0"/>
          </a:p>
        </p:txBody>
      </p:sp>
      <p:sp>
        <p:nvSpPr>
          <p:cNvPr id="16" name="Shape 9"/>
          <p:cNvSpPr/>
          <p:nvPr/>
        </p:nvSpPr>
        <p:spPr>
          <a:xfrm>
            <a:off x="4389120" y="4434840"/>
            <a:ext cx="7159752" cy="868680"/>
          </a:xfrm>
          <a:prstGeom prst="roundRect">
            <a:avLst>
              <a:gd name="adj" fmla="val 1684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17" name="Image 4" descr="preencoded.png">    </p:cNvPr>
          <p:cNvPicPr>
            <a:picLocks noChangeAspect="1"/>
          </p:cNvPicPr>
          <p:nvPr/>
        </p:nvPicPr>
        <p:blipFill>
          <a:blip r:embed="rId5"/>
          <a:stretch>
            <a:fillRect/>
          </a:stretch>
        </p:blipFill>
        <p:spPr>
          <a:xfrm>
            <a:off x="4663440" y="4695444"/>
            <a:ext cx="347472" cy="347472"/>
          </a:xfrm>
          <a:prstGeom prst="rect">
            <a:avLst/>
          </a:prstGeom>
        </p:spPr>
      </p:pic>
      <p:sp>
        <p:nvSpPr>
          <p:cNvPr id="18" name="Text 10"/>
          <p:cNvSpPr txBox="1"/>
          <p:nvPr/>
        </p:nvSpPr>
        <p:spPr>
          <a:xfrm>
            <a:off x="5212080" y="4434840"/>
            <a:ext cx="6153912" cy="868680"/>
          </a:xfrm>
          <a:prstGeom prst="rect">
            <a:avLst/>
          </a:prstGeom>
          <a:noFill/>
          <a:ln/>
        </p:spPr>
        <p:txBody>
          <a:bodyPr wrap="square" lIns="0" tIns="0" rIns="0" bIns="0" rtlCol="0" anchor="ctr"/>
          <a:lstStyle/>
          <a:p>
            <a:pPr indent="0" marL="0">
              <a:buNone/>
            </a:pPr>
            <a:r>
              <a:rPr lang="en-US" sz="1500" dirty="0">
                <a:solidFill>
                  <a:srgbClr val="3F1E0D"/>
                </a:solidFill>
                <a:latin typeface="Open Sans" pitchFamily="34" charset="0"/>
                <a:ea typeface="Open Sans" pitchFamily="34" charset="-122"/>
                <a:cs typeface="Open Sans" pitchFamily="34" charset="-120"/>
              </a:rPr>
              <a:t>Ya te presentaste</a:t>
            </a:r>
            <a:endParaRPr lang="en-US" sz="1500" dirty="0"/>
          </a:p>
        </p:txBody>
      </p:sp>
      <p:sp>
        <p:nvSpPr>
          <p:cNvPr id="19" name="Shape 11"/>
          <p:cNvSpPr/>
          <p:nvPr/>
        </p:nvSpPr>
        <p:spPr>
          <a:xfrm>
            <a:off x="4389120" y="5486400"/>
            <a:ext cx="7159752" cy="868680"/>
          </a:xfrm>
          <a:prstGeom prst="roundRect">
            <a:avLst>
              <a:gd name="adj" fmla="val 16842"/>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20" name="Image 5" descr="preencoded.png">    </p:cNvPr>
          <p:cNvPicPr>
            <a:picLocks noChangeAspect="1"/>
          </p:cNvPicPr>
          <p:nvPr/>
        </p:nvPicPr>
        <p:blipFill>
          <a:blip r:embed="rId6"/>
          <a:stretch>
            <a:fillRect/>
          </a:stretch>
        </p:blipFill>
        <p:spPr>
          <a:xfrm>
            <a:off x="4663440" y="5747004"/>
            <a:ext cx="347472" cy="347472"/>
          </a:xfrm>
          <a:prstGeom prst="rect">
            <a:avLst/>
          </a:prstGeom>
        </p:spPr>
      </p:pic>
      <p:sp>
        <p:nvSpPr>
          <p:cNvPr id="21" name="Text 12"/>
          <p:cNvSpPr txBox="1"/>
          <p:nvPr/>
        </p:nvSpPr>
        <p:spPr>
          <a:xfrm>
            <a:off x="5212080" y="5486400"/>
            <a:ext cx="6153912" cy="868680"/>
          </a:xfrm>
          <a:prstGeom prst="rect">
            <a:avLst/>
          </a:prstGeom>
          <a:noFill/>
          <a:ln/>
        </p:spPr>
        <p:txBody>
          <a:bodyPr wrap="square" lIns="0" tIns="0" rIns="0" bIns="0" rtlCol="0" anchor="ctr"/>
          <a:lstStyle/>
          <a:p>
            <a:pPr indent="0" marL="0">
              <a:buNone/>
            </a:pPr>
            <a:r>
              <a:rPr lang="en-US" sz="1500" dirty="0">
                <a:solidFill>
                  <a:srgbClr val="3F1E0D"/>
                </a:solidFill>
                <a:latin typeface="Open Sans" pitchFamily="34" charset="0"/>
                <a:ea typeface="Open Sans" pitchFamily="34" charset="-122"/>
                <a:cs typeface="Open Sans" pitchFamily="34" charset="-120"/>
              </a:rPr>
              <a:t>Recibes correctamente los emails de AT WORK (revisa también Spam y Promociones)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5EE"/>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8A6A55"/>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8A6A55"/>
                </a:solidFill>
                <a:latin typeface="Open Sans" pitchFamily="34" charset="0"/>
                <a:ea typeface="Open Sans" pitchFamily="34" charset="-122"/>
                <a:cs typeface="Open Sans" pitchFamily="34" charset="-120"/>
              </a:rPr>
              <a:t>   ·   03 / 04</a:t>
            </a:r>
            <a:endParaRPr lang="en-US" sz="1100" dirty="0"/>
          </a:p>
        </p:txBody>
      </p:sp>
      <p:sp>
        <p:nvSpPr>
          <p:cNvPr id="5" name="Text 1"/>
          <p:cNvSpPr txBox="1"/>
          <p:nvPr/>
        </p:nvSpPr>
        <p:spPr>
          <a:xfrm>
            <a:off x="640080" y="1280160"/>
            <a:ext cx="3429000" cy="1104392"/>
          </a:xfrm>
          <a:prstGeom prst="rect">
            <a:avLst/>
          </a:prstGeom>
          <a:noFill/>
          <a:ln/>
        </p:spPr>
        <p:txBody>
          <a:bodyPr wrap="square" lIns="0" tIns="0" rIns="0" bIns="0" rtlCol="0" anchor="t"/>
          <a:lstStyle/>
          <a:p>
            <a:pPr indent="0" marL="0">
              <a:lnSpc>
                <a:spcPct val="92000"/>
              </a:lnSpc>
              <a:buNone/>
            </a:pPr>
            <a:r>
              <a:rPr lang="en-US" sz="3400" b="1" dirty="0">
                <a:solidFill>
                  <a:srgbClr val="81552E"/>
                </a:solidFill>
                <a:latin typeface="Source Serif Pro" pitchFamily="34" charset="0"/>
                <a:ea typeface="Source Serif Pro" pitchFamily="34" charset="-122"/>
                <a:cs typeface="Source Serif Pro" pitchFamily="34" charset="-120"/>
              </a:rPr>
              <a:t>Checklist · Tu sistema</a:t>
            </a:r>
            <a:endParaRPr lang="en-US" sz="3400" dirty="0"/>
          </a:p>
        </p:txBody>
      </p:sp>
      <p:sp>
        <p:nvSpPr>
          <p:cNvPr id="6" name="Text 2"/>
          <p:cNvSpPr txBox="1"/>
          <p:nvPr/>
        </p:nvSpPr>
        <p:spPr>
          <a:xfrm>
            <a:off x="640080" y="2521712"/>
            <a:ext cx="3291840" cy="640080"/>
          </a:xfrm>
          <a:prstGeom prst="rect">
            <a:avLst/>
          </a:prstGeom>
          <a:noFill/>
          <a:ln/>
        </p:spPr>
        <p:txBody>
          <a:bodyPr wrap="square" lIns="0" tIns="0" rIns="0" bIns="0" rtlCol="0" anchor="t"/>
          <a:lstStyle/>
          <a:p>
            <a:pPr indent="0" marL="0">
              <a:buNone/>
            </a:pPr>
            <a:r>
              <a:rPr lang="en-US" sz="1600" i="1" dirty="0">
                <a:solidFill>
                  <a:srgbClr val="8A6A55"/>
                </a:solidFill>
                <a:latin typeface="Source Serif Pro" pitchFamily="34" charset="0"/>
                <a:ea typeface="Source Serif Pro" pitchFamily="34" charset="-122"/>
                <a:cs typeface="Source Serif Pro" pitchFamily="34" charset="-120"/>
              </a:rPr>
              <a:t>No tiene que estar perfecto, pero sí armado</a:t>
            </a:r>
            <a:endParaRPr lang="en-US" sz="1600" dirty="0"/>
          </a:p>
        </p:txBody>
      </p:sp>
      <p:sp>
        <p:nvSpPr>
          <p:cNvPr id="7" name="Shape 3"/>
          <p:cNvSpPr/>
          <p:nvPr/>
        </p:nvSpPr>
        <p:spPr>
          <a:xfrm>
            <a:off x="4389120" y="1280160"/>
            <a:ext cx="3451860" cy="914400"/>
          </a:xfrm>
          <a:prstGeom prst="roundRect">
            <a:avLst>
              <a:gd name="adj" fmla="val 1600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8" name="Image 1" descr="preencoded.png">    </p:cNvPr>
          <p:cNvPicPr>
            <a:picLocks noChangeAspect="1"/>
          </p:cNvPicPr>
          <p:nvPr/>
        </p:nvPicPr>
        <p:blipFill>
          <a:blip r:embed="rId2"/>
          <a:stretch>
            <a:fillRect/>
          </a:stretch>
        </p:blipFill>
        <p:spPr>
          <a:xfrm>
            <a:off x="4663440" y="1563624"/>
            <a:ext cx="347472" cy="347472"/>
          </a:xfrm>
          <a:prstGeom prst="rect">
            <a:avLst/>
          </a:prstGeom>
        </p:spPr>
      </p:pic>
      <p:sp>
        <p:nvSpPr>
          <p:cNvPr id="9" name="Text 4"/>
          <p:cNvSpPr txBox="1"/>
          <p:nvPr/>
        </p:nvSpPr>
        <p:spPr>
          <a:xfrm>
            <a:off x="5212080" y="1280160"/>
            <a:ext cx="2446020" cy="914400"/>
          </a:xfrm>
          <a:prstGeom prst="rect">
            <a:avLst/>
          </a:prstGeom>
          <a:noFill/>
          <a:ln/>
        </p:spPr>
        <p:txBody>
          <a:bodyPr wrap="square" lIns="0" tIns="0" rIns="0" bIns="0" rtlCol="0" anchor="ctr"/>
          <a:lstStyle/>
          <a:p>
            <a:pPr indent="0" marL="0">
              <a:buNone/>
            </a:pPr>
            <a:r>
              <a:rPr lang="en-US" sz="1350" dirty="0">
                <a:solidFill>
                  <a:srgbClr val="3F1E0D"/>
                </a:solidFill>
                <a:latin typeface="Open Sans" pitchFamily="34" charset="0"/>
                <a:ea typeface="Open Sans" pitchFamily="34" charset="-122"/>
                <a:cs typeface="Open Sans" pitchFamily="34" charset="-120"/>
              </a:rPr>
              <a:t>¿Abriste tu carpeta personal de AT WORK?</a:t>
            </a:r>
            <a:endParaRPr lang="en-US" sz="1350" dirty="0"/>
          </a:p>
        </p:txBody>
      </p:sp>
      <p:sp>
        <p:nvSpPr>
          <p:cNvPr id="10" name="Shape 5"/>
          <p:cNvSpPr/>
          <p:nvPr/>
        </p:nvSpPr>
        <p:spPr>
          <a:xfrm>
            <a:off x="4389120" y="2377440"/>
            <a:ext cx="3451860" cy="914400"/>
          </a:xfrm>
          <a:prstGeom prst="roundRect">
            <a:avLst>
              <a:gd name="adj" fmla="val 1600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11" name="Image 2" descr="preencoded.png">    </p:cNvPr>
          <p:cNvPicPr>
            <a:picLocks noChangeAspect="1"/>
          </p:cNvPicPr>
          <p:nvPr/>
        </p:nvPicPr>
        <p:blipFill>
          <a:blip r:embed="rId3"/>
          <a:stretch>
            <a:fillRect/>
          </a:stretch>
        </p:blipFill>
        <p:spPr>
          <a:xfrm>
            <a:off x="4663440" y="2660904"/>
            <a:ext cx="347472" cy="347472"/>
          </a:xfrm>
          <a:prstGeom prst="rect">
            <a:avLst/>
          </a:prstGeom>
        </p:spPr>
      </p:pic>
      <p:sp>
        <p:nvSpPr>
          <p:cNvPr id="12" name="Text 6"/>
          <p:cNvSpPr txBox="1"/>
          <p:nvPr/>
        </p:nvSpPr>
        <p:spPr>
          <a:xfrm>
            <a:off x="5212080" y="2377440"/>
            <a:ext cx="2446020" cy="914400"/>
          </a:xfrm>
          <a:prstGeom prst="rect">
            <a:avLst/>
          </a:prstGeom>
          <a:noFill/>
          <a:ln/>
        </p:spPr>
        <p:txBody>
          <a:bodyPr wrap="square" lIns="0" tIns="0" rIns="0" bIns="0" rtlCol="0" anchor="ctr"/>
          <a:lstStyle/>
          <a:p>
            <a:pPr indent="0" marL="0">
              <a:buNone/>
            </a:pPr>
            <a:r>
              <a:rPr lang="en-US" sz="1350" dirty="0">
                <a:solidFill>
                  <a:srgbClr val="3F1E0D"/>
                </a:solidFill>
                <a:latin typeface="Open Sans" pitchFamily="34" charset="0"/>
                <a:ea typeface="Open Sans" pitchFamily="34" charset="-122"/>
                <a:cs typeface="Open Sans" pitchFamily="34" charset="-120"/>
              </a:rPr>
              <a:t>¿Completaste tu Starting Point?</a:t>
            </a:r>
            <a:endParaRPr lang="en-US" sz="1350" dirty="0"/>
          </a:p>
        </p:txBody>
      </p:sp>
      <p:sp>
        <p:nvSpPr>
          <p:cNvPr id="13" name="Shape 7"/>
          <p:cNvSpPr/>
          <p:nvPr/>
        </p:nvSpPr>
        <p:spPr>
          <a:xfrm>
            <a:off x="4389120" y="3474720"/>
            <a:ext cx="3451860" cy="914400"/>
          </a:xfrm>
          <a:prstGeom prst="roundRect">
            <a:avLst>
              <a:gd name="adj" fmla="val 1600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14" name="Image 3" descr="preencoded.png">    </p:cNvPr>
          <p:cNvPicPr>
            <a:picLocks noChangeAspect="1"/>
          </p:cNvPicPr>
          <p:nvPr/>
        </p:nvPicPr>
        <p:blipFill>
          <a:blip r:embed="rId4"/>
          <a:stretch>
            <a:fillRect/>
          </a:stretch>
        </p:blipFill>
        <p:spPr>
          <a:xfrm>
            <a:off x="4663440" y="3758184"/>
            <a:ext cx="347472" cy="347472"/>
          </a:xfrm>
          <a:prstGeom prst="rect">
            <a:avLst/>
          </a:prstGeom>
        </p:spPr>
      </p:pic>
      <p:sp>
        <p:nvSpPr>
          <p:cNvPr id="15" name="Text 8"/>
          <p:cNvSpPr txBox="1"/>
          <p:nvPr/>
        </p:nvSpPr>
        <p:spPr>
          <a:xfrm>
            <a:off x="5212080" y="3474720"/>
            <a:ext cx="2446020" cy="914400"/>
          </a:xfrm>
          <a:prstGeom prst="rect">
            <a:avLst/>
          </a:prstGeom>
          <a:noFill/>
          <a:ln/>
        </p:spPr>
        <p:txBody>
          <a:bodyPr wrap="square" lIns="0" tIns="0" rIns="0" bIns="0" rtlCol="0" anchor="ctr"/>
          <a:lstStyle/>
          <a:p>
            <a:pPr indent="0" marL="0">
              <a:buNone/>
            </a:pPr>
            <a:r>
              <a:rPr lang="en-US" sz="1350" dirty="0">
                <a:solidFill>
                  <a:srgbClr val="3F1E0D"/>
                </a:solidFill>
                <a:latin typeface="Open Sans" pitchFamily="34" charset="0"/>
                <a:ea typeface="Open Sans" pitchFamily="34" charset="-122"/>
                <a:cs typeface="Open Sans" pitchFamily="34" charset="-120"/>
              </a:rPr>
              <a:t>¿Subiste entre tres y cinco materiales reales de tu trabajo?</a:t>
            </a:r>
            <a:endParaRPr lang="en-US" sz="1350" dirty="0"/>
          </a:p>
        </p:txBody>
      </p:sp>
      <p:sp>
        <p:nvSpPr>
          <p:cNvPr id="16" name="Shape 9"/>
          <p:cNvSpPr/>
          <p:nvPr/>
        </p:nvSpPr>
        <p:spPr>
          <a:xfrm>
            <a:off x="4389120" y="4572000"/>
            <a:ext cx="3451860" cy="914400"/>
          </a:xfrm>
          <a:prstGeom prst="roundRect">
            <a:avLst>
              <a:gd name="adj" fmla="val 1600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17" name="Image 4" descr="preencoded.png">    </p:cNvPr>
          <p:cNvPicPr>
            <a:picLocks noChangeAspect="1"/>
          </p:cNvPicPr>
          <p:nvPr/>
        </p:nvPicPr>
        <p:blipFill>
          <a:blip r:embed="rId5"/>
          <a:stretch>
            <a:fillRect/>
          </a:stretch>
        </p:blipFill>
        <p:spPr>
          <a:xfrm>
            <a:off x="4663440" y="4855464"/>
            <a:ext cx="347472" cy="347472"/>
          </a:xfrm>
          <a:prstGeom prst="rect">
            <a:avLst/>
          </a:prstGeom>
        </p:spPr>
      </p:pic>
      <p:sp>
        <p:nvSpPr>
          <p:cNvPr id="18" name="Text 10"/>
          <p:cNvSpPr txBox="1"/>
          <p:nvPr/>
        </p:nvSpPr>
        <p:spPr>
          <a:xfrm>
            <a:off x="5212080" y="4572000"/>
            <a:ext cx="2446020" cy="914400"/>
          </a:xfrm>
          <a:prstGeom prst="rect">
            <a:avLst/>
          </a:prstGeom>
          <a:noFill/>
          <a:ln/>
        </p:spPr>
        <p:txBody>
          <a:bodyPr wrap="square" lIns="0" tIns="0" rIns="0" bIns="0" rtlCol="0" anchor="ctr"/>
          <a:lstStyle/>
          <a:p>
            <a:pPr indent="0" marL="0">
              <a:buNone/>
            </a:pPr>
            <a:r>
              <a:rPr lang="en-US" sz="1350" dirty="0">
                <a:solidFill>
                  <a:srgbClr val="3F1E0D"/>
                </a:solidFill>
                <a:latin typeface="Open Sans" pitchFamily="34" charset="0"/>
                <a:ea typeface="Open Sans" pitchFamily="34" charset="-122"/>
                <a:cs typeface="Open Sans" pitchFamily="34" charset="-120"/>
              </a:rPr>
              <a:t>¿Reservaste tus bloques semanales de práctica?</a:t>
            </a:r>
            <a:endParaRPr lang="en-US" sz="1350" dirty="0"/>
          </a:p>
        </p:txBody>
      </p:sp>
      <p:sp>
        <p:nvSpPr>
          <p:cNvPr id="19" name="Shape 11"/>
          <p:cNvSpPr/>
          <p:nvPr/>
        </p:nvSpPr>
        <p:spPr>
          <a:xfrm>
            <a:off x="8097012" y="1280160"/>
            <a:ext cx="3451860" cy="914400"/>
          </a:xfrm>
          <a:prstGeom prst="roundRect">
            <a:avLst>
              <a:gd name="adj" fmla="val 1600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20" name="Image 5" descr="preencoded.png">    </p:cNvPr>
          <p:cNvPicPr>
            <a:picLocks noChangeAspect="1"/>
          </p:cNvPicPr>
          <p:nvPr/>
        </p:nvPicPr>
        <p:blipFill>
          <a:blip r:embed="rId6"/>
          <a:stretch>
            <a:fillRect/>
          </a:stretch>
        </p:blipFill>
        <p:spPr>
          <a:xfrm>
            <a:off x="8371332" y="1563624"/>
            <a:ext cx="347472" cy="347472"/>
          </a:xfrm>
          <a:prstGeom prst="rect">
            <a:avLst/>
          </a:prstGeom>
        </p:spPr>
      </p:pic>
      <p:sp>
        <p:nvSpPr>
          <p:cNvPr id="21" name="Text 12"/>
          <p:cNvSpPr txBox="1"/>
          <p:nvPr/>
        </p:nvSpPr>
        <p:spPr>
          <a:xfrm>
            <a:off x="8919972" y="1280160"/>
            <a:ext cx="2446020" cy="914400"/>
          </a:xfrm>
          <a:prstGeom prst="rect">
            <a:avLst/>
          </a:prstGeom>
          <a:noFill/>
          <a:ln/>
        </p:spPr>
        <p:txBody>
          <a:bodyPr wrap="square" lIns="0" tIns="0" rIns="0" bIns="0" rtlCol="0" anchor="ctr"/>
          <a:lstStyle/>
          <a:p>
            <a:pPr indent="0" marL="0">
              <a:buNone/>
            </a:pPr>
            <a:r>
              <a:rPr lang="en-US" sz="1350" dirty="0">
                <a:solidFill>
                  <a:srgbClr val="3F1E0D"/>
                </a:solidFill>
                <a:latin typeface="Open Sans" pitchFamily="34" charset="0"/>
                <a:ea typeface="Open Sans" pitchFamily="34" charset="-122"/>
                <a:cs typeface="Open Sans" pitchFamily="34" charset="-120"/>
              </a:rPr>
              <a:t>¿Sabes dónde pedir feedback y qué incluir?</a:t>
            </a:r>
            <a:endParaRPr lang="en-US" sz="1350" dirty="0"/>
          </a:p>
        </p:txBody>
      </p:sp>
      <p:sp>
        <p:nvSpPr>
          <p:cNvPr id="22" name="Shape 13"/>
          <p:cNvSpPr/>
          <p:nvPr/>
        </p:nvSpPr>
        <p:spPr>
          <a:xfrm>
            <a:off x="8097012" y="2377440"/>
            <a:ext cx="3451860" cy="914400"/>
          </a:xfrm>
          <a:prstGeom prst="roundRect">
            <a:avLst>
              <a:gd name="adj" fmla="val 1600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23" name="Image 6" descr="preencoded.png">    </p:cNvPr>
          <p:cNvPicPr>
            <a:picLocks noChangeAspect="1"/>
          </p:cNvPicPr>
          <p:nvPr/>
        </p:nvPicPr>
        <p:blipFill>
          <a:blip r:embed="rId7"/>
          <a:stretch>
            <a:fillRect/>
          </a:stretch>
        </p:blipFill>
        <p:spPr>
          <a:xfrm>
            <a:off x="8371332" y="2660904"/>
            <a:ext cx="347472" cy="347472"/>
          </a:xfrm>
          <a:prstGeom prst="rect">
            <a:avLst/>
          </a:prstGeom>
        </p:spPr>
      </p:pic>
      <p:sp>
        <p:nvSpPr>
          <p:cNvPr id="24" name="Text 14"/>
          <p:cNvSpPr txBox="1"/>
          <p:nvPr/>
        </p:nvSpPr>
        <p:spPr>
          <a:xfrm>
            <a:off x="8919972" y="2377440"/>
            <a:ext cx="2446020" cy="914400"/>
          </a:xfrm>
          <a:prstGeom prst="rect">
            <a:avLst/>
          </a:prstGeom>
          <a:noFill/>
          <a:ln/>
        </p:spPr>
        <p:txBody>
          <a:bodyPr wrap="square" lIns="0" tIns="0" rIns="0" bIns="0" rtlCol="0" anchor="ctr"/>
          <a:lstStyle/>
          <a:p>
            <a:pPr indent="0" marL="0">
              <a:buNone/>
            </a:pPr>
            <a:r>
              <a:rPr lang="en-US" sz="1350" dirty="0">
                <a:solidFill>
                  <a:srgbClr val="3F1E0D"/>
                </a:solidFill>
                <a:latin typeface="Open Sans" pitchFamily="34" charset="0"/>
                <a:ea typeface="Open Sans" pitchFamily="34" charset="-122"/>
                <a:cs typeface="Open Sans" pitchFamily="34" charset="-120"/>
              </a:rPr>
              <a:t>¿Sabes que cada semana completas tu Weekly Report y lo guardas en tu Drive?</a:t>
            </a:r>
            <a:endParaRPr lang="en-US" sz="1350" dirty="0"/>
          </a:p>
        </p:txBody>
      </p:sp>
      <p:sp>
        <p:nvSpPr>
          <p:cNvPr id="25" name="Shape 15"/>
          <p:cNvSpPr/>
          <p:nvPr/>
        </p:nvSpPr>
        <p:spPr>
          <a:xfrm>
            <a:off x="8097012" y="3474720"/>
            <a:ext cx="3451860" cy="914400"/>
          </a:xfrm>
          <a:prstGeom prst="roundRect">
            <a:avLst>
              <a:gd name="adj" fmla="val 16000"/>
            </a:avLst>
          </a:prstGeom>
          <a:solidFill>
            <a:srgbClr val="FFFDF9"/>
          </a:solidFill>
          <a:ln w="12700">
            <a:solidFill>
              <a:srgbClr val="FFFDF9"/>
            </a:solidFill>
            <a:prstDash val="solid"/>
          </a:ln>
          <a:effectLst>
            <a:outerShdw sx="100000" sy="100000" kx="0" ky="0" algn="bl" rotWithShape="0" blurRad="177800" dist="38100" dir="5400000">
              <a:srgbClr val="3F1E0D">
                <a:alpha val="10000"/>
              </a:srgbClr>
            </a:outerShdw>
          </a:effectLst>
        </p:spPr>
      </p:sp>
      <p:pic>
        <p:nvPicPr>
          <p:cNvPr id="26" name="Image 7" descr="preencoded.png">    </p:cNvPr>
          <p:cNvPicPr>
            <a:picLocks noChangeAspect="1"/>
          </p:cNvPicPr>
          <p:nvPr/>
        </p:nvPicPr>
        <p:blipFill>
          <a:blip r:embed="rId8"/>
          <a:stretch>
            <a:fillRect/>
          </a:stretch>
        </p:blipFill>
        <p:spPr>
          <a:xfrm>
            <a:off x="8371332" y="3758184"/>
            <a:ext cx="347472" cy="347472"/>
          </a:xfrm>
          <a:prstGeom prst="rect">
            <a:avLst/>
          </a:prstGeom>
        </p:spPr>
      </p:pic>
      <p:sp>
        <p:nvSpPr>
          <p:cNvPr id="27" name="Text 16"/>
          <p:cNvSpPr txBox="1"/>
          <p:nvPr/>
        </p:nvSpPr>
        <p:spPr>
          <a:xfrm>
            <a:off x="8919972" y="3474720"/>
            <a:ext cx="2446020" cy="914400"/>
          </a:xfrm>
          <a:prstGeom prst="rect">
            <a:avLst/>
          </a:prstGeom>
          <a:noFill/>
          <a:ln/>
        </p:spPr>
        <p:txBody>
          <a:bodyPr wrap="square" lIns="0" tIns="0" rIns="0" bIns="0" rtlCol="0" anchor="ctr"/>
          <a:lstStyle/>
          <a:p>
            <a:pPr indent="0" marL="0">
              <a:buNone/>
            </a:pPr>
            <a:r>
              <a:rPr lang="en-US" sz="1350" dirty="0">
                <a:solidFill>
                  <a:srgbClr val="3F1E0D"/>
                </a:solidFill>
                <a:latin typeface="Open Sans" pitchFamily="34" charset="0"/>
                <a:ea typeface="Open Sans" pitchFamily="34" charset="-122"/>
                <a:cs typeface="Open Sans" pitchFamily="34" charset="-120"/>
              </a:rPr>
              <a:t>¿Tienes claro tu foco actual?</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C68C6C"/>
        </a:solidFill>
      </p:bgPr>
    </p:bg>
    <p:spTree>
      <p:nvGrpSpPr>
        <p:cNvPr id="1" name=""/>
        <p:cNvGrpSpPr/>
        <p:nvPr/>
      </p:nvGrpSpPr>
      <p:grpSpPr>
        <a:xfrm>
          <a:off x="0" y="0"/>
          <a:ext cx="0" cy="0"/>
          <a:chOff x="0" y="0"/>
          <a:chExt cx="0" cy="0"/>
        </a:xfrm>
      </p:grpSpPr>
      <p:pic>
        <p:nvPicPr>
          <p:cNvPr id="3" name="Image 0" descr="Breaking Barriers at work">    </p:cNvPr>
          <p:cNvPicPr>
            <a:picLocks noChangeAspect="1"/>
          </p:cNvPicPr>
          <p:nvPr/>
        </p:nvPicPr>
        <p:blipFill>
          <a:blip r:embed="rId1"/>
          <a:stretch>
            <a:fillRect/>
          </a:stretch>
        </p:blipFill>
        <p:spPr>
          <a:xfrm>
            <a:off x="640080" y="274320"/>
            <a:ext cx="1188720" cy="542536"/>
          </a:xfrm>
          <a:prstGeom prst="rect">
            <a:avLst/>
          </a:prstGeom>
        </p:spPr>
      </p:pic>
      <p:sp>
        <p:nvSpPr>
          <p:cNvPr id="4" name="Text 0"/>
          <p:cNvSpPr txBox="1"/>
          <p:nvPr/>
        </p:nvSpPr>
        <p:spPr>
          <a:xfrm>
            <a:off x="7891272" y="384048"/>
            <a:ext cx="3657600" cy="274320"/>
          </a:xfrm>
          <a:prstGeom prst="rect">
            <a:avLst/>
          </a:prstGeom>
          <a:noFill/>
          <a:ln/>
        </p:spPr>
        <p:txBody>
          <a:bodyPr wrap="square" lIns="0" tIns="0" rIns="0" bIns="0" rtlCol="0" anchor="ctr"/>
          <a:lstStyle/>
          <a:p>
            <a:pPr algn="r" indent="0" marL="0">
              <a:buNone/>
            </a:pPr>
            <a:r>
              <a:rPr lang="en-US" sz="1100" i="1" dirty="0">
                <a:solidFill>
                  <a:srgbClr val="3F1E0D"/>
                </a:solidFill>
                <a:latin typeface="Source Serif Pro" pitchFamily="34" charset="0"/>
                <a:ea typeface="Source Serif Pro" pitchFamily="34" charset="-122"/>
                <a:cs typeface="Source Serif Pro" pitchFamily="34" charset="-120"/>
              </a:rPr>
              <a:t>by Flor Pérsico</a:t>
            </a:r>
            <a:pPr algn="r" indent="0" marL="0">
              <a:buNone/>
            </a:pPr>
            <a:r>
              <a:rPr lang="en-US" sz="1100" dirty="0">
                <a:solidFill>
                  <a:srgbClr val="3F1E0D"/>
                </a:solidFill>
                <a:latin typeface="Open Sans" pitchFamily="34" charset="0"/>
                <a:ea typeface="Open Sans" pitchFamily="34" charset="-122"/>
                <a:cs typeface="Open Sans" pitchFamily="34" charset="-120"/>
              </a:rPr>
              <a:t>   ·   04 / 04</a:t>
            </a:r>
            <a:endParaRPr lang="en-US" sz="1100" dirty="0"/>
          </a:p>
        </p:txBody>
      </p:sp>
      <p:sp>
        <p:nvSpPr>
          <p:cNvPr id="5" name="Text 1"/>
          <p:cNvSpPr txBox="1"/>
          <p:nvPr/>
        </p:nvSpPr>
        <p:spPr>
          <a:xfrm>
            <a:off x="640080" y="1280160"/>
            <a:ext cx="3429000" cy="1588008"/>
          </a:xfrm>
          <a:prstGeom prst="rect">
            <a:avLst/>
          </a:prstGeom>
          <a:noFill/>
          <a:ln/>
        </p:spPr>
        <p:txBody>
          <a:bodyPr wrap="square" lIns="0" tIns="0" rIns="0" bIns="0" rtlCol="0" anchor="t"/>
          <a:lstStyle/>
          <a:p>
            <a:pPr indent="0" marL="0">
              <a:lnSpc>
                <a:spcPct val="92000"/>
              </a:lnSpc>
              <a:buNone/>
            </a:pPr>
            <a:r>
              <a:rPr lang="en-US" sz="3400" b="1" dirty="0">
                <a:solidFill>
                  <a:srgbClr val="3F1E0D"/>
                </a:solidFill>
                <a:latin typeface="Source Serif Pro" pitchFamily="34" charset="0"/>
                <a:ea typeface="Source Serif Pro" pitchFamily="34" charset="-122"/>
                <a:cs typeface="Source Serif Pro" pitchFamily="34" charset="-120"/>
              </a:rPr>
              <a:t>Ya puedes empezar el Módulo 1</a:t>
            </a:r>
            <a:endParaRPr lang="en-US" sz="3400" dirty="0"/>
          </a:p>
        </p:txBody>
      </p:sp>
      <p:sp>
        <p:nvSpPr>
          <p:cNvPr id="6" name="Text 2"/>
          <p:cNvSpPr txBox="1"/>
          <p:nvPr/>
        </p:nvSpPr>
        <p:spPr>
          <a:xfrm>
            <a:off x="640080" y="3005328"/>
            <a:ext cx="3291840" cy="365760"/>
          </a:xfrm>
          <a:prstGeom prst="rect">
            <a:avLst/>
          </a:prstGeom>
          <a:noFill/>
          <a:ln/>
        </p:spPr>
        <p:txBody>
          <a:bodyPr wrap="square" lIns="0" tIns="0" rIns="0" bIns="0" rtlCol="0" anchor="t"/>
          <a:lstStyle/>
          <a:p>
            <a:pPr indent="0" marL="0">
              <a:buNone/>
            </a:pPr>
            <a:r>
              <a:rPr lang="en-US" sz="1600" i="1" dirty="0">
                <a:solidFill>
                  <a:srgbClr val="3F1E0D"/>
                </a:solidFill>
                <a:latin typeface="Source Serif Pro" pitchFamily="34" charset="0"/>
                <a:ea typeface="Source Serif Pro" pitchFamily="34" charset="-122"/>
                <a:cs typeface="Source Serif Pro" pitchFamily="34" charset="-120"/>
              </a:rPr>
              <a:t>Activate Your English</a:t>
            </a:r>
            <a:endParaRPr lang="en-US" sz="1600" dirty="0"/>
          </a:p>
        </p:txBody>
      </p:sp>
      <p:sp>
        <p:nvSpPr>
          <p:cNvPr id="7" name="Shape 3"/>
          <p:cNvSpPr/>
          <p:nvPr/>
        </p:nvSpPr>
        <p:spPr>
          <a:xfrm>
            <a:off x="4389120" y="1280160"/>
            <a:ext cx="7159752" cy="946404"/>
          </a:xfrm>
          <a:prstGeom prst="roundRect">
            <a:avLst>
              <a:gd name="adj" fmla="val 15459"/>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8" name="Shape 4"/>
          <p:cNvSpPr/>
          <p:nvPr/>
        </p:nvSpPr>
        <p:spPr>
          <a:xfrm>
            <a:off x="4709160" y="1451610"/>
            <a:ext cx="603504" cy="603504"/>
          </a:xfrm>
          <a:prstGeom prst="ellipse">
            <a:avLst/>
          </a:prstGeom>
          <a:solidFill>
            <a:srgbClr val="3F1E0D"/>
          </a:solidFill>
          <a:ln w="12700">
            <a:solidFill>
              <a:srgbClr val="3F1E0D"/>
            </a:solidFill>
            <a:prstDash val="solid"/>
          </a:ln>
        </p:spPr>
      </p:sp>
      <p:pic>
        <p:nvPicPr>
          <p:cNvPr id="9" name="Image 1" descr="preencoded.png">    </p:cNvPr>
          <p:cNvPicPr>
            <a:picLocks noChangeAspect="1"/>
          </p:cNvPicPr>
          <p:nvPr/>
        </p:nvPicPr>
        <p:blipFill>
          <a:blip r:embed="rId2"/>
          <a:stretch>
            <a:fillRect/>
          </a:stretch>
        </p:blipFill>
        <p:spPr>
          <a:xfrm>
            <a:off x="4872106" y="1614556"/>
            <a:ext cx="277612" cy="277612"/>
          </a:xfrm>
          <a:prstGeom prst="rect">
            <a:avLst/>
          </a:prstGeom>
        </p:spPr>
      </p:pic>
      <p:sp>
        <p:nvSpPr>
          <p:cNvPr id="10" name="Text 5"/>
          <p:cNvSpPr txBox="1"/>
          <p:nvPr/>
        </p:nvSpPr>
        <p:spPr>
          <a:xfrm>
            <a:off x="5577840" y="1280160"/>
            <a:ext cx="5696712" cy="946404"/>
          </a:xfrm>
          <a:prstGeom prst="rect">
            <a:avLst/>
          </a:prstGeom>
          <a:noFill/>
          <a:ln/>
        </p:spPr>
        <p:txBody>
          <a:bodyPr wrap="square" lIns="0" tIns="0" rIns="0" bIns="0" rtlCol="0" anchor="ctr"/>
          <a:lstStyle/>
          <a:p>
            <a:pPr indent="0" marL="0">
              <a:buNone/>
            </a:pPr>
            <a:r>
              <a:rPr lang="en-US" sz="1650" b="1" dirty="0">
                <a:solidFill>
                  <a:srgbClr val="3F1E0D"/>
                </a:solidFill>
                <a:latin typeface="Open Sans" pitchFamily="34" charset="0"/>
                <a:ea typeface="Open Sans" pitchFamily="34" charset="-122"/>
                <a:cs typeface="Open Sans" pitchFamily="34" charset="-120"/>
              </a:rPr>
              <a:t>Sigue el foco de cada semana</a:t>
            </a:r>
            <a:pPr indent="0" marL="0">
              <a:buNone/>
            </a:pPr>
            <a:r>
              <a:rPr lang="en-US" sz="1650" dirty="0">
                <a:solidFill>
                  <a:srgbClr val="3F1E0D"/>
                </a:solidFill>
                <a:latin typeface="Open Sans" pitchFamily="34" charset="0"/>
                <a:ea typeface="Open Sans" pitchFamily="34" charset="-122"/>
                <a:cs typeface="Open Sans" pitchFamily="34" charset="-120"/>
              </a:rPr>
              <a:t>: no necesitas hacer todo de golpe</a:t>
            </a:r>
            <a:endParaRPr lang="en-US" sz="1650" dirty="0"/>
          </a:p>
        </p:txBody>
      </p:sp>
      <p:sp>
        <p:nvSpPr>
          <p:cNvPr id="11" name="Shape 6"/>
          <p:cNvSpPr/>
          <p:nvPr/>
        </p:nvSpPr>
        <p:spPr>
          <a:xfrm>
            <a:off x="4389120" y="2427732"/>
            <a:ext cx="7159752" cy="946404"/>
          </a:xfrm>
          <a:prstGeom prst="roundRect">
            <a:avLst>
              <a:gd name="adj" fmla="val 15459"/>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12" name="Shape 7"/>
          <p:cNvSpPr/>
          <p:nvPr/>
        </p:nvSpPr>
        <p:spPr>
          <a:xfrm>
            <a:off x="4709160" y="2599182"/>
            <a:ext cx="603504" cy="603504"/>
          </a:xfrm>
          <a:prstGeom prst="ellipse">
            <a:avLst/>
          </a:prstGeom>
          <a:solidFill>
            <a:srgbClr val="3F1E0D"/>
          </a:solidFill>
          <a:ln w="12700">
            <a:solidFill>
              <a:srgbClr val="3F1E0D"/>
            </a:solidFill>
            <a:prstDash val="solid"/>
          </a:ln>
        </p:spPr>
      </p:sp>
      <p:pic>
        <p:nvPicPr>
          <p:cNvPr id="13" name="Image 2" descr="preencoded.png">    </p:cNvPr>
          <p:cNvPicPr>
            <a:picLocks noChangeAspect="1"/>
          </p:cNvPicPr>
          <p:nvPr/>
        </p:nvPicPr>
        <p:blipFill>
          <a:blip r:embed="rId3"/>
          <a:stretch>
            <a:fillRect/>
          </a:stretch>
        </p:blipFill>
        <p:spPr>
          <a:xfrm>
            <a:off x="4872106" y="2762128"/>
            <a:ext cx="277612" cy="277612"/>
          </a:xfrm>
          <a:prstGeom prst="rect">
            <a:avLst/>
          </a:prstGeom>
        </p:spPr>
      </p:pic>
      <p:sp>
        <p:nvSpPr>
          <p:cNvPr id="14" name="Text 8"/>
          <p:cNvSpPr txBox="1"/>
          <p:nvPr/>
        </p:nvSpPr>
        <p:spPr>
          <a:xfrm>
            <a:off x="5577840" y="2427732"/>
            <a:ext cx="5696712" cy="946404"/>
          </a:xfrm>
          <a:prstGeom prst="rect">
            <a:avLst/>
          </a:prstGeom>
          <a:noFill/>
          <a:ln/>
        </p:spPr>
        <p:txBody>
          <a:bodyPr wrap="square" lIns="0" tIns="0" rIns="0" bIns="0" rtlCol="0" anchor="ctr"/>
          <a:lstStyle/>
          <a:p>
            <a:pPr indent="0" marL="0">
              <a:buNone/>
            </a:pPr>
            <a:r>
              <a:rPr lang="en-US" sz="1650" b="1" dirty="0">
                <a:solidFill>
                  <a:srgbClr val="3F1E0D"/>
                </a:solidFill>
                <a:latin typeface="Open Sans" pitchFamily="34" charset="0"/>
                <a:ea typeface="Open Sans" pitchFamily="34" charset="-122"/>
                <a:cs typeface="Open Sans" pitchFamily="34" charset="-120"/>
              </a:rPr>
              <a:t>Usa tu Weekly System</a:t>
            </a:r>
            <a:endParaRPr lang="en-US" sz="1650" dirty="0"/>
          </a:p>
        </p:txBody>
      </p:sp>
      <p:sp>
        <p:nvSpPr>
          <p:cNvPr id="15" name="Shape 9"/>
          <p:cNvSpPr/>
          <p:nvPr/>
        </p:nvSpPr>
        <p:spPr>
          <a:xfrm>
            <a:off x="4389120" y="3575304"/>
            <a:ext cx="7159752" cy="946404"/>
          </a:xfrm>
          <a:prstGeom prst="roundRect">
            <a:avLst>
              <a:gd name="adj" fmla="val 15459"/>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16" name="Shape 10"/>
          <p:cNvSpPr/>
          <p:nvPr/>
        </p:nvSpPr>
        <p:spPr>
          <a:xfrm>
            <a:off x="4709160" y="3746754"/>
            <a:ext cx="603504" cy="603504"/>
          </a:xfrm>
          <a:prstGeom prst="ellipse">
            <a:avLst/>
          </a:prstGeom>
          <a:solidFill>
            <a:srgbClr val="3F1E0D"/>
          </a:solidFill>
          <a:ln w="12700">
            <a:solidFill>
              <a:srgbClr val="3F1E0D"/>
            </a:solidFill>
            <a:prstDash val="solid"/>
          </a:ln>
        </p:spPr>
      </p:sp>
      <p:pic>
        <p:nvPicPr>
          <p:cNvPr id="17" name="Image 3" descr="preencoded.png">    </p:cNvPr>
          <p:cNvPicPr>
            <a:picLocks noChangeAspect="1"/>
          </p:cNvPicPr>
          <p:nvPr/>
        </p:nvPicPr>
        <p:blipFill>
          <a:blip r:embed="rId4"/>
          <a:stretch>
            <a:fillRect/>
          </a:stretch>
        </p:blipFill>
        <p:spPr>
          <a:xfrm>
            <a:off x="4872106" y="3909700"/>
            <a:ext cx="277612" cy="277612"/>
          </a:xfrm>
          <a:prstGeom prst="rect">
            <a:avLst/>
          </a:prstGeom>
        </p:spPr>
      </p:pic>
      <p:sp>
        <p:nvSpPr>
          <p:cNvPr id="18" name="Text 11"/>
          <p:cNvSpPr txBox="1"/>
          <p:nvPr/>
        </p:nvSpPr>
        <p:spPr>
          <a:xfrm>
            <a:off x="5577840" y="3575304"/>
            <a:ext cx="5696712" cy="946404"/>
          </a:xfrm>
          <a:prstGeom prst="rect">
            <a:avLst/>
          </a:prstGeom>
          <a:noFill/>
          <a:ln/>
        </p:spPr>
        <p:txBody>
          <a:bodyPr wrap="square" lIns="0" tIns="0" rIns="0" bIns="0" rtlCol="0" anchor="ctr"/>
          <a:lstStyle/>
          <a:p>
            <a:pPr indent="0" marL="0">
              <a:buNone/>
            </a:pPr>
            <a:r>
              <a:rPr lang="en-US" sz="1650" b="1" dirty="0">
                <a:solidFill>
                  <a:srgbClr val="3F1E0D"/>
                </a:solidFill>
                <a:latin typeface="Open Sans" pitchFamily="34" charset="0"/>
                <a:ea typeface="Open Sans" pitchFamily="34" charset="-122"/>
                <a:cs typeface="Open Sans" pitchFamily="34" charset="-120"/>
              </a:rPr>
              <a:t>Trae tu trabajo real</a:t>
            </a:r>
            <a:pPr indent="0" marL="0">
              <a:buNone/>
            </a:pPr>
            <a:r>
              <a:rPr lang="en-US" sz="1650" dirty="0">
                <a:solidFill>
                  <a:srgbClr val="3F1E0D"/>
                </a:solidFill>
                <a:latin typeface="Open Sans" pitchFamily="34" charset="0"/>
                <a:ea typeface="Open Sans" pitchFamily="34" charset="-122"/>
                <a:cs typeface="Open Sans" pitchFamily="34" charset="-120"/>
              </a:rPr>
              <a:t> al proceso</a:t>
            </a:r>
            <a:endParaRPr lang="en-US" sz="1650" dirty="0"/>
          </a:p>
        </p:txBody>
      </p:sp>
      <p:sp>
        <p:nvSpPr>
          <p:cNvPr id="19" name="Shape 12"/>
          <p:cNvSpPr/>
          <p:nvPr/>
        </p:nvSpPr>
        <p:spPr>
          <a:xfrm>
            <a:off x="4389120" y="4722876"/>
            <a:ext cx="7159752" cy="946404"/>
          </a:xfrm>
          <a:prstGeom prst="roundRect">
            <a:avLst>
              <a:gd name="adj" fmla="val 15459"/>
            </a:avLst>
          </a:prstGeom>
          <a:solidFill>
            <a:srgbClr val="F8F5EE"/>
          </a:solidFill>
          <a:ln w="12700">
            <a:solidFill>
              <a:srgbClr val="F8F5EE"/>
            </a:solidFill>
            <a:prstDash val="solid"/>
          </a:ln>
          <a:effectLst>
            <a:outerShdw sx="100000" sy="100000" kx="0" ky="0" algn="bl" rotWithShape="0" blurRad="177800" dist="38100" dir="5400000">
              <a:srgbClr val="3F1E0D">
                <a:alpha val="10000"/>
              </a:srgbClr>
            </a:outerShdw>
          </a:effectLst>
        </p:spPr>
      </p:sp>
      <p:sp>
        <p:nvSpPr>
          <p:cNvPr id="20" name="Shape 13"/>
          <p:cNvSpPr/>
          <p:nvPr/>
        </p:nvSpPr>
        <p:spPr>
          <a:xfrm>
            <a:off x="4709160" y="4894326"/>
            <a:ext cx="603504" cy="603504"/>
          </a:xfrm>
          <a:prstGeom prst="ellipse">
            <a:avLst/>
          </a:prstGeom>
          <a:solidFill>
            <a:srgbClr val="3F1E0D"/>
          </a:solidFill>
          <a:ln w="12700">
            <a:solidFill>
              <a:srgbClr val="3F1E0D"/>
            </a:solidFill>
            <a:prstDash val="solid"/>
          </a:ln>
        </p:spPr>
      </p:sp>
      <p:pic>
        <p:nvPicPr>
          <p:cNvPr id="21" name="Image 4" descr="preencoded.png">    </p:cNvPr>
          <p:cNvPicPr>
            <a:picLocks noChangeAspect="1"/>
          </p:cNvPicPr>
          <p:nvPr/>
        </p:nvPicPr>
        <p:blipFill>
          <a:blip r:embed="rId5"/>
          <a:stretch>
            <a:fillRect/>
          </a:stretch>
        </p:blipFill>
        <p:spPr>
          <a:xfrm>
            <a:off x="4872106" y="5057272"/>
            <a:ext cx="277612" cy="277612"/>
          </a:xfrm>
          <a:prstGeom prst="rect">
            <a:avLst/>
          </a:prstGeom>
        </p:spPr>
      </p:pic>
      <p:sp>
        <p:nvSpPr>
          <p:cNvPr id="22" name="Text 14"/>
          <p:cNvSpPr txBox="1"/>
          <p:nvPr/>
        </p:nvSpPr>
        <p:spPr>
          <a:xfrm>
            <a:off x="5577840" y="4722876"/>
            <a:ext cx="5696712" cy="946404"/>
          </a:xfrm>
          <a:prstGeom prst="rect">
            <a:avLst/>
          </a:prstGeom>
          <a:noFill/>
          <a:ln/>
        </p:spPr>
        <p:txBody>
          <a:bodyPr wrap="square" lIns="0" tIns="0" rIns="0" bIns="0" rtlCol="0" anchor="ctr"/>
          <a:lstStyle/>
          <a:p>
            <a:pPr indent="0" marL="0">
              <a:buNone/>
            </a:pPr>
            <a:r>
              <a:rPr lang="en-US" sz="1650" b="1" dirty="0">
                <a:solidFill>
                  <a:srgbClr val="3F1E0D"/>
                </a:solidFill>
                <a:latin typeface="Open Sans" pitchFamily="34" charset="0"/>
                <a:ea typeface="Open Sans" pitchFamily="34" charset="-122"/>
                <a:cs typeface="Open Sans" pitchFamily="34" charset="-120"/>
              </a:rPr>
              <a:t>Pide ayuda</a:t>
            </a:r>
            <a:pPr indent="0" marL="0">
              <a:buNone/>
            </a:pPr>
            <a:r>
              <a:rPr lang="en-US" sz="1650" dirty="0">
                <a:solidFill>
                  <a:srgbClr val="3F1E0D"/>
                </a:solidFill>
                <a:latin typeface="Open Sans" pitchFamily="34" charset="0"/>
                <a:ea typeface="Open Sans" pitchFamily="34" charset="-122"/>
                <a:cs typeface="Open Sans" pitchFamily="34" charset="-120"/>
              </a:rPr>
              <a:t> cuando la necesites</a:t>
            </a:r>
            <a:endParaRPr lang="en-US" sz="1650" dirty="0"/>
          </a:p>
        </p:txBody>
      </p:sp>
      <p:sp>
        <p:nvSpPr>
          <p:cNvPr id="23" name="Text 15"/>
          <p:cNvSpPr txBox="1"/>
          <p:nvPr/>
        </p:nvSpPr>
        <p:spPr>
          <a:xfrm>
            <a:off x="4389120" y="5760720"/>
            <a:ext cx="7159752" cy="594360"/>
          </a:xfrm>
          <a:prstGeom prst="rect">
            <a:avLst/>
          </a:prstGeom>
          <a:noFill/>
          <a:ln/>
        </p:spPr>
        <p:txBody>
          <a:bodyPr wrap="square" lIns="0" tIns="0" rIns="0" bIns="0" rtlCol="0" anchor="ctr"/>
          <a:lstStyle/>
          <a:p>
            <a:pPr indent="0" marL="0">
              <a:buNone/>
            </a:pPr>
            <a:r>
              <a:rPr lang="en-US" sz="1500" i="1" dirty="0">
                <a:solidFill>
                  <a:srgbClr val="3F1E0D"/>
                </a:solidFill>
                <a:latin typeface="Source Serif Pro" pitchFamily="34" charset="0"/>
                <a:ea typeface="Source Serif Pro" pitchFamily="34" charset="-122"/>
                <a:cs typeface="Source Serif Pro" pitchFamily="34" charset="-120"/>
              </a:rPr>
              <a:t>No marques esta clase como completada hasta terminar todo el checklist. Cuando esté listo, tu onboarding está completo.</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ONB 13 · Antes de empezar el Módulo 1</dc:title>
  <dc:subject>PptxGenJS Presentation</dc:subject>
  <dc:creator>Flor Pérsico</dc:creator>
  <cp:lastModifiedBy>Flor Pérsico</cp:lastModifiedBy>
  <cp:revision>1</cp:revision>
  <dcterms:created xsi:type="dcterms:W3CDTF">2026-09-23T13:39:16Z</dcterms:created>
  <dcterms:modified xsi:type="dcterms:W3CDTF">2026-09-23T13:39:16Z</dcterms:modified>
</cp:coreProperties>
</file>