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algo muy simple que puede hacer una diferencia enorme en cómo vives AT WORK: darle un lugar real en tu semana.
No quiero que este programa se convierta en otra cosa que sabes que quieres hacer, pero que siempre queda para cuando tengas tiempo.
No necesitas estudiar todos los días ni hacer sesiones larguísimas. Necesitas constancia y claridad sobre qué vas a hacer y cuándo.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dejamos la práctica para “algún momento”, ese momento casi nunca llega.
Por eso quiero que reserves espacio antes de que empiece la semana.
No dependas de “cuando tenga tiempo”. Elige un día, una hora y una acción concreta.
La organización no tiene que ser perfecta. Tiene que ser realista y sostenible.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referencia, quiero que reserves dos o tres bloques de entre 20 y 30 minutos por semana.
No hace falta que sean todos iguales ni que duren exactamente lo mismo.
Lo importante es que tengan un lugar real en tu calendario y que los protejas como protegerías cualquier otra cita.
Si una semana va a estar más complicada, ajusta la cantidad o la duración. Pero no desaparezcas del proceso porque la semana no fue ideal.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manera simple de organizar esos bloques es ésta.
Un bloque para Learn: ver una clase o revisar una herramienta.
Un bloque para Apply: llevar esa herramienta a una situación real de tu trabajo.
Y un bloque para Practice o Retry: practicar, grabarte, volver a intentar o pedir feedback.
La clave es que no confundas mirar una clase con practicar. Mirar una clase te da una herramienta. El cambio aparece cuando la usas.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quiero que reserves un momento específico para completar tu Weekly Report.
No quiero que lo hagas apurada cinco minutos antes de una sesión.
El Weekly Report es el momento en el que miras tu semana, registras qué pasó, qué funcionó, qué te costó y qué necesitas trabajar después.
Una vez completo, súbelo a 05 · MI PROGRESO dentro de tu Drive.
Y si hay algo que quieres celebrar, preguntar o trabajar conmigo, también puedes compartirlo en la comunidad.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que entiendas esta diferencia porque te va a ayudar mucho a mantenerte organizada.
Tu Drive es la memoria del proceso. Ahí quedan tus Weekly Reports, tus prácticas, materiales y evidencia de progreso.
WhatsApp es el movimiento del proceso. Ahí compartes un win, haces una pregunta, pides feedback o cuentas algo que pasó durante la semana.
Aunque compartas algo por WhatsApp, el Weekly Report completo siempre queda guardado en tu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una semana no pudiste hacer lo que habías planeado, no intentes recuperar todo de golpe.
No hagas binge watching ni mires cinco clases juntas para sentir que te pusiste al día.
Vuelve al foco actual. Elige la herramienta más relevante para lo que estás viviendo en tu trabajo. Haz una práctica concreta y sigue desde ahí.
Consistencia no significa hacerlo perfecto todas las semanas. Significa volver al proceso cada vez que una semana se desordena.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acción ahora es muy concreta.
Abre tu calendario y reserva tus bloques de práctica para esta semana.
Elige dos o tres momentos realistas de entre 20 y 30 minutos.
Y reserva también un momento específico para completar tu Weekly Report y subirlo a tu Drive.
No busques la semana perfecta. Busca una estructura que puedas sostener.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10</a:t>
            </a:r>
            <a:endParaRPr lang="en-US" sz="1100" dirty="0"/>
          </a:p>
        </p:txBody>
      </p:sp>
      <p:sp>
        <p:nvSpPr>
          <p:cNvPr id="5" name="Text 2"/>
          <p:cNvSpPr txBox="1"/>
          <p:nvPr/>
        </p:nvSpPr>
        <p:spPr>
          <a:xfrm>
            <a:off x="640080" y="1325880"/>
            <a:ext cx="5760720" cy="1249680"/>
          </a:xfrm>
          <a:prstGeom prst="rect">
            <a:avLst/>
          </a:prstGeom>
          <a:noFill/>
          <a:ln/>
        </p:spPr>
        <p:txBody>
          <a:bodyPr wrap="square" lIns="0" tIns="0" rIns="0" bIns="0" rtlCol="0" anchor="t"/>
          <a:lstStyle/>
          <a:p>
            <a:pPr indent="0" marL="0">
              <a:lnSpc>
                <a:spcPct val="90000"/>
              </a:lnSpc>
              <a:buNone/>
            </a:pPr>
            <a:r>
              <a:rPr lang="en-US" sz="4000" b="1" dirty="0">
                <a:solidFill>
                  <a:srgbClr val="F8F5EE"/>
                </a:solidFill>
                <a:latin typeface="Source Serif Pro" pitchFamily="34" charset="0"/>
                <a:ea typeface="Source Serif Pro" pitchFamily="34" charset="-122"/>
                <a:cs typeface="Source Serif Pro" pitchFamily="34" charset="-120"/>
              </a:rPr>
              <a:t>Cómo organizar tu práctica semanal</a:t>
            </a:r>
            <a:endParaRPr lang="en-US" sz="4000" dirty="0"/>
          </a:p>
        </p:txBody>
      </p:sp>
      <p:sp>
        <p:nvSpPr>
          <p:cNvPr id="6" name="Text 3"/>
          <p:cNvSpPr txBox="1"/>
          <p:nvPr/>
        </p:nvSpPr>
        <p:spPr>
          <a:xfrm>
            <a:off x="640080" y="2667000"/>
            <a:ext cx="5486400" cy="384048"/>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Constancia y claridad sobre qué vas a hacer y cuándo</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EN ESTA CLASE</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Reservar espacio antes de la semana</a:t>
            </a:r>
            <a:endParaRPr lang="en-US" sz="150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Learn · Apply · Practice</a:t>
            </a:r>
            <a:endParaRPr lang="en-US" sz="150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Tu Weekly Report</a:t>
            </a:r>
            <a:endParaRPr lang="en-US" sz="150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Si la semana se desordena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08</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“Algún momento” casi nunca llega</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Reserva espacio antes de que empiece la semana</a:t>
            </a:r>
            <a:endParaRPr lang="en-US" sz="1600" dirty="0"/>
          </a:p>
        </p:txBody>
      </p:sp>
      <p:sp>
        <p:nvSpPr>
          <p:cNvPr id="7" name="Text 3"/>
          <p:cNvSpPr txBox="1"/>
          <p:nvPr/>
        </p:nvSpPr>
        <p:spPr>
          <a:xfrm>
            <a:off x="4389120" y="1280160"/>
            <a:ext cx="7159752" cy="320040"/>
          </a:xfrm>
          <a:prstGeom prst="rect">
            <a:avLst/>
          </a:prstGeom>
          <a:noFill/>
          <a:ln/>
        </p:spPr>
        <p:txBody>
          <a:bodyPr wrap="square" lIns="0" tIns="0" rIns="0" bIns="0" rtlCol="0" anchor="ctr"/>
          <a:lstStyle/>
          <a:p>
            <a:pPr indent="0" marL="0">
              <a:buNone/>
            </a:pPr>
            <a:r>
              <a:rPr lang="en-US" sz="1150" b="1" spc="200" kern="0" dirty="0">
                <a:solidFill>
                  <a:srgbClr val="C68C6C"/>
                </a:solidFill>
                <a:latin typeface="Open Sans" pitchFamily="34" charset="0"/>
                <a:ea typeface="Open Sans" pitchFamily="34" charset="-122"/>
                <a:cs typeface="Open Sans" pitchFamily="34" charset="-120"/>
              </a:rPr>
              <a:t>NO DEPENDAS DE “CUANDO TENGA TIEMPO”. ELIGE:</a:t>
            </a:r>
            <a:endParaRPr lang="en-US" sz="1150" dirty="0"/>
          </a:p>
        </p:txBody>
      </p:sp>
      <p:sp>
        <p:nvSpPr>
          <p:cNvPr id="8" name="Shape 4"/>
          <p:cNvSpPr/>
          <p:nvPr/>
        </p:nvSpPr>
        <p:spPr>
          <a:xfrm>
            <a:off x="4389120" y="1737360"/>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9" name="Shape 5"/>
          <p:cNvSpPr/>
          <p:nvPr/>
        </p:nvSpPr>
        <p:spPr>
          <a:xfrm>
            <a:off x="4617720" y="2011680"/>
            <a:ext cx="566928" cy="566928"/>
          </a:xfrm>
          <a:prstGeom prst="ellipse">
            <a:avLst/>
          </a:prstGeom>
          <a:solidFill>
            <a:srgbClr val="FBF2D0"/>
          </a:solidFill>
          <a:ln w="12700">
            <a:solidFill>
              <a:srgbClr val="FBF2D0"/>
            </a:solidFill>
            <a:prstDash val="solid"/>
          </a:ln>
        </p:spPr>
      </p:sp>
      <p:pic>
        <p:nvPicPr>
          <p:cNvPr id="10" name="Image 1" descr="preencoded.png">    </p:cNvPr>
          <p:cNvPicPr>
            <a:picLocks noChangeAspect="1"/>
          </p:cNvPicPr>
          <p:nvPr/>
        </p:nvPicPr>
        <p:blipFill>
          <a:blip r:embed="rId2"/>
          <a:stretch>
            <a:fillRect/>
          </a:stretch>
        </p:blipFill>
        <p:spPr>
          <a:xfrm>
            <a:off x="4770791" y="2164751"/>
            <a:ext cx="260787" cy="260787"/>
          </a:xfrm>
          <a:prstGeom prst="rect">
            <a:avLst/>
          </a:prstGeom>
        </p:spPr>
      </p:pic>
      <p:sp>
        <p:nvSpPr>
          <p:cNvPr id="11" name="Text 6"/>
          <p:cNvSpPr txBox="1"/>
          <p:nvPr/>
        </p:nvSpPr>
        <p:spPr>
          <a:xfrm>
            <a:off x="4617720" y="2715768"/>
            <a:ext cx="1758696" cy="941832"/>
          </a:xfrm>
          <a:prstGeom prst="rect">
            <a:avLst/>
          </a:prstGeom>
          <a:noFill/>
          <a:ln/>
        </p:spPr>
        <p:txBody>
          <a:bodyPr wrap="square" lIns="0" tIns="0" rIns="0" bIns="0" rtlCol="0" anchor="t"/>
          <a:lstStyle/>
          <a:p>
            <a:pPr indent="0" marL="0">
              <a:buNone/>
            </a:pPr>
            <a:r>
              <a:rPr lang="en-US" sz="1800" b="1" dirty="0">
                <a:solidFill>
                  <a:srgbClr val="81552E"/>
                </a:solidFill>
                <a:latin typeface="Open Sans" pitchFamily="34" charset="0"/>
                <a:ea typeface="Open Sans" pitchFamily="34" charset="-122"/>
                <a:cs typeface="Open Sans" pitchFamily="34" charset="-120"/>
              </a:rPr>
              <a:t>Un día</a:t>
            </a:r>
            <a:endParaRPr lang="en-US" sz="1800" dirty="0"/>
          </a:p>
        </p:txBody>
      </p:sp>
      <p:sp>
        <p:nvSpPr>
          <p:cNvPr id="12" name="Shape 7"/>
          <p:cNvSpPr/>
          <p:nvPr/>
        </p:nvSpPr>
        <p:spPr>
          <a:xfrm>
            <a:off x="6861048" y="1737360"/>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7089648" y="2011680"/>
            <a:ext cx="566928" cy="566928"/>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7242719" y="2164751"/>
            <a:ext cx="260787" cy="260787"/>
          </a:xfrm>
          <a:prstGeom prst="rect">
            <a:avLst/>
          </a:prstGeom>
        </p:spPr>
      </p:pic>
      <p:sp>
        <p:nvSpPr>
          <p:cNvPr id="15" name="Text 9"/>
          <p:cNvSpPr txBox="1"/>
          <p:nvPr/>
        </p:nvSpPr>
        <p:spPr>
          <a:xfrm>
            <a:off x="7089648" y="2715768"/>
            <a:ext cx="1758696" cy="941832"/>
          </a:xfrm>
          <a:prstGeom prst="rect">
            <a:avLst/>
          </a:prstGeom>
          <a:noFill/>
          <a:ln/>
        </p:spPr>
        <p:txBody>
          <a:bodyPr wrap="square" lIns="0" tIns="0" rIns="0" bIns="0" rtlCol="0" anchor="t"/>
          <a:lstStyle/>
          <a:p>
            <a:pPr indent="0" marL="0">
              <a:buNone/>
            </a:pPr>
            <a:r>
              <a:rPr lang="en-US" sz="1800" b="1" dirty="0">
                <a:solidFill>
                  <a:srgbClr val="81552E"/>
                </a:solidFill>
                <a:latin typeface="Open Sans" pitchFamily="34" charset="0"/>
                <a:ea typeface="Open Sans" pitchFamily="34" charset="-122"/>
                <a:cs typeface="Open Sans" pitchFamily="34" charset="-120"/>
              </a:rPr>
              <a:t>Una hora</a:t>
            </a:r>
            <a:endParaRPr lang="en-US" sz="1800" dirty="0"/>
          </a:p>
        </p:txBody>
      </p:sp>
      <p:sp>
        <p:nvSpPr>
          <p:cNvPr id="16" name="Shape 10"/>
          <p:cNvSpPr/>
          <p:nvPr/>
        </p:nvSpPr>
        <p:spPr>
          <a:xfrm>
            <a:off x="9332976" y="1737360"/>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7" name="Shape 11"/>
          <p:cNvSpPr/>
          <p:nvPr/>
        </p:nvSpPr>
        <p:spPr>
          <a:xfrm>
            <a:off x="9561576" y="2011680"/>
            <a:ext cx="566928" cy="566928"/>
          </a:xfrm>
          <a:prstGeom prst="ellipse">
            <a:avLst/>
          </a:prstGeom>
          <a:solidFill>
            <a:srgbClr val="FBF2D0"/>
          </a:solidFill>
          <a:ln w="12700">
            <a:solidFill>
              <a:srgbClr val="FBF2D0"/>
            </a:solidFill>
            <a:prstDash val="solid"/>
          </a:ln>
        </p:spPr>
      </p:sp>
      <p:pic>
        <p:nvPicPr>
          <p:cNvPr id="18" name="Image 3" descr="preencoded.png">    </p:cNvPr>
          <p:cNvPicPr>
            <a:picLocks noChangeAspect="1"/>
          </p:cNvPicPr>
          <p:nvPr/>
        </p:nvPicPr>
        <p:blipFill>
          <a:blip r:embed="rId4"/>
          <a:stretch>
            <a:fillRect/>
          </a:stretch>
        </p:blipFill>
        <p:spPr>
          <a:xfrm>
            <a:off x="9714647" y="2164751"/>
            <a:ext cx="260787" cy="260787"/>
          </a:xfrm>
          <a:prstGeom prst="rect">
            <a:avLst/>
          </a:prstGeom>
        </p:spPr>
      </p:pic>
      <p:sp>
        <p:nvSpPr>
          <p:cNvPr id="19" name="Text 12"/>
          <p:cNvSpPr txBox="1"/>
          <p:nvPr/>
        </p:nvSpPr>
        <p:spPr>
          <a:xfrm>
            <a:off x="9561576" y="2715768"/>
            <a:ext cx="1758696" cy="941832"/>
          </a:xfrm>
          <a:prstGeom prst="rect">
            <a:avLst/>
          </a:prstGeom>
          <a:noFill/>
          <a:ln/>
        </p:spPr>
        <p:txBody>
          <a:bodyPr wrap="square" lIns="0" tIns="0" rIns="0" bIns="0" rtlCol="0" anchor="t"/>
          <a:lstStyle/>
          <a:p>
            <a:pPr indent="0" marL="0">
              <a:buNone/>
            </a:pPr>
            <a:r>
              <a:rPr lang="en-US" sz="1800" b="1" dirty="0">
                <a:solidFill>
                  <a:srgbClr val="81552E"/>
                </a:solidFill>
                <a:latin typeface="Open Sans" pitchFamily="34" charset="0"/>
                <a:ea typeface="Open Sans" pitchFamily="34" charset="-122"/>
                <a:cs typeface="Open Sans" pitchFamily="34" charset="-120"/>
              </a:rPr>
              <a:t>Una acción concreta</a:t>
            </a:r>
            <a:endParaRPr lang="en-US" sz="1800" dirty="0"/>
          </a:p>
        </p:txBody>
      </p:sp>
      <p:sp>
        <p:nvSpPr>
          <p:cNvPr id="20" name="Shape 13"/>
          <p:cNvSpPr/>
          <p:nvPr/>
        </p:nvSpPr>
        <p:spPr>
          <a:xfrm>
            <a:off x="4389120" y="5303520"/>
            <a:ext cx="7159752" cy="1051560"/>
          </a:xfrm>
          <a:prstGeom prst="roundRect">
            <a:avLst>
              <a:gd name="adj" fmla="val 1391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1" name="Shape 14"/>
          <p:cNvSpPr/>
          <p:nvPr/>
        </p:nvSpPr>
        <p:spPr>
          <a:xfrm>
            <a:off x="4754880" y="5440680"/>
            <a:ext cx="777240" cy="777240"/>
          </a:xfrm>
          <a:prstGeom prst="ellipse">
            <a:avLst/>
          </a:prstGeom>
          <a:solidFill>
            <a:srgbClr val="C68C6C"/>
          </a:solidFill>
          <a:ln w="12700">
            <a:solidFill>
              <a:srgbClr val="C68C6C"/>
            </a:solidFill>
            <a:prstDash val="solid"/>
          </a:ln>
        </p:spPr>
      </p:sp>
      <p:pic>
        <p:nvPicPr>
          <p:cNvPr id="22" name="Image 4" descr="preencoded.png">    </p:cNvPr>
          <p:cNvPicPr>
            <a:picLocks noChangeAspect="1"/>
          </p:cNvPicPr>
          <p:nvPr/>
        </p:nvPicPr>
        <p:blipFill>
          <a:blip r:embed="rId5"/>
          <a:stretch>
            <a:fillRect/>
          </a:stretch>
        </p:blipFill>
        <p:spPr>
          <a:xfrm>
            <a:off x="4964735" y="5650535"/>
            <a:ext cx="357530" cy="357530"/>
          </a:xfrm>
          <a:prstGeom prst="rect">
            <a:avLst/>
          </a:prstGeom>
        </p:spPr>
      </p:pic>
      <p:sp>
        <p:nvSpPr>
          <p:cNvPr id="23" name="Text 15"/>
          <p:cNvSpPr txBox="1"/>
          <p:nvPr/>
        </p:nvSpPr>
        <p:spPr>
          <a:xfrm>
            <a:off x="5852160" y="5303520"/>
            <a:ext cx="5376672" cy="1051560"/>
          </a:xfrm>
          <a:prstGeom prst="rect">
            <a:avLst/>
          </a:prstGeom>
          <a:noFill/>
          <a:ln/>
        </p:spPr>
        <p:txBody>
          <a:bodyPr wrap="square" lIns="0" tIns="0" rIns="0" bIns="0" rtlCol="0" anchor="ctr"/>
          <a:lstStyle/>
          <a:p>
            <a:pPr indent="0" marL="0">
              <a:spcAft>
                <a:spcPts val="500"/>
              </a:spcAft>
              <a:buNone/>
            </a:pPr>
            <a:r>
              <a:rPr lang="en-US" sz="1600" b="1" dirty="0">
                <a:solidFill>
                  <a:srgbClr val="3F1E0D"/>
                </a:solidFill>
                <a:latin typeface="Open Sans" pitchFamily="34" charset="0"/>
                <a:ea typeface="Open Sans" pitchFamily="34" charset="-122"/>
                <a:cs typeface="Open Sans" pitchFamily="34" charset="-120"/>
              </a:rPr>
              <a:t>La organización no tiene que ser perfecta. </a:t>
            </a:r>
            <a:pPr indent="0" marL="0">
              <a:spcAft>
                <a:spcPts val="500"/>
              </a:spcAft>
              <a:buNone/>
            </a:pPr>
            <a:r>
              <a:rPr lang="en-US" sz="1600" dirty="0">
                <a:solidFill>
                  <a:srgbClr val="3F1E0D"/>
                </a:solidFill>
                <a:latin typeface="Open Sans" pitchFamily="34" charset="0"/>
                <a:ea typeface="Open Sans" pitchFamily="34" charset="-122"/>
                <a:cs typeface="Open Sans" pitchFamily="34" charset="-120"/>
              </a:rPr>
              <a:t>Tiene que ser realista y sostenible.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08</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Tus bloques de práctica</a:t>
            </a:r>
            <a:endParaRPr lang="en-US" sz="3400" dirty="0"/>
          </a:p>
        </p:txBody>
      </p:sp>
      <p:sp>
        <p:nvSpPr>
          <p:cNvPr id="6" name="Text 2"/>
          <p:cNvSpPr txBox="1"/>
          <p:nvPr/>
        </p:nvSpPr>
        <p:spPr>
          <a:xfrm>
            <a:off x="640080" y="2521712"/>
            <a:ext cx="3291840" cy="36576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de entre 20 y 30 minutos</a:t>
            </a:r>
            <a:endParaRPr lang="en-US" sz="1600" dirty="0"/>
          </a:p>
        </p:txBody>
      </p:sp>
      <p:sp>
        <p:nvSpPr>
          <p:cNvPr id="7" name="Shape 3"/>
          <p:cNvSpPr/>
          <p:nvPr/>
        </p:nvSpPr>
        <p:spPr>
          <a:xfrm>
            <a:off x="4389120" y="1280160"/>
            <a:ext cx="7159752" cy="2651760"/>
          </a:xfrm>
          <a:prstGeom prst="roundRect">
            <a:avLst>
              <a:gd name="adj" fmla="val 5517"/>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846320" y="1645920"/>
            <a:ext cx="6245352" cy="320040"/>
          </a:xfrm>
          <a:prstGeom prst="rect">
            <a:avLst/>
          </a:prstGeom>
          <a:noFill/>
          <a:ln/>
        </p:spPr>
        <p:txBody>
          <a:bodyPr wrap="square" lIns="0" tIns="0" rIns="0" bIns="0" rtlCol="0" anchor="ctr"/>
          <a:lstStyle/>
          <a:p>
            <a:pPr indent="0" marL="0">
              <a:buNone/>
            </a:pPr>
            <a:r>
              <a:rPr lang="en-US" sz="1250" b="1" spc="300" kern="0" dirty="0">
                <a:solidFill>
                  <a:srgbClr val="C68C6C"/>
                </a:solidFill>
                <a:latin typeface="Open Sans" pitchFamily="34" charset="0"/>
                <a:ea typeface="Open Sans" pitchFamily="34" charset="-122"/>
                <a:cs typeface="Open Sans" pitchFamily="34" charset="-120"/>
              </a:rPr>
              <a:t>COMO REFERENCIA, CADA SEMANA</a:t>
            </a:r>
            <a:endParaRPr lang="en-US" sz="1250" dirty="0"/>
          </a:p>
        </p:txBody>
      </p:sp>
      <p:sp>
        <p:nvSpPr>
          <p:cNvPr id="9" name="Text 5"/>
          <p:cNvSpPr txBox="1"/>
          <p:nvPr/>
        </p:nvSpPr>
        <p:spPr>
          <a:xfrm>
            <a:off x="4846320" y="2057400"/>
            <a:ext cx="6245352" cy="1097280"/>
          </a:xfrm>
          <a:prstGeom prst="rect">
            <a:avLst/>
          </a:prstGeom>
          <a:noFill/>
          <a:ln/>
        </p:spPr>
        <p:txBody>
          <a:bodyPr wrap="square" lIns="0" tIns="0" rIns="0" bIns="0" rtlCol="0" anchor="ctr"/>
          <a:lstStyle/>
          <a:p>
            <a:pPr indent="0" marL="0">
              <a:buNone/>
            </a:pPr>
            <a:r>
              <a:rPr lang="en-US" sz="5800" b="1" dirty="0">
                <a:solidFill>
                  <a:srgbClr val="F8F5EE"/>
                </a:solidFill>
                <a:latin typeface="Source Serif Pro" pitchFamily="34" charset="0"/>
                <a:ea typeface="Source Serif Pro" pitchFamily="34" charset="-122"/>
                <a:cs typeface="Source Serif Pro" pitchFamily="34" charset="-120"/>
              </a:rPr>
              <a:t>2 o 3 bloques</a:t>
            </a:r>
            <a:endParaRPr lang="en-US" sz="5800" dirty="0"/>
          </a:p>
        </p:txBody>
      </p:sp>
      <p:sp>
        <p:nvSpPr>
          <p:cNvPr id="10" name="Text 6"/>
          <p:cNvSpPr txBox="1"/>
          <p:nvPr/>
        </p:nvSpPr>
        <p:spPr>
          <a:xfrm>
            <a:off x="4846320" y="3200400"/>
            <a:ext cx="6245352" cy="365760"/>
          </a:xfrm>
          <a:prstGeom prst="rect">
            <a:avLst/>
          </a:prstGeom>
          <a:noFill/>
          <a:ln/>
        </p:spPr>
        <p:txBody>
          <a:bodyPr wrap="square" lIns="0" tIns="0" rIns="0" bIns="0" rtlCol="0" anchor="ctr"/>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de entre 20 y 30 minutos</a:t>
            </a:r>
            <a:endParaRPr lang="en-US" sz="1700" dirty="0"/>
          </a:p>
        </p:txBody>
      </p:sp>
      <p:sp>
        <p:nvSpPr>
          <p:cNvPr id="11" name="Shape 7"/>
          <p:cNvSpPr/>
          <p:nvPr/>
        </p:nvSpPr>
        <p:spPr>
          <a:xfrm>
            <a:off x="4389120" y="4206240"/>
            <a:ext cx="7159752" cy="1600200"/>
          </a:xfrm>
          <a:prstGeom prst="roundRect">
            <a:avLst>
              <a:gd name="adj" fmla="val 914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4754880" y="4617720"/>
            <a:ext cx="777240" cy="777240"/>
          </a:xfrm>
          <a:prstGeom prst="ellipse">
            <a:avLst/>
          </a:prstGeom>
          <a:solidFill>
            <a:srgbClr val="C68C6C"/>
          </a:solidFill>
          <a:ln w="12700">
            <a:solidFill>
              <a:srgbClr val="C68C6C"/>
            </a:solidFill>
            <a:prstDash val="solid"/>
          </a:ln>
        </p:spPr>
      </p:sp>
      <p:pic>
        <p:nvPicPr>
          <p:cNvPr id="13" name="Image 1" descr="preencoded.png">    </p:cNvPr>
          <p:cNvPicPr>
            <a:picLocks noChangeAspect="1"/>
          </p:cNvPicPr>
          <p:nvPr/>
        </p:nvPicPr>
        <p:blipFill>
          <a:blip r:embed="rId2"/>
          <a:stretch>
            <a:fillRect/>
          </a:stretch>
        </p:blipFill>
        <p:spPr>
          <a:xfrm>
            <a:off x="4964735" y="4827575"/>
            <a:ext cx="357530" cy="357530"/>
          </a:xfrm>
          <a:prstGeom prst="rect">
            <a:avLst/>
          </a:prstGeom>
        </p:spPr>
      </p:pic>
      <p:sp>
        <p:nvSpPr>
          <p:cNvPr id="14" name="Text 9"/>
          <p:cNvSpPr txBox="1"/>
          <p:nvPr/>
        </p:nvSpPr>
        <p:spPr>
          <a:xfrm>
            <a:off x="5852160" y="4206240"/>
            <a:ext cx="5376672" cy="160020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Protégelos como protegerías cualquier otra cita</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Si una semana va a estar más complicada, ajusta la cantidad o la duración. Pero no desaparezcas del proceso porque la semana no fue ideal.</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08</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Learn · Apply · Practice</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Una manera simple de organizar esos bloques</a:t>
            </a:r>
            <a:endParaRPr lang="en-US" sz="1600" dirty="0"/>
          </a:p>
        </p:txBody>
      </p:sp>
      <p:sp>
        <p:nvSpPr>
          <p:cNvPr id="7" name="Shape 3"/>
          <p:cNvSpPr/>
          <p:nvPr/>
        </p:nvSpPr>
        <p:spPr>
          <a:xfrm>
            <a:off x="4389120"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17720" y="1554480"/>
            <a:ext cx="566928" cy="566928"/>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770791" y="1707551"/>
            <a:ext cx="260787" cy="260787"/>
          </a:xfrm>
          <a:prstGeom prst="rect">
            <a:avLst/>
          </a:prstGeom>
        </p:spPr>
      </p:pic>
      <p:sp>
        <p:nvSpPr>
          <p:cNvPr id="10" name="Text 5"/>
          <p:cNvSpPr txBox="1"/>
          <p:nvPr/>
        </p:nvSpPr>
        <p:spPr>
          <a:xfrm>
            <a:off x="4617720" y="2258568"/>
            <a:ext cx="1758696" cy="321056"/>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Learn</a:t>
            </a:r>
            <a:endParaRPr lang="en-US" sz="1600" dirty="0"/>
          </a:p>
        </p:txBody>
      </p:sp>
      <p:sp>
        <p:nvSpPr>
          <p:cNvPr id="11" name="Text 6"/>
          <p:cNvSpPr txBox="1"/>
          <p:nvPr/>
        </p:nvSpPr>
        <p:spPr>
          <a:xfrm>
            <a:off x="4617720" y="2625344"/>
            <a:ext cx="1758696" cy="1443736"/>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Ver una clase o revisar una herramienta</a:t>
            </a:r>
            <a:endParaRPr lang="en-US" sz="1300" dirty="0"/>
          </a:p>
        </p:txBody>
      </p:sp>
      <p:sp>
        <p:nvSpPr>
          <p:cNvPr id="12" name="Shape 7"/>
          <p:cNvSpPr/>
          <p:nvPr/>
        </p:nvSpPr>
        <p:spPr>
          <a:xfrm>
            <a:off x="6861048"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7089648" y="1554480"/>
            <a:ext cx="566928" cy="566928"/>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7242719" y="1707551"/>
            <a:ext cx="260787" cy="260787"/>
          </a:xfrm>
          <a:prstGeom prst="rect">
            <a:avLst/>
          </a:prstGeom>
        </p:spPr>
      </p:pic>
      <p:sp>
        <p:nvSpPr>
          <p:cNvPr id="15" name="Text 9"/>
          <p:cNvSpPr txBox="1"/>
          <p:nvPr/>
        </p:nvSpPr>
        <p:spPr>
          <a:xfrm>
            <a:off x="7089648" y="2258568"/>
            <a:ext cx="1758696" cy="321056"/>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Apply</a:t>
            </a:r>
            <a:endParaRPr lang="en-US" sz="1600" dirty="0"/>
          </a:p>
        </p:txBody>
      </p:sp>
      <p:sp>
        <p:nvSpPr>
          <p:cNvPr id="16" name="Text 10"/>
          <p:cNvSpPr txBox="1"/>
          <p:nvPr/>
        </p:nvSpPr>
        <p:spPr>
          <a:xfrm>
            <a:off x="7089648" y="2625344"/>
            <a:ext cx="1758696" cy="1443736"/>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Llevar esa herramienta a una situación real de tu trabajo</a:t>
            </a:r>
            <a:endParaRPr lang="en-US" sz="1300" dirty="0"/>
          </a:p>
        </p:txBody>
      </p:sp>
      <p:sp>
        <p:nvSpPr>
          <p:cNvPr id="17" name="Shape 11"/>
          <p:cNvSpPr/>
          <p:nvPr/>
        </p:nvSpPr>
        <p:spPr>
          <a:xfrm>
            <a:off x="9332976" y="1280160"/>
            <a:ext cx="2215896" cy="2926080"/>
          </a:xfrm>
          <a:prstGeom prst="roundRect">
            <a:avLst>
              <a:gd name="adj" fmla="val 6602"/>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9561576" y="1554480"/>
            <a:ext cx="566928" cy="566928"/>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9714647" y="1707551"/>
            <a:ext cx="260787" cy="260787"/>
          </a:xfrm>
          <a:prstGeom prst="rect">
            <a:avLst/>
          </a:prstGeom>
        </p:spPr>
      </p:pic>
      <p:sp>
        <p:nvSpPr>
          <p:cNvPr id="20" name="Text 13"/>
          <p:cNvSpPr txBox="1"/>
          <p:nvPr/>
        </p:nvSpPr>
        <p:spPr>
          <a:xfrm>
            <a:off x="9561576" y="2258568"/>
            <a:ext cx="1758696" cy="568960"/>
          </a:xfrm>
          <a:prstGeom prst="rect">
            <a:avLst/>
          </a:prstGeom>
          <a:noFill/>
          <a:ln/>
        </p:spPr>
        <p:txBody>
          <a:bodyPr wrap="square" lIns="0" tIns="0" rIns="0" bIns="0" rtlCol="0" anchor="t"/>
          <a:lstStyle/>
          <a:p>
            <a:pPr indent="0" marL="0">
              <a:buNone/>
            </a:pPr>
            <a:r>
              <a:rPr lang="en-US" sz="1600" b="1" dirty="0">
                <a:solidFill>
                  <a:srgbClr val="F8F5EE"/>
                </a:solidFill>
                <a:latin typeface="Source Serif Pro" pitchFamily="34" charset="0"/>
                <a:ea typeface="Source Serif Pro" pitchFamily="34" charset="-122"/>
                <a:cs typeface="Source Serif Pro" pitchFamily="34" charset="-120"/>
              </a:rPr>
              <a:t>Practice / Retry</a:t>
            </a:r>
            <a:endParaRPr lang="en-US" sz="1600" dirty="0"/>
          </a:p>
        </p:txBody>
      </p:sp>
      <p:sp>
        <p:nvSpPr>
          <p:cNvPr id="21" name="Text 14"/>
          <p:cNvSpPr txBox="1"/>
          <p:nvPr/>
        </p:nvSpPr>
        <p:spPr>
          <a:xfrm>
            <a:off x="9561576" y="2873248"/>
            <a:ext cx="1758696" cy="1195832"/>
          </a:xfrm>
          <a:prstGeom prst="rect">
            <a:avLst/>
          </a:prstGeom>
          <a:noFill/>
          <a:ln/>
        </p:spPr>
        <p:txBody>
          <a:bodyPr wrap="square" lIns="0" tIns="0" rIns="0" bIns="0" rtlCol="0" anchor="t"/>
          <a:lstStyle/>
          <a:p>
            <a:pPr indent="0" marL="0">
              <a:buNone/>
            </a:pPr>
            <a:r>
              <a:rPr lang="en-US" sz="1300" dirty="0">
                <a:solidFill>
                  <a:srgbClr val="EDE5CC"/>
                </a:solidFill>
                <a:latin typeface="Open Sans" pitchFamily="34" charset="0"/>
                <a:ea typeface="Open Sans" pitchFamily="34" charset="-122"/>
                <a:cs typeface="Open Sans" pitchFamily="34" charset="-120"/>
              </a:rPr>
              <a:t>Practicar, grabarte, volver a intentar o pedir feedback</a:t>
            </a:r>
            <a:endParaRPr lang="en-US" sz="1300" dirty="0"/>
          </a:p>
        </p:txBody>
      </p:sp>
      <p:sp>
        <p:nvSpPr>
          <p:cNvPr id="22" name="Shape 15"/>
          <p:cNvSpPr/>
          <p:nvPr/>
        </p:nvSpPr>
        <p:spPr>
          <a:xfrm>
            <a:off x="4389120" y="5303520"/>
            <a:ext cx="7159752" cy="1051560"/>
          </a:xfrm>
          <a:prstGeom prst="roundRect">
            <a:avLst>
              <a:gd name="adj" fmla="val 1391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754880" y="5440680"/>
            <a:ext cx="777240" cy="777240"/>
          </a:xfrm>
          <a:prstGeom prst="ellipse">
            <a:avLst/>
          </a:prstGeom>
          <a:solidFill>
            <a:srgbClr val="C68C6C"/>
          </a:solidFill>
          <a:ln w="12700">
            <a:solidFill>
              <a:srgbClr val="C68C6C"/>
            </a:solidFill>
            <a:prstDash val="solid"/>
          </a:ln>
        </p:spPr>
      </p:sp>
      <p:pic>
        <p:nvPicPr>
          <p:cNvPr id="24" name="Image 4" descr="preencoded.png">    </p:cNvPr>
          <p:cNvPicPr>
            <a:picLocks noChangeAspect="1"/>
          </p:cNvPicPr>
          <p:nvPr/>
        </p:nvPicPr>
        <p:blipFill>
          <a:blip r:embed="rId5"/>
          <a:stretch>
            <a:fillRect/>
          </a:stretch>
        </p:blipFill>
        <p:spPr>
          <a:xfrm>
            <a:off x="4964735" y="5650535"/>
            <a:ext cx="357530" cy="357530"/>
          </a:xfrm>
          <a:prstGeom prst="rect">
            <a:avLst/>
          </a:prstGeom>
        </p:spPr>
      </p:pic>
      <p:sp>
        <p:nvSpPr>
          <p:cNvPr id="25" name="Text 17"/>
          <p:cNvSpPr txBox="1"/>
          <p:nvPr/>
        </p:nvSpPr>
        <p:spPr>
          <a:xfrm>
            <a:off x="5852160" y="5303520"/>
            <a:ext cx="5376672" cy="1051560"/>
          </a:xfrm>
          <a:prstGeom prst="rect">
            <a:avLst/>
          </a:prstGeom>
          <a:noFill/>
          <a:ln/>
        </p:spPr>
        <p:txBody>
          <a:bodyPr wrap="square" lIns="0" tIns="0" rIns="0" bIns="0" rtlCol="0" anchor="ctr"/>
          <a:lstStyle/>
          <a:p>
            <a:pPr indent="0" marL="0">
              <a:spcAft>
                <a:spcPts val="500"/>
              </a:spcAft>
              <a:buNone/>
            </a:pPr>
            <a:r>
              <a:rPr lang="en-US" sz="1600" b="1" dirty="0">
                <a:solidFill>
                  <a:srgbClr val="3F1E0D"/>
                </a:solidFill>
                <a:latin typeface="Open Sans" pitchFamily="34" charset="0"/>
                <a:ea typeface="Open Sans" pitchFamily="34" charset="-122"/>
                <a:cs typeface="Open Sans" pitchFamily="34" charset="-120"/>
              </a:rPr>
              <a:t>Mirar una clase te da una herramienta. </a:t>
            </a:r>
            <a:pPr indent="0" marL="0">
              <a:spcAft>
                <a:spcPts val="500"/>
              </a:spcAft>
              <a:buNone/>
            </a:pPr>
            <a:r>
              <a:rPr lang="en-US" sz="1600" dirty="0">
                <a:solidFill>
                  <a:srgbClr val="3F1E0D"/>
                </a:solidFill>
                <a:latin typeface="Open Sans" pitchFamily="34" charset="0"/>
                <a:ea typeface="Open Sans" pitchFamily="34" charset="-122"/>
                <a:cs typeface="Open Sans" pitchFamily="34" charset="-120"/>
              </a:rPr>
              <a:t>El cambio aparece cuando la usas.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05 / 08</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Weekly Report</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Reserva un momento específico: no lo hagas apurada antes de una sesión</a:t>
            </a:r>
            <a:endParaRPr lang="en-US" sz="1600" dirty="0"/>
          </a:p>
        </p:txBody>
      </p:sp>
      <p:sp>
        <p:nvSpPr>
          <p:cNvPr id="7" name="Shape 3"/>
          <p:cNvSpPr/>
          <p:nvPr/>
        </p:nvSpPr>
        <p:spPr>
          <a:xfrm>
            <a:off x="4389120" y="128016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411605"/>
            <a:ext cx="548640" cy="548640"/>
          </a:xfrm>
          <a:prstGeom prst="ellipse">
            <a:avLst/>
          </a:prstGeom>
          <a:solidFill>
            <a:srgbClr val="C68C6C"/>
          </a:solidFill>
          <a:ln w="12700">
            <a:solidFill>
              <a:srgbClr val="C68C6C"/>
            </a:solidFill>
            <a:prstDash val="solid"/>
          </a:ln>
        </p:spPr>
      </p:sp>
      <p:sp>
        <p:nvSpPr>
          <p:cNvPr id="9" name="Text 5"/>
          <p:cNvSpPr txBox="1"/>
          <p:nvPr/>
        </p:nvSpPr>
        <p:spPr>
          <a:xfrm>
            <a:off x="4663440" y="141160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1</a:t>
            </a:r>
            <a:endParaRPr lang="en-US" sz="1680" dirty="0"/>
          </a:p>
        </p:txBody>
      </p:sp>
      <p:sp>
        <p:nvSpPr>
          <p:cNvPr id="10" name="Text 6"/>
          <p:cNvSpPr txBox="1"/>
          <p:nvPr/>
        </p:nvSpPr>
        <p:spPr>
          <a:xfrm>
            <a:off x="5486400" y="128016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Mira tu semana</a:t>
            </a:r>
            <a:endParaRPr lang="en-US" sz="1750" dirty="0"/>
          </a:p>
        </p:txBody>
      </p:sp>
      <p:pic>
        <p:nvPicPr>
          <p:cNvPr id="11" name="Image 1" descr="preencoded.png">    </p:cNvPr>
          <p:cNvPicPr>
            <a:picLocks noChangeAspect="1"/>
          </p:cNvPicPr>
          <p:nvPr/>
        </p:nvPicPr>
        <p:blipFill>
          <a:blip r:embed="rId2"/>
          <a:stretch>
            <a:fillRect/>
          </a:stretch>
        </p:blipFill>
        <p:spPr>
          <a:xfrm>
            <a:off x="10817352" y="1493901"/>
            <a:ext cx="384048" cy="384048"/>
          </a:xfrm>
          <a:prstGeom prst="rect">
            <a:avLst/>
          </a:prstGeom>
        </p:spPr>
      </p:pic>
      <p:sp>
        <p:nvSpPr>
          <p:cNvPr id="12" name="Shape 7"/>
          <p:cNvSpPr/>
          <p:nvPr/>
        </p:nvSpPr>
        <p:spPr>
          <a:xfrm>
            <a:off x="4389120" y="227457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4663440" y="2406015"/>
            <a:ext cx="548640" cy="548640"/>
          </a:xfrm>
          <a:prstGeom prst="ellipse">
            <a:avLst/>
          </a:prstGeom>
          <a:solidFill>
            <a:srgbClr val="C68C6C"/>
          </a:solidFill>
          <a:ln w="12700">
            <a:solidFill>
              <a:srgbClr val="C68C6C"/>
            </a:solidFill>
            <a:prstDash val="solid"/>
          </a:ln>
        </p:spPr>
      </p:sp>
      <p:sp>
        <p:nvSpPr>
          <p:cNvPr id="14" name="Text 9"/>
          <p:cNvSpPr txBox="1"/>
          <p:nvPr/>
        </p:nvSpPr>
        <p:spPr>
          <a:xfrm>
            <a:off x="4663440" y="240601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2</a:t>
            </a:r>
            <a:endParaRPr lang="en-US" sz="1680" dirty="0"/>
          </a:p>
        </p:txBody>
      </p:sp>
      <p:sp>
        <p:nvSpPr>
          <p:cNvPr id="15" name="Text 10"/>
          <p:cNvSpPr txBox="1"/>
          <p:nvPr/>
        </p:nvSpPr>
        <p:spPr>
          <a:xfrm>
            <a:off x="5486400" y="227457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Registra qué pasó, qué funcionó y qué te costó</a:t>
            </a:r>
            <a:endParaRPr lang="en-US" sz="1750" dirty="0"/>
          </a:p>
        </p:txBody>
      </p:sp>
      <p:pic>
        <p:nvPicPr>
          <p:cNvPr id="16" name="Image 2" descr="preencoded.png">    </p:cNvPr>
          <p:cNvPicPr>
            <a:picLocks noChangeAspect="1"/>
          </p:cNvPicPr>
          <p:nvPr/>
        </p:nvPicPr>
        <p:blipFill>
          <a:blip r:embed="rId3"/>
          <a:stretch>
            <a:fillRect/>
          </a:stretch>
        </p:blipFill>
        <p:spPr>
          <a:xfrm>
            <a:off x="10817352" y="2488311"/>
            <a:ext cx="384048" cy="384048"/>
          </a:xfrm>
          <a:prstGeom prst="rect">
            <a:avLst/>
          </a:prstGeom>
        </p:spPr>
      </p:pic>
      <p:sp>
        <p:nvSpPr>
          <p:cNvPr id="17" name="Shape 11"/>
          <p:cNvSpPr/>
          <p:nvPr/>
        </p:nvSpPr>
        <p:spPr>
          <a:xfrm>
            <a:off x="4389120" y="326898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663440" y="3400425"/>
            <a:ext cx="548640" cy="548640"/>
          </a:xfrm>
          <a:prstGeom prst="ellipse">
            <a:avLst/>
          </a:prstGeom>
          <a:solidFill>
            <a:srgbClr val="C68C6C"/>
          </a:solidFill>
          <a:ln w="12700">
            <a:solidFill>
              <a:srgbClr val="C68C6C"/>
            </a:solidFill>
            <a:prstDash val="solid"/>
          </a:ln>
        </p:spPr>
      </p:sp>
      <p:sp>
        <p:nvSpPr>
          <p:cNvPr id="19" name="Text 13"/>
          <p:cNvSpPr txBox="1"/>
          <p:nvPr/>
        </p:nvSpPr>
        <p:spPr>
          <a:xfrm>
            <a:off x="4663440" y="340042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3</a:t>
            </a:r>
            <a:endParaRPr lang="en-US" sz="1680" dirty="0"/>
          </a:p>
        </p:txBody>
      </p:sp>
      <p:sp>
        <p:nvSpPr>
          <p:cNvPr id="20" name="Text 14"/>
          <p:cNvSpPr txBox="1"/>
          <p:nvPr/>
        </p:nvSpPr>
        <p:spPr>
          <a:xfrm>
            <a:off x="5486400" y="326898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Define qué necesitas trabajar después</a:t>
            </a:r>
            <a:endParaRPr lang="en-US" sz="1750" dirty="0"/>
          </a:p>
        </p:txBody>
      </p:sp>
      <p:pic>
        <p:nvPicPr>
          <p:cNvPr id="21" name="Image 3" descr="preencoded.png">    </p:cNvPr>
          <p:cNvPicPr>
            <a:picLocks noChangeAspect="1"/>
          </p:cNvPicPr>
          <p:nvPr/>
        </p:nvPicPr>
        <p:blipFill>
          <a:blip r:embed="rId4"/>
          <a:stretch>
            <a:fillRect/>
          </a:stretch>
        </p:blipFill>
        <p:spPr>
          <a:xfrm>
            <a:off x="10817352" y="3482721"/>
            <a:ext cx="384048" cy="384048"/>
          </a:xfrm>
          <a:prstGeom prst="rect">
            <a:avLst/>
          </a:prstGeom>
        </p:spPr>
      </p:pic>
      <p:sp>
        <p:nvSpPr>
          <p:cNvPr id="22" name="Shape 15"/>
          <p:cNvSpPr/>
          <p:nvPr/>
        </p:nvSpPr>
        <p:spPr>
          <a:xfrm>
            <a:off x="4389120" y="426339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663440" y="4394835"/>
            <a:ext cx="548640" cy="548640"/>
          </a:xfrm>
          <a:prstGeom prst="ellipse">
            <a:avLst/>
          </a:prstGeom>
          <a:solidFill>
            <a:srgbClr val="C68C6C"/>
          </a:solidFill>
          <a:ln w="12700">
            <a:solidFill>
              <a:srgbClr val="C68C6C"/>
            </a:solidFill>
            <a:prstDash val="solid"/>
          </a:ln>
        </p:spPr>
      </p:sp>
      <p:sp>
        <p:nvSpPr>
          <p:cNvPr id="24" name="Text 17"/>
          <p:cNvSpPr txBox="1"/>
          <p:nvPr/>
        </p:nvSpPr>
        <p:spPr>
          <a:xfrm>
            <a:off x="4663440" y="439483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4</a:t>
            </a:r>
            <a:endParaRPr lang="en-US" sz="1680" dirty="0"/>
          </a:p>
        </p:txBody>
      </p:sp>
      <p:sp>
        <p:nvSpPr>
          <p:cNvPr id="25" name="Text 18"/>
          <p:cNvSpPr txBox="1"/>
          <p:nvPr/>
        </p:nvSpPr>
        <p:spPr>
          <a:xfrm>
            <a:off x="5486400" y="426339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Súbelo a </a:t>
            </a:r>
            <a:pPr indent="0" marL="0">
              <a:spcAft>
                <a:spcPts val="200"/>
              </a:spcAft>
              <a:buNone/>
            </a:pPr>
            <a:r>
              <a:rPr lang="en-US" sz="1750" b="1" dirty="0">
                <a:solidFill>
                  <a:srgbClr val="81552E"/>
                </a:solidFill>
                <a:latin typeface="Open Sans" pitchFamily="34" charset="0"/>
                <a:ea typeface="Open Sans" pitchFamily="34" charset="-122"/>
                <a:cs typeface="Open Sans" pitchFamily="34" charset="-120"/>
              </a:rPr>
              <a:t>05 · MI PROGRESO</a:t>
            </a:r>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 en tu Drive</a:t>
            </a:r>
            <a:endParaRPr lang="en-US" sz="1750" dirty="0"/>
          </a:p>
        </p:txBody>
      </p:sp>
      <p:pic>
        <p:nvPicPr>
          <p:cNvPr id="26" name="Image 4" descr="preencoded.png">    </p:cNvPr>
          <p:cNvPicPr>
            <a:picLocks noChangeAspect="1"/>
          </p:cNvPicPr>
          <p:nvPr/>
        </p:nvPicPr>
        <p:blipFill>
          <a:blip r:embed="rId5"/>
          <a:stretch>
            <a:fillRect/>
          </a:stretch>
        </p:blipFill>
        <p:spPr>
          <a:xfrm>
            <a:off x="10817352" y="4477131"/>
            <a:ext cx="384048" cy="384048"/>
          </a:xfrm>
          <a:prstGeom prst="rect">
            <a:avLst/>
          </a:prstGeom>
        </p:spPr>
      </p:pic>
      <p:sp>
        <p:nvSpPr>
          <p:cNvPr id="27" name="Shape 19"/>
          <p:cNvSpPr/>
          <p:nvPr/>
        </p:nvSpPr>
        <p:spPr>
          <a:xfrm>
            <a:off x="4389120" y="5349240"/>
            <a:ext cx="7159752" cy="1005840"/>
          </a:xfrm>
          <a:prstGeom prst="roundRect">
            <a:avLst>
              <a:gd name="adj" fmla="val 14545"/>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8" name="Shape 20"/>
          <p:cNvSpPr/>
          <p:nvPr/>
        </p:nvSpPr>
        <p:spPr>
          <a:xfrm>
            <a:off x="4754880" y="5486400"/>
            <a:ext cx="731520" cy="731520"/>
          </a:xfrm>
          <a:prstGeom prst="ellipse">
            <a:avLst/>
          </a:prstGeom>
          <a:solidFill>
            <a:srgbClr val="C68C6C"/>
          </a:solidFill>
          <a:ln w="12700">
            <a:solidFill>
              <a:srgbClr val="C68C6C"/>
            </a:solidFill>
            <a:prstDash val="solid"/>
          </a:ln>
        </p:spPr>
      </p:sp>
      <p:pic>
        <p:nvPicPr>
          <p:cNvPr id="29" name="Image 5" descr="preencoded.png">    </p:cNvPr>
          <p:cNvPicPr>
            <a:picLocks noChangeAspect="1"/>
          </p:cNvPicPr>
          <p:nvPr/>
        </p:nvPicPr>
        <p:blipFill>
          <a:blip r:embed="rId6"/>
          <a:stretch>
            <a:fillRect/>
          </a:stretch>
        </p:blipFill>
        <p:spPr>
          <a:xfrm>
            <a:off x="4952390" y="5683910"/>
            <a:ext cx="336499" cy="336499"/>
          </a:xfrm>
          <a:prstGeom prst="rect">
            <a:avLst/>
          </a:prstGeom>
        </p:spPr>
      </p:pic>
      <p:sp>
        <p:nvSpPr>
          <p:cNvPr id="30" name="Text 21"/>
          <p:cNvSpPr txBox="1"/>
          <p:nvPr/>
        </p:nvSpPr>
        <p:spPr>
          <a:xfrm>
            <a:off x="5806440" y="5349240"/>
            <a:ext cx="5422392" cy="100584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¿Algo para celebrar, preguntar o trabajar conmigo? También puedes compartirlo en la comunidad.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06 / 08</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Drive y WhatsApp</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Esta diferencia te ayuda a mantenerte organizada</a:t>
            </a:r>
            <a:endParaRPr lang="en-US" sz="1600" dirty="0"/>
          </a:p>
        </p:txBody>
      </p:sp>
      <p:sp>
        <p:nvSpPr>
          <p:cNvPr id="7" name="Shape 3"/>
          <p:cNvSpPr/>
          <p:nvPr/>
        </p:nvSpPr>
        <p:spPr>
          <a:xfrm>
            <a:off x="4389120" y="1280160"/>
            <a:ext cx="3442716" cy="3749040"/>
          </a:xfrm>
          <a:prstGeom prst="roundRect">
            <a:avLst>
              <a:gd name="adj" fmla="val 425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754880" y="1554480"/>
            <a:ext cx="2802636" cy="694944"/>
          </a:xfrm>
          <a:prstGeom prst="rect">
            <a:avLst/>
          </a:prstGeom>
          <a:noFill/>
          <a:ln/>
        </p:spPr>
        <p:txBody>
          <a:bodyPr wrap="square" lIns="0" tIns="0" rIns="0" bIns="0" rtlCol="0" anchor="t"/>
          <a:lstStyle/>
          <a:p>
            <a:pPr indent="0" marL="0">
              <a:buNone/>
            </a:pPr>
            <a:r>
              <a:rPr lang="en-US" sz="1900" b="1" dirty="0">
                <a:solidFill>
                  <a:srgbClr val="81552E"/>
                </a:solidFill>
                <a:latin typeface="Source Serif Pro" pitchFamily="34" charset="0"/>
                <a:ea typeface="Source Serif Pro" pitchFamily="34" charset="-122"/>
                <a:cs typeface="Source Serif Pro" pitchFamily="34" charset="-120"/>
              </a:rPr>
              <a:t>Drive · la memoria del proceso</a:t>
            </a:r>
            <a:endParaRPr lang="en-US" sz="1900" dirty="0"/>
          </a:p>
        </p:txBody>
      </p:sp>
      <p:sp>
        <p:nvSpPr>
          <p:cNvPr id="9" name="Text 5"/>
          <p:cNvSpPr txBox="1"/>
          <p:nvPr/>
        </p:nvSpPr>
        <p:spPr>
          <a:xfrm>
            <a:off x="4754880" y="2478024"/>
            <a:ext cx="2802636" cy="2368296"/>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tus Weekly Reports</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tus prácticas</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materiales</a:t>
            </a:r>
            <a:endParaRPr lang="en-US" sz="1450" dirty="0"/>
          </a:p>
          <a:p>
            <a:pPr marL="190500" indent="-190500">
              <a:spcAft>
                <a:spcPts val="800"/>
              </a:spcAft>
              <a:buSzPct val="100000"/>
              <a:buChar char="•"/>
            </a:pPr>
            <a:r>
              <a:rPr lang="en-US" sz="1450" dirty="0">
                <a:solidFill>
                  <a:srgbClr val="3F1E0D"/>
                </a:solidFill>
                <a:latin typeface="Open Sans" pitchFamily="34" charset="0"/>
                <a:ea typeface="Open Sans" pitchFamily="34" charset="-122"/>
                <a:cs typeface="Open Sans" pitchFamily="34" charset="-120"/>
              </a:rPr>
              <a:t>evidencia de progreso</a:t>
            </a:r>
            <a:endParaRPr lang="en-US" sz="1450" dirty="0"/>
          </a:p>
        </p:txBody>
      </p:sp>
      <p:sp>
        <p:nvSpPr>
          <p:cNvPr id="10" name="Shape 6"/>
          <p:cNvSpPr/>
          <p:nvPr/>
        </p:nvSpPr>
        <p:spPr>
          <a:xfrm>
            <a:off x="8106156" y="1280160"/>
            <a:ext cx="3442716" cy="3749040"/>
          </a:xfrm>
          <a:prstGeom prst="roundRect">
            <a:avLst>
              <a:gd name="adj" fmla="val 4250"/>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1" name="Text 7"/>
          <p:cNvSpPr txBox="1"/>
          <p:nvPr/>
        </p:nvSpPr>
        <p:spPr>
          <a:xfrm>
            <a:off x="8471916" y="1554480"/>
            <a:ext cx="2802636" cy="996696"/>
          </a:xfrm>
          <a:prstGeom prst="rect">
            <a:avLst/>
          </a:prstGeom>
          <a:noFill/>
          <a:ln/>
        </p:spPr>
        <p:txBody>
          <a:bodyPr wrap="square" lIns="0" tIns="0" rIns="0" bIns="0" rtlCol="0" anchor="t"/>
          <a:lstStyle/>
          <a:p>
            <a:pPr indent="0" marL="0">
              <a:buNone/>
            </a:pPr>
            <a:r>
              <a:rPr lang="en-US" sz="1900" b="1" dirty="0">
                <a:solidFill>
                  <a:srgbClr val="F8F5EE"/>
                </a:solidFill>
                <a:latin typeface="Source Serif Pro" pitchFamily="34" charset="0"/>
                <a:ea typeface="Source Serif Pro" pitchFamily="34" charset="-122"/>
                <a:cs typeface="Source Serif Pro" pitchFamily="34" charset="-120"/>
              </a:rPr>
              <a:t>WhatsApp · el movimiento del proceso</a:t>
            </a:r>
            <a:endParaRPr lang="en-US" sz="1900" dirty="0"/>
          </a:p>
        </p:txBody>
      </p:sp>
      <p:sp>
        <p:nvSpPr>
          <p:cNvPr id="12" name="Text 8"/>
          <p:cNvSpPr txBox="1"/>
          <p:nvPr/>
        </p:nvSpPr>
        <p:spPr>
          <a:xfrm>
            <a:off x="8471916" y="2779776"/>
            <a:ext cx="2802636" cy="2066544"/>
          </a:xfrm>
          <a:prstGeom prst="rect">
            <a:avLst/>
          </a:prstGeom>
          <a:noFill/>
          <a:ln/>
        </p:spPr>
        <p:txBody>
          <a:bodyPr wrap="square" lIns="0" tIns="0" rIns="0" bIns="0" rtlCol="0" anchor="t"/>
          <a:lstStyle/>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compartir un win</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hacer una pregunta</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pedir feedback</a:t>
            </a:r>
            <a:endParaRPr lang="en-US" sz="1450" dirty="0"/>
          </a:p>
          <a:p>
            <a:pPr marL="190500" indent="-190500">
              <a:spcAft>
                <a:spcPts val="800"/>
              </a:spcAft>
              <a:buSzPct val="100000"/>
              <a:buChar char="•"/>
            </a:pPr>
            <a:r>
              <a:rPr lang="en-US" sz="1450" dirty="0">
                <a:solidFill>
                  <a:srgbClr val="F8F5EE"/>
                </a:solidFill>
                <a:latin typeface="Open Sans" pitchFamily="34" charset="0"/>
                <a:ea typeface="Open Sans" pitchFamily="34" charset="-122"/>
                <a:cs typeface="Open Sans" pitchFamily="34" charset="-120"/>
              </a:rPr>
              <a:t>contar algo que pasó en la semana</a:t>
            </a:r>
            <a:endParaRPr lang="en-US" sz="1450" dirty="0"/>
          </a:p>
        </p:txBody>
      </p:sp>
      <p:sp>
        <p:nvSpPr>
          <p:cNvPr id="13" name="Shape 9"/>
          <p:cNvSpPr/>
          <p:nvPr/>
        </p:nvSpPr>
        <p:spPr>
          <a:xfrm>
            <a:off x="4389120" y="5303520"/>
            <a:ext cx="7159752" cy="1051560"/>
          </a:xfrm>
          <a:prstGeom prst="roundRect">
            <a:avLst>
              <a:gd name="adj" fmla="val 1391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4" name="Shape 10"/>
          <p:cNvSpPr/>
          <p:nvPr/>
        </p:nvSpPr>
        <p:spPr>
          <a:xfrm>
            <a:off x="4754880" y="5440680"/>
            <a:ext cx="777240" cy="777240"/>
          </a:xfrm>
          <a:prstGeom prst="ellipse">
            <a:avLst/>
          </a:prstGeom>
          <a:solidFill>
            <a:srgbClr val="C68C6C"/>
          </a:solidFill>
          <a:ln w="12700">
            <a:solidFill>
              <a:srgbClr val="C68C6C"/>
            </a:solidFill>
            <a:prstDash val="solid"/>
          </a:ln>
        </p:spPr>
      </p:sp>
      <p:pic>
        <p:nvPicPr>
          <p:cNvPr id="15" name="Image 1" descr="preencoded.png">    </p:cNvPr>
          <p:cNvPicPr>
            <a:picLocks noChangeAspect="1"/>
          </p:cNvPicPr>
          <p:nvPr/>
        </p:nvPicPr>
        <p:blipFill>
          <a:blip r:embed="rId2"/>
          <a:stretch>
            <a:fillRect/>
          </a:stretch>
        </p:blipFill>
        <p:spPr>
          <a:xfrm>
            <a:off x="4964735" y="5650535"/>
            <a:ext cx="357530" cy="357530"/>
          </a:xfrm>
          <a:prstGeom prst="rect">
            <a:avLst/>
          </a:prstGeom>
        </p:spPr>
      </p:pic>
      <p:sp>
        <p:nvSpPr>
          <p:cNvPr id="16" name="Text 11"/>
          <p:cNvSpPr txBox="1"/>
          <p:nvPr/>
        </p:nvSpPr>
        <p:spPr>
          <a:xfrm>
            <a:off x="5852160" y="5303520"/>
            <a:ext cx="5376672" cy="105156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Aunque compartas algo por WhatsApp, el Weekly Report completo siempre queda guardado en tu Drive.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07 / 08</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Si la semana se desordena</a:t>
            </a:r>
            <a:endParaRPr lang="en-US" sz="3400" dirty="0"/>
          </a:p>
        </p:txBody>
      </p:sp>
      <p:sp>
        <p:nvSpPr>
          <p:cNvPr id="6" name="Text 2"/>
          <p:cNvSpPr txBox="1"/>
          <p:nvPr/>
        </p:nvSpPr>
        <p:spPr>
          <a:xfrm>
            <a:off x="640080" y="2521712"/>
            <a:ext cx="3291840" cy="36576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intentes recuperar todo de golpe</a:t>
            </a:r>
            <a:endParaRPr lang="en-US" sz="1600" dirty="0"/>
          </a:p>
        </p:txBody>
      </p:sp>
      <p:sp>
        <p:nvSpPr>
          <p:cNvPr id="7" name="Shape 3"/>
          <p:cNvSpPr/>
          <p:nvPr/>
        </p:nvSpPr>
        <p:spPr>
          <a:xfrm>
            <a:off x="4389120" y="1280160"/>
            <a:ext cx="7159752" cy="731520"/>
          </a:xfrm>
          <a:prstGeom prst="roundRect">
            <a:avLst>
              <a:gd name="adj" fmla="val 20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394460"/>
            <a:ext cx="502920" cy="502920"/>
          </a:xfrm>
          <a:prstGeom prst="ellipse">
            <a:avLst/>
          </a:prstGeom>
          <a:solidFill>
            <a:srgbClr val="C68C6C"/>
          </a:solidFill>
          <a:ln w="12700">
            <a:solidFill>
              <a:srgbClr val="C68C6C"/>
            </a:solidFill>
            <a:prstDash val="solid"/>
          </a:ln>
        </p:spPr>
      </p:sp>
      <p:sp>
        <p:nvSpPr>
          <p:cNvPr id="9" name="Text 5"/>
          <p:cNvSpPr txBox="1"/>
          <p:nvPr/>
        </p:nvSpPr>
        <p:spPr>
          <a:xfrm>
            <a:off x="4663440" y="1394460"/>
            <a:ext cx="502920" cy="502920"/>
          </a:xfrm>
          <a:prstGeom prst="rect">
            <a:avLst/>
          </a:prstGeom>
          <a:noFill/>
          <a:ln/>
        </p:spPr>
        <p:txBody>
          <a:bodyPr wrap="square" lIns="0" tIns="0" rIns="0" bIns="0" rtlCol="0" anchor="ctr"/>
          <a:lstStyle/>
          <a:p>
            <a:pPr algn="ctr" indent="0" marL="0">
              <a:buNone/>
            </a:pPr>
            <a:r>
              <a:rPr lang="en-US" sz="1540" b="1" dirty="0">
                <a:solidFill>
                  <a:srgbClr val="FFFDF9"/>
                </a:solidFill>
                <a:latin typeface="Source Serif Pro" pitchFamily="34" charset="0"/>
                <a:ea typeface="Source Serif Pro" pitchFamily="34" charset="-122"/>
                <a:cs typeface="Source Serif Pro" pitchFamily="34" charset="-120"/>
              </a:rPr>
              <a:t>1</a:t>
            </a:r>
            <a:endParaRPr lang="en-US" sz="1540" dirty="0"/>
          </a:p>
        </p:txBody>
      </p:sp>
      <p:sp>
        <p:nvSpPr>
          <p:cNvPr id="10" name="Text 6"/>
          <p:cNvSpPr txBox="1"/>
          <p:nvPr/>
        </p:nvSpPr>
        <p:spPr>
          <a:xfrm>
            <a:off x="5440680" y="1280160"/>
            <a:ext cx="5102352" cy="73152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Vuelve al foco actual</a:t>
            </a:r>
            <a:endParaRPr lang="en-US" sz="1750" dirty="0"/>
          </a:p>
        </p:txBody>
      </p:sp>
      <p:pic>
        <p:nvPicPr>
          <p:cNvPr id="11" name="Image 1" descr="preencoded.png">    </p:cNvPr>
          <p:cNvPicPr>
            <a:picLocks noChangeAspect="1"/>
          </p:cNvPicPr>
          <p:nvPr/>
        </p:nvPicPr>
        <p:blipFill>
          <a:blip r:embed="rId2"/>
          <a:stretch>
            <a:fillRect/>
          </a:stretch>
        </p:blipFill>
        <p:spPr>
          <a:xfrm>
            <a:off x="10817352" y="1453896"/>
            <a:ext cx="384048" cy="384048"/>
          </a:xfrm>
          <a:prstGeom prst="rect">
            <a:avLst/>
          </a:prstGeom>
        </p:spPr>
      </p:pic>
      <p:sp>
        <p:nvSpPr>
          <p:cNvPr id="12" name="Shape 7"/>
          <p:cNvSpPr/>
          <p:nvPr/>
        </p:nvSpPr>
        <p:spPr>
          <a:xfrm>
            <a:off x="4389120" y="2194560"/>
            <a:ext cx="7159752" cy="731520"/>
          </a:xfrm>
          <a:prstGeom prst="roundRect">
            <a:avLst>
              <a:gd name="adj" fmla="val 20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4663440" y="2308860"/>
            <a:ext cx="502920" cy="502920"/>
          </a:xfrm>
          <a:prstGeom prst="ellipse">
            <a:avLst/>
          </a:prstGeom>
          <a:solidFill>
            <a:srgbClr val="C68C6C"/>
          </a:solidFill>
          <a:ln w="12700">
            <a:solidFill>
              <a:srgbClr val="C68C6C"/>
            </a:solidFill>
            <a:prstDash val="solid"/>
          </a:ln>
        </p:spPr>
      </p:sp>
      <p:sp>
        <p:nvSpPr>
          <p:cNvPr id="14" name="Text 9"/>
          <p:cNvSpPr txBox="1"/>
          <p:nvPr/>
        </p:nvSpPr>
        <p:spPr>
          <a:xfrm>
            <a:off x="4663440" y="2308860"/>
            <a:ext cx="502920" cy="502920"/>
          </a:xfrm>
          <a:prstGeom prst="rect">
            <a:avLst/>
          </a:prstGeom>
          <a:noFill/>
          <a:ln/>
        </p:spPr>
        <p:txBody>
          <a:bodyPr wrap="square" lIns="0" tIns="0" rIns="0" bIns="0" rtlCol="0" anchor="ctr"/>
          <a:lstStyle/>
          <a:p>
            <a:pPr algn="ctr" indent="0" marL="0">
              <a:buNone/>
            </a:pPr>
            <a:r>
              <a:rPr lang="en-US" sz="1540" b="1" dirty="0">
                <a:solidFill>
                  <a:srgbClr val="FFFDF9"/>
                </a:solidFill>
                <a:latin typeface="Source Serif Pro" pitchFamily="34" charset="0"/>
                <a:ea typeface="Source Serif Pro" pitchFamily="34" charset="-122"/>
                <a:cs typeface="Source Serif Pro" pitchFamily="34" charset="-120"/>
              </a:rPr>
              <a:t>2</a:t>
            </a:r>
            <a:endParaRPr lang="en-US" sz="1540" dirty="0"/>
          </a:p>
        </p:txBody>
      </p:sp>
      <p:sp>
        <p:nvSpPr>
          <p:cNvPr id="15" name="Text 10"/>
          <p:cNvSpPr txBox="1"/>
          <p:nvPr/>
        </p:nvSpPr>
        <p:spPr>
          <a:xfrm>
            <a:off x="5440680" y="2194560"/>
            <a:ext cx="5102352" cy="73152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Elige la herramienta más relevante para lo que vives en tu trabajo</a:t>
            </a:r>
            <a:endParaRPr lang="en-US" sz="1750" dirty="0"/>
          </a:p>
        </p:txBody>
      </p:sp>
      <p:pic>
        <p:nvPicPr>
          <p:cNvPr id="16" name="Image 2" descr="preencoded.png">    </p:cNvPr>
          <p:cNvPicPr>
            <a:picLocks noChangeAspect="1"/>
          </p:cNvPicPr>
          <p:nvPr/>
        </p:nvPicPr>
        <p:blipFill>
          <a:blip r:embed="rId3"/>
          <a:stretch>
            <a:fillRect/>
          </a:stretch>
        </p:blipFill>
        <p:spPr>
          <a:xfrm>
            <a:off x="10817352" y="2368296"/>
            <a:ext cx="384048" cy="384048"/>
          </a:xfrm>
          <a:prstGeom prst="rect">
            <a:avLst/>
          </a:prstGeom>
        </p:spPr>
      </p:pic>
      <p:sp>
        <p:nvSpPr>
          <p:cNvPr id="17" name="Shape 11"/>
          <p:cNvSpPr/>
          <p:nvPr/>
        </p:nvSpPr>
        <p:spPr>
          <a:xfrm>
            <a:off x="4389120" y="3108960"/>
            <a:ext cx="7159752" cy="731520"/>
          </a:xfrm>
          <a:prstGeom prst="roundRect">
            <a:avLst>
              <a:gd name="adj" fmla="val 20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663440" y="3223260"/>
            <a:ext cx="502920" cy="502920"/>
          </a:xfrm>
          <a:prstGeom prst="ellipse">
            <a:avLst/>
          </a:prstGeom>
          <a:solidFill>
            <a:srgbClr val="C68C6C"/>
          </a:solidFill>
          <a:ln w="12700">
            <a:solidFill>
              <a:srgbClr val="C68C6C"/>
            </a:solidFill>
            <a:prstDash val="solid"/>
          </a:ln>
        </p:spPr>
      </p:sp>
      <p:sp>
        <p:nvSpPr>
          <p:cNvPr id="19" name="Text 13"/>
          <p:cNvSpPr txBox="1"/>
          <p:nvPr/>
        </p:nvSpPr>
        <p:spPr>
          <a:xfrm>
            <a:off x="4663440" y="3223260"/>
            <a:ext cx="502920" cy="502920"/>
          </a:xfrm>
          <a:prstGeom prst="rect">
            <a:avLst/>
          </a:prstGeom>
          <a:noFill/>
          <a:ln/>
        </p:spPr>
        <p:txBody>
          <a:bodyPr wrap="square" lIns="0" tIns="0" rIns="0" bIns="0" rtlCol="0" anchor="ctr"/>
          <a:lstStyle/>
          <a:p>
            <a:pPr algn="ctr" indent="0" marL="0">
              <a:buNone/>
            </a:pPr>
            <a:r>
              <a:rPr lang="en-US" sz="1540" b="1" dirty="0">
                <a:solidFill>
                  <a:srgbClr val="FFFDF9"/>
                </a:solidFill>
                <a:latin typeface="Source Serif Pro" pitchFamily="34" charset="0"/>
                <a:ea typeface="Source Serif Pro" pitchFamily="34" charset="-122"/>
                <a:cs typeface="Source Serif Pro" pitchFamily="34" charset="-120"/>
              </a:rPr>
              <a:t>3</a:t>
            </a:r>
            <a:endParaRPr lang="en-US" sz="1540" dirty="0"/>
          </a:p>
        </p:txBody>
      </p:sp>
      <p:sp>
        <p:nvSpPr>
          <p:cNvPr id="20" name="Text 14"/>
          <p:cNvSpPr txBox="1"/>
          <p:nvPr/>
        </p:nvSpPr>
        <p:spPr>
          <a:xfrm>
            <a:off x="5440680" y="3108960"/>
            <a:ext cx="5102352" cy="73152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Haz una práctica concreta</a:t>
            </a:r>
            <a:endParaRPr lang="en-US" sz="1750" dirty="0"/>
          </a:p>
        </p:txBody>
      </p:sp>
      <p:pic>
        <p:nvPicPr>
          <p:cNvPr id="21" name="Image 3" descr="preencoded.png">    </p:cNvPr>
          <p:cNvPicPr>
            <a:picLocks noChangeAspect="1"/>
          </p:cNvPicPr>
          <p:nvPr/>
        </p:nvPicPr>
        <p:blipFill>
          <a:blip r:embed="rId4"/>
          <a:stretch>
            <a:fillRect/>
          </a:stretch>
        </p:blipFill>
        <p:spPr>
          <a:xfrm>
            <a:off x="10817352" y="3282696"/>
            <a:ext cx="384048" cy="384048"/>
          </a:xfrm>
          <a:prstGeom prst="rect">
            <a:avLst/>
          </a:prstGeom>
        </p:spPr>
      </p:pic>
      <p:sp>
        <p:nvSpPr>
          <p:cNvPr id="22" name="Shape 15"/>
          <p:cNvSpPr/>
          <p:nvPr/>
        </p:nvSpPr>
        <p:spPr>
          <a:xfrm>
            <a:off x="4389120" y="4023360"/>
            <a:ext cx="7159752" cy="731520"/>
          </a:xfrm>
          <a:prstGeom prst="roundRect">
            <a:avLst>
              <a:gd name="adj" fmla="val 20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663440" y="4137660"/>
            <a:ext cx="502920" cy="502920"/>
          </a:xfrm>
          <a:prstGeom prst="ellipse">
            <a:avLst/>
          </a:prstGeom>
          <a:solidFill>
            <a:srgbClr val="C68C6C"/>
          </a:solidFill>
          <a:ln w="12700">
            <a:solidFill>
              <a:srgbClr val="C68C6C"/>
            </a:solidFill>
            <a:prstDash val="solid"/>
          </a:ln>
        </p:spPr>
      </p:sp>
      <p:sp>
        <p:nvSpPr>
          <p:cNvPr id="24" name="Text 17"/>
          <p:cNvSpPr txBox="1"/>
          <p:nvPr/>
        </p:nvSpPr>
        <p:spPr>
          <a:xfrm>
            <a:off x="4663440" y="4137660"/>
            <a:ext cx="502920" cy="502920"/>
          </a:xfrm>
          <a:prstGeom prst="rect">
            <a:avLst/>
          </a:prstGeom>
          <a:noFill/>
          <a:ln/>
        </p:spPr>
        <p:txBody>
          <a:bodyPr wrap="square" lIns="0" tIns="0" rIns="0" bIns="0" rtlCol="0" anchor="ctr"/>
          <a:lstStyle/>
          <a:p>
            <a:pPr algn="ctr" indent="0" marL="0">
              <a:buNone/>
            </a:pPr>
            <a:r>
              <a:rPr lang="en-US" sz="1540" b="1" dirty="0">
                <a:solidFill>
                  <a:srgbClr val="FFFDF9"/>
                </a:solidFill>
                <a:latin typeface="Source Serif Pro" pitchFamily="34" charset="0"/>
                <a:ea typeface="Source Serif Pro" pitchFamily="34" charset="-122"/>
                <a:cs typeface="Source Serif Pro" pitchFamily="34" charset="-120"/>
              </a:rPr>
              <a:t>4</a:t>
            </a:r>
            <a:endParaRPr lang="en-US" sz="1540" dirty="0"/>
          </a:p>
        </p:txBody>
      </p:sp>
      <p:sp>
        <p:nvSpPr>
          <p:cNvPr id="25" name="Text 18"/>
          <p:cNvSpPr txBox="1"/>
          <p:nvPr/>
        </p:nvSpPr>
        <p:spPr>
          <a:xfrm>
            <a:off x="5440680" y="4023360"/>
            <a:ext cx="5102352" cy="73152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Sigue desde ahí</a:t>
            </a:r>
            <a:endParaRPr lang="en-US" sz="1750" dirty="0"/>
          </a:p>
        </p:txBody>
      </p:sp>
      <p:pic>
        <p:nvPicPr>
          <p:cNvPr id="26" name="Image 4" descr="preencoded.png">    </p:cNvPr>
          <p:cNvPicPr>
            <a:picLocks noChangeAspect="1"/>
          </p:cNvPicPr>
          <p:nvPr/>
        </p:nvPicPr>
        <p:blipFill>
          <a:blip r:embed="rId5"/>
          <a:stretch>
            <a:fillRect/>
          </a:stretch>
        </p:blipFill>
        <p:spPr>
          <a:xfrm>
            <a:off x="10817352" y="4197096"/>
            <a:ext cx="384048" cy="384048"/>
          </a:xfrm>
          <a:prstGeom prst="rect">
            <a:avLst/>
          </a:prstGeom>
        </p:spPr>
      </p:pic>
      <p:sp>
        <p:nvSpPr>
          <p:cNvPr id="27" name="Shape 19"/>
          <p:cNvSpPr/>
          <p:nvPr/>
        </p:nvSpPr>
        <p:spPr>
          <a:xfrm>
            <a:off x="4389120" y="5029200"/>
            <a:ext cx="7159752" cy="1325880"/>
          </a:xfrm>
          <a:prstGeom prst="roundRect">
            <a:avLst>
              <a:gd name="adj" fmla="val 11034"/>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8" name="Shape 20"/>
          <p:cNvSpPr/>
          <p:nvPr/>
        </p:nvSpPr>
        <p:spPr>
          <a:xfrm>
            <a:off x="4754880" y="5303520"/>
            <a:ext cx="777240" cy="777240"/>
          </a:xfrm>
          <a:prstGeom prst="ellipse">
            <a:avLst/>
          </a:prstGeom>
          <a:solidFill>
            <a:srgbClr val="C68C6C"/>
          </a:solidFill>
          <a:ln w="12700">
            <a:solidFill>
              <a:srgbClr val="C68C6C"/>
            </a:solidFill>
            <a:prstDash val="solid"/>
          </a:ln>
        </p:spPr>
      </p:sp>
      <p:pic>
        <p:nvPicPr>
          <p:cNvPr id="29" name="Image 5" descr="preencoded.png">    </p:cNvPr>
          <p:cNvPicPr>
            <a:picLocks noChangeAspect="1"/>
          </p:cNvPicPr>
          <p:nvPr/>
        </p:nvPicPr>
        <p:blipFill>
          <a:blip r:embed="rId6"/>
          <a:stretch>
            <a:fillRect/>
          </a:stretch>
        </p:blipFill>
        <p:spPr>
          <a:xfrm>
            <a:off x="4964735" y="5513375"/>
            <a:ext cx="357530" cy="357530"/>
          </a:xfrm>
          <a:prstGeom prst="rect">
            <a:avLst/>
          </a:prstGeom>
        </p:spPr>
      </p:pic>
      <p:sp>
        <p:nvSpPr>
          <p:cNvPr id="30" name="Text 21"/>
          <p:cNvSpPr txBox="1"/>
          <p:nvPr/>
        </p:nvSpPr>
        <p:spPr>
          <a:xfrm>
            <a:off x="5852160" y="5029200"/>
            <a:ext cx="5376672" cy="132588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Nada de binge watching</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Consistencia no es hacerlo perfecto cada semana: es volver al proceso cada vez que una semana se desordena.</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68C6C"/>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08 / 08</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Tu acción ahora</a:t>
            </a:r>
            <a:endParaRPr lang="en-US" sz="3400" dirty="0"/>
          </a:p>
        </p:txBody>
      </p:sp>
      <p:sp>
        <p:nvSpPr>
          <p:cNvPr id="6" name="Text 2"/>
          <p:cNvSpPr txBox="1"/>
          <p:nvPr/>
        </p:nvSpPr>
        <p:spPr>
          <a:xfrm>
            <a:off x="640080" y="2521712"/>
            <a:ext cx="3291840" cy="36576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No busques la semana perfecta</a:t>
            </a:r>
            <a:endParaRPr lang="en-US" sz="1600" dirty="0"/>
          </a:p>
        </p:txBody>
      </p:sp>
      <p:sp>
        <p:nvSpPr>
          <p:cNvPr id="7" name="Shape 3"/>
          <p:cNvSpPr/>
          <p:nvPr/>
        </p:nvSpPr>
        <p:spPr>
          <a:xfrm>
            <a:off x="4389120" y="1280160"/>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27048"/>
            <a:ext cx="603504" cy="603504"/>
          </a:xfrm>
          <a:prstGeom prst="ellipse">
            <a:avLst/>
          </a:prstGeom>
          <a:solidFill>
            <a:srgbClr val="3F1E0D"/>
          </a:solidFill>
          <a:ln w="12700">
            <a:solidFill>
              <a:srgbClr val="3F1E0D"/>
            </a:solidFill>
            <a:prstDash val="solid"/>
          </a:ln>
        </p:spPr>
      </p:sp>
      <p:pic>
        <p:nvPicPr>
          <p:cNvPr id="9" name="Image 1" descr="preencoded.png">    </p:cNvPr>
          <p:cNvPicPr>
            <a:picLocks noChangeAspect="1"/>
          </p:cNvPicPr>
          <p:nvPr/>
        </p:nvPicPr>
        <p:blipFill>
          <a:blip r:embed="rId2"/>
          <a:stretch>
            <a:fillRect/>
          </a:stretch>
        </p:blipFill>
        <p:spPr>
          <a:xfrm>
            <a:off x="4872106" y="1689994"/>
            <a:ext cx="277612" cy="277612"/>
          </a:xfrm>
          <a:prstGeom prst="rect">
            <a:avLst/>
          </a:prstGeom>
        </p:spPr>
      </p:pic>
      <p:sp>
        <p:nvSpPr>
          <p:cNvPr id="10" name="Text 5"/>
          <p:cNvSpPr txBox="1"/>
          <p:nvPr/>
        </p:nvSpPr>
        <p:spPr>
          <a:xfrm>
            <a:off x="5577840" y="1280160"/>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Abre tu calendario</a:t>
            </a:r>
            <a:endParaRPr lang="en-US" sz="1650" dirty="0"/>
          </a:p>
        </p:txBody>
      </p:sp>
      <p:sp>
        <p:nvSpPr>
          <p:cNvPr id="11" name="Shape 6"/>
          <p:cNvSpPr/>
          <p:nvPr/>
        </p:nvSpPr>
        <p:spPr>
          <a:xfrm>
            <a:off x="4389120" y="2578608"/>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709160" y="2825496"/>
            <a:ext cx="603504" cy="603504"/>
          </a:xfrm>
          <a:prstGeom prst="ellipse">
            <a:avLst/>
          </a:prstGeom>
          <a:solidFill>
            <a:srgbClr val="3F1E0D"/>
          </a:solidFill>
          <a:ln w="12700">
            <a:solidFill>
              <a:srgbClr val="3F1E0D"/>
            </a:solidFill>
            <a:prstDash val="solid"/>
          </a:ln>
        </p:spPr>
      </p:sp>
      <p:pic>
        <p:nvPicPr>
          <p:cNvPr id="13" name="Image 2" descr="preencoded.png">    </p:cNvPr>
          <p:cNvPicPr>
            <a:picLocks noChangeAspect="1"/>
          </p:cNvPicPr>
          <p:nvPr/>
        </p:nvPicPr>
        <p:blipFill>
          <a:blip r:embed="rId3"/>
          <a:stretch>
            <a:fillRect/>
          </a:stretch>
        </p:blipFill>
        <p:spPr>
          <a:xfrm>
            <a:off x="4872106" y="2988442"/>
            <a:ext cx="277612" cy="277612"/>
          </a:xfrm>
          <a:prstGeom prst="rect">
            <a:avLst/>
          </a:prstGeom>
        </p:spPr>
      </p:pic>
      <p:sp>
        <p:nvSpPr>
          <p:cNvPr id="14" name="Text 8"/>
          <p:cNvSpPr txBox="1"/>
          <p:nvPr/>
        </p:nvSpPr>
        <p:spPr>
          <a:xfrm>
            <a:off x="5577840" y="2578608"/>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Reserva </a:t>
            </a:r>
            <a:pPr indent="0" marL="0">
              <a:buNone/>
            </a:pPr>
            <a:r>
              <a:rPr lang="en-US" sz="1650" b="1" dirty="0">
                <a:solidFill>
                  <a:srgbClr val="3F1E0D"/>
                </a:solidFill>
                <a:latin typeface="Open Sans" pitchFamily="34" charset="0"/>
                <a:ea typeface="Open Sans" pitchFamily="34" charset="-122"/>
                <a:cs typeface="Open Sans" pitchFamily="34" charset="-120"/>
              </a:rPr>
              <a:t>dos o tres bloques realistas</a:t>
            </a:r>
            <a:pPr indent="0" marL="0">
              <a:buNone/>
            </a:pPr>
            <a:r>
              <a:rPr lang="en-US" sz="1650" dirty="0">
                <a:solidFill>
                  <a:srgbClr val="3F1E0D"/>
                </a:solidFill>
                <a:latin typeface="Open Sans" pitchFamily="34" charset="0"/>
                <a:ea typeface="Open Sans" pitchFamily="34" charset="-122"/>
                <a:cs typeface="Open Sans" pitchFamily="34" charset="-120"/>
              </a:rPr>
              <a:t> de entre 20 y 30 minutos para esta semana</a:t>
            </a:r>
            <a:endParaRPr lang="en-US" sz="1650" dirty="0"/>
          </a:p>
        </p:txBody>
      </p:sp>
      <p:sp>
        <p:nvSpPr>
          <p:cNvPr id="15" name="Shape 9"/>
          <p:cNvSpPr/>
          <p:nvPr/>
        </p:nvSpPr>
        <p:spPr>
          <a:xfrm>
            <a:off x="4389120" y="3877056"/>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709160" y="4123944"/>
            <a:ext cx="603504" cy="603504"/>
          </a:xfrm>
          <a:prstGeom prst="ellipse">
            <a:avLst/>
          </a:prstGeom>
          <a:solidFill>
            <a:srgbClr val="3F1E0D"/>
          </a:solidFill>
          <a:ln w="12700">
            <a:solidFill>
              <a:srgbClr val="3F1E0D"/>
            </a:solidFill>
            <a:prstDash val="solid"/>
          </a:ln>
        </p:spPr>
      </p:sp>
      <p:pic>
        <p:nvPicPr>
          <p:cNvPr id="17" name="Image 3" descr="preencoded.png">    </p:cNvPr>
          <p:cNvPicPr>
            <a:picLocks noChangeAspect="1"/>
          </p:cNvPicPr>
          <p:nvPr/>
        </p:nvPicPr>
        <p:blipFill>
          <a:blip r:embed="rId4"/>
          <a:stretch>
            <a:fillRect/>
          </a:stretch>
        </p:blipFill>
        <p:spPr>
          <a:xfrm>
            <a:off x="4872106" y="4286890"/>
            <a:ext cx="277612" cy="277612"/>
          </a:xfrm>
          <a:prstGeom prst="rect">
            <a:avLst/>
          </a:prstGeom>
        </p:spPr>
      </p:pic>
      <p:sp>
        <p:nvSpPr>
          <p:cNvPr id="18" name="Text 11"/>
          <p:cNvSpPr txBox="1"/>
          <p:nvPr/>
        </p:nvSpPr>
        <p:spPr>
          <a:xfrm>
            <a:off x="5577840" y="3877056"/>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Reserva un momento para completar tu </a:t>
            </a:r>
            <a:pPr indent="0" marL="0">
              <a:buNone/>
            </a:pPr>
            <a:r>
              <a:rPr lang="en-US" sz="1650" b="1" dirty="0">
                <a:solidFill>
                  <a:srgbClr val="3F1E0D"/>
                </a:solidFill>
                <a:latin typeface="Open Sans" pitchFamily="34" charset="0"/>
                <a:ea typeface="Open Sans" pitchFamily="34" charset="-122"/>
                <a:cs typeface="Open Sans" pitchFamily="34" charset="-120"/>
              </a:rPr>
              <a:t>Weekly Report</a:t>
            </a:r>
            <a:pPr indent="0" marL="0">
              <a:buNone/>
            </a:pPr>
            <a:r>
              <a:rPr lang="en-US" sz="1650" dirty="0">
                <a:solidFill>
                  <a:srgbClr val="3F1E0D"/>
                </a:solidFill>
                <a:latin typeface="Open Sans" pitchFamily="34" charset="0"/>
                <a:ea typeface="Open Sans" pitchFamily="34" charset="-122"/>
                <a:cs typeface="Open Sans" pitchFamily="34" charset="-120"/>
              </a:rPr>
              <a:t> y subirlo a tu Drive</a:t>
            </a:r>
            <a:endParaRPr lang="en-US" sz="1650" dirty="0"/>
          </a:p>
        </p:txBody>
      </p:sp>
      <p:sp>
        <p:nvSpPr>
          <p:cNvPr id="19" name="Text 12"/>
          <p:cNvSpPr txBox="1"/>
          <p:nvPr/>
        </p:nvSpPr>
        <p:spPr>
          <a:xfrm>
            <a:off x="4389120" y="5760720"/>
            <a:ext cx="7159752" cy="594360"/>
          </a:xfrm>
          <a:prstGeom prst="rect">
            <a:avLst/>
          </a:prstGeom>
          <a:noFill/>
          <a:ln/>
        </p:spPr>
        <p:txBody>
          <a:bodyPr wrap="square" lIns="0" tIns="0" rIns="0" bIns="0" rtlCol="0" anchor="ctr"/>
          <a:lstStyle/>
          <a:p>
            <a:pPr indent="0" marL="0">
              <a:buNone/>
            </a:pPr>
            <a:r>
              <a:rPr lang="en-US" sz="1500" i="1" dirty="0">
                <a:solidFill>
                  <a:srgbClr val="3F1E0D"/>
                </a:solidFill>
                <a:latin typeface="Source Serif Pro" pitchFamily="34" charset="0"/>
                <a:ea typeface="Source Serif Pro" pitchFamily="34" charset="-122"/>
                <a:cs typeface="Source Serif Pro" pitchFamily="34" charset="-120"/>
              </a:rPr>
              <a:t>Busca una estructura que puedas sostener.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10 · Cómo organizar tu práctica semanal</dc:title>
  <dc:subject>PptxGenJS Presentation</dc:subject>
  <dc:creator>Flor Pérsico</dc:creator>
  <cp:lastModifiedBy>Flor Pérsico</cp:lastModifiedBy>
  <cp:revision>1</cp:revision>
  <dcterms:created xsi:type="dcterms:W3CDTF">2026-09-23T13:39:10Z</dcterms:created>
  <dcterms:modified xsi:type="dcterms:W3CDTF">2026-09-23T13:39:10Z</dcterms:modified>
</cp:coreProperties>
</file>