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a entrenar tu inglés, quiero explicarte algo que va a hacer una gran diferencia en cuánto aproveches AT WORK.
Este programa no está pensado para que simplemente mires clases, entiendas explicaciones y esperes hasta sentirte lista para hablar.
Vas a aprender usando tu inglés, observando qué pasa, entrenando lo que necesitas y volviendo a intentarlo.
Y eso requiere que tengas un rol activo en el proceso.
A eso me refiero cuando hablo de aprender a liderarte dentro de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principio es simple: Train, don't just study.
Puedes entender una explicación de gramática. Puedes reconocer vocabulario. Puedes saber cómo debería estructurarse un buen mensaje profesional.
Pero eso no significa necesariamente que vayas a poder usar todo eso cuando alguien te haga una pregunta en una reunión y tengas tres segundos para responder.
Por eso AT WORK está construido alrededor de la producción.
Vas a hablar, probar, simular situaciones y usar tu trabajo real como material de entrenamiento.
Entender importa. Pero el objetivo es que puedas hacerlo en tiempo real.
No quiero que acumules información. Quiero que construyas capacidad.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precisión importa dentro de AT WORK. Pero vamos a trabajar en el orden correcto.
Primero: ¿puedes comunicar el mensaje?
Después: ¿cómo podemos hacer ese mensaje más claro, más preciso y más natural?
Si mientras hablas intentas controlar al mismo tiempo la gramática, el vocabulario, la pronunciación, la estructura y el tono profesional, le estás pidiendo demasiado a tu cerebro.
Por eso la lógica es: Communicate first, refine second.
Primero comunicamos. Después refinamos.
Eso no significa ignorar los errores. Significa que no vamos a dejar que la búsqueda de una frase perfecta frene la comunicación antes de que empiece.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también cambia la forma en la que vamos a mirar tus errores.
No me interesa coleccionar cada error que cometes.
Me interesan los patrones.
Si algo pasa una sola vez, puede ser simplemente un error aislado. Pero si lo mismo aparece una y otra vez y empieza a interferir con tu comunicación, entonces tenemos información útil para trabajar.
Tal vez pierdes control de las formas verbales cuando explicas una secuencia de hechos.
Tal vez tus frases se vuelven demasiado largas cuando intentas sonar profesional.
Tal vez te frenas por completo cuando no aparece una palabra.
Eso es información.
Una vez que identificamos el patrón, podemos decidir si necesitas una herramienta de comunicación, una explicación de idioma, práctica más focalizada o un nivel distinto de exposición.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 las cosas más importantes que vas a hacer dentro de AT WORK es el retry.
Dices algo.
Miramos qué pasó.
Elegimos qué vale la pena ajustar.
Haces ese ajuste.
Y después lo vuelves a decir.
El retry importa porque el feedback recién se vuelve útil cuando realmente lo usas.
El objetivo no es que entiendas qué tendrías que haber dicho. El objetivo es que cada vez estés más disponible para decirlo cuando lo necesitas.
Por eso durante AT WORK vas a ver este ciclo una y otra vez: produce, feedback, retry,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Tampoco vamos a pasar directamente de un ejercicio cómodo a una situación de máxima presión.
La exposición se construye de manera progresiva.
Al principio puedes tener bastante apoyo: lenguaje útil a la vista, tiempo para preparar o una estructura clara.
Después practicas con preparación.
Después con menos preparación.
Después empiezas a adaptarte de forma más espontánea.
Y con el tiempo podemos sumar condiciones que se parezcan cada vez más a tu trabajo real: interrupciones, preguntas inesperadas, cambios de dirección o menos tiempo para responder.
No necesitas demostrar que estás lista para recién ahí practicar.
La práctica es justamente lo que te va haciendo estar más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tampoco quiero que la confianza se convierta en un requisito previo.
Muchas personas piensan: cuando me sienta más segura, voy a hablar más.
Dentro de AT WORK vamos a trabajar al revés.
Practicas.
Respondes una pregunta que antes no podías responder.
Explicas algo sin depender de un guion completo.
Recuperas el hilo cuando lo pierdes.
Notas que algo que antes requería muchísimo esfuerzo empieza a estar más disponible.
Esas experiencias te dan evidencia.
Y la confianza puede crecer a partir de esa evidencia.
Así que no esperes sentirte completamente lista para actuar. Primero construye evidencia de que puedes manejar más de lo que podías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¿cuál es tu responsabilidad dentro de este proceso?
Tu trabajo no es diagnosticar sola todo lo que te pasa. Ese es mi trabajo como coach.
Pero yo no puedo producir la evidencia por ti.
Tu parte es traer situaciones reales, producir inglés aunque no sea perfecto, practicar entre sesiones, usar el feedback, hacer retry y llevar lo que estamos entrenando nuevamente a tu trabajo real.
Y responsabilidad no significa hacer todo sola.
Si te pierdes, si no sabes qué practicar, si sientes que la dificultad es demasiado alta o si necesitas apoyo, pídeme ayuda.
El Weekly Report es una de las herramientas que vamos a usar para mantener esa comunicación abierta durante todo el programa.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proceso que está debajo de todo AT WORK.
Partimos de una situación real de comunicación.
Tú produces inglés.
Observamos qué está interfiriendo con tu mensaje.
Identificamos la skill de comunicación o el patrón de idioma que necesitas trabajar.
Lo entrenamos.
Haces retry.
Y después lo transfieres nuevamente a una situación real de tu trabajo.
A veces el problema es lingüístico. A veces es de organización. A veces es retrieval, es decir, saber algo pero no tenerlo disponible cuando lo necesitas. Y a veces necesitas aprender a seguir comunicándote cuando algo no sale como esperabas.
Pero no partimos de una lista genérica de todo lo que podrías estudiar.
Partimos de tu comunicación y la usamos como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terminar esta clase, elige una situación real en inglés que hoy sobrepreparas, evitas, postergas o sientas que necesitas guionar por completo.
Ahora ubícate en tu Exposure Ladder.
¿Todavía necesitas mucho apoyo?
¿Puedes hacerlo si preparas bastante?
¿Puedes hacerlo con menos preparación?
¿Puedes adaptarte de forma espontánea?
¿Puedes sostenerlo cuando aparece presión o algo inesperado?
No necesitas saltar hasta el nivel más alto.
Solo identifica cómo sería subir un escalón esta semana.
Así vamos a trabajar durante AT WORK: no intentando volvernos perfectas de un día para el otro, sino construyendo capacidad a través de intentos reales, feedback focalizado y práctica cada vez un poco más desafiante.
Use your English. Learn from it. Use it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4" name="Text 1"/>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05</a:t>
            </a:r>
            <a:endParaRPr lang="en-US" sz="1100" dirty="0"/>
          </a:p>
        </p:txBody>
      </p:sp>
      <p:sp>
        <p:nvSpPr>
          <p:cNvPr id="5" name="Text 2"/>
          <p:cNvSpPr txBox="1"/>
          <p:nvPr/>
        </p:nvSpPr>
        <p:spPr>
          <a:xfrm>
            <a:off x="640080" y="1325880"/>
            <a:ext cx="5760720" cy="849630"/>
          </a:xfrm>
          <a:prstGeom prst="rect">
            <a:avLst/>
          </a:prstGeom>
          <a:noFill/>
          <a:ln/>
        </p:spPr>
        <p:txBody>
          <a:bodyPr wrap="square" lIns="0" tIns="0" rIns="0" bIns="0" rtlCol="0" anchor="t"/>
          <a:lstStyle/>
          <a:p>
            <a:pPr indent="0" marL="0">
              <a:lnSpc>
                <a:spcPct val="90000"/>
              </a:lnSpc>
              <a:buNone/>
            </a:pPr>
            <a:r>
              <a:rPr lang="en-US" sz="5000" b="1" dirty="0">
                <a:solidFill>
                  <a:srgbClr val="F8F5EE"/>
                </a:solidFill>
                <a:latin typeface="Source Serif Pro" pitchFamily="34" charset="0"/>
                <a:ea typeface="Source Serif Pro" pitchFamily="34" charset="-122"/>
                <a:cs typeface="Source Serif Pro" pitchFamily="34" charset="-120"/>
              </a:rPr>
              <a:t>How We Work</a:t>
            </a:r>
            <a:endParaRPr lang="en-US" sz="5000" dirty="0"/>
          </a:p>
        </p:txBody>
      </p:sp>
      <p:sp>
        <p:nvSpPr>
          <p:cNvPr id="6" name="Text 3"/>
          <p:cNvSpPr txBox="1"/>
          <p:nvPr/>
        </p:nvSpPr>
        <p:spPr>
          <a:xfrm>
            <a:off x="640080" y="2266950"/>
            <a:ext cx="5486400" cy="384048"/>
          </a:xfrm>
          <a:prstGeom prst="rect">
            <a:avLst/>
          </a:prstGeom>
          <a:noFill/>
          <a:ln/>
        </p:spPr>
        <p:txBody>
          <a:bodyPr wrap="square" lIns="0" tIns="0" rIns="0" bIns="0" rtlCol="0" anchor="t"/>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Aprender a liderarte dentro de AT WORK</a:t>
            </a:r>
            <a:endParaRPr lang="en-US" sz="1700" dirty="0"/>
          </a:p>
        </p:txBody>
      </p:sp>
      <p:pic>
        <p:nvPicPr>
          <p:cNvPr id="7" name="Image 0" descr="preencoded.png">    </p:cNvPr>
          <p:cNvPicPr>
            <a:picLocks noChangeAspect="1"/>
          </p:cNvPicPr>
          <p:nvPr/>
        </p:nvPicPr>
        <p:blipFill>
          <a:blip r:embed="rId1"/>
          <a:stretch>
            <a:fillRect/>
          </a:stretch>
        </p:blipFill>
        <p:spPr>
          <a:xfrm>
            <a:off x="8732520" y="502920"/>
            <a:ext cx="2743200" cy="1252005"/>
          </a:xfrm>
          <a:prstGeom prst="rect">
            <a:avLst/>
          </a:prstGeom>
        </p:spPr>
      </p:pic>
      <p:sp>
        <p:nvSpPr>
          <p:cNvPr id="8" name="Text 4"/>
          <p:cNvSpPr txBox="1"/>
          <p:nvPr/>
        </p:nvSpPr>
        <p:spPr>
          <a:xfrm>
            <a:off x="7086600" y="2103120"/>
            <a:ext cx="4462272" cy="320040"/>
          </a:xfrm>
          <a:prstGeom prst="rect">
            <a:avLst/>
          </a:prstGeom>
          <a:noFill/>
          <a:ln/>
        </p:spPr>
        <p:txBody>
          <a:bodyPr wrap="square" lIns="0" tIns="0" rIns="0" bIns="0" rtlCol="0" anchor="ctr"/>
          <a:lstStyle/>
          <a:p>
            <a:pPr indent="0" marL="0">
              <a:buNone/>
            </a:pPr>
            <a:r>
              <a:rPr lang="en-US" sz="1100" b="1" spc="300" kern="0" dirty="0">
                <a:solidFill>
                  <a:srgbClr val="C68C6C"/>
                </a:solidFill>
                <a:latin typeface="Open Sans" pitchFamily="34" charset="0"/>
                <a:ea typeface="Open Sans" pitchFamily="34" charset="-122"/>
                <a:cs typeface="Open Sans" pitchFamily="34" charset="-120"/>
              </a:rPr>
              <a:t>EN ESTA CLASE</a:t>
            </a:r>
            <a:endParaRPr lang="en-US" sz="1100" dirty="0"/>
          </a:p>
        </p:txBody>
      </p:sp>
      <p:sp>
        <p:nvSpPr>
          <p:cNvPr id="9" name="Shape 5"/>
          <p:cNvSpPr/>
          <p:nvPr/>
        </p:nvSpPr>
        <p:spPr>
          <a:xfrm>
            <a:off x="7086600" y="25603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0" name="Shape 6"/>
          <p:cNvSpPr/>
          <p:nvPr/>
        </p:nvSpPr>
        <p:spPr>
          <a:xfrm>
            <a:off x="7251192" y="2688336"/>
            <a:ext cx="493776" cy="493776"/>
          </a:xfrm>
          <a:prstGeom prst="ellipse">
            <a:avLst/>
          </a:prstGeom>
          <a:solidFill>
            <a:srgbClr val="C68C6C"/>
          </a:solidFill>
          <a:ln w="12700">
            <a:solidFill>
              <a:srgbClr val="C68C6C"/>
            </a:solidFill>
            <a:prstDash val="solid"/>
          </a:ln>
        </p:spPr>
      </p:sp>
      <p:pic>
        <p:nvPicPr>
          <p:cNvPr id="11" name="Image 1" descr="preencoded.png">    </p:cNvPr>
          <p:cNvPicPr>
            <a:picLocks noChangeAspect="1"/>
          </p:cNvPicPr>
          <p:nvPr/>
        </p:nvPicPr>
        <p:blipFill>
          <a:blip r:embed="rId2"/>
          <a:stretch>
            <a:fillRect/>
          </a:stretch>
        </p:blipFill>
        <p:spPr>
          <a:xfrm>
            <a:off x="7384512" y="2821656"/>
            <a:ext cx="227137" cy="227137"/>
          </a:xfrm>
          <a:prstGeom prst="rect">
            <a:avLst/>
          </a:prstGeom>
        </p:spPr>
      </p:pic>
      <p:sp>
        <p:nvSpPr>
          <p:cNvPr id="12" name="Text 7"/>
          <p:cNvSpPr txBox="1"/>
          <p:nvPr/>
        </p:nvSpPr>
        <p:spPr>
          <a:xfrm>
            <a:off x="7909560" y="25603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Train, don't just study</a:t>
            </a:r>
            <a:endParaRPr lang="en-US" sz="1500" dirty="0"/>
          </a:p>
        </p:txBody>
      </p:sp>
      <p:sp>
        <p:nvSpPr>
          <p:cNvPr id="13" name="Shape 8"/>
          <p:cNvSpPr/>
          <p:nvPr/>
        </p:nvSpPr>
        <p:spPr>
          <a:xfrm>
            <a:off x="7086600" y="34747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4" name="Shape 9"/>
          <p:cNvSpPr/>
          <p:nvPr/>
        </p:nvSpPr>
        <p:spPr>
          <a:xfrm>
            <a:off x="7251192" y="3602736"/>
            <a:ext cx="493776" cy="493776"/>
          </a:xfrm>
          <a:prstGeom prst="ellipse">
            <a:avLst/>
          </a:prstGeom>
          <a:solidFill>
            <a:srgbClr val="C68C6C"/>
          </a:solidFill>
          <a:ln w="12700">
            <a:solidFill>
              <a:srgbClr val="C68C6C"/>
            </a:solidFill>
            <a:prstDash val="solid"/>
          </a:ln>
        </p:spPr>
      </p:sp>
      <p:pic>
        <p:nvPicPr>
          <p:cNvPr id="15" name="Image 2" descr="preencoded.png">    </p:cNvPr>
          <p:cNvPicPr>
            <a:picLocks noChangeAspect="1"/>
          </p:cNvPicPr>
          <p:nvPr/>
        </p:nvPicPr>
        <p:blipFill>
          <a:blip r:embed="rId3"/>
          <a:stretch>
            <a:fillRect/>
          </a:stretch>
        </p:blipFill>
        <p:spPr>
          <a:xfrm>
            <a:off x="7384512" y="3736056"/>
            <a:ext cx="227137" cy="227137"/>
          </a:xfrm>
          <a:prstGeom prst="rect">
            <a:avLst/>
          </a:prstGeom>
        </p:spPr>
      </p:pic>
      <p:sp>
        <p:nvSpPr>
          <p:cNvPr id="16" name="Text 10"/>
          <p:cNvSpPr txBox="1"/>
          <p:nvPr/>
        </p:nvSpPr>
        <p:spPr>
          <a:xfrm>
            <a:off x="7909560" y="34747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Communicate first, refine second</a:t>
            </a:r>
            <a:endParaRPr lang="en-US" sz="1500" dirty="0"/>
          </a:p>
        </p:txBody>
      </p:sp>
      <p:sp>
        <p:nvSpPr>
          <p:cNvPr id="17" name="Shape 11"/>
          <p:cNvSpPr/>
          <p:nvPr/>
        </p:nvSpPr>
        <p:spPr>
          <a:xfrm>
            <a:off x="7086600" y="43891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8" name="Shape 12"/>
          <p:cNvSpPr/>
          <p:nvPr/>
        </p:nvSpPr>
        <p:spPr>
          <a:xfrm>
            <a:off x="7251192" y="4517136"/>
            <a:ext cx="493776" cy="493776"/>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7384512" y="4650456"/>
            <a:ext cx="227137" cy="227137"/>
          </a:xfrm>
          <a:prstGeom prst="rect">
            <a:avLst/>
          </a:prstGeom>
        </p:spPr>
      </p:pic>
      <p:sp>
        <p:nvSpPr>
          <p:cNvPr id="20" name="Text 13"/>
          <p:cNvSpPr txBox="1"/>
          <p:nvPr/>
        </p:nvSpPr>
        <p:spPr>
          <a:xfrm>
            <a:off x="7909560" y="43891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Produce · Feedback · Retry · Apply</a:t>
            </a:r>
            <a:endParaRPr lang="en-US" sz="1500" dirty="0"/>
          </a:p>
        </p:txBody>
      </p:sp>
      <p:sp>
        <p:nvSpPr>
          <p:cNvPr id="21" name="Shape 14"/>
          <p:cNvSpPr/>
          <p:nvPr/>
        </p:nvSpPr>
        <p:spPr>
          <a:xfrm>
            <a:off x="7086600" y="53035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22" name="Shape 15"/>
          <p:cNvSpPr/>
          <p:nvPr/>
        </p:nvSpPr>
        <p:spPr>
          <a:xfrm>
            <a:off x="7251192" y="5431536"/>
            <a:ext cx="493776" cy="493776"/>
          </a:xfrm>
          <a:prstGeom prst="ellipse">
            <a:avLst/>
          </a:prstGeom>
          <a:solidFill>
            <a:srgbClr val="C68C6C"/>
          </a:solidFill>
          <a:ln w="12700">
            <a:solidFill>
              <a:srgbClr val="C68C6C"/>
            </a:solidFill>
            <a:prstDash val="solid"/>
          </a:ln>
        </p:spPr>
      </p:sp>
      <p:pic>
        <p:nvPicPr>
          <p:cNvPr id="23" name="Image 4" descr="preencoded.png">    </p:cNvPr>
          <p:cNvPicPr>
            <a:picLocks noChangeAspect="1"/>
          </p:cNvPicPr>
          <p:nvPr/>
        </p:nvPicPr>
        <p:blipFill>
          <a:blip r:embed="rId5"/>
          <a:stretch>
            <a:fillRect/>
          </a:stretch>
        </p:blipFill>
        <p:spPr>
          <a:xfrm>
            <a:off x="7384512" y="5564856"/>
            <a:ext cx="227137" cy="227137"/>
          </a:xfrm>
          <a:prstGeom prst="rect">
            <a:avLst/>
          </a:prstGeom>
        </p:spPr>
      </p:pic>
      <p:sp>
        <p:nvSpPr>
          <p:cNvPr id="24" name="Text 16"/>
          <p:cNvSpPr txBox="1"/>
          <p:nvPr/>
        </p:nvSpPr>
        <p:spPr>
          <a:xfrm>
            <a:off x="7909560" y="53035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Exposición progresiva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10</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Train, don't just study</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quiero que acumules información. Quiero que construyas capacidad.</a:t>
            </a:r>
            <a:endParaRPr lang="en-US" sz="1600" dirty="0"/>
          </a:p>
        </p:txBody>
      </p:sp>
      <p:sp>
        <p:nvSpPr>
          <p:cNvPr id="7" name="Shape 3"/>
          <p:cNvSpPr/>
          <p:nvPr/>
        </p:nvSpPr>
        <p:spPr>
          <a:xfrm>
            <a:off x="4389120" y="1280160"/>
            <a:ext cx="3442716" cy="3749040"/>
          </a:xfrm>
          <a:prstGeom prst="roundRect">
            <a:avLst>
              <a:gd name="adj" fmla="val 425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754880" y="1554480"/>
            <a:ext cx="2802636" cy="393192"/>
          </a:xfrm>
          <a:prstGeom prst="rect">
            <a:avLst/>
          </a:prstGeom>
          <a:noFill/>
          <a:ln/>
        </p:spPr>
        <p:txBody>
          <a:bodyPr wrap="square" lIns="0" tIns="0" rIns="0" bIns="0" rtlCol="0" anchor="t"/>
          <a:lstStyle/>
          <a:p>
            <a:pPr indent="0" marL="0">
              <a:buNone/>
            </a:pPr>
            <a:r>
              <a:rPr lang="en-US" sz="1900" b="1" dirty="0">
                <a:solidFill>
                  <a:srgbClr val="81552E"/>
                </a:solidFill>
                <a:latin typeface="Source Serif Pro" pitchFamily="34" charset="0"/>
                <a:ea typeface="Source Serif Pro" pitchFamily="34" charset="-122"/>
                <a:cs typeface="Source Serif Pro" pitchFamily="34" charset="-120"/>
              </a:rPr>
              <a:t>Entender</a:t>
            </a:r>
            <a:endParaRPr lang="en-US" sz="1900" dirty="0"/>
          </a:p>
        </p:txBody>
      </p:sp>
      <p:sp>
        <p:nvSpPr>
          <p:cNvPr id="9" name="Text 5"/>
          <p:cNvSpPr txBox="1"/>
          <p:nvPr/>
        </p:nvSpPr>
        <p:spPr>
          <a:xfrm>
            <a:off x="4754880" y="2176272"/>
            <a:ext cx="2802636" cy="2670048"/>
          </a:xfrm>
          <a:prstGeom prst="rect">
            <a:avLst/>
          </a:prstGeom>
          <a:noFill/>
          <a:ln/>
        </p:spPr>
        <p:txBody>
          <a:bodyPr wrap="square" lIns="0" tIns="0" rIns="0" bIns="0" rtlCol="0" anchor="t"/>
          <a:lstStyle/>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una explicación de gramática</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reconocer vocabulario</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saber cómo debería estructurarse un buen mensaje profesional</a:t>
            </a:r>
            <a:endParaRPr lang="en-US" sz="1450" dirty="0"/>
          </a:p>
        </p:txBody>
      </p:sp>
      <p:sp>
        <p:nvSpPr>
          <p:cNvPr id="10" name="Shape 6"/>
          <p:cNvSpPr/>
          <p:nvPr/>
        </p:nvSpPr>
        <p:spPr>
          <a:xfrm>
            <a:off x="8106156" y="1280160"/>
            <a:ext cx="3442716" cy="3749040"/>
          </a:xfrm>
          <a:prstGeom prst="roundRect">
            <a:avLst>
              <a:gd name="adj" fmla="val 4250"/>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1" name="Text 7"/>
          <p:cNvSpPr txBox="1"/>
          <p:nvPr/>
        </p:nvSpPr>
        <p:spPr>
          <a:xfrm>
            <a:off x="8471916" y="1554480"/>
            <a:ext cx="2802636" cy="694944"/>
          </a:xfrm>
          <a:prstGeom prst="rect">
            <a:avLst/>
          </a:prstGeom>
          <a:noFill/>
          <a:ln/>
        </p:spPr>
        <p:txBody>
          <a:bodyPr wrap="square" lIns="0" tIns="0" rIns="0" bIns="0" rtlCol="0" anchor="t"/>
          <a:lstStyle/>
          <a:p>
            <a:pPr indent="0" marL="0">
              <a:buNone/>
            </a:pPr>
            <a:r>
              <a:rPr lang="en-US" sz="1900" b="1" dirty="0">
                <a:solidFill>
                  <a:srgbClr val="F8F5EE"/>
                </a:solidFill>
                <a:latin typeface="Source Serif Pro" pitchFamily="34" charset="0"/>
                <a:ea typeface="Source Serif Pro" pitchFamily="34" charset="-122"/>
                <a:cs typeface="Source Serif Pro" pitchFamily="34" charset="-120"/>
              </a:rPr>
              <a:t>Poder hacerlo en tiempo real</a:t>
            </a:r>
            <a:endParaRPr lang="en-US" sz="1900" dirty="0"/>
          </a:p>
        </p:txBody>
      </p:sp>
      <p:sp>
        <p:nvSpPr>
          <p:cNvPr id="12" name="Text 8"/>
          <p:cNvSpPr txBox="1"/>
          <p:nvPr/>
        </p:nvSpPr>
        <p:spPr>
          <a:xfrm>
            <a:off x="8471916" y="2478024"/>
            <a:ext cx="2802636" cy="2368296"/>
          </a:xfrm>
          <a:prstGeom prst="rect">
            <a:avLst/>
          </a:prstGeom>
          <a:noFill/>
          <a:ln/>
        </p:spPr>
        <p:txBody>
          <a:bodyPr wrap="square" lIns="0" tIns="0" rIns="0" bIns="0" rtlCol="0" anchor="t"/>
          <a:lstStyle/>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responder cuando alguien te pregunta en una reunión y tienes tres segundos</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hablar, probar y simular situaciones</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usar tu trabajo real como material de entrenamiento</a:t>
            </a:r>
            <a:endParaRPr lang="en-US" sz="1450" dirty="0"/>
          </a:p>
        </p:txBody>
      </p:sp>
      <p:sp>
        <p:nvSpPr>
          <p:cNvPr id="13" name="Shape 9"/>
          <p:cNvSpPr/>
          <p:nvPr/>
        </p:nvSpPr>
        <p:spPr>
          <a:xfrm>
            <a:off x="4389120" y="5303520"/>
            <a:ext cx="7159752" cy="1051560"/>
          </a:xfrm>
          <a:prstGeom prst="roundRect">
            <a:avLst>
              <a:gd name="adj" fmla="val 1391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4" name="Shape 10"/>
          <p:cNvSpPr/>
          <p:nvPr/>
        </p:nvSpPr>
        <p:spPr>
          <a:xfrm>
            <a:off x="4754880" y="5440680"/>
            <a:ext cx="777240" cy="777240"/>
          </a:xfrm>
          <a:prstGeom prst="ellipse">
            <a:avLst/>
          </a:prstGeom>
          <a:solidFill>
            <a:srgbClr val="C68C6C"/>
          </a:solidFill>
          <a:ln w="12700">
            <a:solidFill>
              <a:srgbClr val="C68C6C"/>
            </a:solidFill>
            <a:prstDash val="solid"/>
          </a:ln>
        </p:spPr>
      </p:sp>
      <p:pic>
        <p:nvPicPr>
          <p:cNvPr id="15" name="Image 1" descr="preencoded.png">    </p:cNvPr>
          <p:cNvPicPr>
            <a:picLocks noChangeAspect="1"/>
          </p:cNvPicPr>
          <p:nvPr/>
        </p:nvPicPr>
        <p:blipFill>
          <a:blip r:embed="rId2"/>
          <a:stretch>
            <a:fillRect/>
          </a:stretch>
        </p:blipFill>
        <p:spPr>
          <a:xfrm>
            <a:off x="4964735" y="5650535"/>
            <a:ext cx="357530" cy="357530"/>
          </a:xfrm>
          <a:prstGeom prst="rect">
            <a:avLst/>
          </a:prstGeom>
        </p:spPr>
      </p:pic>
      <p:sp>
        <p:nvSpPr>
          <p:cNvPr id="16" name="Text 11"/>
          <p:cNvSpPr txBox="1"/>
          <p:nvPr/>
        </p:nvSpPr>
        <p:spPr>
          <a:xfrm>
            <a:off x="5852160" y="5303520"/>
            <a:ext cx="5376672" cy="1051560"/>
          </a:xfrm>
          <a:prstGeom prst="rect">
            <a:avLst/>
          </a:prstGeom>
          <a:noFill/>
          <a:ln/>
        </p:spPr>
        <p:txBody>
          <a:bodyPr wrap="square" lIns="0" tIns="0" rIns="0" bIns="0" rtlCol="0" anchor="ctr"/>
          <a:lstStyle/>
          <a:p>
            <a:pPr indent="0" marL="0">
              <a:spcAft>
                <a:spcPts val="500"/>
              </a:spcAft>
              <a:buNone/>
            </a:pPr>
            <a:r>
              <a:rPr lang="en-US" sz="1600" b="1" dirty="0">
                <a:solidFill>
                  <a:srgbClr val="3F1E0D"/>
                </a:solidFill>
                <a:latin typeface="Open Sans" pitchFamily="34" charset="0"/>
                <a:ea typeface="Open Sans" pitchFamily="34" charset="-122"/>
                <a:cs typeface="Open Sans" pitchFamily="34" charset="-120"/>
              </a:rPr>
              <a:t>Entender importa. </a:t>
            </a:r>
            <a:pPr indent="0" marL="0">
              <a:spcAft>
                <a:spcPts val="500"/>
              </a:spcAft>
              <a:buNone/>
            </a:pPr>
            <a:r>
              <a:rPr lang="en-US" sz="1600" dirty="0">
                <a:solidFill>
                  <a:srgbClr val="3F1E0D"/>
                </a:solidFill>
                <a:latin typeface="Open Sans" pitchFamily="34" charset="0"/>
                <a:ea typeface="Open Sans" pitchFamily="34" charset="-122"/>
                <a:cs typeface="Open Sans" pitchFamily="34" charset="-120"/>
              </a:rPr>
              <a:t>Pero el objetivo es que puedas hacerlo en tiempo real.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03 / 10</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Communicate first, refine second</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Primero comunicamos. Después refinamos.</a:t>
            </a:r>
            <a:endParaRPr lang="en-US" sz="1600" dirty="0"/>
          </a:p>
        </p:txBody>
      </p:sp>
      <p:sp>
        <p:nvSpPr>
          <p:cNvPr id="7" name="Shape 3"/>
          <p:cNvSpPr/>
          <p:nvPr/>
        </p:nvSpPr>
        <p:spPr>
          <a:xfrm>
            <a:off x="4389120" y="1280160"/>
            <a:ext cx="7159752" cy="1188720"/>
          </a:xfrm>
          <a:prstGeom prst="roundRect">
            <a:avLst>
              <a:gd name="adj" fmla="val 1230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600200"/>
            <a:ext cx="548640" cy="548640"/>
          </a:xfrm>
          <a:prstGeom prst="ellipse">
            <a:avLst/>
          </a:prstGeom>
          <a:solidFill>
            <a:srgbClr val="C68C6C"/>
          </a:solidFill>
          <a:ln w="12700">
            <a:solidFill>
              <a:srgbClr val="C68C6C"/>
            </a:solidFill>
            <a:prstDash val="solid"/>
          </a:ln>
        </p:spPr>
      </p:sp>
      <p:sp>
        <p:nvSpPr>
          <p:cNvPr id="9" name="Text 5"/>
          <p:cNvSpPr txBox="1"/>
          <p:nvPr/>
        </p:nvSpPr>
        <p:spPr>
          <a:xfrm>
            <a:off x="4663440" y="160020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1</a:t>
            </a:r>
            <a:endParaRPr lang="en-US" sz="1680" dirty="0"/>
          </a:p>
        </p:txBody>
      </p:sp>
      <p:sp>
        <p:nvSpPr>
          <p:cNvPr id="10" name="Text 6"/>
          <p:cNvSpPr txBox="1"/>
          <p:nvPr/>
        </p:nvSpPr>
        <p:spPr>
          <a:xfrm>
            <a:off x="5486400" y="1280160"/>
            <a:ext cx="5742432" cy="1188720"/>
          </a:xfrm>
          <a:prstGeom prst="rect">
            <a:avLst/>
          </a:prstGeom>
          <a:noFill/>
          <a:ln/>
        </p:spPr>
        <p:txBody>
          <a:bodyPr wrap="square" lIns="0" tIns="0" rIns="0" bIns="0" rtlCol="0" anchor="ctr"/>
          <a:lstStyle/>
          <a:p>
            <a:pPr indent="0" marL="0">
              <a:spcAft>
                <a:spcPts val="200"/>
              </a:spcAft>
              <a:buNone/>
            </a:pPr>
            <a:r>
              <a:rPr lang="en-US" sz="1750" b="1" dirty="0">
                <a:solidFill>
                  <a:srgbClr val="3F1E0D"/>
                </a:solidFill>
                <a:latin typeface="Open Sans" pitchFamily="34" charset="0"/>
                <a:ea typeface="Open Sans" pitchFamily="34" charset="-122"/>
                <a:cs typeface="Open Sans" pitchFamily="34" charset="-120"/>
              </a:rPr>
              <a:t>Primero</a:t>
            </a:r>
            <a:endParaRPr lang="en-US" sz="1750" dirty="0"/>
          </a:p>
          <a:p>
            <a:pPr indent="0" marL="0">
              <a:spcAft>
                <a:spcPts val="200"/>
              </a:spcAft>
              <a:buNone/>
            </a:pPr>
            <a:r>
              <a:rPr lang="en-US" sz="1450" dirty="0">
                <a:solidFill>
                  <a:srgbClr val="8A6A55"/>
                </a:solidFill>
                <a:latin typeface="Open Sans" pitchFamily="34" charset="0"/>
                <a:ea typeface="Open Sans" pitchFamily="34" charset="-122"/>
                <a:cs typeface="Open Sans" pitchFamily="34" charset="-120"/>
              </a:rPr>
              <a:t>¿Puedes comunicar el mensaje?</a:t>
            </a:r>
            <a:endParaRPr lang="en-US" sz="1750" dirty="0"/>
          </a:p>
        </p:txBody>
      </p:sp>
      <p:sp>
        <p:nvSpPr>
          <p:cNvPr id="11" name="Shape 7"/>
          <p:cNvSpPr/>
          <p:nvPr/>
        </p:nvSpPr>
        <p:spPr>
          <a:xfrm>
            <a:off x="4389120" y="2651760"/>
            <a:ext cx="7159752" cy="1188720"/>
          </a:xfrm>
          <a:prstGeom prst="roundRect">
            <a:avLst>
              <a:gd name="adj" fmla="val 1230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4663440" y="2971800"/>
            <a:ext cx="548640" cy="548640"/>
          </a:xfrm>
          <a:prstGeom prst="ellipse">
            <a:avLst/>
          </a:prstGeom>
          <a:solidFill>
            <a:srgbClr val="C68C6C"/>
          </a:solidFill>
          <a:ln w="12700">
            <a:solidFill>
              <a:srgbClr val="C68C6C"/>
            </a:solidFill>
            <a:prstDash val="solid"/>
          </a:ln>
        </p:spPr>
      </p:sp>
      <p:sp>
        <p:nvSpPr>
          <p:cNvPr id="13" name="Text 9"/>
          <p:cNvSpPr txBox="1"/>
          <p:nvPr/>
        </p:nvSpPr>
        <p:spPr>
          <a:xfrm>
            <a:off x="4663440" y="297180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2</a:t>
            </a:r>
            <a:endParaRPr lang="en-US" sz="1680" dirty="0"/>
          </a:p>
        </p:txBody>
      </p:sp>
      <p:sp>
        <p:nvSpPr>
          <p:cNvPr id="14" name="Text 10"/>
          <p:cNvSpPr txBox="1"/>
          <p:nvPr/>
        </p:nvSpPr>
        <p:spPr>
          <a:xfrm>
            <a:off x="5486400" y="2651760"/>
            <a:ext cx="5742432" cy="1188720"/>
          </a:xfrm>
          <a:prstGeom prst="rect">
            <a:avLst/>
          </a:prstGeom>
          <a:noFill/>
          <a:ln/>
        </p:spPr>
        <p:txBody>
          <a:bodyPr wrap="square" lIns="0" tIns="0" rIns="0" bIns="0" rtlCol="0" anchor="ctr"/>
          <a:lstStyle/>
          <a:p>
            <a:pPr indent="0" marL="0">
              <a:spcAft>
                <a:spcPts val="200"/>
              </a:spcAft>
              <a:buNone/>
            </a:pPr>
            <a:r>
              <a:rPr lang="en-US" sz="1750" b="1" dirty="0">
                <a:solidFill>
                  <a:srgbClr val="3F1E0D"/>
                </a:solidFill>
                <a:latin typeface="Open Sans" pitchFamily="34" charset="0"/>
                <a:ea typeface="Open Sans" pitchFamily="34" charset="-122"/>
                <a:cs typeface="Open Sans" pitchFamily="34" charset="-120"/>
              </a:rPr>
              <a:t>Después</a:t>
            </a:r>
            <a:endParaRPr lang="en-US" sz="1750" dirty="0"/>
          </a:p>
          <a:p>
            <a:pPr indent="0" marL="0">
              <a:spcAft>
                <a:spcPts val="200"/>
              </a:spcAft>
              <a:buNone/>
            </a:pPr>
            <a:r>
              <a:rPr lang="en-US" sz="1450" dirty="0">
                <a:solidFill>
                  <a:srgbClr val="8A6A55"/>
                </a:solidFill>
                <a:latin typeface="Open Sans" pitchFamily="34" charset="0"/>
                <a:ea typeface="Open Sans" pitchFamily="34" charset="-122"/>
                <a:cs typeface="Open Sans" pitchFamily="34" charset="-120"/>
              </a:rPr>
              <a:t>¿Cómo lo hacemos más claro, más preciso y más natural?</a:t>
            </a:r>
            <a:endParaRPr lang="en-US" sz="1750" dirty="0"/>
          </a:p>
        </p:txBody>
      </p:sp>
      <p:sp>
        <p:nvSpPr>
          <p:cNvPr id="15" name="Shape 11"/>
          <p:cNvSpPr/>
          <p:nvPr/>
        </p:nvSpPr>
        <p:spPr>
          <a:xfrm>
            <a:off x="4389120" y="4434840"/>
            <a:ext cx="7159752" cy="1920240"/>
          </a:xfrm>
          <a:prstGeom prst="roundRect">
            <a:avLst>
              <a:gd name="adj" fmla="val 7619"/>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6" name="Shape 12"/>
          <p:cNvSpPr/>
          <p:nvPr/>
        </p:nvSpPr>
        <p:spPr>
          <a:xfrm>
            <a:off x="4754880" y="5006340"/>
            <a:ext cx="777240" cy="777240"/>
          </a:xfrm>
          <a:prstGeom prst="ellipse">
            <a:avLst/>
          </a:prstGeom>
          <a:solidFill>
            <a:srgbClr val="C68C6C"/>
          </a:solidFill>
          <a:ln w="12700">
            <a:solidFill>
              <a:srgbClr val="C68C6C"/>
            </a:solidFill>
            <a:prstDash val="solid"/>
          </a:ln>
        </p:spPr>
      </p:sp>
      <p:pic>
        <p:nvPicPr>
          <p:cNvPr id="17" name="Image 1" descr="preencoded.png">    </p:cNvPr>
          <p:cNvPicPr>
            <a:picLocks noChangeAspect="1"/>
          </p:cNvPicPr>
          <p:nvPr/>
        </p:nvPicPr>
        <p:blipFill>
          <a:blip r:embed="rId2"/>
          <a:stretch>
            <a:fillRect/>
          </a:stretch>
        </p:blipFill>
        <p:spPr>
          <a:xfrm>
            <a:off x="4964735" y="5216195"/>
            <a:ext cx="357530" cy="357530"/>
          </a:xfrm>
          <a:prstGeom prst="rect">
            <a:avLst/>
          </a:prstGeom>
        </p:spPr>
      </p:pic>
      <p:sp>
        <p:nvSpPr>
          <p:cNvPr id="18" name="Text 13"/>
          <p:cNvSpPr txBox="1"/>
          <p:nvPr/>
        </p:nvSpPr>
        <p:spPr>
          <a:xfrm>
            <a:off x="5852160" y="4434840"/>
            <a:ext cx="5376672" cy="192024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Si intentas controlar todo a la vez, le pides demasiado a tu cerebro</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Gramática, vocabulario, pronunciación, estructura y tono al mismo tiempo. No es ignorar los errores: es no dejar que la búsqueda de la frase perfecta frene la comunicación antes de que empiece.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04 / 10</a:t>
            </a:r>
            <a:endParaRPr lang="en-US" sz="1100" dirty="0"/>
          </a:p>
        </p:txBody>
      </p:sp>
      <p:sp>
        <p:nvSpPr>
          <p:cNvPr id="5" name="Text 1"/>
          <p:cNvSpPr txBox="1"/>
          <p:nvPr/>
        </p:nvSpPr>
        <p:spPr>
          <a:xfrm>
            <a:off x="640080" y="1280160"/>
            <a:ext cx="3429000" cy="1331976"/>
          </a:xfrm>
          <a:prstGeom prst="rect">
            <a:avLst/>
          </a:prstGeom>
          <a:noFill/>
          <a:ln/>
        </p:spPr>
        <p:txBody>
          <a:bodyPr wrap="square" lIns="0" tIns="0" rIns="0" bIns="0" rtlCol="0" anchor="t"/>
          <a:lstStyle/>
          <a:p>
            <a:pPr indent="0" marL="0">
              <a:lnSpc>
                <a:spcPct val="92000"/>
              </a:lnSpc>
              <a:buNone/>
            </a:pPr>
            <a:r>
              <a:rPr lang="en-US" sz="2800" b="1" dirty="0">
                <a:solidFill>
                  <a:srgbClr val="81552E"/>
                </a:solidFill>
                <a:latin typeface="Source Serif Pro" pitchFamily="34" charset="0"/>
                <a:ea typeface="Source Serif Pro" pitchFamily="34" charset="-122"/>
                <a:cs typeface="Source Serif Pro" pitchFamily="34" charset="-120"/>
              </a:rPr>
              <a:t>Miramos patrones, no errores sueltos</a:t>
            </a:r>
            <a:endParaRPr lang="en-US" sz="2800" dirty="0"/>
          </a:p>
        </p:txBody>
      </p:sp>
      <p:sp>
        <p:nvSpPr>
          <p:cNvPr id="6" name="Text 2"/>
          <p:cNvSpPr txBox="1"/>
          <p:nvPr/>
        </p:nvSpPr>
        <p:spPr>
          <a:xfrm>
            <a:off x="640080" y="2749296"/>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Si algo se repite e interfiere con tu comunicación, es información</a:t>
            </a:r>
            <a:endParaRPr lang="en-US" sz="1600" dirty="0"/>
          </a:p>
        </p:txBody>
      </p:sp>
      <p:sp>
        <p:nvSpPr>
          <p:cNvPr id="7" name="Text 3"/>
          <p:cNvSpPr txBox="1"/>
          <p:nvPr/>
        </p:nvSpPr>
        <p:spPr>
          <a:xfrm>
            <a:off x="4389120" y="1280160"/>
            <a:ext cx="7159752" cy="320040"/>
          </a:xfrm>
          <a:prstGeom prst="rect">
            <a:avLst/>
          </a:prstGeom>
          <a:noFill/>
          <a:ln/>
        </p:spPr>
        <p:txBody>
          <a:bodyPr wrap="square" lIns="0" tIns="0" rIns="0" bIns="0" rtlCol="0" anchor="ctr"/>
          <a:lstStyle/>
          <a:p>
            <a:pPr indent="0" marL="0">
              <a:buNone/>
            </a:pPr>
            <a:r>
              <a:rPr lang="en-US" sz="1150" b="1" spc="200" kern="0" dirty="0">
                <a:solidFill>
                  <a:srgbClr val="C68C6C"/>
                </a:solidFill>
                <a:latin typeface="Open Sans" pitchFamily="34" charset="0"/>
                <a:ea typeface="Open Sans" pitchFamily="34" charset="-122"/>
                <a:cs typeface="Open Sans" pitchFamily="34" charset="-120"/>
              </a:rPr>
              <a:t>POR EJEMPLO, TAL VEZ…</a:t>
            </a:r>
            <a:endParaRPr lang="en-US" sz="1150" dirty="0"/>
          </a:p>
        </p:txBody>
      </p:sp>
      <p:sp>
        <p:nvSpPr>
          <p:cNvPr id="8" name="Shape 4"/>
          <p:cNvSpPr/>
          <p:nvPr/>
        </p:nvSpPr>
        <p:spPr>
          <a:xfrm>
            <a:off x="4389120" y="1737360"/>
            <a:ext cx="2215896" cy="288036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9" name="Shape 5"/>
          <p:cNvSpPr/>
          <p:nvPr/>
        </p:nvSpPr>
        <p:spPr>
          <a:xfrm>
            <a:off x="4617720" y="2011680"/>
            <a:ext cx="566928" cy="566928"/>
          </a:xfrm>
          <a:prstGeom prst="ellipse">
            <a:avLst/>
          </a:prstGeom>
          <a:solidFill>
            <a:srgbClr val="FBF2D0"/>
          </a:solidFill>
          <a:ln w="12700">
            <a:solidFill>
              <a:srgbClr val="FBF2D0"/>
            </a:solidFill>
            <a:prstDash val="solid"/>
          </a:ln>
        </p:spPr>
      </p:sp>
      <p:pic>
        <p:nvPicPr>
          <p:cNvPr id="10" name="Image 1" descr="preencoded.png">    </p:cNvPr>
          <p:cNvPicPr>
            <a:picLocks noChangeAspect="1"/>
          </p:cNvPicPr>
          <p:nvPr/>
        </p:nvPicPr>
        <p:blipFill>
          <a:blip r:embed="rId2"/>
          <a:stretch>
            <a:fillRect/>
          </a:stretch>
        </p:blipFill>
        <p:spPr>
          <a:xfrm>
            <a:off x="4770791" y="2164751"/>
            <a:ext cx="260787" cy="260787"/>
          </a:xfrm>
          <a:prstGeom prst="rect">
            <a:avLst/>
          </a:prstGeom>
        </p:spPr>
      </p:pic>
      <p:sp>
        <p:nvSpPr>
          <p:cNvPr id="11" name="Text 6"/>
          <p:cNvSpPr txBox="1"/>
          <p:nvPr/>
        </p:nvSpPr>
        <p:spPr>
          <a:xfrm>
            <a:off x="4617720" y="2715768"/>
            <a:ext cx="1758696" cy="816864"/>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…pierdes control de las formas verbales</a:t>
            </a:r>
            <a:endParaRPr lang="en-US" sz="1600" dirty="0"/>
          </a:p>
        </p:txBody>
      </p:sp>
      <p:sp>
        <p:nvSpPr>
          <p:cNvPr id="12" name="Text 7"/>
          <p:cNvSpPr txBox="1"/>
          <p:nvPr/>
        </p:nvSpPr>
        <p:spPr>
          <a:xfrm>
            <a:off x="4617720" y="3578352"/>
            <a:ext cx="1758696" cy="902208"/>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cuando explicas una secuencia de hechos</a:t>
            </a:r>
            <a:endParaRPr lang="en-US" sz="1300" dirty="0"/>
          </a:p>
        </p:txBody>
      </p:sp>
      <p:sp>
        <p:nvSpPr>
          <p:cNvPr id="13" name="Shape 8"/>
          <p:cNvSpPr/>
          <p:nvPr/>
        </p:nvSpPr>
        <p:spPr>
          <a:xfrm>
            <a:off x="6861048" y="1737360"/>
            <a:ext cx="2215896" cy="288036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4" name="Shape 9"/>
          <p:cNvSpPr/>
          <p:nvPr/>
        </p:nvSpPr>
        <p:spPr>
          <a:xfrm>
            <a:off x="7089648" y="2011680"/>
            <a:ext cx="566928" cy="566928"/>
          </a:xfrm>
          <a:prstGeom prst="ellipse">
            <a:avLst/>
          </a:prstGeom>
          <a:solidFill>
            <a:srgbClr val="FBF2D0"/>
          </a:solidFill>
          <a:ln w="12700">
            <a:solidFill>
              <a:srgbClr val="FBF2D0"/>
            </a:solidFill>
            <a:prstDash val="solid"/>
          </a:ln>
        </p:spPr>
      </p:sp>
      <p:pic>
        <p:nvPicPr>
          <p:cNvPr id="15" name="Image 2" descr="preencoded.png">    </p:cNvPr>
          <p:cNvPicPr>
            <a:picLocks noChangeAspect="1"/>
          </p:cNvPicPr>
          <p:nvPr/>
        </p:nvPicPr>
        <p:blipFill>
          <a:blip r:embed="rId3"/>
          <a:stretch>
            <a:fillRect/>
          </a:stretch>
        </p:blipFill>
        <p:spPr>
          <a:xfrm>
            <a:off x="7242719" y="2164751"/>
            <a:ext cx="260787" cy="260787"/>
          </a:xfrm>
          <a:prstGeom prst="rect">
            <a:avLst/>
          </a:prstGeom>
        </p:spPr>
      </p:pic>
      <p:sp>
        <p:nvSpPr>
          <p:cNvPr id="16" name="Text 10"/>
          <p:cNvSpPr txBox="1"/>
          <p:nvPr/>
        </p:nvSpPr>
        <p:spPr>
          <a:xfrm>
            <a:off x="7089648" y="2715768"/>
            <a:ext cx="1758696" cy="1064768"/>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…tus frases se vuelven demasiado largas</a:t>
            </a:r>
            <a:endParaRPr lang="en-US" sz="1600" dirty="0"/>
          </a:p>
        </p:txBody>
      </p:sp>
      <p:sp>
        <p:nvSpPr>
          <p:cNvPr id="17" name="Text 11"/>
          <p:cNvSpPr txBox="1"/>
          <p:nvPr/>
        </p:nvSpPr>
        <p:spPr>
          <a:xfrm>
            <a:off x="7089648" y="3826256"/>
            <a:ext cx="1758696" cy="654304"/>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cuando intentas sonar profesional</a:t>
            </a:r>
            <a:endParaRPr lang="en-US" sz="1300" dirty="0"/>
          </a:p>
        </p:txBody>
      </p:sp>
      <p:sp>
        <p:nvSpPr>
          <p:cNvPr id="18" name="Shape 12"/>
          <p:cNvSpPr/>
          <p:nvPr/>
        </p:nvSpPr>
        <p:spPr>
          <a:xfrm>
            <a:off x="9332976" y="1737360"/>
            <a:ext cx="2215896" cy="288036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9" name="Shape 13"/>
          <p:cNvSpPr/>
          <p:nvPr/>
        </p:nvSpPr>
        <p:spPr>
          <a:xfrm>
            <a:off x="9561576" y="2011680"/>
            <a:ext cx="566928" cy="566928"/>
          </a:xfrm>
          <a:prstGeom prst="ellipse">
            <a:avLst/>
          </a:prstGeom>
          <a:solidFill>
            <a:srgbClr val="FBF2D0"/>
          </a:solidFill>
          <a:ln w="12700">
            <a:solidFill>
              <a:srgbClr val="FBF2D0"/>
            </a:solidFill>
            <a:prstDash val="solid"/>
          </a:ln>
        </p:spPr>
      </p:sp>
      <p:pic>
        <p:nvPicPr>
          <p:cNvPr id="20" name="Image 3" descr="preencoded.png">    </p:cNvPr>
          <p:cNvPicPr>
            <a:picLocks noChangeAspect="1"/>
          </p:cNvPicPr>
          <p:nvPr/>
        </p:nvPicPr>
        <p:blipFill>
          <a:blip r:embed="rId4"/>
          <a:stretch>
            <a:fillRect/>
          </a:stretch>
        </p:blipFill>
        <p:spPr>
          <a:xfrm>
            <a:off x="9714647" y="2164751"/>
            <a:ext cx="260787" cy="260787"/>
          </a:xfrm>
          <a:prstGeom prst="rect">
            <a:avLst/>
          </a:prstGeom>
        </p:spPr>
      </p:pic>
      <p:sp>
        <p:nvSpPr>
          <p:cNvPr id="21" name="Text 14"/>
          <p:cNvSpPr txBox="1"/>
          <p:nvPr/>
        </p:nvSpPr>
        <p:spPr>
          <a:xfrm>
            <a:off x="9561576" y="2715768"/>
            <a:ext cx="1758696" cy="568960"/>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…te frenas por completo</a:t>
            </a:r>
            <a:endParaRPr lang="en-US" sz="1600" dirty="0"/>
          </a:p>
        </p:txBody>
      </p:sp>
      <p:sp>
        <p:nvSpPr>
          <p:cNvPr id="22" name="Text 15"/>
          <p:cNvSpPr txBox="1"/>
          <p:nvPr/>
        </p:nvSpPr>
        <p:spPr>
          <a:xfrm>
            <a:off x="9561576" y="3330448"/>
            <a:ext cx="1758696" cy="1150112"/>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cuando no aparece una palabra</a:t>
            </a:r>
            <a:endParaRPr lang="en-US" sz="1300" dirty="0"/>
          </a:p>
        </p:txBody>
      </p:sp>
      <p:sp>
        <p:nvSpPr>
          <p:cNvPr id="23" name="Shape 16"/>
          <p:cNvSpPr/>
          <p:nvPr/>
        </p:nvSpPr>
        <p:spPr>
          <a:xfrm>
            <a:off x="4389120" y="4892040"/>
            <a:ext cx="7159752" cy="1463040"/>
          </a:xfrm>
          <a:prstGeom prst="roundRect">
            <a:avLst>
              <a:gd name="adj" fmla="val 10000"/>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4" name="Shape 17"/>
          <p:cNvSpPr/>
          <p:nvPr/>
        </p:nvSpPr>
        <p:spPr>
          <a:xfrm>
            <a:off x="4754880" y="5234940"/>
            <a:ext cx="777240" cy="777240"/>
          </a:xfrm>
          <a:prstGeom prst="ellipse">
            <a:avLst/>
          </a:prstGeom>
          <a:solidFill>
            <a:srgbClr val="C68C6C"/>
          </a:solidFill>
          <a:ln w="12700">
            <a:solidFill>
              <a:srgbClr val="C68C6C"/>
            </a:solidFill>
            <a:prstDash val="solid"/>
          </a:ln>
        </p:spPr>
      </p:sp>
      <p:pic>
        <p:nvPicPr>
          <p:cNvPr id="25" name="Image 4" descr="preencoded.png">    </p:cNvPr>
          <p:cNvPicPr>
            <a:picLocks noChangeAspect="1"/>
          </p:cNvPicPr>
          <p:nvPr/>
        </p:nvPicPr>
        <p:blipFill>
          <a:blip r:embed="rId5"/>
          <a:stretch>
            <a:fillRect/>
          </a:stretch>
        </p:blipFill>
        <p:spPr>
          <a:xfrm>
            <a:off x="4964735" y="5444795"/>
            <a:ext cx="357530" cy="357530"/>
          </a:xfrm>
          <a:prstGeom prst="rect">
            <a:avLst/>
          </a:prstGeom>
        </p:spPr>
      </p:pic>
      <p:sp>
        <p:nvSpPr>
          <p:cNvPr id="26" name="Text 18"/>
          <p:cNvSpPr txBox="1"/>
          <p:nvPr/>
        </p:nvSpPr>
        <p:spPr>
          <a:xfrm>
            <a:off x="5852160" y="4892040"/>
            <a:ext cx="5376672" cy="146304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Con el patrón identificado, decidimos qué necesitas</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Una herramienta de comunicación, una explicación de idioma, práctica más focalizada o un nivel distinto de exposición.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05 / 10</a:t>
            </a:r>
            <a:endParaRPr lang="en-US" sz="1100" dirty="0"/>
          </a:p>
        </p:txBody>
      </p:sp>
      <p:sp>
        <p:nvSpPr>
          <p:cNvPr id="5" name="Text 1"/>
          <p:cNvSpPr txBox="1"/>
          <p:nvPr/>
        </p:nvSpPr>
        <p:spPr>
          <a:xfrm>
            <a:off x="640080" y="1280160"/>
            <a:ext cx="3429000" cy="620776"/>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El retry</a:t>
            </a:r>
            <a:endParaRPr lang="en-US" sz="3400" dirty="0"/>
          </a:p>
        </p:txBody>
      </p:sp>
      <p:sp>
        <p:nvSpPr>
          <p:cNvPr id="6" name="Text 2"/>
          <p:cNvSpPr txBox="1"/>
          <p:nvPr/>
        </p:nvSpPr>
        <p:spPr>
          <a:xfrm>
            <a:off x="640080" y="2038096"/>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El feedback se vuelve útil cuando realmente lo usas</a:t>
            </a:r>
            <a:endParaRPr lang="en-US" sz="1600" dirty="0"/>
          </a:p>
        </p:txBody>
      </p:sp>
      <p:sp>
        <p:nvSpPr>
          <p:cNvPr id="7" name="Shape 3"/>
          <p:cNvSpPr/>
          <p:nvPr/>
        </p:nvSpPr>
        <p:spPr>
          <a:xfrm>
            <a:off x="4389120" y="1280160"/>
            <a:ext cx="1183234" cy="2377440"/>
          </a:xfrm>
          <a:prstGeom prst="roundRect">
            <a:avLst>
              <a:gd name="adj" fmla="val 1236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52137" y="1481328"/>
            <a:ext cx="457200" cy="457200"/>
          </a:xfrm>
          <a:prstGeom prst="ellipse">
            <a:avLst/>
          </a:prstGeom>
          <a:solidFill>
            <a:srgbClr val="C68C6C"/>
          </a:solidFill>
          <a:ln w="12700">
            <a:solidFill>
              <a:srgbClr val="C68C6C"/>
            </a:solidFill>
            <a:prstDash val="solid"/>
          </a:ln>
        </p:spPr>
      </p:sp>
      <p:sp>
        <p:nvSpPr>
          <p:cNvPr id="9" name="Text 5"/>
          <p:cNvSpPr txBox="1"/>
          <p:nvPr/>
        </p:nvSpPr>
        <p:spPr>
          <a:xfrm>
            <a:off x="4752137" y="1481328"/>
            <a:ext cx="457200" cy="457200"/>
          </a:xfrm>
          <a:prstGeom prst="rect">
            <a:avLst/>
          </a:prstGeom>
          <a:noFill/>
          <a:ln/>
        </p:spPr>
        <p:txBody>
          <a:bodyPr wrap="square" lIns="0" tIns="0" rIns="0" bIns="0" rtlCol="0" anchor="ctr"/>
          <a:lstStyle/>
          <a:p>
            <a:pPr algn="ctr" indent="0" marL="0">
              <a:buNone/>
            </a:pPr>
            <a:r>
              <a:rPr lang="en-US" sz="1400" b="1" dirty="0">
                <a:solidFill>
                  <a:srgbClr val="FFFDF9"/>
                </a:solidFill>
                <a:latin typeface="Source Serif Pro" pitchFamily="34" charset="0"/>
                <a:ea typeface="Source Serif Pro" pitchFamily="34" charset="-122"/>
                <a:cs typeface="Source Serif Pro" pitchFamily="34" charset="-120"/>
              </a:rPr>
              <a:t>1</a:t>
            </a:r>
            <a:endParaRPr lang="en-US" sz="1400" dirty="0"/>
          </a:p>
        </p:txBody>
      </p:sp>
      <p:sp>
        <p:nvSpPr>
          <p:cNvPr id="10" name="Text 6"/>
          <p:cNvSpPr txBox="1"/>
          <p:nvPr/>
        </p:nvSpPr>
        <p:spPr>
          <a:xfrm>
            <a:off x="4498848" y="2057400"/>
            <a:ext cx="963778" cy="1417320"/>
          </a:xfrm>
          <a:prstGeom prst="rect">
            <a:avLst/>
          </a:prstGeom>
          <a:noFill/>
          <a:ln/>
        </p:spPr>
        <p:txBody>
          <a:bodyPr wrap="square" lIns="0" tIns="0" rIns="0" bIns="0" rtlCol="0" anchor="ctr"/>
          <a:lstStyle/>
          <a:p>
            <a:pPr algn="ctr" indent="0" marL="0">
              <a:buNone/>
            </a:pPr>
            <a:r>
              <a:rPr lang="en-US" sz="1400" b="1" dirty="0">
                <a:solidFill>
                  <a:srgbClr val="81552E"/>
                </a:solidFill>
                <a:latin typeface="Open Sans" pitchFamily="34" charset="0"/>
                <a:ea typeface="Open Sans" pitchFamily="34" charset="-122"/>
                <a:cs typeface="Open Sans" pitchFamily="34" charset="-120"/>
              </a:rPr>
              <a:t>Dices algo</a:t>
            </a:r>
            <a:endParaRPr lang="en-US" sz="1400" dirty="0"/>
          </a:p>
        </p:txBody>
      </p:sp>
      <p:pic>
        <p:nvPicPr>
          <p:cNvPr id="11" name="Image 1" descr="preencoded.png">    </p:cNvPr>
          <p:cNvPicPr>
            <a:picLocks noChangeAspect="1"/>
          </p:cNvPicPr>
          <p:nvPr/>
        </p:nvPicPr>
        <p:blipFill>
          <a:blip r:embed="rId2"/>
          <a:stretch>
            <a:fillRect/>
          </a:stretch>
        </p:blipFill>
        <p:spPr>
          <a:xfrm>
            <a:off x="5636362" y="2377440"/>
            <a:ext cx="182880" cy="182880"/>
          </a:xfrm>
          <a:prstGeom prst="rect">
            <a:avLst/>
          </a:prstGeom>
        </p:spPr>
      </p:pic>
      <p:sp>
        <p:nvSpPr>
          <p:cNvPr id="12" name="Shape 7"/>
          <p:cNvSpPr/>
          <p:nvPr/>
        </p:nvSpPr>
        <p:spPr>
          <a:xfrm>
            <a:off x="5883250" y="1280160"/>
            <a:ext cx="1183234" cy="2377440"/>
          </a:xfrm>
          <a:prstGeom prst="roundRect">
            <a:avLst>
              <a:gd name="adj" fmla="val 1236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6246266" y="1481328"/>
            <a:ext cx="457200" cy="457200"/>
          </a:xfrm>
          <a:prstGeom prst="ellipse">
            <a:avLst/>
          </a:prstGeom>
          <a:solidFill>
            <a:srgbClr val="C68C6C"/>
          </a:solidFill>
          <a:ln w="12700">
            <a:solidFill>
              <a:srgbClr val="C68C6C"/>
            </a:solidFill>
            <a:prstDash val="solid"/>
          </a:ln>
        </p:spPr>
      </p:sp>
      <p:sp>
        <p:nvSpPr>
          <p:cNvPr id="14" name="Text 9"/>
          <p:cNvSpPr txBox="1"/>
          <p:nvPr/>
        </p:nvSpPr>
        <p:spPr>
          <a:xfrm>
            <a:off x="6246266" y="1481328"/>
            <a:ext cx="457200" cy="457200"/>
          </a:xfrm>
          <a:prstGeom prst="rect">
            <a:avLst/>
          </a:prstGeom>
          <a:noFill/>
          <a:ln/>
        </p:spPr>
        <p:txBody>
          <a:bodyPr wrap="square" lIns="0" tIns="0" rIns="0" bIns="0" rtlCol="0" anchor="ctr"/>
          <a:lstStyle/>
          <a:p>
            <a:pPr algn="ctr" indent="0" marL="0">
              <a:buNone/>
            </a:pPr>
            <a:r>
              <a:rPr lang="en-US" sz="1400" b="1" dirty="0">
                <a:solidFill>
                  <a:srgbClr val="FFFDF9"/>
                </a:solidFill>
                <a:latin typeface="Source Serif Pro" pitchFamily="34" charset="0"/>
                <a:ea typeface="Source Serif Pro" pitchFamily="34" charset="-122"/>
                <a:cs typeface="Source Serif Pro" pitchFamily="34" charset="-120"/>
              </a:rPr>
              <a:t>2</a:t>
            </a:r>
            <a:endParaRPr lang="en-US" sz="1400" dirty="0"/>
          </a:p>
        </p:txBody>
      </p:sp>
      <p:sp>
        <p:nvSpPr>
          <p:cNvPr id="15" name="Text 10"/>
          <p:cNvSpPr txBox="1"/>
          <p:nvPr/>
        </p:nvSpPr>
        <p:spPr>
          <a:xfrm>
            <a:off x="5992978" y="2057400"/>
            <a:ext cx="963778" cy="1417320"/>
          </a:xfrm>
          <a:prstGeom prst="rect">
            <a:avLst/>
          </a:prstGeom>
          <a:noFill/>
          <a:ln/>
        </p:spPr>
        <p:txBody>
          <a:bodyPr wrap="square" lIns="0" tIns="0" rIns="0" bIns="0" rtlCol="0" anchor="ctr"/>
          <a:lstStyle/>
          <a:p>
            <a:pPr algn="ctr" indent="0" marL="0">
              <a:buNone/>
            </a:pPr>
            <a:r>
              <a:rPr lang="en-US" sz="1400" b="1" dirty="0">
                <a:solidFill>
                  <a:srgbClr val="81552E"/>
                </a:solidFill>
                <a:latin typeface="Open Sans" pitchFamily="34" charset="0"/>
                <a:ea typeface="Open Sans" pitchFamily="34" charset="-122"/>
                <a:cs typeface="Open Sans" pitchFamily="34" charset="-120"/>
              </a:rPr>
              <a:t>Miramos qué pasó</a:t>
            </a:r>
            <a:endParaRPr lang="en-US" sz="1400" dirty="0"/>
          </a:p>
        </p:txBody>
      </p:sp>
      <p:pic>
        <p:nvPicPr>
          <p:cNvPr id="16" name="Image 2" descr="preencoded.png">    </p:cNvPr>
          <p:cNvPicPr>
            <a:picLocks noChangeAspect="1"/>
          </p:cNvPicPr>
          <p:nvPr/>
        </p:nvPicPr>
        <p:blipFill>
          <a:blip r:embed="rId3"/>
          <a:stretch>
            <a:fillRect/>
          </a:stretch>
        </p:blipFill>
        <p:spPr>
          <a:xfrm>
            <a:off x="7130491" y="2377440"/>
            <a:ext cx="182880" cy="182880"/>
          </a:xfrm>
          <a:prstGeom prst="rect">
            <a:avLst/>
          </a:prstGeom>
        </p:spPr>
      </p:pic>
      <p:sp>
        <p:nvSpPr>
          <p:cNvPr id="17" name="Shape 11"/>
          <p:cNvSpPr/>
          <p:nvPr/>
        </p:nvSpPr>
        <p:spPr>
          <a:xfrm>
            <a:off x="7377379" y="1280160"/>
            <a:ext cx="1183234" cy="2377440"/>
          </a:xfrm>
          <a:prstGeom prst="roundRect">
            <a:avLst>
              <a:gd name="adj" fmla="val 1236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7740396" y="1481328"/>
            <a:ext cx="457200" cy="457200"/>
          </a:xfrm>
          <a:prstGeom prst="ellipse">
            <a:avLst/>
          </a:prstGeom>
          <a:solidFill>
            <a:srgbClr val="C68C6C"/>
          </a:solidFill>
          <a:ln w="12700">
            <a:solidFill>
              <a:srgbClr val="C68C6C"/>
            </a:solidFill>
            <a:prstDash val="solid"/>
          </a:ln>
        </p:spPr>
      </p:sp>
      <p:sp>
        <p:nvSpPr>
          <p:cNvPr id="19" name="Text 13"/>
          <p:cNvSpPr txBox="1"/>
          <p:nvPr/>
        </p:nvSpPr>
        <p:spPr>
          <a:xfrm>
            <a:off x="7740396" y="1481328"/>
            <a:ext cx="457200" cy="457200"/>
          </a:xfrm>
          <a:prstGeom prst="rect">
            <a:avLst/>
          </a:prstGeom>
          <a:noFill/>
          <a:ln/>
        </p:spPr>
        <p:txBody>
          <a:bodyPr wrap="square" lIns="0" tIns="0" rIns="0" bIns="0" rtlCol="0" anchor="ctr"/>
          <a:lstStyle/>
          <a:p>
            <a:pPr algn="ctr" indent="0" marL="0">
              <a:buNone/>
            </a:pPr>
            <a:r>
              <a:rPr lang="en-US" sz="1400" b="1" dirty="0">
                <a:solidFill>
                  <a:srgbClr val="FFFDF9"/>
                </a:solidFill>
                <a:latin typeface="Source Serif Pro" pitchFamily="34" charset="0"/>
                <a:ea typeface="Source Serif Pro" pitchFamily="34" charset="-122"/>
                <a:cs typeface="Source Serif Pro" pitchFamily="34" charset="-120"/>
              </a:rPr>
              <a:t>3</a:t>
            </a:r>
            <a:endParaRPr lang="en-US" sz="1400" dirty="0"/>
          </a:p>
        </p:txBody>
      </p:sp>
      <p:sp>
        <p:nvSpPr>
          <p:cNvPr id="20" name="Text 14"/>
          <p:cNvSpPr txBox="1"/>
          <p:nvPr/>
        </p:nvSpPr>
        <p:spPr>
          <a:xfrm>
            <a:off x="7487107" y="2057400"/>
            <a:ext cx="963778" cy="1417320"/>
          </a:xfrm>
          <a:prstGeom prst="rect">
            <a:avLst/>
          </a:prstGeom>
          <a:noFill/>
          <a:ln/>
        </p:spPr>
        <p:txBody>
          <a:bodyPr wrap="square" lIns="0" tIns="0" rIns="0" bIns="0" rtlCol="0" anchor="ctr"/>
          <a:lstStyle/>
          <a:p>
            <a:pPr algn="ctr" indent="0" marL="0">
              <a:buNone/>
            </a:pPr>
            <a:r>
              <a:rPr lang="en-US" sz="1400" b="1" dirty="0">
                <a:solidFill>
                  <a:srgbClr val="81552E"/>
                </a:solidFill>
                <a:latin typeface="Open Sans" pitchFamily="34" charset="0"/>
                <a:ea typeface="Open Sans" pitchFamily="34" charset="-122"/>
                <a:cs typeface="Open Sans" pitchFamily="34" charset="-120"/>
              </a:rPr>
              <a:t>Elegimos qué ajustar</a:t>
            </a:r>
            <a:endParaRPr lang="en-US" sz="1400" dirty="0"/>
          </a:p>
        </p:txBody>
      </p:sp>
      <p:pic>
        <p:nvPicPr>
          <p:cNvPr id="21" name="Image 3" descr="preencoded.png">    </p:cNvPr>
          <p:cNvPicPr>
            <a:picLocks noChangeAspect="1"/>
          </p:cNvPicPr>
          <p:nvPr/>
        </p:nvPicPr>
        <p:blipFill>
          <a:blip r:embed="rId4"/>
          <a:stretch>
            <a:fillRect/>
          </a:stretch>
        </p:blipFill>
        <p:spPr>
          <a:xfrm>
            <a:off x="8624621" y="2377440"/>
            <a:ext cx="182880" cy="182880"/>
          </a:xfrm>
          <a:prstGeom prst="rect">
            <a:avLst/>
          </a:prstGeom>
        </p:spPr>
      </p:pic>
      <p:sp>
        <p:nvSpPr>
          <p:cNvPr id="22" name="Shape 15"/>
          <p:cNvSpPr/>
          <p:nvPr/>
        </p:nvSpPr>
        <p:spPr>
          <a:xfrm>
            <a:off x="8871509" y="1280160"/>
            <a:ext cx="1183234" cy="2377440"/>
          </a:xfrm>
          <a:prstGeom prst="roundRect">
            <a:avLst>
              <a:gd name="adj" fmla="val 1236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9234526" y="1481328"/>
            <a:ext cx="457200" cy="457200"/>
          </a:xfrm>
          <a:prstGeom prst="ellipse">
            <a:avLst/>
          </a:prstGeom>
          <a:solidFill>
            <a:srgbClr val="C68C6C"/>
          </a:solidFill>
          <a:ln w="12700">
            <a:solidFill>
              <a:srgbClr val="C68C6C"/>
            </a:solidFill>
            <a:prstDash val="solid"/>
          </a:ln>
        </p:spPr>
      </p:sp>
      <p:sp>
        <p:nvSpPr>
          <p:cNvPr id="24" name="Text 17"/>
          <p:cNvSpPr txBox="1"/>
          <p:nvPr/>
        </p:nvSpPr>
        <p:spPr>
          <a:xfrm>
            <a:off x="9234526" y="1481328"/>
            <a:ext cx="457200" cy="457200"/>
          </a:xfrm>
          <a:prstGeom prst="rect">
            <a:avLst/>
          </a:prstGeom>
          <a:noFill/>
          <a:ln/>
        </p:spPr>
        <p:txBody>
          <a:bodyPr wrap="square" lIns="0" tIns="0" rIns="0" bIns="0" rtlCol="0" anchor="ctr"/>
          <a:lstStyle/>
          <a:p>
            <a:pPr algn="ctr" indent="0" marL="0">
              <a:buNone/>
            </a:pPr>
            <a:r>
              <a:rPr lang="en-US" sz="1400" b="1" dirty="0">
                <a:solidFill>
                  <a:srgbClr val="FFFDF9"/>
                </a:solidFill>
                <a:latin typeface="Source Serif Pro" pitchFamily="34" charset="0"/>
                <a:ea typeface="Source Serif Pro" pitchFamily="34" charset="-122"/>
                <a:cs typeface="Source Serif Pro" pitchFamily="34" charset="-120"/>
              </a:rPr>
              <a:t>4</a:t>
            </a:r>
            <a:endParaRPr lang="en-US" sz="1400" dirty="0"/>
          </a:p>
        </p:txBody>
      </p:sp>
      <p:sp>
        <p:nvSpPr>
          <p:cNvPr id="25" name="Text 18"/>
          <p:cNvSpPr txBox="1"/>
          <p:nvPr/>
        </p:nvSpPr>
        <p:spPr>
          <a:xfrm>
            <a:off x="8981237" y="2057400"/>
            <a:ext cx="963778" cy="1417320"/>
          </a:xfrm>
          <a:prstGeom prst="rect">
            <a:avLst/>
          </a:prstGeom>
          <a:noFill/>
          <a:ln/>
        </p:spPr>
        <p:txBody>
          <a:bodyPr wrap="square" lIns="0" tIns="0" rIns="0" bIns="0" rtlCol="0" anchor="ctr"/>
          <a:lstStyle/>
          <a:p>
            <a:pPr algn="ctr" indent="0" marL="0">
              <a:buNone/>
            </a:pPr>
            <a:r>
              <a:rPr lang="en-US" sz="1400" b="1" dirty="0">
                <a:solidFill>
                  <a:srgbClr val="81552E"/>
                </a:solidFill>
                <a:latin typeface="Open Sans" pitchFamily="34" charset="0"/>
                <a:ea typeface="Open Sans" pitchFamily="34" charset="-122"/>
                <a:cs typeface="Open Sans" pitchFamily="34" charset="-120"/>
              </a:rPr>
              <a:t>Haces el ajuste</a:t>
            </a:r>
            <a:endParaRPr lang="en-US" sz="1400" dirty="0"/>
          </a:p>
        </p:txBody>
      </p:sp>
      <p:pic>
        <p:nvPicPr>
          <p:cNvPr id="26" name="Image 4" descr="preencoded.png">    </p:cNvPr>
          <p:cNvPicPr>
            <a:picLocks noChangeAspect="1"/>
          </p:cNvPicPr>
          <p:nvPr/>
        </p:nvPicPr>
        <p:blipFill>
          <a:blip r:embed="rId5"/>
          <a:stretch>
            <a:fillRect/>
          </a:stretch>
        </p:blipFill>
        <p:spPr>
          <a:xfrm>
            <a:off x="10118750" y="2377440"/>
            <a:ext cx="182880" cy="182880"/>
          </a:xfrm>
          <a:prstGeom prst="rect">
            <a:avLst/>
          </a:prstGeom>
        </p:spPr>
      </p:pic>
      <p:sp>
        <p:nvSpPr>
          <p:cNvPr id="27" name="Shape 19"/>
          <p:cNvSpPr/>
          <p:nvPr/>
        </p:nvSpPr>
        <p:spPr>
          <a:xfrm>
            <a:off x="10365638" y="1280160"/>
            <a:ext cx="1183234" cy="2377440"/>
          </a:xfrm>
          <a:prstGeom prst="roundRect">
            <a:avLst>
              <a:gd name="adj" fmla="val 12365"/>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28" name="Shape 20"/>
          <p:cNvSpPr/>
          <p:nvPr/>
        </p:nvSpPr>
        <p:spPr>
          <a:xfrm>
            <a:off x="10728655" y="1481328"/>
            <a:ext cx="457200" cy="457200"/>
          </a:xfrm>
          <a:prstGeom prst="ellipse">
            <a:avLst/>
          </a:prstGeom>
          <a:solidFill>
            <a:srgbClr val="C68C6C"/>
          </a:solidFill>
          <a:ln w="12700">
            <a:solidFill>
              <a:srgbClr val="C68C6C"/>
            </a:solidFill>
            <a:prstDash val="solid"/>
          </a:ln>
        </p:spPr>
      </p:sp>
      <p:sp>
        <p:nvSpPr>
          <p:cNvPr id="29" name="Text 21"/>
          <p:cNvSpPr txBox="1"/>
          <p:nvPr/>
        </p:nvSpPr>
        <p:spPr>
          <a:xfrm>
            <a:off x="10728655" y="1481328"/>
            <a:ext cx="457200" cy="457200"/>
          </a:xfrm>
          <a:prstGeom prst="rect">
            <a:avLst/>
          </a:prstGeom>
          <a:noFill/>
          <a:ln/>
        </p:spPr>
        <p:txBody>
          <a:bodyPr wrap="square" lIns="0" tIns="0" rIns="0" bIns="0" rtlCol="0" anchor="ctr"/>
          <a:lstStyle/>
          <a:p>
            <a:pPr algn="ctr" indent="0" marL="0">
              <a:buNone/>
            </a:pPr>
            <a:r>
              <a:rPr lang="en-US" sz="1400" b="1" dirty="0">
                <a:solidFill>
                  <a:srgbClr val="FFFDF9"/>
                </a:solidFill>
                <a:latin typeface="Source Serif Pro" pitchFamily="34" charset="0"/>
                <a:ea typeface="Source Serif Pro" pitchFamily="34" charset="-122"/>
                <a:cs typeface="Source Serif Pro" pitchFamily="34" charset="-120"/>
              </a:rPr>
              <a:t>5</a:t>
            </a:r>
            <a:endParaRPr lang="en-US" sz="1400" dirty="0"/>
          </a:p>
        </p:txBody>
      </p:sp>
      <p:sp>
        <p:nvSpPr>
          <p:cNvPr id="30" name="Text 22"/>
          <p:cNvSpPr txBox="1"/>
          <p:nvPr/>
        </p:nvSpPr>
        <p:spPr>
          <a:xfrm>
            <a:off x="10475366" y="2057400"/>
            <a:ext cx="963778" cy="1417320"/>
          </a:xfrm>
          <a:prstGeom prst="rect">
            <a:avLst/>
          </a:prstGeom>
          <a:noFill/>
          <a:ln/>
        </p:spPr>
        <p:txBody>
          <a:bodyPr wrap="square" lIns="0" tIns="0" rIns="0" bIns="0" rtlCol="0" anchor="ctr"/>
          <a:lstStyle/>
          <a:p>
            <a:pPr algn="ctr" indent="0" marL="0">
              <a:buNone/>
            </a:pPr>
            <a:r>
              <a:rPr lang="en-US" sz="1400" b="1" dirty="0">
                <a:solidFill>
                  <a:srgbClr val="F8F5EE"/>
                </a:solidFill>
                <a:latin typeface="Open Sans" pitchFamily="34" charset="0"/>
                <a:ea typeface="Open Sans" pitchFamily="34" charset="-122"/>
                <a:cs typeface="Open Sans" pitchFamily="34" charset="-120"/>
              </a:rPr>
              <a:t>Lo vuelves a decir</a:t>
            </a:r>
            <a:endParaRPr lang="en-US" sz="1400" dirty="0"/>
          </a:p>
        </p:txBody>
      </p:sp>
      <p:sp>
        <p:nvSpPr>
          <p:cNvPr id="31" name="Shape 23"/>
          <p:cNvSpPr/>
          <p:nvPr/>
        </p:nvSpPr>
        <p:spPr>
          <a:xfrm>
            <a:off x="4389120" y="4754880"/>
            <a:ext cx="7159752" cy="1600200"/>
          </a:xfrm>
          <a:prstGeom prst="roundRect">
            <a:avLst>
              <a:gd name="adj" fmla="val 914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32" name="Shape 24"/>
          <p:cNvSpPr/>
          <p:nvPr/>
        </p:nvSpPr>
        <p:spPr>
          <a:xfrm>
            <a:off x="4754880" y="5166360"/>
            <a:ext cx="777240" cy="777240"/>
          </a:xfrm>
          <a:prstGeom prst="ellipse">
            <a:avLst/>
          </a:prstGeom>
          <a:solidFill>
            <a:srgbClr val="C68C6C"/>
          </a:solidFill>
          <a:ln w="12700">
            <a:solidFill>
              <a:srgbClr val="C68C6C"/>
            </a:solidFill>
            <a:prstDash val="solid"/>
          </a:ln>
        </p:spPr>
      </p:sp>
      <p:pic>
        <p:nvPicPr>
          <p:cNvPr id="33" name="Image 5" descr="preencoded.png">    </p:cNvPr>
          <p:cNvPicPr>
            <a:picLocks noChangeAspect="1"/>
          </p:cNvPicPr>
          <p:nvPr/>
        </p:nvPicPr>
        <p:blipFill>
          <a:blip r:embed="rId6"/>
          <a:stretch>
            <a:fillRect/>
          </a:stretch>
        </p:blipFill>
        <p:spPr>
          <a:xfrm>
            <a:off x="4964735" y="5376215"/>
            <a:ext cx="357530" cy="357530"/>
          </a:xfrm>
          <a:prstGeom prst="rect">
            <a:avLst/>
          </a:prstGeom>
        </p:spPr>
      </p:pic>
      <p:sp>
        <p:nvSpPr>
          <p:cNvPr id="34" name="Text 25"/>
          <p:cNvSpPr txBox="1"/>
          <p:nvPr/>
        </p:nvSpPr>
        <p:spPr>
          <a:xfrm>
            <a:off x="5852160" y="4754880"/>
            <a:ext cx="5376672" cy="160020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Produce · Feedback · Retry · Apply</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El objetivo no es que entiendas qué tendrías que haber dicho. Es que cada vez estés más disponible para decirlo cuando lo necesitas.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06 / 10</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La exposición es progresiva</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La práctica es justamente lo que te va haciendo estar más lista</a:t>
            </a:r>
            <a:endParaRPr lang="en-US" sz="1600" dirty="0"/>
          </a:p>
        </p:txBody>
      </p:sp>
      <p:sp>
        <p:nvSpPr>
          <p:cNvPr id="7" name="Shape 3"/>
          <p:cNvSpPr/>
          <p:nvPr/>
        </p:nvSpPr>
        <p:spPr>
          <a:xfrm>
            <a:off x="4389120" y="3611880"/>
            <a:ext cx="1300277" cy="1554480"/>
          </a:xfrm>
          <a:prstGeom prst="roundRect">
            <a:avLst>
              <a:gd name="adj" fmla="val 11252"/>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526280" y="3721608"/>
            <a:ext cx="1025957" cy="411480"/>
          </a:xfrm>
          <a:prstGeom prst="rect">
            <a:avLst/>
          </a:prstGeom>
          <a:noFill/>
          <a:ln/>
        </p:spPr>
        <p:txBody>
          <a:bodyPr wrap="square" lIns="0" tIns="0" rIns="0" bIns="0" rtlCol="0" anchor="ctr"/>
          <a:lstStyle/>
          <a:p>
            <a:pPr indent="0" marL="0">
              <a:buNone/>
            </a:pPr>
            <a:r>
              <a:rPr lang="en-US" sz="2200" b="1" dirty="0">
                <a:solidFill>
                  <a:srgbClr val="81552E"/>
                </a:solidFill>
                <a:latin typeface="Source Serif Pro" pitchFamily="34" charset="0"/>
                <a:ea typeface="Source Serif Pro" pitchFamily="34" charset="-122"/>
                <a:cs typeface="Source Serif Pro" pitchFamily="34" charset="-120"/>
              </a:rPr>
              <a:t>1</a:t>
            </a:r>
            <a:endParaRPr lang="en-US" sz="2200" dirty="0"/>
          </a:p>
        </p:txBody>
      </p:sp>
      <p:sp>
        <p:nvSpPr>
          <p:cNvPr id="9" name="Text 5"/>
          <p:cNvSpPr txBox="1"/>
          <p:nvPr/>
        </p:nvSpPr>
        <p:spPr>
          <a:xfrm>
            <a:off x="4526280" y="4160520"/>
            <a:ext cx="1025957" cy="868680"/>
          </a:xfrm>
          <a:prstGeom prst="rect">
            <a:avLst/>
          </a:prstGeom>
          <a:noFill/>
          <a:ln/>
        </p:spPr>
        <p:txBody>
          <a:bodyPr wrap="square" lIns="0" tIns="0" rIns="0" bIns="0" rtlCol="0" anchor="t"/>
          <a:lstStyle/>
          <a:p>
            <a:pPr indent="0" marL="0">
              <a:spcAft>
                <a:spcPts val="400"/>
              </a:spcAft>
              <a:buNone/>
            </a:pPr>
            <a:r>
              <a:rPr lang="en-US" sz="1250" b="1" dirty="0">
                <a:solidFill>
                  <a:srgbClr val="3F1E0D"/>
                </a:solidFill>
                <a:latin typeface="Open Sans" pitchFamily="34" charset="0"/>
                <a:ea typeface="Open Sans" pitchFamily="34" charset="-122"/>
                <a:cs typeface="Open Sans" pitchFamily="34" charset="-120"/>
              </a:rPr>
              <a:t>Con apoyo</a:t>
            </a:r>
            <a:endParaRPr lang="en-US" sz="1250" dirty="0"/>
          </a:p>
          <a:p>
            <a:pPr indent="0" marL="0">
              <a:spcAft>
                <a:spcPts val="400"/>
              </a:spcAft>
              <a:buNone/>
            </a:pPr>
            <a:r>
              <a:rPr lang="en-US" sz="1100" dirty="0">
                <a:solidFill>
                  <a:srgbClr val="3F1E0D"/>
                </a:solidFill>
                <a:latin typeface="Open Sans" pitchFamily="34" charset="0"/>
                <a:ea typeface="Open Sans" pitchFamily="34" charset="-122"/>
                <a:cs typeface="Open Sans" pitchFamily="34" charset="-120"/>
              </a:rPr>
              <a:t>lenguaje útil a la vista, tiempo para preparar, estructura clara</a:t>
            </a:r>
            <a:endParaRPr lang="en-US" sz="1250" dirty="0"/>
          </a:p>
        </p:txBody>
      </p:sp>
      <p:sp>
        <p:nvSpPr>
          <p:cNvPr id="10" name="Shape 6"/>
          <p:cNvSpPr/>
          <p:nvPr/>
        </p:nvSpPr>
        <p:spPr>
          <a:xfrm>
            <a:off x="5853989" y="3028950"/>
            <a:ext cx="1300277" cy="2137410"/>
          </a:xfrm>
          <a:prstGeom prst="roundRect">
            <a:avLst>
              <a:gd name="adj" fmla="val 11252"/>
            </a:avLst>
          </a:prstGeom>
          <a:solidFill>
            <a:srgbClr val="EDE5CC"/>
          </a:solidFill>
          <a:ln w="12700">
            <a:solidFill>
              <a:srgbClr val="EDE5CC"/>
            </a:solidFill>
            <a:prstDash val="solid"/>
          </a:ln>
          <a:effectLst>
            <a:outerShdw sx="100000" sy="100000" kx="0" ky="0" algn="bl" rotWithShape="0" blurRad="177800" dist="38100" dir="5400000">
              <a:srgbClr val="3F1E0D">
                <a:alpha val="10000"/>
              </a:srgbClr>
            </a:outerShdw>
          </a:effectLst>
        </p:spPr>
      </p:sp>
      <p:sp>
        <p:nvSpPr>
          <p:cNvPr id="11" name="Text 7"/>
          <p:cNvSpPr txBox="1"/>
          <p:nvPr/>
        </p:nvSpPr>
        <p:spPr>
          <a:xfrm>
            <a:off x="5991149" y="3138678"/>
            <a:ext cx="1025957" cy="411480"/>
          </a:xfrm>
          <a:prstGeom prst="rect">
            <a:avLst/>
          </a:prstGeom>
          <a:noFill/>
          <a:ln/>
        </p:spPr>
        <p:txBody>
          <a:bodyPr wrap="square" lIns="0" tIns="0" rIns="0" bIns="0" rtlCol="0" anchor="ctr"/>
          <a:lstStyle/>
          <a:p>
            <a:pPr indent="0" marL="0">
              <a:buNone/>
            </a:pPr>
            <a:r>
              <a:rPr lang="en-US" sz="2200" b="1" dirty="0">
                <a:solidFill>
                  <a:srgbClr val="81552E"/>
                </a:solidFill>
                <a:latin typeface="Source Serif Pro" pitchFamily="34" charset="0"/>
                <a:ea typeface="Source Serif Pro" pitchFamily="34" charset="-122"/>
                <a:cs typeface="Source Serif Pro" pitchFamily="34" charset="-120"/>
              </a:rPr>
              <a:t>2</a:t>
            </a:r>
            <a:endParaRPr lang="en-US" sz="2200" dirty="0"/>
          </a:p>
        </p:txBody>
      </p:sp>
      <p:sp>
        <p:nvSpPr>
          <p:cNvPr id="12" name="Text 8"/>
          <p:cNvSpPr txBox="1"/>
          <p:nvPr/>
        </p:nvSpPr>
        <p:spPr>
          <a:xfrm>
            <a:off x="5991149" y="3577590"/>
            <a:ext cx="1025957" cy="1451610"/>
          </a:xfrm>
          <a:prstGeom prst="rect">
            <a:avLst/>
          </a:prstGeom>
          <a:noFill/>
          <a:ln/>
        </p:spPr>
        <p:txBody>
          <a:bodyPr wrap="square" lIns="0" tIns="0" rIns="0" bIns="0" rtlCol="0" anchor="t"/>
          <a:lstStyle/>
          <a:p>
            <a:pPr indent="0" marL="0">
              <a:spcAft>
                <a:spcPts val="400"/>
              </a:spcAft>
              <a:buNone/>
            </a:pPr>
            <a:r>
              <a:rPr lang="en-US" sz="1250" b="1" dirty="0">
                <a:solidFill>
                  <a:srgbClr val="3F1E0D"/>
                </a:solidFill>
                <a:latin typeface="Open Sans" pitchFamily="34" charset="0"/>
                <a:ea typeface="Open Sans" pitchFamily="34" charset="-122"/>
                <a:cs typeface="Open Sans" pitchFamily="34" charset="-120"/>
              </a:rPr>
              <a:t>Preparando</a:t>
            </a:r>
            <a:endParaRPr lang="en-US" sz="1250" dirty="0"/>
          </a:p>
        </p:txBody>
      </p:sp>
      <p:sp>
        <p:nvSpPr>
          <p:cNvPr id="13" name="Shape 9"/>
          <p:cNvSpPr/>
          <p:nvPr/>
        </p:nvSpPr>
        <p:spPr>
          <a:xfrm>
            <a:off x="7318858" y="2446020"/>
            <a:ext cx="1300277" cy="2720340"/>
          </a:xfrm>
          <a:prstGeom prst="roundRect">
            <a:avLst>
              <a:gd name="adj" fmla="val 11252"/>
            </a:avLst>
          </a:prstGeom>
          <a:solidFill>
            <a:srgbClr val="C68C6C"/>
          </a:solidFill>
          <a:ln w="12700">
            <a:solidFill>
              <a:srgbClr val="C68C6C"/>
            </a:solidFill>
            <a:prstDash val="solid"/>
          </a:ln>
          <a:effectLst>
            <a:outerShdw sx="100000" sy="100000" kx="0" ky="0" algn="bl" rotWithShape="0" blurRad="177800" dist="38100" dir="5400000">
              <a:srgbClr val="3F1E0D">
                <a:alpha val="10000"/>
              </a:srgbClr>
            </a:outerShdw>
          </a:effectLst>
        </p:spPr>
      </p:sp>
      <p:sp>
        <p:nvSpPr>
          <p:cNvPr id="14" name="Text 10"/>
          <p:cNvSpPr txBox="1"/>
          <p:nvPr/>
        </p:nvSpPr>
        <p:spPr>
          <a:xfrm>
            <a:off x="7456018" y="2555748"/>
            <a:ext cx="1025957" cy="411480"/>
          </a:xfrm>
          <a:prstGeom prst="rect">
            <a:avLst/>
          </a:prstGeom>
          <a:noFill/>
          <a:ln/>
        </p:spPr>
        <p:txBody>
          <a:bodyPr wrap="square" lIns="0" tIns="0" rIns="0" bIns="0" rtlCol="0" anchor="ctr"/>
          <a:lstStyle/>
          <a:p>
            <a:pPr indent="0" marL="0">
              <a:buNone/>
            </a:pPr>
            <a:r>
              <a:rPr lang="en-US" sz="2200" b="1" dirty="0">
                <a:solidFill>
                  <a:srgbClr val="F8F5EE"/>
                </a:solidFill>
                <a:latin typeface="Source Serif Pro" pitchFamily="34" charset="0"/>
                <a:ea typeface="Source Serif Pro" pitchFamily="34" charset="-122"/>
                <a:cs typeface="Source Serif Pro" pitchFamily="34" charset="-120"/>
              </a:rPr>
              <a:t>3</a:t>
            </a:r>
            <a:endParaRPr lang="en-US" sz="2200" dirty="0"/>
          </a:p>
        </p:txBody>
      </p:sp>
      <p:sp>
        <p:nvSpPr>
          <p:cNvPr id="15" name="Text 11"/>
          <p:cNvSpPr txBox="1"/>
          <p:nvPr/>
        </p:nvSpPr>
        <p:spPr>
          <a:xfrm>
            <a:off x="7456018" y="2994660"/>
            <a:ext cx="1025957" cy="2034540"/>
          </a:xfrm>
          <a:prstGeom prst="rect">
            <a:avLst/>
          </a:prstGeom>
          <a:noFill/>
          <a:ln/>
        </p:spPr>
        <p:txBody>
          <a:bodyPr wrap="square" lIns="0" tIns="0" rIns="0" bIns="0" rtlCol="0" anchor="t"/>
          <a:lstStyle/>
          <a:p>
            <a:pPr indent="0" marL="0">
              <a:spcAft>
                <a:spcPts val="400"/>
              </a:spcAft>
              <a:buNone/>
            </a:pPr>
            <a:r>
              <a:rPr lang="en-US" sz="1250" b="1" dirty="0">
                <a:solidFill>
                  <a:srgbClr val="F8F5EE"/>
                </a:solidFill>
                <a:latin typeface="Open Sans" pitchFamily="34" charset="0"/>
                <a:ea typeface="Open Sans" pitchFamily="34" charset="-122"/>
                <a:cs typeface="Open Sans" pitchFamily="34" charset="-120"/>
              </a:rPr>
              <a:t>Menos preparación</a:t>
            </a:r>
            <a:endParaRPr lang="en-US" sz="1250" dirty="0"/>
          </a:p>
        </p:txBody>
      </p:sp>
      <p:sp>
        <p:nvSpPr>
          <p:cNvPr id="16" name="Shape 12"/>
          <p:cNvSpPr/>
          <p:nvPr/>
        </p:nvSpPr>
        <p:spPr>
          <a:xfrm>
            <a:off x="8783726" y="1863090"/>
            <a:ext cx="1300277" cy="3303270"/>
          </a:xfrm>
          <a:prstGeom prst="roundRect">
            <a:avLst>
              <a:gd name="adj" fmla="val 11252"/>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7" name="Text 13"/>
          <p:cNvSpPr txBox="1"/>
          <p:nvPr/>
        </p:nvSpPr>
        <p:spPr>
          <a:xfrm>
            <a:off x="8920886" y="1972818"/>
            <a:ext cx="1025957" cy="411480"/>
          </a:xfrm>
          <a:prstGeom prst="rect">
            <a:avLst/>
          </a:prstGeom>
          <a:noFill/>
          <a:ln/>
        </p:spPr>
        <p:txBody>
          <a:bodyPr wrap="square" lIns="0" tIns="0" rIns="0" bIns="0" rtlCol="0" anchor="ctr"/>
          <a:lstStyle/>
          <a:p>
            <a:pPr indent="0" marL="0">
              <a:buNone/>
            </a:pPr>
            <a:r>
              <a:rPr lang="en-US" sz="2200" b="1" dirty="0">
                <a:solidFill>
                  <a:srgbClr val="F8F5EE"/>
                </a:solidFill>
                <a:latin typeface="Source Serif Pro" pitchFamily="34" charset="0"/>
                <a:ea typeface="Source Serif Pro" pitchFamily="34" charset="-122"/>
                <a:cs typeface="Source Serif Pro" pitchFamily="34" charset="-120"/>
              </a:rPr>
              <a:t>4</a:t>
            </a:r>
            <a:endParaRPr lang="en-US" sz="2200" dirty="0"/>
          </a:p>
        </p:txBody>
      </p:sp>
      <p:sp>
        <p:nvSpPr>
          <p:cNvPr id="18" name="Text 14"/>
          <p:cNvSpPr txBox="1"/>
          <p:nvPr/>
        </p:nvSpPr>
        <p:spPr>
          <a:xfrm>
            <a:off x="8920886" y="2411730"/>
            <a:ext cx="1025957" cy="2617470"/>
          </a:xfrm>
          <a:prstGeom prst="rect">
            <a:avLst/>
          </a:prstGeom>
          <a:noFill/>
          <a:ln/>
        </p:spPr>
        <p:txBody>
          <a:bodyPr wrap="square" lIns="0" tIns="0" rIns="0" bIns="0" rtlCol="0" anchor="t"/>
          <a:lstStyle/>
          <a:p>
            <a:pPr indent="0" marL="0">
              <a:spcAft>
                <a:spcPts val="400"/>
              </a:spcAft>
              <a:buNone/>
            </a:pPr>
            <a:r>
              <a:rPr lang="en-US" sz="1250" b="1" dirty="0">
                <a:solidFill>
                  <a:srgbClr val="F8F5EE"/>
                </a:solidFill>
                <a:latin typeface="Open Sans" pitchFamily="34" charset="0"/>
                <a:ea typeface="Open Sans" pitchFamily="34" charset="-122"/>
                <a:cs typeface="Open Sans" pitchFamily="34" charset="-120"/>
              </a:rPr>
              <a:t>Espontánea</a:t>
            </a:r>
            <a:endParaRPr lang="en-US" sz="1250" dirty="0"/>
          </a:p>
        </p:txBody>
      </p:sp>
      <p:sp>
        <p:nvSpPr>
          <p:cNvPr id="19" name="Shape 15"/>
          <p:cNvSpPr/>
          <p:nvPr/>
        </p:nvSpPr>
        <p:spPr>
          <a:xfrm>
            <a:off x="10248595" y="1280160"/>
            <a:ext cx="1300277" cy="3886200"/>
          </a:xfrm>
          <a:prstGeom prst="roundRect">
            <a:avLst>
              <a:gd name="adj" fmla="val 11252"/>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20" name="Text 16"/>
          <p:cNvSpPr txBox="1"/>
          <p:nvPr/>
        </p:nvSpPr>
        <p:spPr>
          <a:xfrm>
            <a:off x="10385755" y="1389888"/>
            <a:ext cx="1025957" cy="411480"/>
          </a:xfrm>
          <a:prstGeom prst="rect">
            <a:avLst/>
          </a:prstGeom>
          <a:noFill/>
          <a:ln/>
        </p:spPr>
        <p:txBody>
          <a:bodyPr wrap="square" lIns="0" tIns="0" rIns="0" bIns="0" rtlCol="0" anchor="ctr"/>
          <a:lstStyle/>
          <a:p>
            <a:pPr indent="0" marL="0">
              <a:buNone/>
            </a:pPr>
            <a:r>
              <a:rPr lang="en-US" sz="2200" b="1" dirty="0">
                <a:solidFill>
                  <a:srgbClr val="F8F5EE"/>
                </a:solidFill>
                <a:latin typeface="Source Serif Pro" pitchFamily="34" charset="0"/>
                <a:ea typeface="Source Serif Pro" pitchFamily="34" charset="-122"/>
                <a:cs typeface="Source Serif Pro" pitchFamily="34" charset="-120"/>
              </a:rPr>
              <a:t>5</a:t>
            </a:r>
            <a:endParaRPr lang="en-US" sz="2200" dirty="0"/>
          </a:p>
        </p:txBody>
      </p:sp>
      <p:sp>
        <p:nvSpPr>
          <p:cNvPr id="21" name="Text 17"/>
          <p:cNvSpPr txBox="1"/>
          <p:nvPr/>
        </p:nvSpPr>
        <p:spPr>
          <a:xfrm>
            <a:off x="10385755" y="1828800"/>
            <a:ext cx="1025957" cy="3200400"/>
          </a:xfrm>
          <a:prstGeom prst="rect">
            <a:avLst/>
          </a:prstGeom>
          <a:noFill/>
          <a:ln/>
        </p:spPr>
        <p:txBody>
          <a:bodyPr wrap="square" lIns="0" tIns="0" rIns="0" bIns="0" rtlCol="0" anchor="t"/>
          <a:lstStyle/>
          <a:p>
            <a:pPr indent="0" marL="0">
              <a:spcAft>
                <a:spcPts val="400"/>
              </a:spcAft>
              <a:buNone/>
            </a:pPr>
            <a:r>
              <a:rPr lang="en-US" sz="1250" b="1" dirty="0">
                <a:solidFill>
                  <a:srgbClr val="F8F5EE"/>
                </a:solidFill>
                <a:latin typeface="Open Sans" pitchFamily="34" charset="0"/>
                <a:ea typeface="Open Sans" pitchFamily="34" charset="-122"/>
                <a:cs typeface="Open Sans" pitchFamily="34" charset="-120"/>
              </a:rPr>
              <a:t>Bajo presión</a:t>
            </a:r>
            <a:endParaRPr lang="en-US" sz="1250" dirty="0"/>
          </a:p>
          <a:p>
            <a:pPr indent="0" marL="0">
              <a:spcAft>
                <a:spcPts val="400"/>
              </a:spcAft>
              <a:buNone/>
            </a:pPr>
            <a:r>
              <a:rPr lang="en-US" sz="1100" dirty="0">
                <a:solidFill>
                  <a:srgbClr val="F8F5EE"/>
                </a:solidFill>
                <a:latin typeface="Open Sans" pitchFamily="34" charset="0"/>
                <a:ea typeface="Open Sans" pitchFamily="34" charset="-122"/>
                <a:cs typeface="Open Sans" pitchFamily="34" charset="-120"/>
              </a:rPr>
              <a:t>interrupciones, preguntas inesperadas, menos tiempo</a:t>
            </a:r>
            <a:endParaRPr lang="en-US" sz="1250" dirty="0"/>
          </a:p>
        </p:txBody>
      </p:sp>
      <p:sp>
        <p:nvSpPr>
          <p:cNvPr id="22" name="Shape 18"/>
          <p:cNvSpPr/>
          <p:nvPr/>
        </p:nvSpPr>
        <p:spPr>
          <a:xfrm>
            <a:off x="4389120" y="5440680"/>
            <a:ext cx="7159752" cy="914400"/>
          </a:xfrm>
          <a:prstGeom prst="roundRect">
            <a:avLst>
              <a:gd name="adj" fmla="val 16000"/>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3" name="Shape 19"/>
          <p:cNvSpPr/>
          <p:nvPr/>
        </p:nvSpPr>
        <p:spPr>
          <a:xfrm>
            <a:off x="4754880" y="5577840"/>
            <a:ext cx="640080" cy="640080"/>
          </a:xfrm>
          <a:prstGeom prst="ellipse">
            <a:avLst/>
          </a:prstGeom>
          <a:solidFill>
            <a:srgbClr val="C68C6C"/>
          </a:solidFill>
          <a:ln w="12700">
            <a:solidFill>
              <a:srgbClr val="C68C6C"/>
            </a:solidFill>
            <a:prstDash val="solid"/>
          </a:ln>
        </p:spPr>
      </p:sp>
      <p:pic>
        <p:nvPicPr>
          <p:cNvPr id="24" name="Image 1" descr="preencoded.png">    </p:cNvPr>
          <p:cNvPicPr>
            <a:picLocks noChangeAspect="1"/>
          </p:cNvPicPr>
          <p:nvPr/>
        </p:nvPicPr>
        <p:blipFill>
          <a:blip r:embed="rId2"/>
          <a:stretch>
            <a:fillRect/>
          </a:stretch>
        </p:blipFill>
        <p:spPr>
          <a:xfrm>
            <a:off x="4927702" y="5750662"/>
            <a:ext cx="294437" cy="294437"/>
          </a:xfrm>
          <a:prstGeom prst="rect">
            <a:avLst/>
          </a:prstGeom>
        </p:spPr>
      </p:pic>
      <p:sp>
        <p:nvSpPr>
          <p:cNvPr id="25" name="Text 20"/>
          <p:cNvSpPr txBox="1"/>
          <p:nvPr/>
        </p:nvSpPr>
        <p:spPr>
          <a:xfrm>
            <a:off x="5715000" y="5440680"/>
            <a:ext cx="5513832" cy="914400"/>
          </a:xfrm>
          <a:prstGeom prst="rect">
            <a:avLst/>
          </a:prstGeom>
          <a:noFill/>
          <a:ln/>
        </p:spPr>
        <p:txBody>
          <a:bodyPr wrap="square" lIns="0" tIns="0" rIns="0" bIns="0" rtlCol="0" anchor="ctr"/>
          <a:lstStyle/>
          <a:p>
            <a:pPr indent="0" marL="0">
              <a:spcAft>
                <a:spcPts val="500"/>
              </a:spcAft>
              <a:buNone/>
            </a:pPr>
            <a:r>
              <a:rPr lang="en-US" sz="1600" b="1" dirty="0">
                <a:solidFill>
                  <a:srgbClr val="3F1E0D"/>
                </a:solidFill>
                <a:latin typeface="Open Sans" pitchFamily="34" charset="0"/>
                <a:ea typeface="Open Sans" pitchFamily="34" charset="-122"/>
                <a:cs typeface="Open Sans" pitchFamily="34" charset="-120"/>
              </a:rPr>
              <a:t>No necesitas demostrar que estás lista </a:t>
            </a:r>
            <a:pPr indent="0" marL="0">
              <a:spcAft>
                <a:spcPts val="500"/>
              </a:spcAft>
              <a:buNone/>
            </a:pPr>
            <a:r>
              <a:rPr lang="en-US" sz="1600" dirty="0">
                <a:solidFill>
                  <a:srgbClr val="3F1E0D"/>
                </a:solidFill>
                <a:latin typeface="Open Sans" pitchFamily="34" charset="0"/>
                <a:ea typeface="Open Sans" pitchFamily="34" charset="-122"/>
                <a:cs typeface="Open Sans" pitchFamily="34" charset="-120"/>
              </a:rPr>
              <a:t>para recién ahí practicar.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07 / 10</a:t>
            </a:r>
            <a:endParaRPr lang="en-US" sz="1100" dirty="0"/>
          </a:p>
        </p:txBody>
      </p:sp>
      <p:sp>
        <p:nvSpPr>
          <p:cNvPr id="5" name="Text 1"/>
          <p:cNvSpPr txBox="1"/>
          <p:nvPr/>
        </p:nvSpPr>
        <p:spPr>
          <a:xfrm>
            <a:off x="640080" y="1280160"/>
            <a:ext cx="3429000" cy="1331976"/>
          </a:xfrm>
          <a:prstGeom prst="rect">
            <a:avLst/>
          </a:prstGeom>
          <a:noFill/>
          <a:ln/>
        </p:spPr>
        <p:txBody>
          <a:bodyPr wrap="square" lIns="0" tIns="0" rIns="0" bIns="0" rtlCol="0" anchor="t"/>
          <a:lstStyle/>
          <a:p>
            <a:pPr indent="0" marL="0">
              <a:lnSpc>
                <a:spcPct val="92000"/>
              </a:lnSpc>
              <a:buNone/>
            </a:pPr>
            <a:r>
              <a:rPr lang="en-US" sz="2800" b="1" dirty="0">
                <a:solidFill>
                  <a:srgbClr val="81552E"/>
                </a:solidFill>
                <a:latin typeface="Source Serif Pro" pitchFamily="34" charset="0"/>
                <a:ea typeface="Source Serif Pro" pitchFamily="34" charset="-122"/>
                <a:cs typeface="Source Serif Pro" pitchFamily="34" charset="-120"/>
              </a:rPr>
              <a:t>La confianza no es un requisito previo</a:t>
            </a:r>
            <a:endParaRPr lang="en-US" sz="2800" dirty="0"/>
          </a:p>
        </p:txBody>
      </p:sp>
      <p:sp>
        <p:nvSpPr>
          <p:cNvPr id="6" name="Text 2"/>
          <p:cNvSpPr txBox="1"/>
          <p:nvPr/>
        </p:nvSpPr>
        <p:spPr>
          <a:xfrm>
            <a:off x="640080" y="2749296"/>
            <a:ext cx="3291840" cy="36576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Vamos a trabajar al revés</a:t>
            </a:r>
            <a:endParaRPr lang="en-US" sz="1600" dirty="0"/>
          </a:p>
        </p:txBody>
      </p:sp>
      <p:sp>
        <p:nvSpPr>
          <p:cNvPr id="7" name="Shape 3"/>
          <p:cNvSpPr/>
          <p:nvPr/>
        </p:nvSpPr>
        <p:spPr>
          <a:xfrm>
            <a:off x="4389120" y="1280160"/>
            <a:ext cx="2179320" cy="1325880"/>
          </a:xfrm>
          <a:prstGeom prst="roundRect">
            <a:avLst>
              <a:gd name="adj" fmla="val 11034"/>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5250180" y="1481328"/>
            <a:ext cx="457200" cy="457200"/>
          </a:xfrm>
          <a:prstGeom prst="ellipse">
            <a:avLst/>
          </a:prstGeom>
          <a:solidFill>
            <a:srgbClr val="C68C6C"/>
          </a:solidFill>
          <a:ln w="12700">
            <a:solidFill>
              <a:srgbClr val="C68C6C"/>
            </a:solidFill>
            <a:prstDash val="solid"/>
          </a:ln>
        </p:spPr>
      </p:sp>
      <p:sp>
        <p:nvSpPr>
          <p:cNvPr id="9" name="Text 5"/>
          <p:cNvSpPr txBox="1"/>
          <p:nvPr/>
        </p:nvSpPr>
        <p:spPr>
          <a:xfrm>
            <a:off x="5250180" y="1481328"/>
            <a:ext cx="457200" cy="457200"/>
          </a:xfrm>
          <a:prstGeom prst="rect">
            <a:avLst/>
          </a:prstGeom>
          <a:noFill/>
          <a:ln/>
        </p:spPr>
        <p:txBody>
          <a:bodyPr wrap="square" lIns="0" tIns="0" rIns="0" bIns="0" rtlCol="0" anchor="ctr"/>
          <a:lstStyle/>
          <a:p>
            <a:pPr algn="ctr" indent="0" marL="0">
              <a:buNone/>
            </a:pPr>
            <a:r>
              <a:rPr lang="en-US" sz="1400" b="1" dirty="0">
                <a:solidFill>
                  <a:srgbClr val="FFFDF9"/>
                </a:solidFill>
                <a:latin typeface="Source Serif Pro" pitchFamily="34" charset="0"/>
                <a:ea typeface="Source Serif Pro" pitchFamily="34" charset="-122"/>
                <a:cs typeface="Source Serif Pro" pitchFamily="34" charset="-120"/>
              </a:rPr>
              <a:t>1</a:t>
            </a:r>
            <a:endParaRPr lang="en-US" sz="1400" dirty="0"/>
          </a:p>
        </p:txBody>
      </p:sp>
      <p:sp>
        <p:nvSpPr>
          <p:cNvPr id="10" name="Text 6"/>
          <p:cNvSpPr txBox="1"/>
          <p:nvPr/>
        </p:nvSpPr>
        <p:spPr>
          <a:xfrm>
            <a:off x="4498848" y="2057400"/>
            <a:ext cx="1959864" cy="365760"/>
          </a:xfrm>
          <a:prstGeom prst="rect">
            <a:avLst/>
          </a:prstGeom>
          <a:noFill/>
          <a:ln/>
        </p:spPr>
        <p:txBody>
          <a:bodyPr wrap="square" lIns="0" tIns="0" rIns="0" bIns="0" rtlCol="0" anchor="ctr"/>
          <a:lstStyle/>
          <a:p>
            <a:pPr algn="ctr" indent="0" marL="0">
              <a:buNone/>
            </a:pPr>
            <a:r>
              <a:rPr lang="en-US" sz="1600" b="1" dirty="0">
                <a:solidFill>
                  <a:srgbClr val="81552E"/>
                </a:solidFill>
                <a:latin typeface="Open Sans" pitchFamily="34" charset="0"/>
                <a:ea typeface="Open Sans" pitchFamily="34" charset="-122"/>
                <a:cs typeface="Open Sans" pitchFamily="34" charset="-120"/>
              </a:rPr>
              <a:t>Practicas</a:t>
            </a:r>
            <a:endParaRPr lang="en-US" sz="1600" dirty="0"/>
          </a:p>
        </p:txBody>
      </p:sp>
      <p:pic>
        <p:nvPicPr>
          <p:cNvPr id="11" name="Image 1" descr="preencoded.png">    </p:cNvPr>
          <p:cNvPicPr>
            <a:picLocks noChangeAspect="1"/>
          </p:cNvPicPr>
          <p:nvPr/>
        </p:nvPicPr>
        <p:blipFill>
          <a:blip r:embed="rId2"/>
          <a:stretch>
            <a:fillRect/>
          </a:stretch>
        </p:blipFill>
        <p:spPr>
          <a:xfrm>
            <a:off x="6632448" y="1851660"/>
            <a:ext cx="182880" cy="182880"/>
          </a:xfrm>
          <a:prstGeom prst="rect">
            <a:avLst/>
          </a:prstGeom>
        </p:spPr>
      </p:pic>
      <p:sp>
        <p:nvSpPr>
          <p:cNvPr id="12" name="Shape 7"/>
          <p:cNvSpPr/>
          <p:nvPr/>
        </p:nvSpPr>
        <p:spPr>
          <a:xfrm>
            <a:off x="6879336" y="1280160"/>
            <a:ext cx="2179320" cy="1325880"/>
          </a:xfrm>
          <a:prstGeom prst="roundRect">
            <a:avLst>
              <a:gd name="adj" fmla="val 11034"/>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7740396" y="1481328"/>
            <a:ext cx="457200" cy="457200"/>
          </a:xfrm>
          <a:prstGeom prst="ellipse">
            <a:avLst/>
          </a:prstGeom>
          <a:solidFill>
            <a:srgbClr val="C68C6C"/>
          </a:solidFill>
          <a:ln w="12700">
            <a:solidFill>
              <a:srgbClr val="C68C6C"/>
            </a:solidFill>
            <a:prstDash val="solid"/>
          </a:ln>
        </p:spPr>
      </p:sp>
      <p:sp>
        <p:nvSpPr>
          <p:cNvPr id="14" name="Text 9"/>
          <p:cNvSpPr txBox="1"/>
          <p:nvPr/>
        </p:nvSpPr>
        <p:spPr>
          <a:xfrm>
            <a:off x="7740396" y="1481328"/>
            <a:ext cx="457200" cy="457200"/>
          </a:xfrm>
          <a:prstGeom prst="rect">
            <a:avLst/>
          </a:prstGeom>
          <a:noFill/>
          <a:ln/>
        </p:spPr>
        <p:txBody>
          <a:bodyPr wrap="square" lIns="0" tIns="0" rIns="0" bIns="0" rtlCol="0" anchor="ctr"/>
          <a:lstStyle/>
          <a:p>
            <a:pPr algn="ctr" indent="0" marL="0">
              <a:buNone/>
            </a:pPr>
            <a:r>
              <a:rPr lang="en-US" sz="1400" b="1" dirty="0">
                <a:solidFill>
                  <a:srgbClr val="FFFDF9"/>
                </a:solidFill>
                <a:latin typeface="Source Serif Pro" pitchFamily="34" charset="0"/>
                <a:ea typeface="Source Serif Pro" pitchFamily="34" charset="-122"/>
                <a:cs typeface="Source Serif Pro" pitchFamily="34" charset="-120"/>
              </a:rPr>
              <a:t>2</a:t>
            </a:r>
            <a:endParaRPr lang="en-US" sz="1400" dirty="0"/>
          </a:p>
        </p:txBody>
      </p:sp>
      <p:sp>
        <p:nvSpPr>
          <p:cNvPr id="15" name="Text 10"/>
          <p:cNvSpPr txBox="1"/>
          <p:nvPr/>
        </p:nvSpPr>
        <p:spPr>
          <a:xfrm>
            <a:off x="6989064" y="2057400"/>
            <a:ext cx="1959864" cy="365760"/>
          </a:xfrm>
          <a:prstGeom prst="rect">
            <a:avLst/>
          </a:prstGeom>
          <a:noFill/>
          <a:ln/>
        </p:spPr>
        <p:txBody>
          <a:bodyPr wrap="square" lIns="0" tIns="0" rIns="0" bIns="0" rtlCol="0" anchor="ctr"/>
          <a:lstStyle/>
          <a:p>
            <a:pPr algn="ctr" indent="0" marL="0">
              <a:buNone/>
            </a:pPr>
            <a:r>
              <a:rPr lang="en-US" sz="1600" b="1" dirty="0">
                <a:solidFill>
                  <a:srgbClr val="81552E"/>
                </a:solidFill>
                <a:latin typeface="Open Sans" pitchFamily="34" charset="0"/>
                <a:ea typeface="Open Sans" pitchFamily="34" charset="-122"/>
                <a:cs typeface="Open Sans" pitchFamily="34" charset="-120"/>
              </a:rPr>
              <a:t>Construyes evidencia</a:t>
            </a:r>
            <a:endParaRPr lang="en-US" sz="1600" dirty="0"/>
          </a:p>
        </p:txBody>
      </p:sp>
      <p:pic>
        <p:nvPicPr>
          <p:cNvPr id="16" name="Image 2" descr="preencoded.png">    </p:cNvPr>
          <p:cNvPicPr>
            <a:picLocks noChangeAspect="1"/>
          </p:cNvPicPr>
          <p:nvPr/>
        </p:nvPicPr>
        <p:blipFill>
          <a:blip r:embed="rId3"/>
          <a:stretch>
            <a:fillRect/>
          </a:stretch>
        </p:blipFill>
        <p:spPr>
          <a:xfrm>
            <a:off x="9122664" y="1851660"/>
            <a:ext cx="182880" cy="182880"/>
          </a:xfrm>
          <a:prstGeom prst="rect">
            <a:avLst/>
          </a:prstGeom>
        </p:spPr>
      </p:pic>
      <p:sp>
        <p:nvSpPr>
          <p:cNvPr id="17" name="Shape 11"/>
          <p:cNvSpPr/>
          <p:nvPr/>
        </p:nvSpPr>
        <p:spPr>
          <a:xfrm>
            <a:off x="9369552" y="1280160"/>
            <a:ext cx="2179320" cy="1325880"/>
          </a:xfrm>
          <a:prstGeom prst="roundRect">
            <a:avLst>
              <a:gd name="adj" fmla="val 11034"/>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10230612" y="1481328"/>
            <a:ext cx="457200" cy="457200"/>
          </a:xfrm>
          <a:prstGeom prst="ellipse">
            <a:avLst/>
          </a:prstGeom>
          <a:solidFill>
            <a:srgbClr val="C68C6C"/>
          </a:solidFill>
          <a:ln w="12700">
            <a:solidFill>
              <a:srgbClr val="C68C6C"/>
            </a:solidFill>
            <a:prstDash val="solid"/>
          </a:ln>
        </p:spPr>
      </p:sp>
      <p:sp>
        <p:nvSpPr>
          <p:cNvPr id="19" name="Text 13"/>
          <p:cNvSpPr txBox="1"/>
          <p:nvPr/>
        </p:nvSpPr>
        <p:spPr>
          <a:xfrm>
            <a:off x="10230612" y="1481328"/>
            <a:ext cx="457200" cy="457200"/>
          </a:xfrm>
          <a:prstGeom prst="rect">
            <a:avLst/>
          </a:prstGeom>
          <a:noFill/>
          <a:ln/>
        </p:spPr>
        <p:txBody>
          <a:bodyPr wrap="square" lIns="0" tIns="0" rIns="0" bIns="0" rtlCol="0" anchor="ctr"/>
          <a:lstStyle/>
          <a:p>
            <a:pPr algn="ctr" indent="0" marL="0">
              <a:buNone/>
            </a:pPr>
            <a:r>
              <a:rPr lang="en-US" sz="1400" b="1" dirty="0">
                <a:solidFill>
                  <a:srgbClr val="FFFDF9"/>
                </a:solidFill>
                <a:latin typeface="Source Serif Pro" pitchFamily="34" charset="0"/>
                <a:ea typeface="Source Serif Pro" pitchFamily="34" charset="-122"/>
                <a:cs typeface="Source Serif Pro" pitchFamily="34" charset="-120"/>
              </a:rPr>
              <a:t>3</a:t>
            </a:r>
            <a:endParaRPr lang="en-US" sz="1400" dirty="0"/>
          </a:p>
        </p:txBody>
      </p:sp>
      <p:sp>
        <p:nvSpPr>
          <p:cNvPr id="20" name="Text 14"/>
          <p:cNvSpPr txBox="1"/>
          <p:nvPr/>
        </p:nvSpPr>
        <p:spPr>
          <a:xfrm>
            <a:off x="9479280" y="2057400"/>
            <a:ext cx="1959864" cy="365760"/>
          </a:xfrm>
          <a:prstGeom prst="rect">
            <a:avLst/>
          </a:prstGeom>
          <a:noFill/>
          <a:ln/>
        </p:spPr>
        <p:txBody>
          <a:bodyPr wrap="square" lIns="0" tIns="0" rIns="0" bIns="0" rtlCol="0" anchor="ctr"/>
          <a:lstStyle/>
          <a:p>
            <a:pPr algn="ctr" indent="0" marL="0">
              <a:buNone/>
            </a:pPr>
            <a:r>
              <a:rPr lang="en-US" sz="1600" b="1" dirty="0">
                <a:solidFill>
                  <a:srgbClr val="F8F5EE"/>
                </a:solidFill>
                <a:latin typeface="Open Sans" pitchFamily="34" charset="0"/>
                <a:ea typeface="Open Sans" pitchFamily="34" charset="-122"/>
                <a:cs typeface="Open Sans" pitchFamily="34" charset="-120"/>
              </a:rPr>
              <a:t>Crece la confianza</a:t>
            </a:r>
            <a:endParaRPr lang="en-US" sz="1600" dirty="0"/>
          </a:p>
        </p:txBody>
      </p:sp>
      <p:sp>
        <p:nvSpPr>
          <p:cNvPr id="21" name="Shape 15"/>
          <p:cNvSpPr/>
          <p:nvPr/>
        </p:nvSpPr>
        <p:spPr>
          <a:xfrm>
            <a:off x="4389120" y="2880360"/>
            <a:ext cx="7159752"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2" name="Text 16"/>
          <p:cNvSpPr txBox="1"/>
          <p:nvPr/>
        </p:nvSpPr>
        <p:spPr>
          <a:xfrm>
            <a:off x="4754880" y="3108960"/>
            <a:ext cx="6428232" cy="365760"/>
          </a:xfrm>
          <a:prstGeom prst="rect">
            <a:avLst/>
          </a:prstGeom>
          <a:noFill/>
          <a:ln/>
        </p:spPr>
        <p:txBody>
          <a:bodyPr wrap="square" lIns="0" tIns="0" rIns="0" bIns="0" rtlCol="0" anchor="ctr"/>
          <a:lstStyle/>
          <a:p>
            <a:pPr indent="0" marL="0">
              <a:buNone/>
            </a:pPr>
            <a:r>
              <a:rPr lang="en-US" sz="1800" b="1" dirty="0">
                <a:solidFill>
                  <a:srgbClr val="81552E"/>
                </a:solidFill>
                <a:latin typeface="Source Serif Pro" pitchFamily="34" charset="0"/>
                <a:ea typeface="Source Serif Pro" pitchFamily="34" charset="-122"/>
                <a:cs typeface="Source Serif Pro" pitchFamily="34" charset="-120"/>
              </a:rPr>
              <a:t>Evidencia es, por ejemplo…</a:t>
            </a:r>
            <a:endParaRPr lang="en-US" sz="1800" dirty="0"/>
          </a:p>
        </p:txBody>
      </p:sp>
      <p:sp>
        <p:nvSpPr>
          <p:cNvPr id="23" name="Text 17"/>
          <p:cNvSpPr txBox="1"/>
          <p:nvPr/>
        </p:nvSpPr>
        <p:spPr>
          <a:xfrm>
            <a:off x="4754880" y="3566160"/>
            <a:ext cx="6428232" cy="1280160"/>
          </a:xfrm>
          <a:prstGeom prst="rect">
            <a:avLst/>
          </a:prstGeom>
          <a:noFill/>
          <a:ln/>
        </p:spPr>
        <p:txBody>
          <a:bodyPr wrap="square" lIns="0" tIns="0" rIns="0" bIns="0" rtlCol="0" anchor="t"/>
          <a:lstStyle/>
          <a:p>
            <a:pPr marL="190500" indent="-190500">
              <a:spcAft>
                <a:spcPts val="500"/>
              </a:spcAft>
              <a:buSzPct val="100000"/>
              <a:buChar char="•"/>
            </a:pPr>
            <a:r>
              <a:rPr lang="en-US" sz="1400" dirty="0">
                <a:solidFill>
                  <a:srgbClr val="3F1E0D"/>
                </a:solidFill>
                <a:latin typeface="Open Sans" pitchFamily="34" charset="0"/>
                <a:ea typeface="Open Sans" pitchFamily="34" charset="-122"/>
                <a:cs typeface="Open Sans" pitchFamily="34" charset="-120"/>
              </a:rPr>
              <a:t>Respondes una pregunta que antes no podías responder</a:t>
            </a:r>
            <a:endParaRPr lang="en-US" sz="1400" dirty="0"/>
          </a:p>
          <a:p>
            <a:pPr marL="190500" indent="-190500">
              <a:spcAft>
                <a:spcPts val="500"/>
              </a:spcAft>
              <a:buSzPct val="100000"/>
              <a:buChar char="•"/>
            </a:pPr>
            <a:r>
              <a:rPr lang="en-US" sz="1400" dirty="0">
                <a:solidFill>
                  <a:srgbClr val="3F1E0D"/>
                </a:solidFill>
                <a:latin typeface="Open Sans" pitchFamily="34" charset="0"/>
                <a:ea typeface="Open Sans" pitchFamily="34" charset="-122"/>
                <a:cs typeface="Open Sans" pitchFamily="34" charset="-120"/>
              </a:rPr>
              <a:t>Explicas algo sin depender de un guion completo</a:t>
            </a:r>
            <a:endParaRPr lang="en-US" sz="1400" dirty="0"/>
          </a:p>
          <a:p>
            <a:pPr marL="190500" indent="-190500">
              <a:spcAft>
                <a:spcPts val="500"/>
              </a:spcAft>
              <a:buSzPct val="100000"/>
              <a:buChar char="•"/>
            </a:pPr>
            <a:r>
              <a:rPr lang="en-US" sz="1400" dirty="0">
                <a:solidFill>
                  <a:srgbClr val="3F1E0D"/>
                </a:solidFill>
                <a:latin typeface="Open Sans" pitchFamily="34" charset="0"/>
                <a:ea typeface="Open Sans" pitchFamily="34" charset="-122"/>
                <a:cs typeface="Open Sans" pitchFamily="34" charset="-120"/>
              </a:rPr>
              <a:t>Recuperas el hilo cuando lo pierdes</a:t>
            </a:r>
            <a:endParaRPr lang="en-US" sz="1400" dirty="0"/>
          </a:p>
          <a:p>
            <a:pPr marL="190500" indent="-190500">
              <a:spcAft>
                <a:spcPts val="500"/>
              </a:spcAft>
              <a:buSzPct val="100000"/>
              <a:buChar char="•"/>
            </a:pPr>
            <a:r>
              <a:rPr lang="en-US" sz="1400" dirty="0">
                <a:solidFill>
                  <a:srgbClr val="3F1E0D"/>
                </a:solidFill>
                <a:latin typeface="Open Sans" pitchFamily="34" charset="0"/>
                <a:ea typeface="Open Sans" pitchFamily="34" charset="-122"/>
                <a:cs typeface="Open Sans" pitchFamily="34" charset="-120"/>
              </a:rPr>
              <a:t>Algo que antes requería muchísimo esfuerzo empieza a estar más disponible</a:t>
            </a:r>
            <a:endParaRPr lang="en-US" sz="1400" dirty="0"/>
          </a:p>
        </p:txBody>
      </p:sp>
      <p:sp>
        <p:nvSpPr>
          <p:cNvPr id="24" name="Shape 18"/>
          <p:cNvSpPr/>
          <p:nvPr/>
        </p:nvSpPr>
        <p:spPr>
          <a:xfrm>
            <a:off x="4389120" y="5257800"/>
            <a:ext cx="7159752" cy="1097280"/>
          </a:xfrm>
          <a:prstGeom prst="roundRect">
            <a:avLst>
              <a:gd name="adj" fmla="val 1333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5" name="Shape 19"/>
          <p:cNvSpPr/>
          <p:nvPr/>
        </p:nvSpPr>
        <p:spPr>
          <a:xfrm>
            <a:off x="4754880" y="5417820"/>
            <a:ext cx="777240" cy="777240"/>
          </a:xfrm>
          <a:prstGeom prst="ellipse">
            <a:avLst/>
          </a:prstGeom>
          <a:solidFill>
            <a:srgbClr val="C68C6C"/>
          </a:solidFill>
          <a:ln w="12700">
            <a:solidFill>
              <a:srgbClr val="C68C6C"/>
            </a:solidFill>
            <a:prstDash val="solid"/>
          </a:ln>
        </p:spPr>
      </p:sp>
      <p:pic>
        <p:nvPicPr>
          <p:cNvPr id="26" name="Image 3" descr="preencoded.png">    </p:cNvPr>
          <p:cNvPicPr>
            <a:picLocks noChangeAspect="1"/>
          </p:cNvPicPr>
          <p:nvPr/>
        </p:nvPicPr>
        <p:blipFill>
          <a:blip r:embed="rId4"/>
          <a:stretch>
            <a:fillRect/>
          </a:stretch>
        </p:blipFill>
        <p:spPr>
          <a:xfrm>
            <a:off x="4964735" y="5627675"/>
            <a:ext cx="357530" cy="357530"/>
          </a:xfrm>
          <a:prstGeom prst="rect">
            <a:avLst/>
          </a:prstGeom>
        </p:spPr>
      </p:pic>
      <p:sp>
        <p:nvSpPr>
          <p:cNvPr id="27" name="Text 20"/>
          <p:cNvSpPr txBox="1"/>
          <p:nvPr/>
        </p:nvSpPr>
        <p:spPr>
          <a:xfrm>
            <a:off x="5852160" y="5257800"/>
            <a:ext cx="5376672" cy="109728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No esperes sentirte completamente lista para actuar. Primero construye evidencia de que puedes manejar más de lo que podías antes.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08 / 10</a:t>
            </a:r>
            <a:endParaRPr lang="en-US" sz="1100" dirty="0"/>
          </a:p>
        </p:txBody>
      </p:sp>
      <p:sp>
        <p:nvSpPr>
          <p:cNvPr id="5" name="Text 1"/>
          <p:cNvSpPr txBox="1"/>
          <p:nvPr/>
        </p:nvSpPr>
        <p:spPr>
          <a:xfrm>
            <a:off x="640080" y="1280160"/>
            <a:ext cx="3429000" cy="1417320"/>
          </a:xfrm>
          <a:prstGeom prst="rect">
            <a:avLst/>
          </a:prstGeom>
          <a:noFill/>
          <a:ln/>
        </p:spPr>
        <p:txBody>
          <a:bodyPr wrap="square" lIns="0" tIns="0" rIns="0" bIns="0" rtlCol="0" anchor="t"/>
          <a:lstStyle/>
          <a:p>
            <a:pPr indent="0" marL="0">
              <a:lnSpc>
                <a:spcPct val="92000"/>
              </a:lnSpc>
              <a:buNone/>
            </a:pPr>
            <a:r>
              <a:rPr lang="en-US" sz="3000" b="1" dirty="0">
                <a:solidFill>
                  <a:srgbClr val="81552E"/>
                </a:solidFill>
                <a:latin typeface="Source Serif Pro" pitchFamily="34" charset="0"/>
                <a:ea typeface="Source Serif Pro" pitchFamily="34" charset="-122"/>
                <a:cs typeface="Source Serif Pro" pitchFamily="34" charset="-120"/>
              </a:rPr>
              <a:t>Tu responsabilidad en el proceso</a:t>
            </a:r>
            <a:endParaRPr lang="en-US" sz="3000" dirty="0"/>
          </a:p>
        </p:txBody>
      </p:sp>
      <p:sp>
        <p:nvSpPr>
          <p:cNvPr id="6" name="Text 2"/>
          <p:cNvSpPr txBox="1"/>
          <p:nvPr/>
        </p:nvSpPr>
        <p:spPr>
          <a:xfrm>
            <a:off x="640080" y="2834640"/>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Yo no puedo producir la evidencia por ti</a:t>
            </a:r>
            <a:endParaRPr lang="en-US" sz="1600" dirty="0"/>
          </a:p>
        </p:txBody>
      </p:sp>
      <p:sp>
        <p:nvSpPr>
          <p:cNvPr id="7" name="Shape 3"/>
          <p:cNvSpPr/>
          <p:nvPr/>
        </p:nvSpPr>
        <p:spPr>
          <a:xfrm>
            <a:off x="4389120" y="1280160"/>
            <a:ext cx="3442716" cy="3429000"/>
          </a:xfrm>
          <a:prstGeom prst="roundRect">
            <a:avLst>
              <a:gd name="adj" fmla="val 42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754880" y="1554480"/>
            <a:ext cx="2802636" cy="393192"/>
          </a:xfrm>
          <a:prstGeom prst="rect">
            <a:avLst/>
          </a:prstGeom>
          <a:noFill/>
          <a:ln/>
        </p:spPr>
        <p:txBody>
          <a:bodyPr wrap="square" lIns="0" tIns="0" rIns="0" bIns="0" rtlCol="0" anchor="t"/>
          <a:lstStyle/>
          <a:p>
            <a:pPr indent="0" marL="0">
              <a:buNone/>
            </a:pPr>
            <a:r>
              <a:rPr lang="en-US" sz="1900" b="1" dirty="0">
                <a:solidFill>
                  <a:srgbClr val="81552E"/>
                </a:solidFill>
                <a:latin typeface="Source Serif Pro" pitchFamily="34" charset="0"/>
                <a:ea typeface="Source Serif Pro" pitchFamily="34" charset="-122"/>
                <a:cs typeface="Source Serif Pro" pitchFamily="34" charset="-120"/>
              </a:rPr>
              <a:t>Tu parte</a:t>
            </a:r>
            <a:endParaRPr lang="en-US" sz="1900" dirty="0"/>
          </a:p>
        </p:txBody>
      </p:sp>
      <p:sp>
        <p:nvSpPr>
          <p:cNvPr id="9" name="Text 5"/>
          <p:cNvSpPr txBox="1"/>
          <p:nvPr/>
        </p:nvSpPr>
        <p:spPr>
          <a:xfrm>
            <a:off x="4754880" y="2176272"/>
            <a:ext cx="2802636" cy="2350008"/>
          </a:xfrm>
          <a:prstGeom prst="rect">
            <a:avLst/>
          </a:prstGeom>
          <a:noFill/>
          <a:ln/>
        </p:spPr>
        <p:txBody>
          <a:bodyPr wrap="square" lIns="0" tIns="0" rIns="0" bIns="0" rtlCol="0" anchor="t"/>
          <a:lstStyle/>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traer situaciones reales</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producir inglés aunque no sea perfecto</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practicar entre sesiones</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usar el feedback y hacer retry</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llevarlo de nuevo a tu trabajo real</a:t>
            </a:r>
            <a:endParaRPr lang="en-US" sz="1450" dirty="0"/>
          </a:p>
        </p:txBody>
      </p:sp>
      <p:sp>
        <p:nvSpPr>
          <p:cNvPr id="10" name="Shape 6"/>
          <p:cNvSpPr/>
          <p:nvPr/>
        </p:nvSpPr>
        <p:spPr>
          <a:xfrm>
            <a:off x="8106156" y="1280160"/>
            <a:ext cx="3442716" cy="3429000"/>
          </a:xfrm>
          <a:prstGeom prst="roundRect">
            <a:avLst>
              <a:gd name="adj" fmla="val 4267"/>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1" name="Text 7"/>
          <p:cNvSpPr txBox="1"/>
          <p:nvPr/>
        </p:nvSpPr>
        <p:spPr>
          <a:xfrm>
            <a:off x="8471916" y="1554480"/>
            <a:ext cx="2802636" cy="694944"/>
          </a:xfrm>
          <a:prstGeom prst="rect">
            <a:avLst/>
          </a:prstGeom>
          <a:noFill/>
          <a:ln/>
        </p:spPr>
        <p:txBody>
          <a:bodyPr wrap="square" lIns="0" tIns="0" rIns="0" bIns="0" rtlCol="0" anchor="t"/>
          <a:lstStyle/>
          <a:p>
            <a:pPr indent="0" marL="0">
              <a:buNone/>
            </a:pPr>
            <a:r>
              <a:rPr lang="en-US" sz="1900" b="1" dirty="0">
                <a:solidFill>
                  <a:srgbClr val="F8F5EE"/>
                </a:solidFill>
                <a:latin typeface="Source Serif Pro" pitchFamily="34" charset="0"/>
                <a:ea typeface="Source Serif Pro" pitchFamily="34" charset="-122"/>
                <a:cs typeface="Source Serif Pro" pitchFamily="34" charset="-120"/>
              </a:rPr>
              <a:t>Mi trabajo como coach</a:t>
            </a:r>
            <a:endParaRPr lang="en-US" sz="1900" dirty="0"/>
          </a:p>
        </p:txBody>
      </p:sp>
      <p:sp>
        <p:nvSpPr>
          <p:cNvPr id="12" name="Text 8"/>
          <p:cNvSpPr txBox="1"/>
          <p:nvPr/>
        </p:nvSpPr>
        <p:spPr>
          <a:xfrm>
            <a:off x="8471916" y="2478024"/>
            <a:ext cx="2802636" cy="2048256"/>
          </a:xfrm>
          <a:prstGeom prst="rect">
            <a:avLst/>
          </a:prstGeom>
          <a:noFill/>
          <a:ln/>
        </p:spPr>
        <p:txBody>
          <a:bodyPr wrap="square" lIns="0" tIns="0" rIns="0" bIns="0" rtlCol="0" anchor="t"/>
          <a:lstStyle/>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diagnosticar lo que te está pasando</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ayudarte si te pierdes o no sabes qué practicar</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ajustar si la dificultad es demasiado alta</a:t>
            </a:r>
            <a:endParaRPr lang="en-US" sz="1450" dirty="0"/>
          </a:p>
        </p:txBody>
      </p:sp>
      <p:sp>
        <p:nvSpPr>
          <p:cNvPr id="13" name="Shape 9"/>
          <p:cNvSpPr/>
          <p:nvPr/>
        </p:nvSpPr>
        <p:spPr>
          <a:xfrm>
            <a:off x="4389120" y="4983480"/>
            <a:ext cx="7159752" cy="1371600"/>
          </a:xfrm>
          <a:prstGeom prst="roundRect">
            <a:avLst>
              <a:gd name="adj" fmla="val 10667"/>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4" name="Shape 10"/>
          <p:cNvSpPr/>
          <p:nvPr/>
        </p:nvSpPr>
        <p:spPr>
          <a:xfrm>
            <a:off x="4754880" y="5280660"/>
            <a:ext cx="777240" cy="777240"/>
          </a:xfrm>
          <a:prstGeom prst="ellipse">
            <a:avLst/>
          </a:prstGeom>
          <a:solidFill>
            <a:srgbClr val="C68C6C"/>
          </a:solidFill>
          <a:ln w="12700">
            <a:solidFill>
              <a:srgbClr val="C68C6C"/>
            </a:solidFill>
            <a:prstDash val="solid"/>
          </a:ln>
        </p:spPr>
      </p:sp>
      <p:pic>
        <p:nvPicPr>
          <p:cNvPr id="15" name="Image 1" descr="preencoded.png">    </p:cNvPr>
          <p:cNvPicPr>
            <a:picLocks noChangeAspect="1"/>
          </p:cNvPicPr>
          <p:nvPr/>
        </p:nvPicPr>
        <p:blipFill>
          <a:blip r:embed="rId2"/>
          <a:stretch>
            <a:fillRect/>
          </a:stretch>
        </p:blipFill>
        <p:spPr>
          <a:xfrm>
            <a:off x="4964735" y="5490515"/>
            <a:ext cx="357530" cy="357530"/>
          </a:xfrm>
          <a:prstGeom prst="rect">
            <a:avLst/>
          </a:prstGeom>
        </p:spPr>
      </p:pic>
      <p:sp>
        <p:nvSpPr>
          <p:cNvPr id="16" name="Text 11"/>
          <p:cNvSpPr txBox="1"/>
          <p:nvPr/>
        </p:nvSpPr>
        <p:spPr>
          <a:xfrm>
            <a:off x="5852160" y="4983480"/>
            <a:ext cx="5376672" cy="137160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Responsabilidad no significa hacer todo sola</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Pídeme ayuda. El Weekly Report nos ayuda a mantener esa comunicación abierta durante todo el programa.</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09 / 10</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El proceso debajo de todo AT WORK</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Partimos de tu comunicación y la usamos como información</a:t>
            </a:r>
            <a:endParaRPr lang="en-US" sz="1600" dirty="0"/>
          </a:p>
        </p:txBody>
      </p:sp>
      <p:sp>
        <p:nvSpPr>
          <p:cNvPr id="7" name="Shape 3"/>
          <p:cNvSpPr/>
          <p:nvPr/>
        </p:nvSpPr>
        <p:spPr>
          <a:xfrm>
            <a:off x="4389120" y="1280160"/>
            <a:ext cx="7159752" cy="568234"/>
          </a:xfrm>
          <a:prstGeom prst="roundRect">
            <a:avLst>
              <a:gd name="adj" fmla="val 2574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394460"/>
            <a:ext cx="339634" cy="339634"/>
          </a:xfrm>
          <a:prstGeom prst="ellipse">
            <a:avLst/>
          </a:prstGeom>
          <a:solidFill>
            <a:srgbClr val="C68C6C"/>
          </a:solidFill>
          <a:ln w="12700">
            <a:solidFill>
              <a:srgbClr val="C68C6C"/>
            </a:solidFill>
            <a:prstDash val="solid"/>
          </a:ln>
        </p:spPr>
      </p:sp>
      <p:sp>
        <p:nvSpPr>
          <p:cNvPr id="9" name="Text 5"/>
          <p:cNvSpPr txBox="1"/>
          <p:nvPr/>
        </p:nvSpPr>
        <p:spPr>
          <a:xfrm>
            <a:off x="4663440" y="1394460"/>
            <a:ext cx="339634" cy="339634"/>
          </a:xfrm>
          <a:prstGeom prst="rect">
            <a:avLst/>
          </a:prstGeom>
          <a:noFill/>
          <a:ln/>
        </p:spPr>
        <p:txBody>
          <a:bodyPr wrap="square" lIns="0" tIns="0" rIns="0" bIns="0" rtlCol="0" anchor="ctr"/>
          <a:lstStyle/>
          <a:p>
            <a:pPr algn="ctr" indent="0" marL="0">
              <a:buNone/>
            </a:pPr>
            <a:r>
              <a:rPr lang="en-US" sz="1040" b="1" dirty="0">
                <a:solidFill>
                  <a:srgbClr val="FFFDF9"/>
                </a:solidFill>
                <a:latin typeface="Source Serif Pro" pitchFamily="34" charset="0"/>
                <a:ea typeface="Source Serif Pro" pitchFamily="34" charset="-122"/>
                <a:cs typeface="Source Serif Pro" pitchFamily="34" charset="-120"/>
              </a:rPr>
              <a:t>1</a:t>
            </a:r>
            <a:endParaRPr lang="en-US" sz="1040" dirty="0"/>
          </a:p>
        </p:txBody>
      </p:sp>
      <p:sp>
        <p:nvSpPr>
          <p:cNvPr id="10" name="Text 6"/>
          <p:cNvSpPr txBox="1"/>
          <p:nvPr/>
        </p:nvSpPr>
        <p:spPr>
          <a:xfrm>
            <a:off x="5277394" y="1280160"/>
            <a:ext cx="5265638" cy="568234"/>
          </a:xfrm>
          <a:prstGeom prst="rect">
            <a:avLst/>
          </a:prstGeom>
          <a:noFill/>
          <a:ln/>
        </p:spPr>
        <p:txBody>
          <a:bodyPr wrap="square" lIns="0" tIns="0" rIns="0" bIns="0" rtlCol="0" anchor="ctr"/>
          <a:lstStyle/>
          <a:p>
            <a:pPr indent="0" marL="0">
              <a:spcAft>
                <a:spcPts val="200"/>
              </a:spcAft>
              <a:buNone/>
            </a:pPr>
            <a:r>
              <a:rPr lang="en-US" sz="1500" dirty="0">
                <a:solidFill>
                  <a:srgbClr val="3F1E0D"/>
                </a:solidFill>
                <a:latin typeface="Open Sans" pitchFamily="34" charset="0"/>
                <a:ea typeface="Open Sans" pitchFamily="34" charset="-122"/>
                <a:cs typeface="Open Sans" pitchFamily="34" charset="-120"/>
              </a:rPr>
              <a:t>Partimos de una situación real de comunicación</a:t>
            </a:r>
            <a:endParaRPr lang="en-US" sz="1500" dirty="0"/>
          </a:p>
        </p:txBody>
      </p:sp>
      <p:pic>
        <p:nvPicPr>
          <p:cNvPr id="11" name="Image 1" descr="preencoded.png">    </p:cNvPr>
          <p:cNvPicPr>
            <a:picLocks noChangeAspect="1"/>
          </p:cNvPicPr>
          <p:nvPr/>
        </p:nvPicPr>
        <p:blipFill>
          <a:blip r:embed="rId2"/>
          <a:stretch>
            <a:fillRect/>
          </a:stretch>
        </p:blipFill>
        <p:spPr>
          <a:xfrm>
            <a:off x="10817352" y="1372253"/>
            <a:ext cx="384048" cy="384048"/>
          </a:xfrm>
          <a:prstGeom prst="rect">
            <a:avLst/>
          </a:prstGeom>
        </p:spPr>
      </p:pic>
      <p:sp>
        <p:nvSpPr>
          <p:cNvPr id="12" name="Shape 7"/>
          <p:cNvSpPr/>
          <p:nvPr/>
        </p:nvSpPr>
        <p:spPr>
          <a:xfrm>
            <a:off x="4389120" y="2031274"/>
            <a:ext cx="7159752" cy="568234"/>
          </a:xfrm>
          <a:prstGeom prst="roundRect">
            <a:avLst>
              <a:gd name="adj" fmla="val 2574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4663440" y="2145574"/>
            <a:ext cx="339634" cy="339634"/>
          </a:xfrm>
          <a:prstGeom prst="ellipse">
            <a:avLst/>
          </a:prstGeom>
          <a:solidFill>
            <a:srgbClr val="C68C6C"/>
          </a:solidFill>
          <a:ln w="12700">
            <a:solidFill>
              <a:srgbClr val="C68C6C"/>
            </a:solidFill>
            <a:prstDash val="solid"/>
          </a:ln>
        </p:spPr>
      </p:sp>
      <p:sp>
        <p:nvSpPr>
          <p:cNvPr id="14" name="Text 9"/>
          <p:cNvSpPr txBox="1"/>
          <p:nvPr/>
        </p:nvSpPr>
        <p:spPr>
          <a:xfrm>
            <a:off x="4663440" y="2145574"/>
            <a:ext cx="339634" cy="339634"/>
          </a:xfrm>
          <a:prstGeom prst="rect">
            <a:avLst/>
          </a:prstGeom>
          <a:noFill/>
          <a:ln/>
        </p:spPr>
        <p:txBody>
          <a:bodyPr wrap="square" lIns="0" tIns="0" rIns="0" bIns="0" rtlCol="0" anchor="ctr"/>
          <a:lstStyle/>
          <a:p>
            <a:pPr algn="ctr" indent="0" marL="0">
              <a:buNone/>
            </a:pPr>
            <a:r>
              <a:rPr lang="en-US" sz="1040" b="1" dirty="0">
                <a:solidFill>
                  <a:srgbClr val="FFFDF9"/>
                </a:solidFill>
                <a:latin typeface="Source Serif Pro" pitchFamily="34" charset="0"/>
                <a:ea typeface="Source Serif Pro" pitchFamily="34" charset="-122"/>
                <a:cs typeface="Source Serif Pro" pitchFamily="34" charset="-120"/>
              </a:rPr>
              <a:t>2</a:t>
            </a:r>
            <a:endParaRPr lang="en-US" sz="1040" dirty="0"/>
          </a:p>
        </p:txBody>
      </p:sp>
      <p:sp>
        <p:nvSpPr>
          <p:cNvPr id="15" name="Text 10"/>
          <p:cNvSpPr txBox="1"/>
          <p:nvPr/>
        </p:nvSpPr>
        <p:spPr>
          <a:xfrm>
            <a:off x="5277394" y="2031274"/>
            <a:ext cx="5265638" cy="568234"/>
          </a:xfrm>
          <a:prstGeom prst="rect">
            <a:avLst/>
          </a:prstGeom>
          <a:noFill/>
          <a:ln/>
        </p:spPr>
        <p:txBody>
          <a:bodyPr wrap="square" lIns="0" tIns="0" rIns="0" bIns="0" rtlCol="0" anchor="ctr"/>
          <a:lstStyle/>
          <a:p>
            <a:pPr indent="0" marL="0">
              <a:spcAft>
                <a:spcPts val="200"/>
              </a:spcAft>
              <a:buNone/>
            </a:pPr>
            <a:r>
              <a:rPr lang="en-US" sz="1500" dirty="0">
                <a:solidFill>
                  <a:srgbClr val="3F1E0D"/>
                </a:solidFill>
                <a:latin typeface="Open Sans" pitchFamily="34" charset="0"/>
                <a:ea typeface="Open Sans" pitchFamily="34" charset="-122"/>
                <a:cs typeface="Open Sans" pitchFamily="34" charset="-120"/>
              </a:rPr>
              <a:t>Produces inglés</a:t>
            </a:r>
            <a:endParaRPr lang="en-US" sz="1500" dirty="0"/>
          </a:p>
        </p:txBody>
      </p:sp>
      <p:pic>
        <p:nvPicPr>
          <p:cNvPr id="16" name="Image 2" descr="preencoded.png">    </p:cNvPr>
          <p:cNvPicPr>
            <a:picLocks noChangeAspect="1"/>
          </p:cNvPicPr>
          <p:nvPr/>
        </p:nvPicPr>
        <p:blipFill>
          <a:blip r:embed="rId3"/>
          <a:stretch>
            <a:fillRect/>
          </a:stretch>
        </p:blipFill>
        <p:spPr>
          <a:xfrm>
            <a:off x="10817352" y="2123367"/>
            <a:ext cx="384048" cy="384048"/>
          </a:xfrm>
          <a:prstGeom prst="rect">
            <a:avLst/>
          </a:prstGeom>
        </p:spPr>
      </p:pic>
      <p:sp>
        <p:nvSpPr>
          <p:cNvPr id="17" name="Shape 11"/>
          <p:cNvSpPr/>
          <p:nvPr/>
        </p:nvSpPr>
        <p:spPr>
          <a:xfrm>
            <a:off x="4389120" y="2782389"/>
            <a:ext cx="7159752" cy="568234"/>
          </a:xfrm>
          <a:prstGeom prst="roundRect">
            <a:avLst>
              <a:gd name="adj" fmla="val 2574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4663440" y="2896689"/>
            <a:ext cx="339634" cy="339634"/>
          </a:xfrm>
          <a:prstGeom prst="ellipse">
            <a:avLst/>
          </a:prstGeom>
          <a:solidFill>
            <a:srgbClr val="C68C6C"/>
          </a:solidFill>
          <a:ln w="12700">
            <a:solidFill>
              <a:srgbClr val="C68C6C"/>
            </a:solidFill>
            <a:prstDash val="solid"/>
          </a:ln>
        </p:spPr>
      </p:sp>
      <p:sp>
        <p:nvSpPr>
          <p:cNvPr id="19" name="Text 13"/>
          <p:cNvSpPr txBox="1"/>
          <p:nvPr/>
        </p:nvSpPr>
        <p:spPr>
          <a:xfrm>
            <a:off x="4663440" y="2896689"/>
            <a:ext cx="339634" cy="339634"/>
          </a:xfrm>
          <a:prstGeom prst="rect">
            <a:avLst/>
          </a:prstGeom>
          <a:noFill/>
          <a:ln/>
        </p:spPr>
        <p:txBody>
          <a:bodyPr wrap="square" lIns="0" tIns="0" rIns="0" bIns="0" rtlCol="0" anchor="ctr"/>
          <a:lstStyle/>
          <a:p>
            <a:pPr algn="ctr" indent="0" marL="0">
              <a:buNone/>
            </a:pPr>
            <a:r>
              <a:rPr lang="en-US" sz="1040" b="1" dirty="0">
                <a:solidFill>
                  <a:srgbClr val="FFFDF9"/>
                </a:solidFill>
                <a:latin typeface="Source Serif Pro" pitchFamily="34" charset="0"/>
                <a:ea typeface="Source Serif Pro" pitchFamily="34" charset="-122"/>
                <a:cs typeface="Source Serif Pro" pitchFamily="34" charset="-120"/>
              </a:rPr>
              <a:t>3</a:t>
            </a:r>
            <a:endParaRPr lang="en-US" sz="1040" dirty="0"/>
          </a:p>
        </p:txBody>
      </p:sp>
      <p:sp>
        <p:nvSpPr>
          <p:cNvPr id="20" name="Text 14"/>
          <p:cNvSpPr txBox="1"/>
          <p:nvPr/>
        </p:nvSpPr>
        <p:spPr>
          <a:xfrm>
            <a:off x="5277394" y="2782389"/>
            <a:ext cx="5265638" cy="568234"/>
          </a:xfrm>
          <a:prstGeom prst="rect">
            <a:avLst/>
          </a:prstGeom>
          <a:noFill/>
          <a:ln/>
        </p:spPr>
        <p:txBody>
          <a:bodyPr wrap="square" lIns="0" tIns="0" rIns="0" bIns="0" rtlCol="0" anchor="ctr"/>
          <a:lstStyle/>
          <a:p>
            <a:pPr indent="0" marL="0">
              <a:spcAft>
                <a:spcPts val="200"/>
              </a:spcAft>
              <a:buNone/>
            </a:pPr>
            <a:r>
              <a:rPr lang="en-US" sz="1500" dirty="0">
                <a:solidFill>
                  <a:srgbClr val="3F1E0D"/>
                </a:solidFill>
                <a:latin typeface="Open Sans" pitchFamily="34" charset="0"/>
                <a:ea typeface="Open Sans" pitchFamily="34" charset="-122"/>
                <a:cs typeface="Open Sans" pitchFamily="34" charset="-120"/>
              </a:rPr>
              <a:t>Observamos qué está interfiriendo con tu mensaje</a:t>
            </a:r>
            <a:endParaRPr lang="en-US" sz="1500" dirty="0"/>
          </a:p>
        </p:txBody>
      </p:sp>
      <p:pic>
        <p:nvPicPr>
          <p:cNvPr id="21" name="Image 3" descr="preencoded.png">    </p:cNvPr>
          <p:cNvPicPr>
            <a:picLocks noChangeAspect="1"/>
          </p:cNvPicPr>
          <p:nvPr/>
        </p:nvPicPr>
        <p:blipFill>
          <a:blip r:embed="rId4"/>
          <a:stretch>
            <a:fillRect/>
          </a:stretch>
        </p:blipFill>
        <p:spPr>
          <a:xfrm>
            <a:off x="10817352" y="2874482"/>
            <a:ext cx="384048" cy="384048"/>
          </a:xfrm>
          <a:prstGeom prst="rect">
            <a:avLst/>
          </a:prstGeom>
        </p:spPr>
      </p:pic>
      <p:sp>
        <p:nvSpPr>
          <p:cNvPr id="22" name="Shape 15"/>
          <p:cNvSpPr/>
          <p:nvPr/>
        </p:nvSpPr>
        <p:spPr>
          <a:xfrm>
            <a:off x="4389120" y="3533503"/>
            <a:ext cx="7159752" cy="568234"/>
          </a:xfrm>
          <a:prstGeom prst="roundRect">
            <a:avLst>
              <a:gd name="adj" fmla="val 2574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663440" y="3647803"/>
            <a:ext cx="339634" cy="339634"/>
          </a:xfrm>
          <a:prstGeom prst="ellipse">
            <a:avLst/>
          </a:prstGeom>
          <a:solidFill>
            <a:srgbClr val="C68C6C"/>
          </a:solidFill>
          <a:ln w="12700">
            <a:solidFill>
              <a:srgbClr val="C68C6C"/>
            </a:solidFill>
            <a:prstDash val="solid"/>
          </a:ln>
        </p:spPr>
      </p:sp>
      <p:sp>
        <p:nvSpPr>
          <p:cNvPr id="24" name="Text 17"/>
          <p:cNvSpPr txBox="1"/>
          <p:nvPr/>
        </p:nvSpPr>
        <p:spPr>
          <a:xfrm>
            <a:off x="4663440" y="3647803"/>
            <a:ext cx="339634" cy="339634"/>
          </a:xfrm>
          <a:prstGeom prst="rect">
            <a:avLst/>
          </a:prstGeom>
          <a:noFill/>
          <a:ln/>
        </p:spPr>
        <p:txBody>
          <a:bodyPr wrap="square" lIns="0" tIns="0" rIns="0" bIns="0" rtlCol="0" anchor="ctr"/>
          <a:lstStyle/>
          <a:p>
            <a:pPr algn="ctr" indent="0" marL="0">
              <a:buNone/>
            </a:pPr>
            <a:r>
              <a:rPr lang="en-US" sz="1040" b="1" dirty="0">
                <a:solidFill>
                  <a:srgbClr val="FFFDF9"/>
                </a:solidFill>
                <a:latin typeface="Source Serif Pro" pitchFamily="34" charset="0"/>
                <a:ea typeface="Source Serif Pro" pitchFamily="34" charset="-122"/>
                <a:cs typeface="Source Serif Pro" pitchFamily="34" charset="-120"/>
              </a:rPr>
              <a:t>4</a:t>
            </a:r>
            <a:endParaRPr lang="en-US" sz="1040" dirty="0"/>
          </a:p>
        </p:txBody>
      </p:sp>
      <p:sp>
        <p:nvSpPr>
          <p:cNvPr id="25" name="Text 18"/>
          <p:cNvSpPr txBox="1"/>
          <p:nvPr/>
        </p:nvSpPr>
        <p:spPr>
          <a:xfrm>
            <a:off x="5277394" y="3533503"/>
            <a:ext cx="5265638" cy="568234"/>
          </a:xfrm>
          <a:prstGeom prst="rect">
            <a:avLst/>
          </a:prstGeom>
          <a:noFill/>
          <a:ln/>
        </p:spPr>
        <p:txBody>
          <a:bodyPr wrap="square" lIns="0" tIns="0" rIns="0" bIns="0" rtlCol="0" anchor="ctr"/>
          <a:lstStyle/>
          <a:p>
            <a:pPr indent="0" marL="0">
              <a:spcAft>
                <a:spcPts val="200"/>
              </a:spcAft>
              <a:buNone/>
            </a:pPr>
            <a:r>
              <a:rPr lang="en-US" sz="1500" dirty="0">
                <a:solidFill>
                  <a:srgbClr val="3F1E0D"/>
                </a:solidFill>
                <a:latin typeface="Open Sans" pitchFamily="34" charset="0"/>
                <a:ea typeface="Open Sans" pitchFamily="34" charset="-122"/>
                <a:cs typeface="Open Sans" pitchFamily="34" charset="-120"/>
              </a:rPr>
              <a:t>Identificamos la skill o el patrón de idioma a trabajar</a:t>
            </a:r>
            <a:endParaRPr lang="en-US" sz="1500" dirty="0"/>
          </a:p>
        </p:txBody>
      </p:sp>
      <p:pic>
        <p:nvPicPr>
          <p:cNvPr id="26" name="Image 4" descr="preencoded.png">    </p:cNvPr>
          <p:cNvPicPr>
            <a:picLocks noChangeAspect="1"/>
          </p:cNvPicPr>
          <p:nvPr/>
        </p:nvPicPr>
        <p:blipFill>
          <a:blip r:embed="rId5"/>
          <a:stretch>
            <a:fillRect/>
          </a:stretch>
        </p:blipFill>
        <p:spPr>
          <a:xfrm>
            <a:off x="10817352" y="3625596"/>
            <a:ext cx="384048" cy="384048"/>
          </a:xfrm>
          <a:prstGeom prst="rect">
            <a:avLst/>
          </a:prstGeom>
        </p:spPr>
      </p:pic>
      <p:sp>
        <p:nvSpPr>
          <p:cNvPr id="27" name="Shape 19"/>
          <p:cNvSpPr/>
          <p:nvPr/>
        </p:nvSpPr>
        <p:spPr>
          <a:xfrm>
            <a:off x="4389120" y="4284617"/>
            <a:ext cx="7159752" cy="568234"/>
          </a:xfrm>
          <a:prstGeom prst="roundRect">
            <a:avLst>
              <a:gd name="adj" fmla="val 2574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8" name="Shape 20"/>
          <p:cNvSpPr/>
          <p:nvPr/>
        </p:nvSpPr>
        <p:spPr>
          <a:xfrm>
            <a:off x="4663440" y="4398917"/>
            <a:ext cx="339634" cy="339634"/>
          </a:xfrm>
          <a:prstGeom prst="ellipse">
            <a:avLst/>
          </a:prstGeom>
          <a:solidFill>
            <a:srgbClr val="C68C6C"/>
          </a:solidFill>
          <a:ln w="12700">
            <a:solidFill>
              <a:srgbClr val="C68C6C"/>
            </a:solidFill>
            <a:prstDash val="solid"/>
          </a:ln>
        </p:spPr>
      </p:sp>
      <p:sp>
        <p:nvSpPr>
          <p:cNvPr id="29" name="Text 21"/>
          <p:cNvSpPr txBox="1"/>
          <p:nvPr/>
        </p:nvSpPr>
        <p:spPr>
          <a:xfrm>
            <a:off x="4663440" y="4398917"/>
            <a:ext cx="339634" cy="339634"/>
          </a:xfrm>
          <a:prstGeom prst="rect">
            <a:avLst/>
          </a:prstGeom>
          <a:noFill/>
          <a:ln/>
        </p:spPr>
        <p:txBody>
          <a:bodyPr wrap="square" lIns="0" tIns="0" rIns="0" bIns="0" rtlCol="0" anchor="ctr"/>
          <a:lstStyle/>
          <a:p>
            <a:pPr algn="ctr" indent="0" marL="0">
              <a:buNone/>
            </a:pPr>
            <a:r>
              <a:rPr lang="en-US" sz="1040" b="1" dirty="0">
                <a:solidFill>
                  <a:srgbClr val="FFFDF9"/>
                </a:solidFill>
                <a:latin typeface="Source Serif Pro" pitchFamily="34" charset="0"/>
                <a:ea typeface="Source Serif Pro" pitchFamily="34" charset="-122"/>
                <a:cs typeface="Source Serif Pro" pitchFamily="34" charset="-120"/>
              </a:rPr>
              <a:t>5</a:t>
            </a:r>
            <a:endParaRPr lang="en-US" sz="1040" dirty="0"/>
          </a:p>
        </p:txBody>
      </p:sp>
      <p:sp>
        <p:nvSpPr>
          <p:cNvPr id="30" name="Text 22"/>
          <p:cNvSpPr txBox="1"/>
          <p:nvPr/>
        </p:nvSpPr>
        <p:spPr>
          <a:xfrm>
            <a:off x="5277394" y="4284617"/>
            <a:ext cx="5265638" cy="568234"/>
          </a:xfrm>
          <a:prstGeom prst="rect">
            <a:avLst/>
          </a:prstGeom>
          <a:noFill/>
          <a:ln/>
        </p:spPr>
        <p:txBody>
          <a:bodyPr wrap="square" lIns="0" tIns="0" rIns="0" bIns="0" rtlCol="0" anchor="ctr"/>
          <a:lstStyle/>
          <a:p>
            <a:pPr indent="0" marL="0">
              <a:spcAft>
                <a:spcPts val="200"/>
              </a:spcAft>
              <a:buNone/>
            </a:pPr>
            <a:r>
              <a:rPr lang="en-US" sz="1500" dirty="0">
                <a:solidFill>
                  <a:srgbClr val="3F1E0D"/>
                </a:solidFill>
                <a:latin typeface="Open Sans" pitchFamily="34" charset="0"/>
                <a:ea typeface="Open Sans" pitchFamily="34" charset="-122"/>
                <a:cs typeface="Open Sans" pitchFamily="34" charset="-120"/>
              </a:rPr>
              <a:t>Lo entrenamos</a:t>
            </a:r>
            <a:endParaRPr lang="en-US" sz="1500" dirty="0"/>
          </a:p>
        </p:txBody>
      </p:sp>
      <p:pic>
        <p:nvPicPr>
          <p:cNvPr id="31" name="Image 5" descr="preencoded.png">    </p:cNvPr>
          <p:cNvPicPr>
            <a:picLocks noChangeAspect="1"/>
          </p:cNvPicPr>
          <p:nvPr/>
        </p:nvPicPr>
        <p:blipFill>
          <a:blip r:embed="rId6"/>
          <a:stretch>
            <a:fillRect/>
          </a:stretch>
        </p:blipFill>
        <p:spPr>
          <a:xfrm>
            <a:off x="10817352" y="4376710"/>
            <a:ext cx="384048" cy="384048"/>
          </a:xfrm>
          <a:prstGeom prst="rect">
            <a:avLst/>
          </a:prstGeom>
        </p:spPr>
      </p:pic>
      <p:sp>
        <p:nvSpPr>
          <p:cNvPr id="32" name="Shape 23"/>
          <p:cNvSpPr/>
          <p:nvPr/>
        </p:nvSpPr>
        <p:spPr>
          <a:xfrm>
            <a:off x="4389120" y="5035731"/>
            <a:ext cx="7159752" cy="568234"/>
          </a:xfrm>
          <a:prstGeom prst="roundRect">
            <a:avLst>
              <a:gd name="adj" fmla="val 2574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33" name="Shape 24"/>
          <p:cNvSpPr/>
          <p:nvPr/>
        </p:nvSpPr>
        <p:spPr>
          <a:xfrm>
            <a:off x="4663440" y="5150031"/>
            <a:ext cx="339634" cy="339634"/>
          </a:xfrm>
          <a:prstGeom prst="ellipse">
            <a:avLst/>
          </a:prstGeom>
          <a:solidFill>
            <a:srgbClr val="C68C6C"/>
          </a:solidFill>
          <a:ln w="12700">
            <a:solidFill>
              <a:srgbClr val="C68C6C"/>
            </a:solidFill>
            <a:prstDash val="solid"/>
          </a:ln>
        </p:spPr>
      </p:sp>
      <p:sp>
        <p:nvSpPr>
          <p:cNvPr id="34" name="Text 25"/>
          <p:cNvSpPr txBox="1"/>
          <p:nvPr/>
        </p:nvSpPr>
        <p:spPr>
          <a:xfrm>
            <a:off x="4663440" y="5150031"/>
            <a:ext cx="339634" cy="339634"/>
          </a:xfrm>
          <a:prstGeom prst="rect">
            <a:avLst/>
          </a:prstGeom>
          <a:noFill/>
          <a:ln/>
        </p:spPr>
        <p:txBody>
          <a:bodyPr wrap="square" lIns="0" tIns="0" rIns="0" bIns="0" rtlCol="0" anchor="ctr"/>
          <a:lstStyle/>
          <a:p>
            <a:pPr algn="ctr" indent="0" marL="0">
              <a:buNone/>
            </a:pPr>
            <a:r>
              <a:rPr lang="en-US" sz="1040" b="1" dirty="0">
                <a:solidFill>
                  <a:srgbClr val="FFFDF9"/>
                </a:solidFill>
                <a:latin typeface="Source Serif Pro" pitchFamily="34" charset="0"/>
                <a:ea typeface="Source Serif Pro" pitchFamily="34" charset="-122"/>
                <a:cs typeface="Source Serif Pro" pitchFamily="34" charset="-120"/>
              </a:rPr>
              <a:t>6</a:t>
            </a:r>
            <a:endParaRPr lang="en-US" sz="1040" dirty="0"/>
          </a:p>
        </p:txBody>
      </p:sp>
      <p:sp>
        <p:nvSpPr>
          <p:cNvPr id="35" name="Text 26"/>
          <p:cNvSpPr txBox="1"/>
          <p:nvPr/>
        </p:nvSpPr>
        <p:spPr>
          <a:xfrm>
            <a:off x="5277394" y="5035731"/>
            <a:ext cx="5265638" cy="568234"/>
          </a:xfrm>
          <a:prstGeom prst="rect">
            <a:avLst/>
          </a:prstGeom>
          <a:noFill/>
          <a:ln/>
        </p:spPr>
        <p:txBody>
          <a:bodyPr wrap="square" lIns="0" tIns="0" rIns="0" bIns="0" rtlCol="0" anchor="ctr"/>
          <a:lstStyle/>
          <a:p>
            <a:pPr indent="0" marL="0">
              <a:spcAft>
                <a:spcPts val="200"/>
              </a:spcAft>
              <a:buNone/>
            </a:pPr>
            <a:r>
              <a:rPr lang="en-US" sz="1500" dirty="0">
                <a:solidFill>
                  <a:srgbClr val="3F1E0D"/>
                </a:solidFill>
                <a:latin typeface="Open Sans" pitchFamily="34" charset="0"/>
                <a:ea typeface="Open Sans" pitchFamily="34" charset="-122"/>
                <a:cs typeface="Open Sans" pitchFamily="34" charset="-120"/>
              </a:rPr>
              <a:t>Haces retry</a:t>
            </a:r>
            <a:endParaRPr lang="en-US" sz="1500" dirty="0"/>
          </a:p>
        </p:txBody>
      </p:sp>
      <p:pic>
        <p:nvPicPr>
          <p:cNvPr id="36" name="Image 6" descr="preencoded.png">    </p:cNvPr>
          <p:cNvPicPr>
            <a:picLocks noChangeAspect="1"/>
          </p:cNvPicPr>
          <p:nvPr/>
        </p:nvPicPr>
        <p:blipFill>
          <a:blip r:embed="rId7"/>
          <a:stretch>
            <a:fillRect/>
          </a:stretch>
        </p:blipFill>
        <p:spPr>
          <a:xfrm>
            <a:off x="10817352" y="5127825"/>
            <a:ext cx="384048" cy="384048"/>
          </a:xfrm>
          <a:prstGeom prst="rect">
            <a:avLst/>
          </a:prstGeom>
        </p:spPr>
      </p:pic>
      <p:sp>
        <p:nvSpPr>
          <p:cNvPr id="37" name="Shape 27"/>
          <p:cNvSpPr/>
          <p:nvPr/>
        </p:nvSpPr>
        <p:spPr>
          <a:xfrm>
            <a:off x="4389120" y="5786846"/>
            <a:ext cx="7159752" cy="568234"/>
          </a:xfrm>
          <a:prstGeom prst="roundRect">
            <a:avLst>
              <a:gd name="adj" fmla="val 2574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38" name="Shape 28"/>
          <p:cNvSpPr/>
          <p:nvPr/>
        </p:nvSpPr>
        <p:spPr>
          <a:xfrm>
            <a:off x="4663440" y="5901146"/>
            <a:ext cx="339634" cy="339634"/>
          </a:xfrm>
          <a:prstGeom prst="ellipse">
            <a:avLst/>
          </a:prstGeom>
          <a:solidFill>
            <a:srgbClr val="C68C6C"/>
          </a:solidFill>
          <a:ln w="12700">
            <a:solidFill>
              <a:srgbClr val="C68C6C"/>
            </a:solidFill>
            <a:prstDash val="solid"/>
          </a:ln>
        </p:spPr>
      </p:sp>
      <p:sp>
        <p:nvSpPr>
          <p:cNvPr id="39" name="Text 29"/>
          <p:cNvSpPr txBox="1"/>
          <p:nvPr/>
        </p:nvSpPr>
        <p:spPr>
          <a:xfrm>
            <a:off x="4663440" y="5901146"/>
            <a:ext cx="339634" cy="339634"/>
          </a:xfrm>
          <a:prstGeom prst="rect">
            <a:avLst/>
          </a:prstGeom>
          <a:noFill/>
          <a:ln/>
        </p:spPr>
        <p:txBody>
          <a:bodyPr wrap="square" lIns="0" tIns="0" rIns="0" bIns="0" rtlCol="0" anchor="ctr"/>
          <a:lstStyle/>
          <a:p>
            <a:pPr algn="ctr" indent="0" marL="0">
              <a:buNone/>
            </a:pPr>
            <a:r>
              <a:rPr lang="en-US" sz="1040" b="1" dirty="0">
                <a:solidFill>
                  <a:srgbClr val="FFFDF9"/>
                </a:solidFill>
                <a:latin typeface="Source Serif Pro" pitchFamily="34" charset="0"/>
                <a:ea typeface="Source Serif Pro" pitchFamily="34" charset="-122"/>
                <a:cs typeface="Source Serif Pro" pitchFamily="34" charset="-120"/>
              </a:rPr>
              <a:t>7</a:t>
            </a:r>
            <a:endParaRPr lang="en-US" sz="1040" dirty="0"/>
          </a:p>
        </p:txBody>
      </p:sp>
      <p:sp>
        <p:nvSpPr>
          <p:cNvPr id="40" name="Text 30"/>
          <p:cNvSpPr txBox="1"/>
          <p:nvPr/>
        </p:nvSpPr>
        <p:spPr>
          <a:xfrm>
            <a:off x="5277394" y="5786846"/>
            <a:ext cx="5265638" cy="568234"/>
          </a:xfrm>
          <a:prstGeom prst="rect">
            <a:avLst/>
          </a:prstGeom>
          <a:noFill/>
          <a:ln/>
        </p:spPr>
        <p:txBody>
          <a:bodyPr wrap="square" lIns="0" tIns="0" rIns="0" bIns="0" rtlCol="0" anchor="ctr"/>
          <a:lstStyle/>
          <a:p>
            <a:pPr indent="0" marL="0">
              <a:spcAft>
                <a:spcPts val="200"/>
              </a:spcAft>
              <a:buNone/>
            </a:pPr>
            <a:r>
              <a:rPr lang="en-US" sz="1500" dirty="0">
                <a:solidFill>
                  <a:srgbClr val="3F1E0D"/>
                </a:solidFill>
                <a:latin typeface="Open Sans" pitchFamily="34" charset="0"/>
                <a:ea typeface="Open Sans" pitchFamily="34" charset="-122"/>
                <a:cs typeface="Open Sans" pitchFamily="34" charset="-120"/>
              </a:rPr>
              <a:t>Lo transfieres a una situación real de tu trabajo</a:t>
            </a:r>
            <a:endParaRPr lang="en-US" sz="1500" dirty="0"/>
          </a:p>
        </p:txBody>
      </p:sp>
      <p:pic>
        <p:nvPicPr>
          <p:cNvPr id="41" name="Image 7" descr="preencoded.png">    </p:cNvPr>
          <p:cNvPicPr>
            <a:picLocks noChangeAspect="1"/>
          </p:cNvPicPr>
          <p:nvPr/>
        </p:nvPicPr>
        <p:blipFill>
          <a:blip r:embed="rId8"/>
          <a:stretch>
            <a:fillRect/>
          </a:stretch>
        </p:blipFill>
        <p:spPr>
          <a:xfrm>
            <a:off x="10817352" y="5878939"/>
            <a:ext cx="384048" cy="3840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68C6C"/>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3F1E0D"/>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3F1E0D"/>
                </a:solidFill>
                <a:latin typeface="Open Sans" pitchFamily="34" charset="0"/>
                <a:ea typeface="Open Sans" pitchFamily="34" charset="-122"/>
                <a:cs typeface="Open Sans" pitchFamily="34" charset="-120"/>
              </a:rPr>
              <a:t>   ·   10 / 10</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3F1E0D"/>
                </a:solidFill>
                <a:latin typeface="Source Serif Pro" pitchFamily="34" charset="0"/>
                <a:ea typeface="Source Serif Pro" pitchFamily="34" charset="-122"/>
                <a:cs typeface="Source Serif Pro" pitchFamily="34" charset="-120"/>
              </a:rPr>
              <a:t>Antes de terminar esta clase</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3F1E0D"/>
                </a:solidFill>
                <a:latin typeface="Source Serif Pro" pitchFamily="34" charset="0"/>
                <a:ea typeface="Source Serif Pro" pitchFamily="34" charset="-122"/>
                <a:cs typeface="Source Serif Pro" pitchFamily="34" charset="-120"/>
              </a:rPr>
              <a:t>Use your English. Learn from it. Use it better.</a:t>
            </a:r>
            <a:endParaRPr lang="en-US" sz="1600" dirty="0"/>
          </a:p>
        </p:txBody>
      </p:sp>
      <p:sp>
        <p:nvSpPr>
          <p:cNvPr id="7" name="Shape 3"/>
          <p:cNvSpPr/>
          <p:nvPr/>
        </p:nvSpPr>
        <p:spPr>
          <a:xfrm>
            <a:off x="4389120" y="1280160"/>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27048"/>
            <a:ext cx="603504" cy="603504"/>
          </a:xfrm>
          <a:prstGeom prst="ellipse">
            <a:avLst/>
          </a:prstGeom>
          <a:solidFill>
            <a:srgbClr val="3F1E0D"/>
          </a:solidFill>
          <a:ln w="12700">
            <a:solidFill>
              <a:srgbClr val="3F1E0D"/>
            </a:solidFill>
            <a:prstDash val="solid"/>
          </a:ln>
        </p:spPr>
      </p:sp>
      <p:pic>
        <p:nvPicPr>
          <p:cNvPr id="9" name="Image 1" descr="preencoded.png">    </p:cNvPr>
          <p:cNvPicPr>
            <a:picLocks noChangeAspect="1"/>
          </p:cNvPicPr>
          <p:nvPr/>
        </p:nvPicPr>
        <p:blipFill>
          <a:blip r:embed="rId2"/>
          <a:stretch>
            <a:fillRect/>
          </a:stretch>
        </p:blipFill>
        <p:spPr>
          <a:xfrm>
            <a:off x="4872106" y="1689994"/>
            <a:ext cx="277612" cy="277612"/>
          </a:xfrm>
          <a:prstGeom prst="rect">
            <a:avLst/>
          </a:prstGeom>
        </p:spPr>
      </p:pic>
      <p:sp>
        <p:nvSpPr>
          <p:cNvPr id="10" name="Text 5"/>
          <p:cNvSpPr txBox="1"/>
          <p:nvPr/>
        </p:nvSpPr>
        <p:spPr>
          <a:xfrm>
            <a:off x="5577840" y="1280160"/>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Elige una situación real en inglés </a:t>
            </a:r>
            <a:pPr indent="0" marL="0">
              <a:buNone/>
            </a:pPr>
            <a:r>
              <a:rPr lang="en-US" sz="1650" dirty="0">
                <a:solidFill>
                  <a:srgbClr val="3F1E0D"/>
                </a:solidFill>
                <a:latin typeface="Open Sans" pitchFamily="34" charset="0"/>
                <a:ea typeface="Open Sans" pitchFamily="34" charset="-122"/>
                <a:cs typeface="Open Sans" pitchFamily="34" charset="-120"/>
              </a:rPr>
              <a:t>que hoy sobrepreparas, evitas, postergas o necesitas guionar por completo</a:t>
            </a:r>
            <a:endParaRPr lang="en-US" sz="1650" dirty="0"/>
          </a:p>
        </p:txBody>
      </p:sp>
      <p:sp>
        <p:nvSpPr>
          <p:cNvPr id="11" name="Shape 6"/>
          <p:cNvSpPr/>
          <p:nvPr/>
        </p:nvSpPr>
        <p:spPr>
          <a:xfrm>
            <a:off x="4389120" y="2578608"/>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709160" y="2825496"/>
            <a:ext cx="603504" cy="603504"/>
          </a:xfrm>
          <a:prstGeom prst="ellipse">
            <a:avLst/>
          </a:prstGeom>
          <a:solidFill>
            <a:srgbClr val="3F1E0D"/>
          </a:solidFill>
          <a:ln w="12700">
            <a:solidFill>
              <a:srgbClr val="3F1E0D"/>
            </a:solidFill>
            <a:prstDash val="solid"/>
          </a:ln>
        </p:spPr>
      </p:sp>
      <p:pic>
        <p:nvPicPr>
          <p:cNvPr id="13" name="Image 2" descr="preencoded.png">    </p:cNvPr>
          <p:cNvPicPr>
            <a:picLocks noChangeAspect="1"/>
          </p:cNvPicPr>
          <p:nvPr/>
        </p:nvPicPr>
        <p:blipFill>
          <a:blip r:embed="rId3"/>
          <a:stretch>
            <a:fillRect/>
          </a:stretch>
        </p:blipFill>
        <p:spPr>
          <a:xfrm>
            <a:off x="4872106" y="2988442"/>
            <a:ext cx="277612" cy="277612"/>
          </a:xfrm>
          <a:prstGeom prst="rect">
            <a:avLst/>
          </a:prstGeom>
        </p:spPr>
      </p:pic>
      <p:sp>
        <p:nvSpPr>
          <p:cNvPr id="14" name="Text 8"/>
          <p:cNvSpPr txBox="1"/>
          <p:nvPr/>
        </p:nvSpPr>
        <p:spPr>
          <a:xfrm>
            <a:off x="5577840" y="2578608"/>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Ubícate en tu Exposure Ladder: </a:t>
            </a:r>
            <a:pPr indent="0" marL="0">
              <a:buNone/>
            </a:pPr>
            <a:r>
              <a:rPr lang="en-US" sz="1650" dirty="0">
                <a:solidFill>
                  <a:srgbClr val="3F1E0D"/>
                </a:solidFill>
                <a:latin typeface="Open Sans" pitchFamily="34" charset="0"/>
                <a:ea typeface="Open Sans" pitchFamily="34" charset="-122"/>
                <a:cs typeface="Open Sans" pitchFamily="34" charset="-120"/>
              </a:rPr>
              <a:t>¿mucho apoyo, mucha preparación, menos preparación, espontánea o bajo presión?</a:t>
            </a:r>
            <a:endParaRPr lang="en-US" sz="1650" dirty="0"/>
          </a:p>
        </p:txBody>
      </p:sp>
      <p:sp>
        <p:nvSpPr>
          <p:cNvPr id="15" name="Shape 9"/>
          <p:cNvSpPr/>
          <p:nvPr/>
        </p:nvSpPr>
        <p:spPr>
          <a:xfrm>
            <a:off x="4389120" y="3877056"/>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709160" y="4123944"/>
            <a:ext cx="603504" cy="603504"/>
          </a:xfrm>
          <a:prstGeom prst="ellipse">
            <a:avLst/>
          </a:prstGeom>
          <a:solidFill>
            <a:srgbClr val="3F1E0D"/>
          </a:solidFill>
          <a:ln w="12700">
            <a:solidFill>
              <a:srgbClr val="3F1E0D"/>
            </a:solidFill>
            <a:prstDash val="solid"/>
          </a:ln>
        </p:spPr>
      </p:sp>
      <p:pic>
        <p:nvPicPr>
          <p:cNvPr id="17" name="Image 3" descr="preencoded.png">    </p:cNvPr>
          <p:cNvPicPr>
            <a:picLocks noChangeAspect="1"/>
          </p:cNvPicPr>
          <p:nvPr/>
        </p:nvPicPr>
        <p:blipFill>
          <a:blip r:embed="rId4"/>
          <a:stretch>
            <a:fillRect/>
          </a:stretch>
        </p:blipFill>
        <p:spPr>
          <a:xfrm>
            <a:off x="4872106" y="4286890"/>
            <a:ext cx="277612" cy="277612"/>
          </a:xfrm>
          <a:prstGeom prst="rect">
            <a:avLst/>
          </a:prstGeom>
        </p:spPr>
      </p:pic>
      <p:sp>
        <p:nvSpPr>
          <p:cNvPr id="18" name="Text 11"/>
          <p:cNvSpPr txBox="1"/>
          <p:nvPr/>
        </p:nvSpPr>
        <p:spPr>
          <a:xfrm>
            <a:off x="5577840" y="3877056"/>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Identifica cómo sería subir un escalón </a:t>
            </a:r>
            <a:pPr indent="0" marL="0">
              <a:buNone/>
            </a:pPr>
            <a:r>
              <a:rPr lang="en-US" sz="1650" dirty="0">
                <a:solidFill>
                  <a:srgbClr val="3F1E0D"/>
                </a:solidFill>
                <a:latin typeface="Open Sans" pitchFamily="34" charset="0"/>
                <a:ea typeface="Open Sans" pitchFamily="34" charset="-122"/>
                <a:cs typeface="Open Sans" pitchFamily="34" charset="-120"/>
              </a:rPr>
              <a:t>esta semana. No necesitas saltar al nivel más alto.</a:t>
            </a:r>
            <a:endParaRPr lang="en-US" sz="1650" dirty="0"/>
          </a:p>
        </p:txBody>
      </p:sp>
      <p:sp>
        <p:nvSpPr>
          <p:cNvPr id="19" name="Text 12"/>
          <p:cNvSpPr txBox="1"/>
          <p:nvPr/>
        </p:nvSpPr>
        <p:spPr>
          <a:xfrm>
            <a:off x="4389120" y="5760720"/>
            <a:ext cx="7159752" cy="594360"/>
          </a:xfrm>
          <a:prstGeom prst="rect">
            <a:avLst/>
          </a:prstGeom>
          <a:noFill/>
          <a:ln/>
        </p:spPr>
        <p:txBody>
          <a:bodyPr wrap="square" lIns="0" tIns="0" rIns="0" bIns="0" rtlCol="0" anchor="ctr"/>
          <a:lstStyle/>
          <a:p>
            <a:pPr indent="0" marL="0">
              <a:buNone/>
            </a:pPr>
            <a:r>
              <a:rPr lang="en-US" sz="1500" i="1" dirty="0">
                <a:solidFill>
                  <a:srgbClr val="3F1E0D"/>
                </a:solidFill>
                <a:latin typeface="Source Serif Pro" pitchFamily="34" charset="0"/>
                <a:ea typeface="Source Serif Pro" pitchFamily="34" charset="-122"/>
                <a:cs typeface="Source Serif Pro" pitchFamily="34" charset="-120"/>
              </a:rPr>
              <a:t>Construimos capacidad con intentos reales, feedback focalizado y práctica cada vez un poco más desafiante.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05 · How We Work</dc:title>
  <dc:subject>PptxGenJS Presentation</dc:subject>
  <dc:creator>Flor Pérsico</dc:creator>
  <cp:lastModifiedBy>Flor Pérsico</cp:lastModifiedBy>
  <cp:revision>1</cp:revision>
  <dcterms:created xsi:type="dcterms:W3CDTF">2026-09-23T13:38:58Z</dcterms:created>
  <dcterms:modified xsi:type="dcterms:W3CDTF">2026-09-23T13:38:58Z</dcterms:modified>
</cp:coreProperties>
</file>