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Quiero mostrarte ahora cómo vamos a usar la Comunidad AT WORK durante estos cinco meses, porque este espacio no está pensado solamente para recibir información. Es parte del acompañamiento que vas a tener entre una sesión y la siguiente.
La idea es que no tengas que guardar todas tus dudas, prácticas o situaciones hasta nuestra próxima clase. Quiero que tengas un lugar donde puedas traer lo que va apareciendo en tu semana y seguir avanzando mientras el proceso está ocurriendo.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comunidad es nuestro espacio principal de comunicación para todo lo que tiene que ver con tu proceso: dudas, prácticas, pedidos de feedback, wins y aprendizajes.
Si tuviste una reunión y quieres contar cómo te fue, si hiciste una práctica y quieres que la revise, si apareció una duda con algo que estamos trabajando o si simplemente notaste un avance, este es el lugar para compartirlo.
No necesitas esperar a tener algo perfecto o súper elaborado. Muchas veces una pregunta corta, un audio de un minuto o una situación concreta alcanza para que podamos seguir trabajando sobre 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esto es importante: participar no significa que tengas que estar escribiendo todo el tiempo ni que tengas que convertirte en la persona más activa del grupo.
Significa usar el acompañamiento que ya tienes disponible.
Si algo aparece durante la semana y puede ayudarte a avanzar, tráelo. No quiero que llegues a la sesión siguiente pensando: “Esto me pasó hace cuatro días pero no pregunté porque no sabía si correspondía”.
También vas a poder aprender muchísimo leyendo lo que comparten otras alumnas. Muchas veces otra persona está atravesando una situación parecida a la tuya y una pregunta, un feedback o un win de otra alumna también puede darte una idea para tu propio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quieras pedirme feedback, hay una forma muy simple de hacerlo para que yo pueda ayudarte de manera mucho más precisa.
Primero, contexto. Dime para qué es lo que estás preparando o qué situación estás resolviendo. No necesito toda la historia; solamente el contexto necesario para entender qué quieres comunicar.
Segundo, tu intento. Quiero ver tu producción antes de corregirla. Puede ser un audio, un video o un texto. Esto es importante porque dentro de AT WORK no quiero reemplazar tu voz: quiero ayudarte a mejorarla.
Y tercero, dime en qué necesitas ayuda. Por ejemplo: claridad, estructura, vocabulario, pronunciación, precisión, sonar más directa o simplemente confirmar si el mensaje se entiende como tú quieres.
Entonces la estructura es muy simple: contexto, mi intento, necesito ayuda 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ejemplo, podrías escribir:
“Mañana tengo una reunión con mi manager y necesito explicar este cambio. Este es mi intento.”
Y me mandas un audio de cuarenta y cinco segundos.
Después agregas: “Necesito ayuda con claridad y con cómo ir más directo al punto.”
Eso me da exactamente lo que necesito para darte un feedback útil, sin que tengas que preparar una explicación enorme y sin que yo tenga que adivinar qué quieres mejorar.
También quiero que intentes primero. Si me mandas solamente “¿Cómo digo esto?”, probablemente te voy a pedir que hagas un primer intento. Porque producir, recibir feedback y volver a intentar es parte central de cómo trabajamos dentro de AT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algunas cosas que no hace falta compartir dentro de la comunidad.
Si es un tema administrativo, por ejemplo un pago, una reprogramación o algo relacionado con tu organización personal conmigo, puedes escribirme por privado.
Y obviamente, si hay algo sensible o una situación que por cualquier motivo prefieres mantener privada, también me escribes directamente.
La idea no es obligarte a compartir nada que no quieras compartir. La comunidad existe para darte más acompañamiento, no menos privacidad.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hay un tercer tipo de situación: cosas que necesitan más profundidad.
Si quieres trabajar una presentación completa, una conversación difícil con mucho contexto, una reunión importante o una situación que necesita varias correcciones y práctica, probablemente sea mejor llevarla a nuestra sesión 1:1.
Puedes contarme antes en la comunidad que esa situación apareció, incluso puedes subir el material a tu Drive para que lo tengamos preparado, pero el trabajo profundo lo hacemos juntas en sesión.
Así usamos cada espacio para lo que mejor funciona: la comunidad para mantener el proceso vivo entre sesiones, el privado para lo administrativo o sensible, y nuestras sesiones 1:1 para lo que necesita más profundidad.
Quiero que realmente uses este espacio. Pregunta, practica, comparte lo que vas aprendiendo y cuéntame cuando algo esté cambiando. No tienes que hacer estos cinco meses sola.
Y a partir de ahora, cuando necesites feedback, acuérdate de esta estructura: contexto, tu intento y qué necesitas de mí.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1E0D"/>
        </a:solidFill>
      </p:bgPr>
    </p:bg>
    <p:spTree>
      <p:nvGrpSpPr>
        <p:cNvPr id="1" name=""/>
        <p:cNvGrpSpPr/>
        <p:nvPr/>
      </p:nvGrpSpPr>
      <p:grpSpPr>
        <a:xfrm>
          <a:off x="0" y="0"/>
          <a:ext cx="0" cy="0"/>
          <a:chOff x="0" y="0"/>
          <a:chExt cx="0" cy="0"/>
        </a:xfrm>
      </p:grpSpPr>
      <p:sp>
        <p:nvSpPr>
          <p:cNvPr id="3" name="Shape 0"/>
          <p:cNvSpPr/>
          <p:nvPr/>
        </p:nvSpPr>
        <p:spPr>
          <a:xfrm>
            <a:off x="640080" y="685800"/>
            <a:ext cx="1874520" cy="384048"/>
          </a:xfrm>
          <a:prstGeom prst="roundRect">
            <a:avLst>
              <a:gd name="adj" fmla="val 50000"/>
            </a:avLst>
          </a:prstGeom>
          <a:solidFill>
            <a:srgbClr val="C68C6C"/>
          </a:solidFill>
          <a:ln w="12700">
            <a:solidFill>
              <a:srgbClr val="C68C6C"/>
            </a:solidFill>
            <a:prstDash val="solid"/>
          </a:ln>
        </p:spPr>
      </p:sp>
      <p:sp>
        <p:nvSpPr>
          <p:cNvPr id="4" name="Text 1"/>
          <p:cNvSpPr txBox="1"/>
          <p:nvPr/>
        </p:nvSpPr>
        <p:spPr>
          <a:xfrm>
            <a:off x="640080" y="685800"/>
            <a:ext cx="1874520" cy="384048"/>
          </a:xfrm>
          <a:prstGeom prst="rect">
            <a:avLst/>
          </a:prstGeom>
          <a:noFill/>
          <a:ln/>
        </p:spPr>
        <p:txBody>
          <a:bodyPr wrap="square" lIns="0" tIns="0" rIns="0" bIns="0" rtlCol="0" anchor="ctr"/>
          <a:lstStyle/>
          <a:p>
            <a:pPr algn="ctr" indent="0" marL="0">
              <a:buNone/>
            </a:pPr>
            <a:r>
              <a:rPr lang="en-US" sz="1100" b="1" spc="200" kern="0" dirty="0">
                <a:solidFill>
                  <a:srgbClr val="3F1E0D"/>
                </a:solidFill>
                <a:latin typeface="Open Sans" pitchFamily="34" charset="0"/>
                <a:ea typeface="Open Sans" pitchFamily="34" charset="-122"/>
                <a:cs typeface="Open Sans" pitchFamily="34" charset="-120"/>
              </a:rPr>
              <a:t>ONBOARDING · 12</a:t>
            </a:r>
            <a:endParaRPr lang="en-US" sz="1100" dirty="0"/>
          </a:p>
        </p:txBody>
      </p:sp>
      <p:sp>
        <p:nvSpPr>
          <p:cNvPr id="5" name="Text 2"/>
          <p:cNvSpPr txBox="1"/>
          <p:nvPr/>
        </p:nvSpPr>
        <p:spPr>
          <a:xfrm>
            <a:off x="640080" y="1325880"/>
            <a:ext cx="5760720" cy="1249680"/>
          </a:xfrm>
          <a:prstGeom prst="rect">
            <a:avLst/>
          </a:prstGeom>
          <a:noFill/>
          <a:ln/>
        </p:spPr>
        <p:txBody>
          <a:bodyPr wrap="square" lIns="0" tIns="0" rIns="0" bIns="0" rtlCol="0" anchor="t"/>
          <a:lstStyle/>
          <a:p>
            <a:pPr indent="0" marL="0">
              <a:lnSpc>
                <a:spcPct val="90000"/>
              </a:lnSpc>
              <a:buNone/>
            </a:pPr>
            <a:r>
              <a:rPr lang="en-US" sz="4000" b="1" dirty="0">
                <a:solidFill>
                  <a:srgbClr val="F8F5EE"/>
                </a:solidFill>
                <a:latin typeface="Source Serif Pro" pitchFamily="34" charset="0"/>
                <a:ea typeface="Source Serif Pro" pitchFamily="34" charset="-122"/>
                <a:cs typeface="Source Serif Pro" pitchFamily="34" charset="-120"/>
              </a:rPr>
              <a:t>Comunidad AT WORK + Cómo pedir feedback</a:t>
            </a:r>
            <a:endParaRPr lang="en-US" sz="4000" dirty="0"/>
          </a:p>
        </p:txBody>
      </p:sp>
      <p:sp>
        <p:nvSpPr>
          <p:cNvPr id="6" name="Text 3"/>
          <p:cNvSpPr txBox="1"/>
          <p:nvPr/>
        </p:nvSpPr>
        <p:spPr>
          <a:xfrm>
            <a:off x="640080" y="2667000"/>
            <a:ext cx="5486400" cy="384048"/>
          </a:xfrm>
          <a:prstGeom prst="rect">
            <a:avLst/>
          </a:prstGeom>
          <a:noFill/>
          <a:ln/>
        </p:spPr>
        <p:txBody>
          <a:bodyPr wrap="square" lIns="0" tIns="0" rIns="0" bIns="0" rtlCol="0" anchor="t"/>
          <a:lstStyle/>
          <a:p>
            <a:pPr indent="0" marL="0">
              <a:buNone/>
            </a:pPr>
            <a:r>
              <a:rPr lang="en-US" sz="1700" i="1" dirty="0">
                <a:solidFill>
                  <a:srgbClr val="EDE5CC"/>
                </a:solidFill>
                <a:latin typeface="Source Serif Pro" pitchFamily="34" charset="0"/>
                <a:ea typeface="Source Serif Pro" pitchFamily="34" charset="-122"/>
                <a:cs typeface="Source Serif Pro" pitchFamily="34" charset="-120"/>
              </a:rPr>
              <a:t>Parte del acompañamiento entre una sesión y la siguiente</a:t>
            </a:r>
            <a:endParaRPr lang="en-US" sz="1700" dirty="0"/>
          </a:p>
        </p:txBody>
      </p:sp>
      <p:pic>
        <p:nvPicPr>
          <p:cNvPr id="7" name="Image 0" descr="preencoded.png">    </p:cNvPr>
          <p:cNvPicPr>
            <a:picLocks noChangeAspect="1"/>
          </p:cNvPicPr>
          <p:nvPr/>
        </p:nvPicPr>
        <p:blipFill>
          <a:blip r:embed="rId1"/>
          <a:stretch>
            <a:fillRect/>
          </a:stretch>
        </p:blipFill>
        <p:spPr>
          <a:xfrm>
            <a:off x="8732520" y="502920"/>
            <a:ext cx="2743200" cy="1252005"/>
          </a:xfrm>
          <a:prstGeom prst="rect">
            <a:avLst/>
          </a:prstGeom>
        </p:spPr>
      </p:pic>
      <p:sp>
        <p:nvSpPr>
          <p:cNvPr id="8" name="Text 4"/>
          <p:cNvSpPr txBox="1"/>
          <p:nvPr/>
        </p:nvSpPr>
        <p:spPr>
          <a:xfrm>
            <a:off x="7086600" y="2103120"/>
            <a:ext cx="4462272" cy="320040"/>
          </a:xfrm>
          <a:prstGeom prst="rect">
            <a:avLst/>
          </a:prstGeom>
          <a:noFill/>
          <a:ln/>
        </p:spPr>
        <p:txBody>
          <a:bodyPr wrap="square" lIns="0" tIns="0" rIns="0" bIns="0" rtlCol="0" anchor="ctr"/>
          <a:lstStyle/>
          <a:p>
            <a:pPr indent="0" marL="0">
              <a:buNone/>
            </a:pPr>
            <a:r>
              <a:rPr lang="en-US" sz="1100" b="1" spc="300" kern="0" dirty="0">
                <a:solidFill>
                  <a:srgbClr val="C68C6C"/>
                </a:solidFill>
                <a:latin typeface="Open Sans" pitchFamily="34" charset="0"/>
                <a:ea typeface="Open Sans" pitchFamily="34" charset="-122"/>
                <a:cs typeface="Open Sans" pitchFamily="34" charset="-120"/>
              </a:rPr>
              <a:t>EN ESTA CLASE</a:t>
            </a:r>
            <a:endParaRPr lang="en-US" sz="1100" dirty="0"/>
          </a:p>
        </p:txBody>
      </p:sp>
      <p:sp>
        <p:nvSpPr>
          <p:cNvPr id="9" name="Shape 5"/>
          <p:cNvSpPr/>
          <p:nvPr/>
        </p:nvSpPr>
        <p:spPr>
          <a:xfrm>
            <a:off x="7086600" y="25603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0" name="Shape 6"/>
          <p:cNvSpPr/>
          <p:nvPr/>
        </p:nvSpPr>
        <p:spPr>
          <a:xfrm>
            <a:off x="7251192" y="2688336"/>
            <a:ext cx="493776" cy="493776"/>
          </a:xfrm>
          <a:prstGeom prst="ellipse">
            <a:avLst/>
          </a:prstGeom>
          <a:solidFill>
            <a:srgbClr val="C68C6C"/>
          </a:solidFill>
          <a:ln w="12700">
            <a:solidFill>
              <a:srgbClr val="C68C6C"/>
            </a:solidFill>
            <a:prstDash val="solid"/>
          </a:ln>
        </p:spPr>
      </p:sp>
      <p:pic>
        <p:nvPicPr>
          <p:cNvPr id="11" name="Image 1" descr="preencoded.png">    </p:cNvPr>
          <p:cNvPicPr>
            <a:picLocks noChangeAspect="1"/>
          </p:cNvPicPr>
          <p:nvPr/>
        </p:nvPicPr>
        <p:blipFill>
          <a:blip r:embed="rId2"/>
          <a:stretch>
            <a:fillRect/>
          </a:stretch>
        </p:blipFill>
        <p:spPr>
          <a:xfrm>
            <a:off x="7384512" y="2821656"/>
            <a:ext cx="227137" cy="227137"/>
          </a:xfrm>
          <a:prstGeom prst="rect">
            <a:avLst/>
          </a:prstGeom>
        </p:spPr>
      </p:pic>
      <p:sp>
        <p:nvSpPr>
          <p:cNvPr id="12" name="Text 7"/>
          <p:cNvSpPr txBox="1"/>
          <p:nvPr/>
        </p:nvSpPr>
        <p:spPr>
          <a:xfrm>
            <a:off x="7909560" y="25603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Para qué usar la comunidad</a:t>
            </a:r>
            <a:endParaRPr lang="en-US" sz="1500" dirty="0"/>
          </a:p>
        </p:txBody>
      </p:sp>
      <p:sp>
        <p:nvSpPr>
          <p:cNvPr id="13" name="Shape 8"/>
          <p:cNvSpPr/>
          <p:nvPr/>
        </p:nvSpPr>
        <p:spPr>
          <a:xfrm>
            <a:off x="7086600" y="34747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4" name="Shape 9"/>
          <p:cNvSpPr/>
          <p:nvPr/>
        </p:nvSpPr>
        <p:spPr>
          <a:xfrm>
            <a:off x="7251192" y="3602736"/>
            <a:ext cx="493776" cy="493776"/>
          </a:xfrm>
          <a:prstGeom prst="ellipse">
            <a:avLst/>
          </a:prstGeom>
          <a:solidFill>
            <a:srgbClr val="C68C6C"/>
          </a:solidFill>
          <a:ln w="12700">
            <a:solidFill>
              <a:srgbClr val="C68C6C"/>
            </a:solidFill>
            <a:prstDash val="solid"/>
          </a:ln>
        </p:spPr>
      </p:sp>
      <p:pic>
        <p:nvPicPr>
          <p:cNvPr id="15" name="Image 2" descr="preencoded.png">    </p:cNvPr>
          <p:cNvPicPr>
            <a:picLocks noChangeAspect="1"/>
          </p:cNvPicPr>
          <p:nvPr/>
        </p:nvPicPr>
        <p:blipFill>
          <a:blip r:embed="rId3"/>
          <a:stretch>
            <a:fillRect/>
          </a:stretch>
        </p:blipFill>
        <p:spPr>
          <a:xfrm>
            <a:off x="7384512" y="3736056"/>
            <a:ext cx="227137" cy="227137"/>
          </a:xfrm>
          <a:prstGeom prst="rect">
            <a:avLst/>
          </a:prstGeom>
        </p:spPr>
      </p:pic>
      <p:sp>
        <p:nvSpPr>
          <p:cNvPr id="16" name="Text 10"/>
          <p:cNvSpPr txBox="1"/>
          <p:nvPr/>
        </p:nvSpPr>
        <p:spPr>
          <a:xfrm>
            <a:off x="7909560" y="34747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Qué significa participar</a:t>
            </a:r>
            <a:endParaRPr lang="en-US" sz="1500" dirty="0"/>
          </a:p>
        </p:txBody>
      </p:sp>
      <p:sp>
        <p:nvSpPr>
          <p:cNvPr id="17" name="Shape 11"/>
          <p:cNvSpPr/>
          <p:nvPr/>
        </p:nvSpPr>
        <p:spPr>
          <a:xfrm>
            <a:off x="7086600" y="43891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18" name="Shape 12"/>
          <p:cNvSpPr/>
          <p:nvPr/>
        </p:nvSpPr>
        <p:spPr>
          <a:xfrm>
            <a:off x="7251192" y="4517136"/>
            <a:ext cx="493776" cy="493776"/>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7384512" y="4650456"/>
            <a:ext cx="227137" cy="227137"/>
          </a:xfrm>
          <a:prstGeom prst="rect">
            <a:avLst/>
          </a:prstGeom>
        </p:spPr>
      </p:pic>
      <p:sp>
        <p:nvSpPr>
          <p:cNvPr id="20" name="Text 13"/>
          <p:cNvSpPr txBox="1"/>
          <p:nvPr/>
        </p:nvSpPr>
        <p:spPr>
          <a:xfrm>
            <a:off x="7909560" y="43891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Cómo pedir feedback</a:t>
            </a:r>
            <a:endParaRPr lang="en-US" sz="1500" dirty="0"/>
          </a:p>
        </p:txBody>
      </p:sp>
      <p:sp>
        <p:nvSpPr>
          <p:cNvPr id="21" name="Shape 14"/>
          <p:cNvSpPr/>
          <p:nvPr/>
        </p:nvSpPr>
        <p:spPr>
          <a:xfrm>
            <a:off x="7086600" y="5303520"/>
            <a:ext cx="4462272" cy="749808"/>
          </a:xfrm>
          <a:prstGeom prst="roundRect">
            <a:avLst>
              <a:gd name="adj" fmla="val 17073"/>
            </a:avLst>
          </a:prstGeom>
          <a:solidFill>
            <a:srgbClr val="81552E">
              <a:alpha val="60000"/>
            </a:srgbClr>
          </a:solidFill>
          <a:ln w="12700">
            <a:solidFill>
              <a:srgbClr val="81552E">
                <a:alpha val="60000"/>
              </a:srgbClr>
            </a:solidFill>
            <a:prstDash val="solid"/>
          </a:ln>
        </p:spPr>
      </p:sp>
      <p:sp>
        <p:nvSpPr>
          <p:cNvPr id="22" name="Shape 15"/>
          <p:cNvSpPr/>
          <p:nvPr/>
        </p:nvSpPr>
        <p:spPr>
          <a:xfrm>
            <a:off x="7251192" y="5431536"/>
            <a:ext cx="493776" cy="493776"/>
          </a:xfrm>
          <a:prstGeom prst="ellipse">
            <a:avLst/>
          </a:prstGeom>
          <a:solidFill>
            <a:srgbClr val="C68C6C"/>
          </a:solidFill>
          <a:ln w="12700">
            <a:solidFill>
              <a:srgbClr val="C68C6C"/>
            </a:solidFill>
            <a:prstDash val="solid"/>
          </a:ln>
        </p:spPr>
      </p:sp>
      <p:pic>
        <p:nvPicPr>
          <p:cNvPr id="23" name="Image 4" descr="preencoded.png">    </p:cNvPr>
          <p:cNvPicPr>
            <a:picLocks noChangeAspect="1"/>
          </p:cNvPicPr>
          <p:nvPr/>
        </p:nvPicPr>
        <p:blipFill>
          <a:blip r:embed="rId5"/>
          <a:stretch>
            <a:fillRect/>
          </a:stretch>
        </p:blipFill>
        <p:spPr>
          <a:xfrm>
            <a:off x="7384512" y="5564856"/>
            <a:ext cx="227137" cy="227137"/>
          </a:xfrm>
          <a:prstGeom prst="rect">
            <a:avLst/>
          </a:prstGeom>
        </p:spPr>
      </p:pic>
      <p:sp>
        <p:nvSpPr>
          <p:cNvPr id="24" name="Text 16"/>
          <p:cNvSpPr txBox="1"/>
          <p:nvPr/>
        </p:nvSpPr>
        <p:spPr>
          <a:xfrm>
            <a:off x="7909560" y="5303520"/>
            <a:ext cx="3547872" cy="749808"/>
          </a:xfrm>
          <a:prstGeom prst="rect">
            <a:avLst/>
          </a:prstGeom>
          <a:noFill/>
          <a:ln/>
        </p:spPr>
        <p:txBody>
          <a:bodyPr wrap="square" lIns="0" tIns="0" rIns="0" bIns="0" rtlCol="0" anchor="ctr"/>
          <a:lstStyle/>
          <a:p>
            <a:pPr indent="0" marL="0">
              <a:buNone/>
            </a:pPr>
            <a:r>
              <a:rPr lang="en-US" sz="1500" dirty="0">
                <a:solidFill>
                  <a:srgbClr val="F8F5EE"/>
                </a:solidFill>
                <a:latin typeface="Open Sans" pitchFamily="34" charset="0"/>
                <a:ea typeface="Open Sans" pitchFamily="34" charset="-122"/>
                <a:cs typeface="Open Sans" pitchFamily="34" charset="-120"/>
              </a:rPr>
              <a:t>Qué va por privado o a la sesión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02 / 07</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Nuestro espacio principal</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Para todo lo que tiene que ver con tu proceso</a:t>
            </a:r>
            <a:endParaRPr lang="en-US" sz="1600" dirty="0"/>
          </a:p>
        </p:txBody>
      </p:sp>
      <p:sp>
        <p:nvSpPr>
          <p:cNvPr id="7" name="Text 3"/>
          <p:cNvSpPr txBox="1"/>
          <p:nvPr/>
        </p:nvSpPr>
        <p:spPr>
          <a:xfrm>
            <a:off x="4389120" y="1280160"/>
            <a:ext cx="7159752" cy="320040"/>
          </a:xfrm>
          <a:prstGeom prst="rect">
            <a:avLst/>
          </a:prstGeom>
          <a:noFill/>
          <a:ln/>
        </p:spPr>
        <p:txBody>
          <a:bodyPr wrap="square" lIns="0" tIns="0" rIns="0" bIns="0" rtlCol="0" anchor="ctr"/>
          <a:lstStyle/>
          <a:p>
            <a:pPr indent="0" marL="0">
              <a:buNone/>
            </a:pPr>
            <a:r>
              <a:rPr lang="en-US" sz="1150" b="1" spc="200" kern="0" dirty="0">
                <a:solidFill>
                  <a:srgbClr val="C68C6C"/>
                </a:solidFill>
                <a:latin typeface="Open Sans" pitchFamily="34" charset="0"/>
                <a:ea typeface="Open Sans" pitchFamily="34" charset="-122"/>
                <a:cs typeface="Open Sans" pitchFamily="34" charset="-120"/>
              </a:rPr>
              <a:t>ESTE ES EL LUGAR SI…</a:t>
            </a:r>
            <a:endParaRPr lang="en-US" sz="1150" dirty="0"/>
          </a:p>
        </p:txBody>
      </p:sp>
      <p:sp>
        <p:nvSpPr>
          <p:cNvPr id="8" name="Shape 4"/>
          <p:cNvSpPr/>
          <p:nvPr/>
        </p:nvSpPr>
        <p:spPr>
          <a:xfrm>
            <a:off x="4389120" y="1737360"/>
            <a:ext cx="347929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9" name="Shape 5"/>
          <p:cNvSpPr/>
          <p:nvPr/>
        </p:nvSpPr>
        <p:spPr>
          <a:xfrm>
            <a:off x="4590288" y="2020824"/>
            <a:ext cx="530352" cy="530352"/>
          </a:xfrm>
          <a:prstGeom prst="ellipse">
            <a:avLst/>
          </a:prstGeom>
          <a:solidFill>
            <a:srgbClr val="FBF2D0"/>
          </a:solidFill>
          <a:ln w="12700">
            <a:solidFill>
              <a:srgbClr val="FBF2D0"/>
            </a:solidFill>
            <a:prstDash val="solid"/>
          </a:ln>
        </p:spPr>
      </p:sp>
      <p:pic>
        <p:nvPicPr>
          <p:cNvPr id="10" name="Image 1" descr="preencoded.png">    </p:cNvPr>
          <p:cNvPicPr>
            <a:picLocks noChangeAspect="1"/>
          </p:cNvPicPr>
          <p:nvPr/>
        </p:nvPicPr>
        <p:blipFill>
          <a:blip r:embed="rId2"/>
          <a:stretch>
            <a:fillRect/>
          </a:stretch>
        </p:blipFill>
        <p:spPr>
          <a:xfrm>
            <a:off x="4733483" y="2164019"/>
            <a:ext cx="243962" cy="243962"/>
          </a:xfrm>
          <a:prstGeom prst="rect">
            <a:avLst/>
          </a:prstGeom>
        </p:spPr>
      </p:pic>
      <p:sp>
        <p:nvSpPr>
          <p:cNvPr id="11" name="Text 6"/>
          <p:cNvSpPr txBox="1"/>
          <p:nvPr/>
        </p:nvSpPr>
        <p:spPr>
          <a:xfrm>
            <a:off x="5349240" y="1737360"/>
            <a:ext cx="2354580" cy="1097280"/>
          </a:xfrm>
          <a:prstGeom prst="rect">
            <a:avLst/>
          </a:prstGeom>
          <a:noFill/>
          <a:ln/>
        </p:spPr>
        <p:txBody>
          <a:bodyPr wrap="square" lIns="0" tIns="0" rIns="0" bIns="0" rtlCol="0" anchor="ctr"/>
          <a:lstStyle/>
          <a:p>
            <a:pPr indent="0" marL="0">
              <a:buNone/>
            </a:pPr>
            <a:r>
              <a:rPr lang="en-US" sz="1400" b="1" dirty="0">
                <a:solidFill>
                  <a:srgbClr val="81552E"/>
                </a:solidFill>
                <a:latin typeface="Open Sans" pitchFamily="34" charset="0"/>
                <a:ea typeface="Open Sans" pitchFamily="34" charset="-122"/>
                <a:cs typeface="Open Sans" pitchFamily="34" charset="-120"/>
              </a:rPr>
              <a:t>Tuviste una reunión y quieres contar cómo te fue</a:t>
            </a:r>
            <a:endParaRPr lang="en-US" sz="1400" dirty="0"/>
          </a:p>
        </p:txBody>
      </p:sp>
      <p:sp>
        <p:nvSpPr>
          <p:cNvPr id="12" name="Shape 7"/>
          <p:cNvSpPr/>
          <p:nvPr/>
        </p:nvSpPr>
        <p:spPr>
          <a:xfrm>
            <a:off x="8069580" y="1737360"/>
            <a:ext cx="347929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8270748" y="2020824"/>
            <a:ext cx="530352" cy="530352"/>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8413943" y="2164019"/>
            <a:ext cx="243962" cy="243962"/>
          </a:xfrm>
          <a:prstGeom prst="rect">
            <a:avLst/>
          </a:prstGeom>
        </p:spPr>
      </p:pic>
      <p:sp>
        <p:nvSpPr>
          <p:cNvPr id="15" name="Text 9"/>
          <p:cNvSpPr txBox="1"/>
          <p:nvPr/>
        </p:nvSpPr>
        <p:spPr>
          <a:xfrm>
            <a:off x="9029700" y="1737360"/>
            <a:ext cx="2354580" cy="1097280"/>
          </a:xfrm>
          <a:prstGeom prst="rect">
            <a:avLst/>
          </a:prstGeom>
          <a:noFill/>
          <a:ln/>
        </p:spPr>
        <p:txBody>
          <a:bodyPr wrap="square" lIns="0" tIns="0" rIns="0" bIns="0" rtlCol="0" anchor="ctr"/>
          <a:lstStyle/>
          <a:p>
            <a:pPr indent="0" marL="0">
              <a:buNone/>
            </a:pPr>
            <a:r>
              <a:rPr lang="en-US" sz="1400" b="1" dirty="0">
                <a:solidFill>
                  <a:srgbClr val="81552E"/>
                </a:solidFill>
                <a:latin typeface="Open Sans" pitchFamily="34" charset="0"/>
                <a:ea typeface="Open Sans" pitchFamily="34" charset="-122"/>
                <a:cs typeface="Open Sans" pitchFamily="34" charset="-120"/>
              </a:rPr>
              <a:t>Hiciste una práctica y quieres que la revise</a:t>
            </a:r>
            <a:endParaRPr lang="en-US" sz="1400" dirty="0"/>
          </a:p>
        </p:txBody>
      </p:sp>
      <p:sp>
        <p:nvSpPr>
          <p:cNvPr id="16" name="Shape 10"/>
          <p:cNvSpPr/>
          <p:nvPr/>
        </p:nvSpPr>
        <p:spPr>
          <a:xfrm>
            <a:off x="4389120" y="3035808"/>
            <a:ext cx="347929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7" name="Shape 11"/>
          <p:cNvSpPr/>
          <p:nvPr/>
        </p:nvSpPr>
        <p:spPr>
          <a:xfrm>
            <a:off x="4590288" y="3319272"/>
            <a:ext cx="530352" cy="530352"/>
          </a:xfrm>
          <a:prstGeom prst="ellipse">
            <a:avLst/>
          </a:prstGeom>
          <a:solidFill>
            <a:srgbClr val="FBF2D0"/>
          </a:solidFill>
          <a:ln w="12700">
            <a:solidFill>
              <a:srgbClr val="FBF2D0"/>
            </a:solidFill>
            <a:prstDash val="solid"/>
          </a:ln>
        </p:spPr>
      </p:sp>
      <p:pic>
        <p:nvPicPr>
          <p:cNvPr id="18" name="Image 3" descr="preencoded.png">    </p:cNvPr>
          <p:cNvPicPr>
            <a:picLocks noChangeAspect="1"/>
          </p:cNvPicPr>
          <p:nvPr/>
        </p:nvPicPr>
        <p:blipFill>
          <a:blip r:embed="rId4"/>
          <a:stretch>
            <a:fillRect/>
          </a:stretch>
        </p:blipFill>
        <p:spPr>
          <a:xfrm>
            <a:off x="4733483" y="3462467"/>
            <a:ext cx="243962" cy="243962"/>
          </a:xfrm>
          <a:prstGeom prst="rect">
            <a:avLst/>
          </a:prstGeom>
        </p:spPr>
      </p:pic>
      <p:sp>
        <p:nvSpPr>
          <p:cNvPr id="19" name="Text 12"/>
          <p:cNvSpPr txBox="1"/>
          <p:nvPr/>
        </p:nvSpPr>
        <p:spPr>
          <a:xfrm>
            <a:off x="5349240" y="3035808"/>
            <a:ext cx="2354580" cy="1097280"/>
          </a:xfrm>
          <a:prstGeom prst="rect">
            <a:avLst/>
          </a:prstGeom>
          <a:noFill/>
          <a:ln/>
        </p:spPr>
        <p:txBody>
          <a:bodyPr wrap="square" lIns="0" tIns="0" rIns="0" bIns="0" rtlCol="0" anchor="ctr"/>
          <a:lstStyle/>
          <a:p>
            <a:pPr indent="0" marL="0">
              <a:buNone/>
            </a:pPr>
            <a:r>
              <a:rPr lang="en-US" sz="1400" b="1" dirty="0">
                <a:solidFill>
                  <a:srgbClr val="81552E"/>
                </a:solidFill>
                <a:latin typeface="Open Sans" pitchFamily="34" charset="0"/>
                <a:ea typeface="Open Sans" pitchFamily="34" charset="-122"/>
                <a:cs typeface="Open Sans" pitchFamily="34" charset="-120"/>
              </a:rPr>
              <a:t>Apareció una duda con algo que estamos trabajando</a:t>
            </a:r>
            <a:endParaRPr lang="en-US" sz="1400" dirty="0"/>
          </a:p>
        </p:txBody>
      </p:sp>
      <p:sp>
        <p:nvSpPr>
          <p:cNvPr id="20" name="Shape 13"/>
          <p:cNvSpPr/>
          <p:nvPr/>
        </p:nvSpPr>
        <p:spPr>
          <a:xfrm>
            <a:off x="8069580" y="3035808"/>
            <a:ext cx="347929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1" name="Shape 14"/>
          <p:cNvSpPr/>
          <p:nvPr/>
        </p:nvSpPr>
        <p:spPr>
          <a:xfrm>
            <a:off x="8270748" y="3319272"/>
            <a:ext cx="530352" cy="530352"/>
          </a:xfrm>
          <a:prstGeom prst="ellipse">
            <a:avLst/>
          </a:prstGeom>
          <a:solidFill>
            <a:srgbClr val="FBF2D0"/>
          </a:solidFill>
          <a:ln w="12700">
            <a:solidFill>
              <a:srgbClr val="FBF2D0"/>
            </a:solidFill>
            <a:prstDash val="solid"/>
          </a:ln>
        </p:spPr>
      </p:sp>
      <p:pic>
        <p:nvPicPr>
          <p:cNvPr id="22" name="Image 4" descr="preencoded.png">    </p:cNvPr>
          <p:cNvPicPr>
            <a:picLocks noChangeAspect="1"/>
          </p:cNvPicPr>
          <p:nvPr/>
        </p:nvPicPr>
        <p:blipFill>
          <a:blip r:embed="rId5"/>
          <a:stretch>
            <a:fillRect/>
          </a:stretch>
        </p:blipFill>
        <p:spPr>
          <a:xfrm>
            <a:off x="8413943" y="3462467"/>
            <a:ext cx="243962" cy="243962"/>
          </a:xfrm>
          <a:prstGeom prst="rect">
            <a:avLst/>
          </a:prstGeom>
        </p:spPr>
      </p:pic>
      <p:sp>
        <p:nvSpPr>
          <p:cNvPr id="23" name="Text 15"/>
          <p:cNvSpPr txBox="1"/>
          <p:nvPr/>
        </p:nvSpPr>
        <p:spPr>
          <a:xfrm>
            <a:off x="9029700" y="3035808"/>
            <a:ext cx="2354580" cy="1097280"/>
          </a:xfrm>
          <a:prstGeom prst="rect">
            <a:avLst/>
          </a:prstGeom>
          <a:noFill/>
          <a:ln/>
        </p:spPr>
        <p:txBody>
          <a:bodyPr wrap="square" lIns="0" tIns="0" rIns="0" bIns="0" rtlCol="0" anchor="ctr"/>
          <a:lstStyle/>
          <a:p>
            <a:pPr indent="0" marL="0">
              <a:buNone/>
            </a:pPr>
            <a:r>
              <a:rPr lang="en-US" sz="1400" b="1" dirty="0">
                <a:solidFill>
                  <a:srgbClr val="81552E"/>
                </a:solidFill>
                <a:latin typeface="Open Sans" pitchFamily="34" charset="0"/>
                <a:ea typeface="Open Sans" pitchFamily="34" charset="-122"/>
                <a:cs typeface="Open Sans" pitchFamily="34" charset="-120"/>
              </a:rPr>
              <a:t>Notaste un avance</a:t>
            </a:r>
            <a:endParaRPr lang="en-US" sz="1400" dirty="0"/>
          </a:p>
        </p:txBody>
      </p:sp>
      <p:sp>
        <p:nvSpPr>
          <p:cNvPr id="24" name="Shape 16"/>
          <p:cNvSpPr/>
          <p:nvPr/>
        </p:nvSpPr>
        <p:spPr>
          <a:xfrm>
            <a:off x="4389120" y="4983480"/>
            <a:ext cx="7159752" cy="1371600"/>
          </a:xfrm>
          <a:prstGeom prst="roundRect">
            <a:avLst>
              <a:gd name="adj" fmla="val 10667"/>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5" name="Shape 17"/>
          <p:cNvSpPr/>
          <p:nvPr/>
        </p:nvSpPr>
        <p:spPr>
          <a:xfrm>
            <a:off x="4754880" y="5280660"/>
            <a:ext cx="777240" cy="777240"/>
          </a:xfrm>
          <a:prstGeom prst="ellipse">
            <a:avLst/>
          </a:prstGeom>
          <a:solidFill>
            <a:srgbClr val="C68C6C"/>
          </a:solidFill>
          <a:ln w="12700">
            <a:solidFill>
              <a:srgbClr val="C68C6C"/>
            </a:solidFill>
            <a:prstDash val="solid"/>
          </a:ln>
        </p:spPr>
      </p:sp>
      <p:pic>
        <p:nvPicPr>
          <p:cNvPr id="26" name="Image 5" descr="preencoded.png">    </p:cNvPr>
          <p:cNvPicPr>
            <a:picLocks noChangeAspect="1"/>
          </p:cNvPicPr>
          <p:nvPr/>
        </p:nvPicPr>
        <p:blipFill>
          <a:blip r:embed="rId6"/>
          <a:stretch>
            <a:fillRect/>
          </a:stretch>
        </p:blipFill>
        <p:spPr>
          <a:xfrm>
            <a:off x="4964735" y="5490515"/>
            <a:ext cx="357530" cy="357530"/>
          </a:xfrm>
          <a:prstGeom prst="rect">
            <a:avLst/>
          </a:prstGeom>
        </p:spPr>
      </p:pic>
      <p:sp>
        <p:nvSpPr>
          <p:cNvPr id="27" name="Text 18"/>
          <p:cNvSpPr txBox="1"/>
          <p:nvPr/>
        </p:nvSpPr>
        <p:spPr>
          <a:xfrm>
            <a:off x="5852160" y="4983480"/>
            <a:ext cx="5376672" cy="137160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No necesitas algo perfecto ni súper elaborado</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Una pregunta corta, un audio de un minuto o una situación concreta alcanza para seguir trabajando.</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03 / 07</a:t>
            </a:r>
            <a:endParaRPr lang="en-US" sz="1100" dirty="0"/>
          </a:p>
        </p:txBody>
      </p:sp>
      <p:sp>
        <p:nvSpPr>
          <p:cNvPr id="5" name="Text 1"/>
          <p:cNvSpPr txBox="1"/>
          <p:nvPr/>
        </p:nvSpPr>
        <p:spPr>
          <a:xfrm>
            <a:off x="640080" y="1280160"/>
            <a:ext cx="3429000" cy="1502664"/>
          </a:xfrm>
          <a:prstGeom prst="rect">
            <a:avLst/>
          </a:prstGeom>
          <a:noFill/>
          <a:ln/>
        </p:spPr>
        <p:txBody>
          <a:bodyPr wrap="square" lIns="0" tIns="0" rIns="0" bIns="0" rtlCol="0" anchor="t"/>
          <a:lstStyle/>
          <a:p>
            <a:pPr indent="0" marL="0">
              <a:lnSpc>
                <a:spcPct val="92000"/>
              </a:lnSpc>
              <a:buNone/>
            </a:pPr>
            <a:r>
              <a:rPr lang="en-US" sz="3200" b="1" dirty="0">
                <a:solidFill>
                  <a:srgbClr val="81552E"/>
                </a:solidFill>
                <a:latin typeface="Source Serif Pro" pitchFamily="34" charset="0"/>
                <a:ea typeface="Source Serif Pro" pitchFamily="34" charset="-122"/>
                <a:cs typeface="Source Serif Pro" pitchFamily="34" charset="-120"/>
              </a:rPr>
              <a:t>Participar es usar el acompañamiento</a:t>
            </a:r>
            <a:endParaRPr lang="en-US" sz="3200" dirty="0"/>
          </a:p>
        </p:txBody>
      </p:sp>
      <p:sp>
        <p:nvSpPr>
          <p:cNvPr id="6" name="Text 2"/>
          <p:cNvSpPr txBox="1"/>
          <p:nvPr/>
        </p:nvSpPr>
        <p:spPr>
          <a:xfrm>
            <a:off x="640080" y="2919984"/>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tienes que escribir todo el tiempo</a:t>
            </a:r>
            <a:endParaRPr lang="en-US" sz="1600" dirty="0"/>
          </a:p>
        </p:txBody>
      </p:sp>
      <p:sp>
        <p:nvSpPr>
          <p:cNvPr id="7" name="Shape 3"/>
          <p:cNvSpPr/>
          <p:nvPr/>
        </p:nvSpPr>
        <p:spPr>
          <a:xfrm>
            <a:off x="4389120" y="1280160"/>
            <a:ext cx="7159752" cy="1828800"/>
          </a:xfrm>
          <a:prstGeom prst="roundRect">
            <a:avLst>
              <a:gd name="adj" fmla="val 8000"/>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8" name="Text 4"/>
          <p:cNvSpPr txBox="1"/>
          <p:nvPr/>
        </p:nvSpPr>
        <p:spPr>
          <a:xfrm>
            <a:off x="4846320" y="1600200"/>
            <a:ext cx="6245352" cy="274320"/>
          </a:xfrm>
          <a:prstGeom prst="rect">
            <a:avLst/>
          </a:prstGeom>
          <a:noFill/>
          <a:ln/>
        </p:spPr>
        <p:txBody>
          <a:bodyPr wrap="square" lIns="0" tIns="0" rIns="0" bIns="0" rtlCol="0" anchor="ctr"/>
          <a:lstStyle/>
          <a:p>
            <a:pPr indent="0" marL="0">
              <a:buNone/>
            </a:pPr>
            <a:r>
              <a:rPr lang="en-US" sz="1150" b="1" spc="300" kern="0" dirty="0">
                <a:solidFill>
                  <a:srgbClr val="C68C6C"/>
                </a:solidFill>
                <a:latin typeface="Open Sans" pitchFamily="34" charset="0"/>
                <a:ea typeface="Open Sans" pitchFamily="34" charset="-122"/>
                <a:cs typeface="Open Sans" pitchFamily="34" charset="-120"/>
              </a:rPr>
              <a:t>NO QUIERO QUE LLEGUES A LA SESIÓN PENSANDO</a:t>
            </a:r>
            <a:endParaRPr lang="en-US" sz="1150" dirty="0"/>
          </a:p>
        </p:txBody>
      </p:sp>
      <p:sp>
        <p:nvSpPr>
          <p:cNvPr id="9" name="Text 5"/>
          <p:cNvSpPr txBox="1"/>
          <p:nvPr/>
        </p:nvSpPr>
        <p:spPr>
          <a:xfrm>
            <a:off x="4846320" y="1920240"/>
            <a:ext cx="6245352" cy="914400"/>
          </a:xfrm>
          <a:prstGeom prst="rect">
            <a:avLst/>
          </a:prstGeom>
          <a:noFill/>
          <a:ln/>
        </p:spPr>
        <p:txBody>
          <a:bodyPr wrap="square" lIns="0" tIns="0" rIns="0" bIns="0" rtlCol="0" anchor="ctr"/>
          <a:lstStyle/>
          <a:p>
            <a:pPr indent="0" marL="0">
              <a:buNone/>
            </a:pPr>
            <a:r>
              <a:rPr lang="en-US" sz="2000" b="1" i="1" dirty="0">
                <a:solidFill>
                  <a:srgbClr val="81552E"/>
                </a:solidFill>
                <a:latin typeface="Source Serif Pro" pitchFamily="34" charset="0"/>
                <a:ea typeface="Source Serif Pro" pitchFamily="34" charset="-122"/>
                <a:cs typeface="Source Serif Pro" pitchFamily="34" charset="-120"/>
              </a:rPr>
              <a:t>“Esto me pasó hace cuatro días, pero no pregunté porque no sabía si correspondía.”</a:t>
            </a:r>
            <a:endParaRPr lang="en-US" sz="2000" dirty="0"/>
          </a:p>
        </p:txBody>
      </p:sp>
      <p:sp>
        <p:nvSpPr>
          <p:cNvPr id="10" name="Shape 6"/>
          <p:cNvSpPr/>
          <p:nvPr/>
        </p:nvSpPr>
        <p:spPr>
          <a:xfrm>
            <a:off x="4389120" y="338328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1" name="Shape 7"/>
          <p:cNvSpPr/>
          <p:nvPr/>
        </p:nvSpPr>
        <p:spPr>
          <a:xfrm>
            <a:off x="4617720" y="3657600"/>
            <a:ext cx="548640" cy="548640"/>
          </a:xfrm>
          <a:prstGeom prst="ellipse">
            <a:avLst/>
          </a:prstGeom>
          <a:solidFill>
            <a:srgbClr val="FBF2D0"/>
          </a:solidFill>
          <a:ln w="12700">
            <a:solidFill>
              <a:srgbClr val="FBF2D0"/>
            </a:solidFill>
            <a:prstDash val="solid"/>
          </a:ln>
        </p:spPr>
      </p:sp>
      <p:pic>
        <p:nvPicPr>
          <p:cNvPr id="12" name="Image 1" descr="preencoded.png">    </p:cNvPr>
          <p:cNvPicPr>
            <a:picLocks noChangeAspect="1"/>
          </p:cNvPicPr>
          <p:nvPr/>
        </p:nvPicPr>
        <p:blipFill>
          <a:blip r:embed="rId2"/>
          <a:stretch>
            <a:fillRect/>
          </a:stretch>
        </p:blipFill>
        <p:spPr>
          <a:xfrm>
            <a:off x="4765853" y="3805733"/>
            <a:ext cx="252374" cy="252374"/>
          </a:xfrm>
          <a:prstGeom prst="rect">
            <a:avLst/>
          </a:prstGeom>
        </p:spPr>
      </p:pic>
      <p:sp>
        <p:nvSpPr>
          <p:cNvPr id="13" name="Text 8"/>
          <p:cNvSpPr txBox="1"/>
          <p:nvPr/>
        </p:nvSpPr>
        <p:spPr>
          <a:xfrm>
            <a:off x="5349240" y="3383280"/>
            <a:ext cx="6016752" cy="109728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Si algo aparece durante la semana y puede ayudarte a avanzar, tráelo.</a:t>
            </a:r>
            <a:endParaRPr lang="en-US" sz="1400" dirty="0"/>
          </a:p>
        </p:txBody>
      </p:sp>
      <p:sp>
        <p:nvSpPr>
          <p:cNvPr id="14" name="Shape 9"/>
          <p:cNvSpPr/>
          <p:nvPr/>
        </p:nvSpPr>
        <p:spPr>
          <a:xfrm>
            <a:off x="4389120" y="4736592"/>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5" name="Shape 10"/>
          <p:cNvSpPr/>
          <p:nvPr/>
        </p:nvSpPr>
        <p:spPr>
          <a:xfrm>
            <a:off x="4617720" y="5010912"/>
            <a:ext cx="548640" cy="548640"/>
          </a:xfrm>
          <a:prstGeom prst="ellipse">
            <a:avLst/>
          </a:prstGeom>
          <a:solidFill>
            <a:srgbClr val="FBF2D0"/>
          </a:solidFill>
          <a:ln w="12700">
            <a:solidFill>
              <a:srgbClr val="FBF2D0"/>
            </a:solidFill>
            <a:prstDash val="solid"/>
          </a:ln>
        </p:spPr>
      </p:sp>
      <p:pic>
        <p:nvPicPr>
          <p:cNvPr id="16" name="Image 2" descr="preencoded.png">    </p:cNvPr>
          <p:cNvPicPr>
            <a:picLocks noChangeAspect="1"/>
          </p:cNvPicPr>
          <p:nvPr/>
        </p:nvPicPr>
        <p:blipFill>
          <a:blip r:embed="rId3"/>
          <a:stretch>
            <a:fillRect/>
          </a:stretch>
        </p:blipFill>
        <p:spPr>
          <a:xfrm>
            <a:off x="4765853" y="5159045"/>
            <a:ext cx="252374" cy="252374"/>
          </a:xfrm>
          <a:prstGeom prst="rect">
            <a:avLst/>
          </a:prstGeom>
        </p:spPr>
      </p:pic>
      <p:sp>
        <p:nvSpPr>
          <p:cNvPr id="17" name="Text 11"/>
          <p:cNvSpPr txBox="1"/>
          <p:nvPr/>
        </p:nvSpPr>
        <p:spPr>
          <a:xfrm>
            <a:off x="5349240" y="4736592"/>
            <a:ext cx="6016752" cy="1097280"/>
          </a:xfrm>
          <a:prstGeom prst="rect">
            <a:avLst/>
          </a:prstGeom>
          <a:noFill/>
          <a:ln/>
        </p:spPr>
        <p:txBody>
          <a:bodyPr wrap="square" lIns="0" tIns="0" rIns="0" bIns="0" rtlCol="0" anchor="ctr"/>
          <a:lstStyle/>
          <a:p>
            <a:pPr indent="0" marL="0">
              <a:buNone/>
            </a:pPr>
            <a:r>
              <a:rPr lang="en-US" sz="1400" dirty="0">
                <a:solidFill>
                  <a:srgbClr val="3F1E0D"/>
                </a:solidFill>
                <a:latin typeface="Open Sans" pitchFamily="34" charset="0"/>
                <a:ea typeface="Open Sans" pitchFamily="34" charset="-122"/>
                <a:cs typeface="Open Sans" pitchFamily="34" charset="-120"/>
              </a:rPr>
              <a:t>Leer lo que comparten otras alumnas también puede darte ideas para tu propio proceso.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04 / 07</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Cómo pedirme feedback</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Contexto · Mi intento · Necesito ayuda con…</a:t>
            </a:r>
            <a:endParaRPr lang="en-US" sz="1600" dirty="0"/>
          </a:p>
        </p:txBody>
      </p:sp>
      <p:sp>
        <p:nvSpPr>
          <p:cNvPr id="7" name="Shape 3"/>
          <p:cNvSpPr/>
          <p:nvPr/>
        </p:nvSpPr>
        <p:spPr>
          <a:xfrm>
            <a:off x="4389120" y="128016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554480"/>
            <a:ext cx="548640" cy="548640"/>
          </a:xfrm>
          <a:prstGeom prst="ellipse">
            <a:avLst/>
          </a:prstGeom>
          <a:solidFill>
            <a:srgbClr val="C68C6C"/>
          </a:solidFill>
          <a:ln w="12700">
            <a:solidFill>
              <a:srgbClr val="C68C6C"/>
            </a:solidFill>
            <a:prstDash val="solid"/>
          </a:ln>
        </p:spPr>
      </p:sp>
      <p:sp>
        <p:nvSpPr>
          <p:cNvPr id="9" name="Text 5"/>
          <p:cNvSpPr txBox="1"/>
          <p:nvPr/>
        </p:nvSpPr>
        <p:spPr>
          <a:xfrm>
            <a:off x="4663440" y="155448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1</a:t>
            </a:r>
            <a:endParaRPr lang="en-US" sz="1680" dirty="0"/>
          </a:p>
        </p:txBody>
      </p:sp>
      <p:sp>
        <p:nvSpPr>
          <p:cNvPr id="10" name="Text 6"/>
          <p:cNvSpPr txBox="1"/>
          <p:nvPr/>
        </p:nvSpPr>
        <p:spPr>
          <a:xfrm>
            <a:off x="5486400" y="1280160"/>
            <a:ext cx="5056632" cy="1097280"/>
          </a:xfrm>
          <a:prstGeom prst="rect">
            <a:avLst/>
          </a:prstGeom>
          <a:noFill/>
          <a:ln/>
        </p:spPr>
        <p:txBody>
          <a:bodyPr wrap="square" lIns="0" tIns="0" rIns="0" bIns="0" rtlCol="0" anchor="ctr"/>
          <a:lstStyle/>
          <a:p>
            <a:pPr indent="0" marL="0">
              <a:spcAft>
                <a:spcPts val="200"/>
              </a:spcAft>
              <a:buNone/>
            </a:pPr>
            <a:r>
              <a:rPr lang="en-US" sz="1750" b="1" dirty="0">
                <a:solidFill>
                  <a:srgbClr val="3F1E0D"/>
                </a:solidFill>
                <a:latin typeface="Open Sans" pitchFamily="34" charset="0"/>
                <a:ea typeface="Open Sans" pitchFamily="34" charset="-122"/>
                <a:cs typeface="Open Sans" pitchFamily="34" charset="-120"/>
              </a:rPr>
              <a:t>Contexto</a:t>
            </a:r>
            <a:endParaRPr lang="en-US" sz="1750" dirty="0"/>
          </a:p>
          <a:p>
            <a:pPr indent="0" marL="0">
              <a:spcAft>
                <a:spcPts val="200"/>
              </a:spcAft>
              <a:buNone/>
            </a:pPr>
            <a:r>
              <a:rPr lang="en-US" sz="1450" dirty="0">
                <a:solidFill>
                  <a:srgbClr val="8A6A55"/>
                </a:solidFill>
                <a:latin typeface="Open Sans" pitchFamily="34" charset="0"/>
                <a:ea typeface="Open Sans" pitchFamily="34" charset="-122"/>
                <a:cs typeface="Open Sans" pitchFamily="34" charset="-120"/>
              </a:rPr>
              <a:t>Para qué es o qué situación estás resolviendo. Solo lo necesario para entender qué quieres comunicar.</a:t>
            </a:r>
            <a:endParaRPr lang="en-US" sz="1750" dirty="0"/>
          </a:p>
        </p:txBody>
      </p:sp>
      <p:pic>
        <p:nvPicPr>
          <p:cNvPr id="11" name="Image 1" descr="preencoded.png">    </p:cNvPr>
          <p:cNvPicPr>
            <a:picLocks noChangeAspect="1"/>
          </p:cNvPicPr>
          <p:nvPr/>
        </p:nvPicPr>
        <p:blipFill>
          <a:blip r:embed="rId2"/>
          <a:stretch>
            <a:fillRect/>
          </a:stretch>
        </p:blipFill>
        <p:spPr>
          <a:xfrm>
            <a:off x="10817352" y="1636776"/>
            <a:ext cx="384048" cy="384048"/>
          </a:xfrm>
          <a:prstGeom prst="rect">
            <a:avLst/>
          </a:prstGeom>
        </p:spPr>
      </p:pic>
      <p:sp>
        <p:nvSpPr>
          <p:cNvPr id="12" name="Shape 7"/>
          <p:cNvSpPr/>
          <p:nvPr/>
        </p:nvSpPr>
        <p:spPr>
          <a:xfrm>
            <a:off x="4389120" y="256032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4663440" y="2834640"/>
            <a:ext cx="548640" cy="548640"/>
          </a:xfrm>
          <a:prstGeom prst="ellipse">
            <a:avLst/>
          </a:prstGeom>
          <a:solidFill>
            <a:srgbClr val="C68C6C"/>
          </a:solidFill>
          <a:ln w="12700">
            <a:solidFill>
              <a:srgbClr val="C68C6C"/>
            </a:solidFill>
            <a:prstDash val="solid"/>
          </a:ln>
        </p:spPr>
      </p:sp>
      <p:sp>
        <p:nvSpPr>
          <p:cNvPr id="14" name="Text 9"/>
          <p:cNvSpPr txBox="1"/>
          <p:nvPr/>
        </p:nvSpPr>
        <p:spPr>
          <a:xfrm>
            <a:off x="4663440" y="283464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2</a:t>
            </a:r>
            <a:endParaRPr lang="en-US" sz="1680" dirty="0"/>
          </a:p>
        </p:txBody>
      </p:sp>
      <p:sp>
        <p:nvSpPr>
          <p:cNvPr id="15" name="Text 10"/>
          <p:cNvSpPr txBox="1"/>
          <p:nvPr/>
        </p:nvSpPr>
        <p:spPr>
          <a:xfrm>
            <a:off x="5486400" y="2560320"/>
            <a:ext cx="5056632" cy="1097280"/>
          </a:xfrm>
          <a:prstGeom prst="rect">
            <a:avLst/>
          </a:prstGeom>
          <a:noFill/>
          <a:ln/>
        </p:spPr>
        <p:txBody>
          <a:bodyPr wrap="square" lIns="0" tIns="0" rIns="0" bIns="0" rtlCol="0" anchor="ctr"/>
          <a:lstStyle/>
          <a:p>
            <a:pPr indent="0" marL="0">
              <a:spcAft>
                <a:spcPts val="200"/>
              </a:spcAft>
              <a:buNone/>
            </a:pPr>
            <a:r>
              <a:rPr lang="en-US" sz="1750" b="1" dirty="0">
                <a:solidFill>
                  <a:srgbClr val="3F1E0D"/>
                </a:solidFill>
                <a:latin typeface="Open Sans" pitchFamily="34" charset="0"/>
                <a:ea typeface="Open Sans" pitchFamily="34" charset="-122"/>
                <a:cs typeface="Open Sans" pitchFamily="34" charset="-120"/>
              </a:rPr>
              <a:t>Tu intento</a:t>
            </a:r>
            <a:endParaRPr lang="en-US" sz="1750" dirty="0"/>
          </a:p>
          <a:p>
            <a:pPr indent="0" marL="0">
              <a:spcAft>
                <a:spcPts val="200"/>
              </a:spcAft>
              <a:buNone/>
            </a:pPr>
            <a:r>
              <a:rPr lang="en-US" sz="1450" dirty="0">
                <a:solidFill>
                  <a:srgbClr val="8A6A55"/>
                </a:solidFill>
                <a:latin typeface="Open Sans" pitchFamily="34" charset="0"/>
                <a:ea typeface="Open Sans" pitchFamily="34" charset="-122"/>
                <a:cs typeface="Open Sans" pitchFamily="34" charset="-120"/>
              </a:rPr>
              <a:t>Audio, video o texto: quiero ver tu producción antes de corregirla.</a:t>
            </a:r>
            <a:endParaRPr lang="en-US" sz="1750" dirty="0"/>
          </a:p>
        </p:txBody>
      </p:sp>
      <p:pic>
        <p:nvPicPr>
          <p:cNvPr id="16" name="Image 2" descr="preencoded.png">    </p:cNvPr>
          <p:cNvPicPr>
            <a:picLocks noChangeAspect="1"/>
          </p:cNvPicPr>
          <p:nvPr/>
        </p:nvPicPr>
        <p:blipFill>
          <a:blip r:embed="rId3"/>
          <a:stretch>
            <a:fillRect/>
          </a:stretch>
        </p:blipFill>
        <p:spPr>
          <a:xfrm>
            <a:off x="10817352" y="2916936"/>
            <a:ext cx="384048" cy="384048"/>
          </a:xfrm>
          <a:prstGeom prst="rect">
            <a:avLst/>
          </a:prstGeom>
        </p:spPr>
      </p:pic>
      <p:sp>
        <p:nvSpPr>
          <p:cNvPr id="17" name="Shape 11"/>
          <p:cNvSpPr/>
          <p:nvPr/>
        </p:nvSpPr>
        <p:spPr>
          <a:xfrm>
            <a:off x="4389120" y="3840480"/>
            <a:ext cx="7159752" cy="1097280"/>
          </a:xfrm>
          <a:prstGeom prst="roundRect">
            <a:avLst>
              <a:gd name="adj" fmla="val 13333"/>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4663440" y="4114800"/>
            <a:ext cx="548640" cy="548640"/>
          </a:xfrm>
          <a:prstGeom prst="ellipse">
            <a:avLst/>
          </a:prstGeom>
          <a:solidFill>
            <a:srgbClr val="C68C6C"/>
          </a:solidFill>
          <a:ln w="12700">
            <a:solidFill>
              <a:srgbClr val="C68C6C"/>
            </a:solidFill>
            <a:prstDash val="solid"/>
          </a:ln>
        </p:spPr>
      </p:sp>
      <p:sp>
        <p:nvSpPr>
          <p:cNvPr id="19" name="Text 13"/>
          <p:cNvSpPr txBox="1"/>
          <p:nvPr/>
        </p:nvSpPr>
        <p:spPr>
          <a:xfrm>
            <a:off x="4663440" y="4114800"/>
            <a:ext cx="548640" cy="548640"/>
          </a:xfrm>
          <a:prstGeom prst="rect">
            <a:avLst/>
          </a:prstGeom>
          <a:noFill/>
          <a:ln/>
        </p:spPr>
        <p:txBody>
          <a:bodyPr wrap="square" lIns="0" tIns="0" rIns="0" bIns="0" rtlCol="0" anchor="ctr"/>
          <a:lstStyle/>
          <a:p>
            <a:pPr algn="ctr" indent="0" marL="0">
              <a:buNone/>
            </a:pPr>
            <a:r>
              <a:rPr lang="en-US" sz="1680" b="1" dirty="0">
                <a:solidFill>
                  <a:srgbClr val="FFFDF9"/>
                </a:solidFill>
                <a:latin typeface="Source Serif Pro" pitchFamily="34" charset="0"/>
                <a:ea typeface="Source Serif Pro" pitchFamily="34" charset="-122"/>
                <a:cs typeface="Source Serif Pro" pitchFamily="34" charset="-120"/>
              </a:rPr>
              <a:t>3</a:t>
            </a:r>
            <a:endParaRPr lang="en-US" sz="1680" dirty="0"/>
          </a:p>
        </p:txBody>
      </p:sp>
      <p:sp>
        <p:nvSpPr>
          <p:cNvPr id="20" name="Text 14"/>
          <p:cNvSpPr txBox="1"/>
          <p:nvPr/>
        </p:nvSpPr>
        <p:spPr>
          <a:xfrm>
            <a:off x="5486400" y="3840480"/>
            <a:ext cx="5056632" cy="1097280"/>
          </a:xfrm>
          <a:prstGeom prst="rect">
            <a:avLst/>
          </a:prstGeom>
          <a:noFill/>
          <a:ln/>
        </p:spPr>
        <p:txBody>
          <a:bodyPr wrap="square" lIns="0" tIns="0" rIns="0" bIns="0" rtlCol="0" anchor="ctr"/>
          <a:lstStyle/>
          <a:p>
            <a:pPr indent="0" marL="0">
              <a:spcAft>
                <a:spcPts val="200"/>
              </a:spcAft>
              <a:buNone/>
            </a:pPr>
            <a:r>
              <a:rPr lang="en-US" sz="1750" b="1" dirty="0">
                <a:solidFill>
                  <a:srgbClr val="3F1E0D"/>
                </a:solidFill>
                <a:latin typeface="Open Sans" pitchFamily="34" charset="0"/>
                <a:ea typeface="Open Sans" pitchFamily="34" charset="-122"/>
                <a:cs typeface="Open Sans" pitchFamily="34" charset="-120"/>
              </a:rPr>
              <a:t>Necesito ayuda con…</a:t>
            </a:r>
            <a:endParaRPr lang="en-US" sz="1750" dirty="0"/>
          </a:p>
          <a:p>
            <a:pPr indent="0" marL="0">
              <a:spcAft>
                <a:spcPts val="200"/>
              </a:spcAft>
              <a:buNone/>
            </a:pPr>
            <a:r>
              <a:rPr lang="en-US" sz="1450" dirty="0">
                <a:solidFill>
                  <a:srgbClr val="8A6A55"/>
                </a:solidFill>
                <a:latin typeface="Open Sans" pitchFamily="34" charset="0"/>
                <a:ea typeface="Open Sans" pitchFamily="34" charset="-122"/>
                <a:cs typeface="Open Sans" pitchFamily="34" charset="-120"/>
              </a:rPr>
              <a:t>Claridad, estructura, vocabulario, pronunciación, precisión, sonar más directa o confirmar si se entiende.</a:t>
            </a:r>
            <a:endParaRPr lang="en-US" sz="1750" dirty="0"/>
          </a:p>
        </p:txBody>
      </p:sp>
      <p:pic>
        <p:nvPicPr>
          <p:cNvPr id="21" name="Image 3" descr="preencoded.png">    </p:cNvPr>
          <p:cNvPicPr>
            <a:picLocks noChangeAspect="1"/>
          </p:cNvPicPr>
          <p:nvPr/>
        </p:nvPicPr>
        <p:blipFill>
          <a:blip r:embed="rId4"/>
          <a:stretch>
            <a:fillRect/>
          </a:stretch>
        </p:blipFill>
        <p:spPr>
          <a:xfrm>
            <a:off x="10817352" y="4197096"/>
            <a:ext cx="384048" cy="384048"/>
          </a:xfrm>
          <a:prstGeom prst="rect">
            <a:avLst/>
          </a:prstGeom>
        </p:spPr>
      </p:pic>
      <p:sp>
        <p:nvSpPr>
          <p:cNvPr id="22" name="Shape 15"/>
          <p:cNvSpPr/>
          <p:nvPr/>
        </p:nvSpPr>
        <p:spPr>
          <a:xfrm>
            <a:off x="4389120" y="5349240"/>
            <a:ext cx="7159752" cy="1005840"/>
          </a:xfrm>
          <a:prstGeom prst="roundRect">
            <a:avLst>
              <a:gd name="adj" fmla="val 14545"/>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3" name="Shape 16"/>
          <p:cNvSpPr/>
          <p:nvPr/>
        </p:nvSpPr>
        <p:spPr>
          <a:xfrm>
            <a:off x="4754880" y="5486400"/>
            <a:ext cx="731520" cy="731520"/>
          </a:xfrm>
          <a:prstGeom prst="ellipse">
            <a:avLst/>
          </a:prstGeom>
          <a:solidFill>
            <a:srgbClr val="C68C6C"/>
          </a:solidFill>
          <a:ln w="12700">
            <a:solidFill>
              <a:srgbClr val="C68C6C"/>
            </a:solidFill>
            <a:prstDash val="solid"/>
          </a:ln>
        </p:spPr>
      </p:sp>
      <p:pic>
        <p:nvPicPr>
          <p:cNvPr id="24" name="Image 4" descr="preencoded.png">    </p:cNvPr>
          <p:cNvPicPr>
            <a:picLocks noChangeAspect="1"/>
          </p:cNvPicPr>
          <p:nvPr/>
        </p:nvPicPr>
        <p:blipFill>
          <a:blip r:embed="rId5"/>
          <a:stretch>
            <a:fillRect/>
          </a:stretch>
        </p:blipFill>
        <p:spPr>
          <a:xfrm>
            <a:off x="4952390" y="5683910"/>
            <a:ext cx="336499" cy="336499"/>
          </a:xfrm>
          <a:prstGeom prst="rect">
            <a:avLst/>
          </a:prstGeom>
        </p:spPr>
      </p:pic>
      <p:sp>
        <p:nvSpPr>
          <p:cNvPr id="25" name="Text 17"/>
          <p:cNvSpPr txBox="1"/>
          <p:nvPr/>
        </p:nvSpPr>
        <p:spPr>
          <a:xfrm>
            <a:off x="5806440" y="5349240"/>
            <a:ext cx="5422392" cy="1005840"/>
          </a:xfrm>
          <a:prstGeom prst="rect">
            <a:avLst/>
          </a:prstGeom>
          <a:noFill/>
          <a:ln/>
        </p:spPr>
        <p:txBody>
          <a:bodyPr wrap="square" lIns="0" tIns="0" rIns="0" bIns="0" rtlCol="0" anchor="ctr"/>
          <a:lstStyle/>
          <a:p>
            <a:pPr indent="0" marL="0">
              <a:spcAft>
                <a:spcPts val="500"/>
              </a:spcAft>
              <a:buNone/>
            </a:pPr>
            <a:r>
              <a:rPr lang="en-US" sz="1600" b="1" dirty="0">
                <a:solidFill>
                  <a:srgbClr val="3F1E0D"/>
                </a:solidFill>
                <a:latin typeface="Open Sans" pitchFamily="34" charset="0"/>
                <a:ea typeface="Open Sans" pitchFamily="34" charset="-122"/>
                <a:cs typeface="Open Sans" pitchFamily="34" charset="-120"/>
              </a:rPr>
              <a:t>No quiero reemplazar tu voz: </a:t>
            </a:r>
            <a:pPr indent="0" marL="0">
              <a:spcAft>
                <a:spcPts val="500"/>
              </a:spcAft>
              <a:buNone/>
            </a:pPr>
            <a:r>
              <a:rPr lang="en-US" sz="1600" dirty="0">
                <a:solidFill>
                  <a:srgbClr val="3F1E0D"/>
                </a:solidFill>
                <a:latin typeface="Open Sans" pitchFamily="34" charset="0"/>
                <a:ea typeface="Open Sans" pitchFamily="34" charset="-122"/>
                <a:cs typeface="Open Sans" pitchFamily="34" charset="-120"/>
              </a:rPr>
              <a:t>quiero ayudarte a mejorarla.</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05 / 07</a:t>
            </a:r>
            <a:endParaRPr lang="en-US" sz="1100" dirty="0"/>
          </a:p>
        </p:txBody>
      </p:sp>
      <p:sp>
        <p:nvSpPr>
          <p:cNvPr id="5" name="Text 1"/>
          <p:cNvSpPr txBox="1"/>
          <p:nvPr/>
        </p:nvSpPr>
        <p:spPr>
          <a:xfrm>
            <a:off x="640080" y="1280160"/>
            <a:ext cx="3429000" cy="620776"/>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Por ejemplo</a:t>
            </a:r>
            <a:endParaRPr lang="en-US" sz="3400" dirty="0"/>
          </a:p>
        </p:txBody>
      </p:sp>
      <p:sp>
        <p:nvSpPr>
          <p:cNvPr id="6" name="Text 2"/>
          <p:cNvSpPr txBox="1"/>
          <p:nvPr/>
        </p:nvSpPr>
        <p:spPr>
          <a:xfrm>
            <a:off x="640080" y="2038096"/>
            <a:ext cx="3291840" cy="91440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Intenta primero: si me escribes solo “¿Cómo digo esto?”, te voy a pedir un primer intento</a:t>
            </a:r>
            <a:endParaRPr lang="en-US" sz="1600" dirty="0"/>
          </a:p>
        </p:txBody>
      </p:sp>
      <p:sp>
        <p:nvSpPr>
          <p:cNvPr id="7" name="Shape 3"/>
          <p:cNvSpPr/>
          <p:nvPr/>
        </p:nvSpPr>
        <p:spPr>
          <a:xfrm>
            <a:off x="4389120" y="1280160"/>
            <a:ext cx="6611112" cy="1082040"/>
          </a:xfrm>
          <a:prstGeom prst="roundRect">
            <a:avLst>
              <a:gd name="adj" fmla="val 13521"/>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663440" y="1537716"/>
            <a:ext cx="566928" cy="566928"/>
          </a:xfrm>
          <a:prstGeom prst="ellipse">
            <a:avLst/>
          </a:prstGeom>
          <a:solidFill>
            <a:srgbClr val="C68C6C"/>
          </a:solidFill>
          <a:ln w="12700">
            <a:solidFill>
              <a:srgbClr val="C68C6C"/>
            </a:solidFill>
            <a:prstDash val="solid"/>
          </a:ln>
        </p:spPr>
      </p:sp>
      <p:pic>
        <p:nvPicPr>
          <p:cNvPr id="9" name="Image 1" descr="preencoded.png">    </p:cNvPr>
          <p:cNvPicPr>
            <a:picLocks noChangeAspect="1"/>
          </p:cNvPicPr>
          <p:nvPr/>
        </p:nvPicPr>
        <p:blipFill>
          <a:blip r:embed="rId2"/>
          <a:stretch>
            <a:fillRect/>
          </a:stretch>
        </p:blipFill>
        <p:spPr>
          <a:xfrm>
            <a:off x="4816511" y="1690787"/>
            <a:ext cx="260787" cy="260787"/>
          </a:xfrm>
          <a:prstGeom prst="rect">
            <a:avLst/>
          </a:prstGeom>
        </p:spPr>
      </p:pic>
      <p:sp>
        <p:nvSpPr>
          <p:cNvPr id="10" name="Text 5"/>
          <p:cNvSpPr txBox="1"/>
          <p:nvPr/>
        </p:nvSpPr>
        <p:spPr>
          <a:xfrm>
            <a:off x="5486400" y="1280160"/>
            <a:ext cx="5239512" cy="1082040"/>
          </a:xfrm>
          <a:prstGeom prst="rect">
            <a:avLst/>
          </a:prstGeom>
          <a:noFill/>
          <a:ln/>
        </p:spPr>
        <p:txBody>
          <a:bodyPr wrap="square" lIns="0" tIns="0" rIns="0" bIns="0" rtlCol="0" anchor="ctr"/>
          <a:lstStyle/>
          <a:p>
            <a:pPr indent="0" marL="0">
              <a:spcAft>
                <a:spcPts val="400"/>
              </a:spcAft>
              <a:buNone/>
            </a:pPr>
            <a:r>
              <a:rPr lang="en-US" sz="1050" b="1" spc="200" kern="0" dirty="0">
                <a:solidFill>
                  <a:srgbClr val="C68C6C"/>
                </a:solidFill>
                <a:latin typeface="Open Sans" pitchFamily="34" charset="0"/>
                <a:ea typeface="Open Sans" pitchFamily="34" charset="-122"/>
                <a:cs typeface="Open Sans" pitchFamily="34" charset="-120"/>
              </a:rPr>
              <a:t>CONTEXTO</a:t>
            </a:r>
            <a:endParaRPr lang="en-US" sz="1050" dirty="0"/>
          </a:p>
          <a:p>
            <a:pPr indent="0" marL="0">
              <a:spcAft>
                <a:spcPts val="400"/>
              </a:spcAft>
              <a:buNone/>
            </a:pPr>
            <a:r>
              <a:rPr lang="en-US" sz="1600" dirty="0">
                <a:solidFill>
                  <a:srgbClr val="3F1E0D"/>
                </a:solidFill>
                <a:latin typeface="Open Sans" pitchFamily="34" charset="0"/>
                <a:ea typeface="Open Sans" pitchFamily="34" charset="-122"/>
                <a:cs typeface="Open Sans" pitchFamily="34" charset="-120"/>
              </a:rPr>
              <a:t>“Mañana tengo una reunión con mi manager y necesito explicar este cambio. Este es mi intento.”</a:t>
            </a:r>
            <a:endParaRPr lang="en-US" sz="1050" dirty="0"/>
          </a:p>
        </p:txBody>
      </p:sp>
      <p:sp>
        <p:nvSpPr>
          <p:cNvPr id="11" name="Shape 6"/>
          <p:cNvSpPr/>
          <p:nvPr/>
        </p:nvSpPr>
        <p:spPr>
          <a:xfrm>
            <a:off x="4937760" y="2590800"/>
            <a:ext cx="6611112" cy="1082040"/>
          </a:xfrm>
          <a:prstGeom prst="roundRect">
            <a:avLst>
              <a:gd name="adj" fmla="val 13521"/>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2" name="Shape 7"/>
          <p:cNvSpPr/>
          <p:nvPr/>
        </p:nvSpPr>
        <p:spPr>
          <a:xfrm>
            <a:off x="5212080" y="2848356"/>
            <a:ext cx="566928" cy="566928"/>
          </a:xfrm>
          <a:prstGeom prst="ellipse">
            <a:avLst/>
          </a:prstGeom>
          <a:solidFill>
            <a:srgbClr val="C68C6C"/>
          </a:solidFill>
          <a:ln w="12700">
            <a:solidFill>
              <a:srgbClr val="C68C6C"/>
            </a:solidFill>
            <a:prstDash val="solid"/>
          </a:ln>
        </p:spPr>
      </p:sp>
      <p:pic>
        <p:nvPicPr>
          <p:cNvPr id="13" name="Image 2" descr="preencoded.png">    </p:cNvPr>
          <p:cNvPicPr>
            <a:picLocks noChangeAspect="1"/>
          </p:cNvPicPr>
          <p:nvPr/>
        </p:nvPicPr>
        <p:blipFill>
          <a:blip r:embed="rId3"/>
          <a:stretch>
            <a:fillRect/>
          </a:stretch>
        </p:blipFill>
        <p:spPr>
          <a:xfrm>
            <a:off x="5365151" y="3001427"/>
            <a:ext cx="260787" cy="260787"/>
          </a:xfrm>
          <a:prstGeom prst="rect">
            <a:avLst/>
          </a:prstGeom>
        </p:spPr>
      </p:pic>
      <p:sp>
        <p:nvSpPr>
          <p:cNvPr id="14" name="Text 8"/>
          <p:cNvSpPr txBox="1"/>
          <p:nvPr/>
        </p:nvSpPr>
        <p:spPr>
          <a:xfrm>
            <a:off x="6035040" y="2590800"/>
            <a:ext cx="5239512" cy="1082040"/>
          </a:xfrm>
          <a:prstGeom prst="rect">
            <a:avLst/>
          </a:prstGeom>
          <a:noFill/>
          <a:ln/>
        </p:spPr>
        <p:txBody>
          <a:bodyPr wrap="square" lIns="0" tIns="0" rIns="0" bIns="0" rtlCol="0" anchor="ctr"/>
          <a:lstStyle/>
          <a:p>
            <a:pPr indent="0" marL="0">
              <a:spcAft>
                <a:spcPts val="400"/>
              </a:spcAft>
              <a:buNone/>
            </a:pPr>
            <a:r>
              <a:rPr lang="en-US" sz="1050" b="1" spc="200" kern="0" dirty="0">
                <a:solidFill>
                  <a:srgbClr val="C68C6C"/>
                </a:solidFill>
                <a:latin typeface="Open Sans" pitchFamily="34" charset="0"/>
                <a:ea typeface="Open Sans" pitchFamily="34" charset="-122"/>
                <a:cs typeface="Open Sans" pitchFamily="34" charset="-120"/>
              </a:rPr>
              <a:t>MI INTENTO</a:t>
            </a:r>
            <a:endParaRPr lang="en-US" sz="1050" dirty="0"/>
          </a:p>
          <a:p>
            <a:pPr indent="0" marL="0">
              <a:spcAft>
                <a:spcPts val="400"/>
              </a:spcAft>
              <a:buNone/>
            </a:pPr>
            <a:r>
              <a:rPr lang="en-US" sz="1600" dirty="0">
                <a:solidFill>
                  <a:srgbClr val="3F1E0D"/>
                </a:solidFill>
                <a:latin typeface="Open Sans" pitchFamily="34" charset="0"/>
                <a:ea typeface="Open Sans" pitchFamily="34" charset="-122"/>
                <a:cs typeface="Open Sans" pitchFamily="34" charset="-120"/>
              </a:rPr>
              <a:t>Audio de 45 segundos</a:t>
            </a:r>
            <a:endParaRPr lang="en-US" sz="1050" dirty="0"/>
          </a:p>
        </p:txBody>
      </p:sp>
      <p:sp>
        <p:nvSpPr>
          <p:cNvPr id="15" name="Shape 9"/>
          <p:cNvSpPr/>
          <p:nvPr/>
        </p:nvSpPr>
        <p:spPr>
          <a:xfrm>
            <a:off x="4389120" y="3901440"/>
            <a:ext cx="6611112" cy="1082040"/>
          </a:xfrm>
          <a:prstGeom prst="roundRect">
            <a:avLst>
              <a:gd name="adj" fmla="val 13521"/>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6" name="Shape 10"/>
          <p:cNvSpPr/>
          <p:nvPr/>
        </p:nvSpPr>
        <p:spPr>
          <a:xfrm>
            <a:off x="4663440" y="4158996"/>
            <a:ext cx="566928" cy="566928"/>
          </a:xfrm>
          <a:prstGeom prst="ellipse">
            <a:avLst/>
          </a:prstGeom>
          <a:solidFill>
            <a:srgbClr val="C68C6C"/>
          </a:solidFill>
          <a:ln w="12700">
            <a:solidFill>
              <a:srgbClr val="C68C6C"/>
            </a:solidFill>
            <a:prstDash val="solid"/>
          </a:ln>
        </p:spPr>
      </p:sp>
      <p:pic>
        <p:nvPicPr>
          <p:cNvPr id="17" name="Image 3" descr="preencoded.png">    </p:cNvPr>
          <p:cNvPicPr>
            <a:picLocks noChangeAspect="1"/>
          </p:cNvPicPr>
          <p:nvPr/>
        </p:nvPicPr>
        <p:blipFill>
          <a:blip r:embed="rId4"/>
          <a:stretch>
            <a:fillRect/>
          </a:stretch>
        </p:blipFill>
        <p:spPr>
          <a:xfrm>
            <a:off x="4816511" y="4312067"/>
            <a:ext cx="260787" cy="260787"/>
          </a:xfrm>
          <a:prstGeom prst="rect">
            <a:avLst/>
          </a:prstGeom>
        </p:spPr>
      </p:pic>
      <p:sp>
        <p:nvSpPr>
          <p:cNvPr id="18" name="Text 11"/>
          <p:cNvSpPr txBox="1"/>
          <p:nvPr/>
        </p:nvSpPr>
        <p:spPr>
          <a:xfrm>
            <a:off x="5486400" y="3901440"/>
            <a:ext cx="5239512" cy="1082040"/>
          </a:xfrm>
          <a:prstGeom prst="rect">
            <a:avLst/>
          </a:prstGeom>
          <a:noFill/>
          <a:ln/>
        </p:spPr>
        <p:txBody>
          <a:bodyPr wrap="square" lIns="0" tIns="0" rIns="0" bIns="0" rtlCol="0" anchor="ctr"/>
          <a:lstStyle/>
          <a:p>
            <a:pPr indent="0" marL="0">
              <a:spcAft>
                <a:spcPts val="400"/>
              </a:spcAft>
              <a:buNone/>
            </a:pPr>
            <a:r>
              <a:rPr lang="en-US" sz="1050" b="1" spc="200" kern="0" dirty="0">
                <a:solidFill>
                  <a:srgbClr val="C68C6C"/>
                </a:solidFill>
                <a:latin typeface="Open Sans" pitchFamily="34" charset="0"/>
                <a:ea typeface="Open Sans" pitchFamily="34" charset="-122"/>
                <a:cs typeface="Open Sans" pitchFamily="34" charset="-120"/>
              </a:rPr>
              <a:t>NECESITO AYUDA CON…</a:t>
            </a:r>
            <a:endParaRPr lang="en-US" sz="1050" dirty="0"/>
          </a:p>
          <a:p>
            <a:pPr indent="0" marL="0">
              <a:spcAft>
                <a:spcPts val="400"/>
              </a:spcAft>
              <a:buNone/>
            </a:pPr>
            <a:r>
              <a:rPr lang="en-US" sz="1600" dirty="0">
                <a:solidFill>
                  <a:srgbClr val="3F1E0D"/>
                </a:solidFill>
                <a:latin typeface="Open Sans" pitchFamily="34" charset="0"/>
                <a:ea typeface="Open Sans" pitchFamily="34" charset="-122"/>
                <a:cs typeface="Open Sans" pitchFamily="34" charset="-120"/>
              </a:rPr>
              <a:t>“Claridad y cómo ir más directo al punto.”</a:t>
            </a:r>
            <a:endParaRPr lang="en-US" sz="1050" dirty="0"/>
          </a:p>
        </p:txBody>
      </p:sp>
      <p:sp>
        <p:nvSpPr>
          <p:cNvPr id="19" name="Shape 12"/>
          <p:cNvSpPr/>
          <p:nvPr/>
        </p:nvSpPr>
        <p:spPr>
          <a:xfrm>
            <a:off x="4389120" y="5257800"/>
            <a:ext cx="7159752" cy="1097280"/>
          </a:xfrm>
          <a:prstGeom prst="roundRect">
            <a:avLst>
              <a:gd name="adj" fmla="val 13333"/>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0" name="Shape 13"/>
          <p:cNvSpPr/>
          <p:nvPr/>
        </p:nvSpPr>
        <p:spPr>
          <a:xfrm>
            <a:off x="4754880" y="5417820"/>
            <a:ext cx="777240" cy="777240"/>
          </a:xfrm>
          <a:prstGeom prst="ellipse">
            <a:avLst/>
          </a:prstGeom>
          <a:solidFill>
            <a:srgbClr val="C68C6C"/>
          </a:solidFill>
          <a:ln w="12700">
            <a:solidFill>
              <a:srgbClr val="C68C6C"/>
            </a:solidFill>
            <a:prstDash val="solid"/>
          </a:ln>
        </p:spPr>
      </p:sp>
      <p:pic>
        <p:nvPicPr>
          <p:cNvPr id="21" name="Image 4" descr="preencoded.png">    </p:cNvPr>
          <p:cNvPicPr>
            <a:picLocks noChangeAspect="1"/>
          </p:cNvPicPr>
          <p:nvPr/>
        </p:nvPicPr>
        <p:blipFill>
          <a:blip r:embed="rId5"/>
          <a:stretch>
            <a:fillRect/>
          </a:stretch>
        </p:blipFill>
        <p:spPr>
          <a:xfrm>
            <a:off x="4964735" y="5627675"/>
            <a:ext cx="357530" cy="357530"/>
          </a:xfrm>
          <a:prstGeom prst="rect">
            <a:avLst/>
          </a:prstGeom>
        </p:spPr>
      </p:pic>
      <p:sp>
        <p:nvSpPr>
          <p:cNvPr id="22" name="Text 14"/>
          <p:cNvSpPr txBox="1"/>
          <p:nvPr/>
        </p:nvSpPr>
        <p:spPr>
          <a:xfrm>
            <a:off x="5852160" y="5257800"/>
            <a:ext cx="5376672" cy="1097280"/>
          </a:xfrm>
          <a:prstGeom prst="rect">
            <a:avLst/>
          </a:prstGeom>
          <a:noFill/>
          <a:ln/>
        </p:spPr>
        <p:txBody>
          <a:bodyPr wrap="square" lIns="0" tIns="0" rIns="0" bIns="0" rtlCol="0" anchor="ctr"/>
          <a:lstStyle/>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Así te doy un feedback útil, sin que prepares una explicación enorme y sin que yo tenga que adivinar qué quieres mejorar.</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06 / 07</a:t>
            </a:r>
            <a:endParaRPr lang="en-US" sz="1100" dirty="0"/>
          </a:p>
        </p:txBody>
      </p:sp>
      <p:sp>
        <p:nvSpPr>
          <p:cNvPr id="5" name="Text 1"/>
          <p:cNvSpPr txBox="1"/>
          <p:nvPr/>
        </p:nvSpPr>
        <p:spPr>
          <a:xfrm>
            <a:off x="640080" y="1280160"/>
            <a:ext cx="3429000" cy="1104392"/>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Lo que va por privado</a:t>
            </a:r>
            <a:endParaRPr lang="en-US" sz="3400" dirty="0"/>
          </a:p>
        </p:txBody>
      </p:sp>
      <p:sp>
        <p:nvSpPr>
          <p:cNvPr id="6" name="Text 2"/>
          <p:cNvSpPr txBox="1"/>
          <p:nvPr/>
        </p:nvSpPr>
        <p:spPr>
          <a:xfrm>
            <a:off x="640080" y="2521712"/>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La comunidad existe para darte más acompañamiento, no menos privacidad</a:t>
            </a:r>
            <a:endParaRPr lang="en-US" sz="1600" dirty="0"/>
          </a:p>
        </p:txBody>
      </p:sp>
      <p:sp>
        <p:nvSpPr>
          <p:cNvPr id="7" name="Shape 3"/>
          <p:cNvSpPr/>
          <p:nvPr/>
        </p:nvSpPr>
        <p:spPr>
          <a:xfrm>
            <a:off x="4389120" y="1280160"/>
            <a:ext cx="3451860" cy="2926080"/>
          </a:xfrm>
          <a:prstGeom prst="roundRect">
            <a:avLst>
              <a:gd name="adj" fmla="val 5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709160" y="1554480"/>
            <a:ext cx="640080" cy="640080"/>
          </a:xfrm>
          <a:prstGeom prst="ellipse">
            <a:avLst/>
          </a:prstGeom>
          <a:solidFill>
            <a:srgbClr val="FBF2D0"/>
          </a:solidFill>
          <a:ln w="12700">
            <a:solidFill>
              <a:srgbClr val="FBF2D0"/>
            </a:solidFill>
            <a:prstDash val="solid"/>
          </a:ln>
        </p:spPr>
      </p:sp>
      <p:pic>
        <p:nvPicPr>
          <p:cNvPr id="9" name="Image 1" descr="preencoded.png">    </p:cNvPr>
          <p:cNvPicPr>
            <a:picLocks noChangeAspect="1"/>
          </p:cNvPicPr>
          <p:nvPr/>
        </p:nvPicPr>
        <p:blipFill>
          <a:blip r:embed="rId2"/>
          <a:stretch>
            <a:fillRect/>
          </a:stretch>
        </p:blipFill>
        <p:spPr>
          <a:xfrm>
            <a:off x="4881982" y="1727302"/>
            <a:ext cx="294437" cy="294437"/>
          </a:xfrm>
          <a:prstGeom prst="rect">
            <a:avLst/>
          </a:prstGeom>
        </p:spPr>
      </p:pic>
      <p:sp>
        <p:nvSpPr>
          <p:cNvPr id="10" name="Text 5"/>
          <p:cNvSpPr txBox="1"/>
          <p:nvPr/>
        </p:nvSpPr>
        <p:spPr>
          <a:xfrm>
            <a:off x="4709160" y="2331720"/>
            <a:ext cx="2811780" cy="661924"/>
          </a:xfrm>
          <a:prstGeom prst="rect">
            <a:avLst/>
          </a:prstGeom>
          <a:noFill/>
          <a:ln/>
        </p:spPr>
        <p:txBody>
          <a:bodyPr wrap="square" lIns="0" tIns="0" rIns="0" bIns="0" rtlCol="0" anchor="t"/>
          <a:lstStyle/>
          <a:p>
            <a:pPr indent="0" marL="0">
              <a:buNone/>
            </a:pPr>
            <a:r>
              <a:rPr lang="en-US" sz="1900" b="1" dirty="0">
                <a:solidFill>
                  <a:srgbClr val="81552E"/>
                </a:solidFill>
                <a:latin typeface="Source Serif Pro" pitchFamily="34" charset="0"/>
                <a:ea typeface="Source Serif Pro" pitchFamily="34" charset="-122"/>
                <a:cs typeface="Source Serif Pro" pitchFamily="34" charset="-120"/>
              </a:rPr>
              <a:t>Temas administrativos</a:t>
            </a:r>
            <a:endParaRPr lang="en-US" sz="1900" dirty="0"/>
          </a:p>
        </p:txBody>
      </p:sp>
      <p:sp>
        <p:nvSpPr>
          <p:cNvPr id="11" name="Text 6"/>
          <p:cNvSpPr txBox="1"/>
          <p:nvPr/>
        </p:nvSpPr>
        <p:spPr>
          <a:xfrm>
            <a:off x="4709160" y="3039364"/>
            <a:ext cx="2811780" cy="1029716"/>
          </a:xfrm>
          <a:prstGeom prst="rect">
            <a:avLst/>
          </a:prstGeom>
          <a:noFill/>
          <a:ln/>
        </p:spPr>
        <p:txBody>
          <a:bodyPr wrap="square" lIns="0" tIns="0" rIns="0" bIns="0" rtlCol="0" anchor="t"/>
          <a:lstStyle/>
          <a:p>
            <a:pPr indent="0" marL="0">
              <a:buNone/>
            </a:pPr>
            <a:r>
              <a:rPr lang="en-US" sz="1450" dirty="0">
                <a:solidFill>
                  <a:srgbClr val="3F1E0D"/>
                </a:solidFill>
                <a:latin typeface="Open Sans" pitchFamily="34" charset="0"/>
                <a:ea typeface="Open Sans" pitchFamily="34" charset="-122"/>
                <a:cs typeface="Open Sans" pitchFamily="34" charset="-120"/>
              </a:rPr>
              <a:t>Un pago, una reprogramación o algo de tu organización personal conmigo</a:t>
            </a:r>
            <a:endParaRPr lang="en-US" sz="1450" dirty="0"/>
          </a:p>
        </p:txBody>
      </p:sp>
      <p:sp>
        <p:nvSpPr>
          <p:cNvPr id="12" name="Shape 7"/>
          <p:cNvSpPr/>
          <p:nvPr/>
        </p:nvSpPr>
        <p:spPr>
          <a:xfrm>
            <a:off x="8097012" y="1280160"/>
            <a:ext cx="3451860" cy="2926080"/>
          </a:xfrm>
          <a:prstGeom prst="roundRect">
            <a:avLst>
              <a:gd name="adj" fmla="val 5000"/>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3" name="Shape 8"/>
          <p:cNvSpPr/>
          <p:nvPr/>
        </p:nvSpPr>
        <p:spPr>
          <a:xfrm>
            <a:off x="8417052" y="1554480"/>
            <a:ext cx="640080" cy="640080"/>
          </a:xfrm>
          <a:prstGeom prst="ellipse">
            <a:avLst/>
          </a:prstGeom>
          <a:solidFill>
            <a:srgbClr val="FBF2D0"/>
          </a:solidFill>
          <a:ln w="12700">
            <a:solidFill>
              <a:srgbClr val="FBF2D0"/>
            </a:solidFill>
            <a:prstDash val="solid"/>
          </a:ln>
        </p:spPr>
      </p:sp>
      <p:pic>
        <p:nvPicPr>
          <p:cNvPr id="14" name="Image 2" descr="preencoded.png">    </p:cNvPr>
          <p:cNvPicPr>
            <a:picLocks noChangeAspect="1"/>
          </p:cNvPicPr>
          <p:nvPr/>
        </p:nvPicPr>
        <p:blipFill>
          <a:blip r:embed="rId3"/>
          <a:stretch>
            <a:fillRect/>
          </a:stretch>
        </p:blipFill>
        <p:spPr>
          <a:xfrm>
            <a:off x="8589874" y="1727302"/>
            <a:ext cx="294437" cy="294437"/>
          </a:xfrm>
          <a:prstGeom prst="rect">
            <a:avLst/>
          </a:prstGeom>
        </p:spPr>
      </p:pic>
      <p:sp>
        <p:nvSpPr>
          <p:cNvPr id="15" name="Text 9"/>
          <p:cNvSpPr txBox="1"/>
          <p:nvPr/>
        </p:nvSpPr>
        <p:spPr>
          <a:xfrm>
            <a:off x="8417052" y="2331720"/>
            <a:ext cx="2811780" cy="367538"/>
          </a:xfrm>
          <a:prstGeom prst="rect">
            <a:avLst/>
          </a:prstGeom>
          <a:noFill/>
          <a:ln/>
        </p:spPr>
        <p:txBody>
          <a:bodyPr wrap="square" lIns="0" tIns="0" rIns="0" bIns="0" rtlCol="0" anchor="t"/>
          <a:lstStyle/>
          <a:p>
            <a:pPr indent="0" marL="0">
              <a:buNone/>
            </a:pPr>
            <a:r>
              <a:rPr lang="en-US" sz="1900" b="1" dirty="0">
                <a:solidFill>
                  <a:srgbClr val="81552E"/>
                </a:solidFill>
                <a:latin typeface="Source Serif Pro" pitchFamily="34" charset="0"/>
                <a:ea typeface="Source Serif Pro" pitchFamily="34" charset="-122"/>
                <a:cs typeface="Source Serif Pro" pitchFamily="34" charset="-120"/>
              </a:rPr>
              <a:t>Algo sensible</a:t>
            </a:r>
            <a:endParaRPr lang="en-US" sz="1900" dirty="0"/>
          </a:p>
        </p:txBody>
      </p:sp>
      <p:sp>
        <p:nvSpPr>
          <p:cNvPr id="16" name="Text 10"/>
          <p:cNvSpPr txBox="1"/>
          <p:nvPr/>
        </p:nvSpPr>
        <p:spPr>
          <a:xfrm>
            <a:off x="8417052" y="2744978"/>
            <a:ext cx="2811780" cy="1324102"/>
          </a:xfrm>
          <a:prstGeom prst="rect">
            <a:avLst/>
          </a:prstGeom>
          <a:noFill/>
          <a:ln/>
        </p:spPr>
        <p:txBody>
          <a:bodyPr wrap="square" lIns="0" tIns="0" rIns="0" bIns="0" rtlCol="0" anchor="t"/>
          <a:lstStyle/>
          <a:p>
            <a:pPr indent="0" marL="0">
              <a:buNone/>
            </a:pPr>
            <a:r>
              <a:rPr lang="en-US" sz="1450" dirty="0">
                <a:solidFill>
                  <a:srgbClr val="3F1E0D"/>
                </a:solidFill>
                <a:latin typeface="Open Sans" pitchFamily="34" charset="0"/>
                <a:ea typeface="Open Sans" pitchFamily="34" charset="-122"/>
                <a:cs typeface="Open Sans" pitchFamily="34" charset="-120"/>
              </a:rPr>
              <a:t>O una situación que, por cualquier motivo, prefieres mantener privada</a:t>
            </a:r>
            <a:endParaRPr lang="en-US" sz="1450" dirty="0"/>
          </a:p>
        </p:txBody>
      </p:sp>
      <p:sp>
        <p:nvSpPr>
          <p:cNvPr id="17" name="Shape 11"/>
          <p:cNvSpPr/>
          <p:nvPr/>
        </p:nvSpPr>
        <p:spPr>
          <a:xfrm>
            <a:off x="4389120" y="5349240"/>
            <a:ext cx="7159752" cy="1005840"/>
          </a:xfrm>
          <a:prstGeom prst="roundRect">
            <a:avLst>
              <a:gd name="adj" fmla="val 14545"/>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18" name="Shape 12"/>
          <p:cNvSpPr/>
          <p:nvPr/>
        </p:nvSpPr>
        <p:spPr>
          <a:xfrm>
            <a:off x="4754880" y="5486400"/>
            <a:ext cx="731520" cy="731520"/>
          </a:xfrm>
          <a:prstGeom prst="ellipse">
            <a:avLst/>
          </a:prstGeom>
          <a:solidFill>
            <a:srgbClr val="C68C6C"/>
          </a:solidFill>
          <a:ln w="12700">
            <a:solidFill>
              <a:srgbClr val="C68C6C"/>
            </a:solidFill>
            <a:prstDash val="solid"/>
          </a:ln>
        </p:spPr>
      </p:sp>
      <p:pic>
        <p:nvPicPr>
          <p:cNvPr id="19" name="Image 3" descr="preencoded.png">    </p:cNvPr>
          <p:cNvPicPr>
            <a:picLocks noChangeAspect="1"/>
          </p:cNvPicPr>
          <p:nvPr/>
        </p:nvPicPr>
        <p:blipFill>
          <a:blip r:embed="rId4"/>
          <a:stretch>
            <a:fillRect/>
          </a:stretch>
        </p:blipFill>
        <p:spPr>
          <a:xfrm>
            <a:off x="4952390" y="5683910"/>
            <a:ext cx="336499" cy="336499"/>
          </a:xfrm>
          <a:prstGeom prst="rect">
            <a:avLst/>
          </a:prstGeom>
        </p:spPr>
      </p:pic>
      <p:sp>
        <p:nvSpPr>
          <p:cNvPr id="20" name="Text 13"/>
          <p:cNvSpPr txBox="1"/>
          <p:nvPr/>
        </p:nvSpPr>
        <p:spPr>
          <a:xfrm>
            <a:off x="5806440" y="5349240"/>
            <a:ext cx="5422392" cy="1005840"/>
          </a:xfrm>
          <a:prstGeom prst="rect">
            <a:avLst/>
          </a:prstGeom>
          <a:noFill/>
          <a:ln/>
        </p:spPr>
        <p:txBody>
          <a:bodyPr wrap="square" lIns="0" tIns="0" rIns="0" bIns="0" rtlCol="0" anchor="ctr"/>
          <a:lstStyle/>
          <a:p>
            <a:pPr indent="0" marL="0">
              <a:spcAft>
                <a:spcPts val="500"/>
              </a:spcAft>
              <a:buNone/>
            </a:pPr>
            <a:r>
              <a:rPr lang="en-US" sz="1600" dirty="0">
                <a:solidFill>
                  <a:srgbClr val="3F1E0D"/>
                </a:solidFill>
                <a:latin typeface="Open Sans" pitchFamily="34" charset="0"/>
                <a:ea typeface="Open Sans" pitchFamily="34" charset="-122"/>
                <a:cs typeface="Open Sans" pitchFamily="34" charset="-120"/>
              </a:rPr>
              <a:t>No tienes que compartir nada que no quieras compartir.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5EE"/>
        </a:solidFill>
      </p:bgPr>
    </p:bg>
    <p:spTree>
      <p:nvGrpSpPr>
        <p:cNvPr id="1" name=""/>
        <p:cNvGrpSpPr/>
        <p:nvPr/>
      </p:nvGrpSpPr>
      <p:grpSpPr>
        <a:xfrm>
          <a:off x="0" y="0"/>
          <a:ext cx="0" cy="0"/>
          <a:chOff x="0" y="0"/>
          <a:chExt cx="0" cy="0"/>
        </a:xfrm>
      </p:grpSpPr>
      <p:pic>
        <p:nvPicPr>
          <p:cNvPr id="3" name="Image 0" descr="Breaking Barriers at work">    </p:cNvPr>
          <p:cNvPicPr>
            <a:picLocks noChangeAspect="1"/>
          </p:cNvPicPr>
          <p:nvPr/>
        </p:nvPicPr>
        <p:blipFill>
          <a:blip r:embed="rId1"/>
          <a:stretch>
            <a:fillRect/>
          </a:stretch>
        </p:blipFill>
        <p:spPr>
          <a:xfrm>
            <a:off x="640080" y="274320"/>
            <a:ext cx="1188720" cy="542536"/>
          </a:xfrm>
          <a:prstGeom prst="rect">
            <a:avLst/>
          </a:prstGeom>
        </p:spPr>
      </p:pic>
      <p:sp>
        <p:nvSpPr>
          <p:cNvPr id="4" name="Text 0"/>
          <p:cNvSpPr txBox="1"/>
          <p:nvPr/>
        </p:nvSpPr>
        <p:spPr>
          <a:xfrm>
            <a:off x="7891272" y="384048"/>
            <a:ext cx="3657600" cy="274320"/>
          </a:xfrm>
          <a:prstGeom prst="rect">
            <a:avLst/>
          </a:prstGeom>
          <a:noFill/>
          <a:ln/>
        </p:spPr>
        <p:txBody>
          <a:bodyPr wrap="square" lIns="0" tIns="0" rIns="0" bIns="0" rtlCol="0" anchor="ctr"/>
          <a:lstStyle/>
          <a:p>
            <a:pPr algn="r" indent="0" marL="0">
              <a:buNone/>
            </a:pPr>
            <a:r>
              <a:rPr lang="en-US" sz="1100" i="1" dirty="0">
                <a:solidFill>
                  <a:srgbClr val="8A6A55"/>
                </a:solidFill>
                <a:latin typeface="Source Serif Pro" pitchFamily="34" charset="0"/>
                <a:ea typeface="Source Serif Pro" pitchFamily="34" charset="-122"/>
                <a:cs typeface="Source Serif Pro" pitchFamily="34" charset="-120"/>
              </a:rPr>
              <a:t>by Flor Pérsico</a:t>
            </a:r>
            <a:pPr algn="r" indent="0" marL="0">
              <a:buNone/>
            </a:pPr>
            <a:r>
              <a:rPr lang="en-US" sz="1100" dirty="0">
                <a:solidFill>
                  <a:srgbClr val="8A6A55"/>
                </a:solidFill>
                <a:latin typeface="Open Sans" pitchFamily="34" charset="0"/>
                <a:ea typeface="Open Sans" pitchFamily="34" charset="-122"/>
                <a:cs typeface="Open Sans" pitchFamily="34" charset="-120"/>
              </a:rPr>
              <a:t>   ·   07 / 07</a:t>
            </a:r>
            <a:endParaRPr lang="en-US" sz="1100" dirty="0"/>
          </a:p>
        </p:txBody>
      </p:sp>
      <p:sp>
        <p:nvSpPr>
          <p:cNvPr id="5" name="Text 1"/>
          <p:cNvSpPr txBox="1"/>
          <p:nvPr/>
        </p:nvSpPr>
        <p:spPr>
          <a:xfrm>
            <a:off x="640080" y="1280160"/>
            <a:ext cx="3429000" cy="1588008"/>
          </a:xfrm>
          <a:prstGeom prst="rect">
            <a:avLst/>
          </a:prstGeom>
          <a:noFill/>
          <a:ln/>
        </p:spPr>
        <p:txBody>
          <a:bodyPr wrap="square" lIns="0" tIns="0" rIns="0" bIns="0" rtlCol="0" anchor="t"/>
          <a:lstStyle/>
          <a:p>
            <a:pPr indent="0" marL="0">
              <a:lnSpc>
                <a:spcPct val="92000"/>
              </a:lnSpc>
              <a:buNone/>
            </a:pPr>
            <a:r>
              <a:rPr lang="en-US" sz="3400" b="1" dirty="0">
                <a:solidFill>
                  <a:srgbClr val="81552E"/>
                </a:solidFill>
                <a:latin typeface="Source Serif Pro" pitchFamily="34" charset="0"/>
                <a:ea typeface="Source Serif Pro" pitchFamily="34" charset="-122"/>
                <a:cs typeface="Source Serif Pro" pitchFamily="34" charset="-120"/>
              </a:rPr>
              <a:t>Cada espacio para lo que mejor funciona</a:t>
            </a:r>
            <a:endParaRPr lang="en-US" sz="3400" dirty="0"/>
          </a:p>
        </p:txBody>
      </p:sp>
      <p:sp>
        <p:nvSpPr>
          <p:cNvPr id="6" name="Text 2"/>
          <p:cNvSpPr txBox="1"/>
          <p:nvPr/>
        </p:nvSpPr>
        <p:spPr>
          <a:xfrm>
            <a:off x="640080" y="3005328"/>
            <a:ext cx="3291840" cy="640080"/>
          </a:xfrm>
          <a:prstGeom prst="rect">
            <a:avLst/>
          </a:prstGeom>
          <a:noFill/>
          <a:ln/>
        </p:spPr>
        <p:txBody>
          <a:bodyPr wrap="square" lIns="0" tIns="0" rIns="0" bIns="0" rtlCol="0" anchor="t"/>
          <a:lstStyle/>
          <a:p>
            <a:pPr indent="0" marL="0">
              <a:buNone/>
            </a:pPr>
            <a:r>
              <a:rPr lang="en-US" sz="1600" i="1" dirty="0">
                <a:solidFill>
                  <a:srgbClr val="8A6A55"/>
                </a:solidFill>
                <a:latin typeface="Source Serif Pro" pitchFamily="34" charset="0"/>
                <a:ea typeface="Source Serif Pro" pitchFamily="34" charset="-122"/>
                <a:cs typeface="Source Serif Pro" pitchFamily="34" charset="-120"/>
              </a:rPr>
              <a:t>No tienes que hacer estos cinco meses sola</a:t>
            </a:r>
            <a:endParaRPr lang="en-US" sz="1600" dirty="0"/>
          </a:p>
        </p:txBody>
      </p:sp>
      <p:sp>
        <p:nvSpPr>
          <p:cNvPr id="7" name="Shape 3"/>
          <p:cNvSpPr/>
          <p:nvPr/>
        </p:nvSpPr>
        <p:spPr>
          <a:xfrm>
            <a:off x="4389120" y="1280160"/>
            <a:ext cx="2203704" cy="361188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8" name="Shape 4"/>
          <p:cNvSpPr/>
          <p:nvPr/>
        </p:nvSpPr>
        <p:spPr>
          <a:xfrm>
            <a:off x="4389120" y="1280160"/>
            <a:ext cx="2203704" cy="1554480"/>
          </a:xfrm>
          <a:prstGeom prst="roundRect">
            <a:avLst>
              <a:gd name="adj" fmla="val 9412"/>
            </a:avLst>
          </a:prstGeom>
          <a:solidFill>
            <a:srgbClr val="81552E"/>
          </a:solidFill>
          <a:ln w="12700">
            <a:solidFill>
              <a:srgbClr val="81552E"/>
            </a:solidFill>
            <a:prstDash val="solid"/>
          </a:ln>
        </p:spPr>
      </p:sp>
      <p:sp>
        <p:nvSpPr>
          <p:cNvPr id="9" name="Shape 5"/>
          <p:cNvSpPr/>
          <p:nvPr/>
        </p:nvSpPr>
        <p:spPr>
          <a:xfrm>
            <a:off x="4389120" y="2560320"/>
            <a:ext cx="2203704" cy="274320"/>
          </a:xfrm>
          <a:prstGeom prst="rect">
            <a:avLst/>
          </a:prstGeom>
          <a:solidFill>
            <a:srgbClr val="81552E"/>
          </a:solidFill>
          <a:ln w="12700">
            <a:solidFill>
              <a:srgbClr val="81552E"/>
            </a:solidFill>
            <a:prstDash val="solid"/>
          </a:ln>
        </p:spPr>
      </p:sp>
      <p:pic>
        <p:nvPicPr>
          <p:cNvPr id="10" name="Image 1" descr="preencoded.png">    </p:cNvPr>
          <p:cNvPicPr>
            <a:picLocks noChangeAspect="1"/>
          </p:cNvPicPr>
          <p:nvPr/>
        </p:nvPicPr>
        <p:blipFill>
          <a:blip r:embed="rId2"/>
          <a:stretch>
            <a:fillRect/>
          </a:stretch>
        </p:blipFill>
        <p:spPr>
          <a:xfrm>
            <a:off x="4663440" y="1508760"/>
            <a:ext cx="365760" cy="365760"/>
          </a:xfrm>
          <a:prstGeom prst="rect">
            <a:avLst/>
          </a:prstGeom>
        </p:spPr>
      </p:pic>
      <p:sp>
        <p:nvSpPr>
          <p:cNvPr id="11" name="Text 6"/>
          <p:cNvSpPr txBox="1"/>
          <p:nvPr/>
        </p:nvSpPr>
        <p:spPr>
          <a:xfrm>
            <a:off x="4663440" y="1938528"/>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Comunidad</a:t>
            </a:r>
            <a:endParaRPr lang="en-US" sz="1700" dirty="0"/>
          </a:p>
        </p:txBody>
      </p:sp>
      <p:sp>
        <p:nvSpPr>
          <p:cNvPr id="12" name="Text 7"/>
          <p:cNvSpPr txBox="1"/>
          <p:nvPr/>
        </p:nvSpPr>
        <p:spPr>
          <a:xfrm>
            <a:off x="4663440" y="2487168"/>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el proceso vivo entre sesiones</a:t>
            </a:r>
            <a:endParaRPr lang="en-US" sz="1050" dirty="0"/>
          </a:p>
        </p:txBody>
      </p:sp>
      <p:sp>
        <p:nvSpPr>
          <p:cNvPr id="13" name="Text 8"/>
          <p:cNvSpPr txBox="1"/>
          <p:nvPr/>
        </p:nvSpPr>
        <p:spPr>
          <a:xfrm>
            <a:off x="4617720" y="3063240"/>
            <a:ext cx="1792224" cy="16916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preguntar, practicar y compartir</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contarme que apareció una situación</a:t>
            </a:r>
            <a:endParaRPr lang="en-US" sz="1350" dirty="0"/>
          </a:p>
        </p:txBody>
      </p:sp>
      <p:sp>
        <p:nvSpPr>
          <p:cNvPr id="14" name="Shape 9"/>
          <p:cNvSpPr/>
          <p:nvPr/>
        </p:nvSpPr>
        <p:spPr>
          <a:xfrm>
            <a:off x="6867144" y="1280160"/>
            <a:ext cx="2203704" cy="361188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15" name="Shape 10"/>
          <p:cNvSpPr/>
          <p:nvPr/>
        </p:nvSpPr>
        <p:spPr>
          <a:xfrm>
            <a:off x="6867144" y="1280160"/>
            <a:ext cx="2203704" cy="1554480"/>
          </a:xfrm>
          <a:prstGeom prst="roundRect">
            <a:avLst>
              <a:gd name="adj" fmla="val 9412"/>
            </a:avLst>
          </a:prstGeom>
          <a:solidFill>
            <a:srgbClr val="C68C6C"/>
          </a:solidFill>
          <a:ln w="12700">
            <a:solidFill>
              <a:srgbClr val="C68C6C"/>
            </a:solidFill>
            <a:prstDash val="solid"/>
          </a:ln>
        </p:spPr>
      </p:sp>
      <p:sp>
        <p:nvSpPr>
          <p:cNvPr id="16" name="Shape 11"/>
          <p:cNvSpPr/>
          <p:nvPr/>
        </p:nvSpPr>
        <p:spPr>
          <a:xfrm>
            <a:off x="6867144" y="2560320"/>
            <a:ext cx="2203704" cy="274320"/>
          </a:xfrm>
          <a:prstGeom prst="rect">
            <a:avLst/>
          </a:prstGeom>
          <a:solidFill>
            <a:srgbClr val="C68C6C"/>
          </a:solidFill>
          <a:ln w="12700">
            <a:solidFill>
              <a:srgbClr val="C68C6C"/>
            </a:solidFill>
            <a:prstDash val="solid"/>
          </a:ln>
        </p:spPr>
      </p:sp>
      <p:pic>
        <p:nvPicPr>
          <p:cNvPr id="17" name="Image 2" descr="preencoded.png">    </p:cNvPr>
          <p:cNvPicPr>
            <a:picLocks noChangeAspect="1"/>
          </p:cNvPicPr>
          <p:nvPr/>
        </p:nvPicPr>
        <p:blipFill>
          <a:blip r:embed="rId3"/>
          <a:stretch>
            <a:fillRect/>
          </a:stretch>
        </p:blipFill>
        <p:spPr>
          <a:xfrm>
            <a:off x="7141464" y="1508760"/>
            <a:ext cx="365760" cy="365760"/>
          </a:xfrm>
          <a:prstGeom prst="rect">
            <a:avLst/>
          </a:prstGeom>
        </p:spPr>
      </p:pic>
      <p:sp>
        <p:nvSpPr>
          <p:cNvPr id="18" name="Text 12"/>
          <p:cNvSpPr txBox="1"/>
          <p:nvPr/>
        </p:nvSpPr>
        <p:spPr>
          <a:xfrm>
            <a:off x="7141464" y="1938528"/>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Privado</a:t>
            </a:r>
            <a:endParaRPr lang="en-US" sz="1700" dirty="0"/>
          </a:p>
        </p:txBody>
      </p:sp>
      <p:sp>
        <p:nvSpPr>
          <p:cNvPr id="19" name="Text 13"/>
          <p:cNvSpPr txBox="1"/>
          <p:nvPr/>
        </p:nvSpPr>
        <p:spPr>
          <a:xfrm>
            <a:off x="7141464" y="2487168"/>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escríbeme directamente</a:t>
            </a:r>
            <a:endParaRPr lang="en-US" sz="1050" dirty="0"/>
          </a:p>
        </p:txBody>
      </p:sp>
      <p:sp>
        <p:nvSpPr>
          <p:cNvPr id="20" name="Text 14"/>
          <p:cNvSpPr txBox="1"/>
          <p:nvPr/>
        </p:nvSpPr>
        <p:spPr>
          <a:xfrm>
            <a:off x="7095744" y="3063240"/>
            <a:ext cx="1792224" cy="16916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lo administrativo</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lo sensible</a:t>
            </a:r>
            <a:endParaRPr lang="en-US" sz="1350" dirty="0"/>
          </a:p>
        </p:txBody>
      </p:sp>
      <p:sp>
        <p:nvSpPr>
          <p:cNvPr id="21" name="Shape 15"/>
          <p:cNvSpPr/>
          <p:nvPr/>
        </p:nvSpPr>
        <p:spPr>
          <a:xfrm>
            <a:off x="9345168" y="1280160"/>
            <a:ext cx="2203704" cy="3611880"/>
          </a:xfrm>
          <a:prstGeom prst="roundRect">
            <a:avLst>
              <a:gd name="adj" fmla="val 6639"/>
            </a:avLst>
          </a:prstGeom>
          <a:solidFill>
            <a:srgbClr val="FFFDF9"/>
          </a:solidFill>
          <a:ln w="12700">
            <a:solidFill>
              <a:srgbClr val="FFFDF9"/>
            </a:solidFill>
            <a:prstDash val="solid"/>
          </a:ln>
          <a:effectLst>
            <a:outerShdw sx="100000" sy="100000" kx="0" ky="0" algn="bl" rotWithShape="0" blurRad="177800" dist="38100" dir="5400000">
              <a:srgbClr val="3F1E0D">
                <a:alpha val="10000"/>
              </a:srgbClr>
            </a:outerShdw>
          </a:effectLst>
        </p:spPr>
      </p:sp>
      <p:sp>
        <p:nvSpPr>
          <p:cNvPr id="22" name="Shape 16"/>
          <p:cNvSpPr/>
          <p:nvPr/>
        </p:nvSpPr>
        <p:spPr>
          <a:xfrm>
            <a:off x="9345168" y="1280160"/>
            <a:ext cx="2203704" cy="1554480"/>
          </a:xfrm>
          <a:prstGeom prst="roundRect">
            <a:avLst>
              <a:gd name="adj" fmla="val 9412"/>
            </a:avLst>
          </a:prstGeom>
          <a:solidFill>
            <a:srgbClr val="3F1E0D"/>
          </a:solidFill>
          <a:ln w="12700">
            <a:solidFill>
              <a:srgbClr val="3F1E0D"/>
            </a:solidFill>
            <a:prstDash val="solid"/>
          </a:ln>
        </p:spPr>
      </p:sp>
      <p:sp>
        <p:nvSpPr>
          <p:cNvPr id="23" name="Shape 17"/>
          <p:cNvSpPr/>
          <p:nvPr/>
        </p:nvSpPr>
        <p:spPr>
          <a:xfrm>
            <a:off x="9345168" y="2560320"/>
            <a:ext cx="2203704" cy="274320"/>
          </a:xfrm>
          <a:prstGeom prst="rect">
            <a:avLst/>
          </a:prstGeom>
          <a:solidFill>
            <a:srgbClr val="3F1E0D"/>
          </a:solidFill>
          <a:ln w="12700">
            <a:solidFill>
              <a:srgbClr val="3F1E0D"/>
            </a:solidFill>
            <a:prstDash val="solid"/>
          </a:ln>
        </p:spPr>
      </p:sp>
      <p:pic>
        <p:nvPicPr>
          <p:cNvPr id="24" name="Image 3" descr="preencoded.png">    </p:cNvPr>
          <p:cNvPicPr>
            <a:picLocks noChangeAspect="1"/>
          </p:cNvPicPr>
          <p:nvPr/>
        </p:nvPicPr>
        <p:blipFill>
          <a:blip r:embed="rId4"/>
          <a:stretch>
            <a:fillRect/>
          </a:stretch>
        </p:blipFill>
        <p:spPr>
          <a:xfrm>
            <a:off x="9619488" y="1508760"/>
            <a:ext cx="365760" cy="365760"/>
          </a:xfrm>
          <a:prstGeom prst="rect">
            <a:avLst/>
          </a:prstGeom>
        </p:spPr>
      </p:pic>
      <p:sp>
        <p:nvSpPr>
          <p:cNvPr id="25" name="Text 18"/>
          <p:cNvSpPr txBox="1"/>
          <p:nvPr/>
        </p:nvSpPr>
        <p:spPr>
          <a:xfrm>
            <a:off x="9619488" y="1938528"/>
            <a:ext cx="1746504" cy="548640"/>
          </a:xfrm>
          <a:prstGeom prst="rect">
            <a:avLst/>
          </a:prstGeom>
          <a:noFill/>
          <a:ln/>
        </p:spPr>
        <p:txBody>
          <a:bodyPr wrap="square" lIns="0" tIns="0" rIns="0" bIns="0" rtlCol="0" anchor="ctr"/>
          <a:lstStyle/>
          <a:p>
            <a:pPr indent="0" marL="0">
              <a:lnSpc>
                <a:spcPct val="90000"/>
              </a:lnSpc>
              <a:buNone/>
            </a:pPr>
            <a:r>
              <a:rPr lang="en-US" sz="1700" b="1" dirty="0">
                <a:solidFill>
                  <a:srgbClr val="F8F5EE"/>
                </a:solidFill>
                <a:latin typeface="Source Serif Pro" pitchFamily="34" charset="0"/>
                <a:ea typeface="Source Serif Pro" pitchFamily="34" charset="-122"/>
                <a:cs typeface="Source Serif Pro" pitchFamily="34" charset="-120"/>
              </a:rPr>
              <a:t>Sesión 1:1</a:t>
            </a:r>
            <a:endParaRPr lang="en-US" sz="1700" dirty="0"/>
          </a:p>
        </p:txBody>
      </p:sp>
      <p:sp>
        <p:nvSpPr>
          <p:cNvPr id="26" name="Text 19"/>
          <p:cNvSpPr txBox="1"/>
          <p:nvPr/>
        </p:nvSpPr>
        <p:spPr>
          <a:xfrm>
            <a:off x="9619488" y="2487168"/>
            <a:ext cx="1746504" cy="256032"/>
          </a:xfrm>
          <a:prstGeom prst="rect">
            <a:avLst/>
          </a:prstGeom>
          <a:noFill/>
          <a:ln/>
        </p:spPr>
        <p:txBody>
          <a:bodyPr wrap="square" lIns="0" tIns="0" rIns="0" bIns="0" rtlCol="0" anchor="ctr"/>
          <a:lstStyle/>
          <a:p>
            <a:pPr indent="0" marL="0">
              <a:buNone/>
            </a:pPr>
            <a:r>
              <a:rPr lang="en-US" sz="1050" i="1" dirty="0">
                <a:solidFill>
                  <a:srgbClr val="EDE5CC"/>
                </a:solidFill>
                <a:latin typeface="Open Sans" pitchFamily="34" charset="0"/>
                <a:ea typeface="Open Sans" pitchFamily="34" charset="-122"/>
                <a:cs typeface="Open Sans" pitchFamily="34" charset="-120"/>
              </a:rPr>
              <a:t>el trabajo profundo, juntas</a:t>
            </a:r>
            <a:endParaRPr lang="en-US" sz="1050" dirty="0"/>
          </a:p>
        </p:txBody>
      </p:sp>
      <p:sp>
        <p:nvSpPr>
          <p:cNvPr id="27" name="Text 20"/>
          <p:cNvSpPr txBox="1"/>
          <p:nvPr/>
        </p:nvSpPr>
        <p:spPr>
          <a:xfrm>
            <a:off x="9573768" y="3063240"/>
            <a:ext cx="1792224" cy="1691640"/>
          </a:xfrm>
          <a:prstGeom prst="rect">
            <a:avLst/>
          </a:prstGeom>
          <a:noFill/>
          <a:ln/>
        </p:spPr>
        <p:txBody>
          <a:bodyPr wrap="square" lIns="0" tIns="0" rIns="0" bIns="0" rtlCol="0" anchor="t"/>
          <a:lstStyle/>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presentaciones completas</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conversaciones difíciles</a:t>
            </a:r>
            <a:endParaRPr lang="en-US" sz="1350" dirty="0"/>
          </a:p>
          <a:p>
            <a:pPr marL="177800" indent="-177800">
              <a:spcAft>
                <a:spcPts val="700"/>
              </a:spcAft>
              <a:buSzPct val="100000"/>
              <a:buChar char="•"/>
            </a:pPr>
            <a:r>
              <a:rPr lang="en-US" sz="1350" dirty="0">
                <a:solidFill>
                  <a:srgbClr val="3F1E0D"/>
                </a:solidFill>
                <a:latin typeface="Open Sans" pitchFamily="34" charset="0"/>
                <a:ea typeface="Open Sans" pitchFamily="34" charset="-122"/>
                <a:cs typeface="Open Sans" pitchFamily="34" charset="-120"/>
              </a:rPr>
              <a:t>reuniones importantes</a:t>
            </a:r>
            <a:endParaRPr lang="en-US" sz="1350" dirty="0"/>
          </a:p>
        </p:txBody>
      </p:sp>
      <p:sp>
        <p:nvSpPr>
          <p:cNvPr id="28" name="Shape 21"/>
          <p:cNvSpPr/>
          <p:nvPr/>
        </p:nvSpPr>
        <p:spPr>
          <a:xfrm>
            <a:off x="4389120" y="5166360"/>
            <a:ext cx="7159752" cy="1188720"/>
          </a:xfrm>
          <a:prstGeom prst="roundRect">
            <a:avLst>
              <a:gd name="adj" fmla="val 12308"/>
            </a:avLst>
          </a:prstGeom>
          <a:solidFill>
            <a:srgbClr val="FBF2D0"/>
          </a:solidFill>
          <a:ln w="12700">
            <a:solidFill>
              <a:srgbClr val="FBF2D0"/>
            </a:solidFill>
            <a:prstDash val="solid"/>
          </a:ln>
          <a:effectLst>
            <a:outerShdw sx="100000" sy="100000" kx="0" ky="0" algn="bl" rotWithShape="0" blurRad="177800" dist="38100" dir="5400000">
              <a:srgbClr val="3F1E0D">
                <a:alpha val="10000"/>
              </a:srgbClr>
            </a:outerShdw>
          </a:effectLst>
        </p:spPr>
      </p:sp>
      <p:sp>
        <p:nvSpPr>
          <p:cNvPr id="29" name="Shape 22"/>
          <p:cNvSpPr/>
          <p:nvPr/>
        </p:nvSpPr>
        <p:spPr>
          <a:xfrm>
            <a:off x="4754880" y="5372100"/>
            <a:ext cx="777240" cy="777240"/>
          </a:xfrm>
          <a:prstGeom prst="ellipse">
            <a:avLst/>
          </a:prstGeom>
          <a:solidFill>
            <a:srgbClr val="C68C6C"/>
          </a:solidFill>
          <a:ln w="12700">
            <a:solidFill>
              <a:srgbClr val="C68C6C"/>
            </a:solidFill>
            <a:prstDash val="solid"/>
          </a:ln>
        </p:spPr>
      </p:sp>
      <p:pic>
        <p:nvPicPr>
          <p:cNvPr id="30" name="Image 4" descr="preencoded.png">    </p:cNvPr>
          <p:cNvPicPr>
            <a:picLocks noChangeAspect="1"/>
          </p:cNvPicPr>
          <p:nvPr/>
        </p:nvPicPr>
        <p:blipFill>
          <a:blip r:embed="rId5"/>
          <a:stretch>
            <a:fillRect/>
          </a:stretch>
        </p:blipFill>
        <p:spPr>
          <a:xfrm>
            <a:off x="4964735" y="5581955"/>
            <a:ext cx="357530" cy="357530"/>
          </a:xfrm>
          <a:prstGeom prst="rect">
            <a:avLst/>
          </a:prstGeom>
        </p:spPr>
      </p:pic>
      <p:sp>
        <p:nvSpPr>
          <p:cNvPr id="31" name="Text 23"/>
          <p:cNvSpPr txBox="1"/>
          <p:nvPr/>
        </p:nvSpPr>
        <p:spPr>
          <a:xfrm>
            <a:off x="5852160" y="5166360"/>
            <a:ext cx="5376672" cy="1188720"/>
          </a:xfrm>
          <a:prstGeom prst="rect">
            <a:avLst/>
          </a:prstGeom>
          <a:noFill/>
          <a:ln/>
        </p:spPr>
        <p:txBody>
          <a:bodyPr wrap="square" lIns="0" tIns="0" rIns="0" bIns="0" rtlCol="0" anchor="ctr"/>
          <a:lstStyle/>
          <a:p>
            <a:pPr indent="0" marL="0">
              <a:spcAft>
                <a:spcPts val="500"/>
              </a:spcAft>
              <a:buNone/>
            </a:pPr>
            <a:r>
              <a:rPr lang="en-US" sz="1700" b="1" dirty="0">
                <a:solidFill>
                  <a:srgbClr val="81552E"/>
                </a:solidFill>
                <a:latin typeface="Open Sans" pitchFamily="34" charset="0"/>
                <a:ea typeface="Open Sans" pitchFamily="34" charset="-122"/>
                <a:cs typeface="Open Sans" pitchFamily="34" charset="-120"/>
              </a:rPr>
              <a:t>Cuando necesites feedback, recuerda</a:t>
            </a:r>
            <a:endParaRPr lang="en-US" sz="1700" dirty="0"/>
          </a:p>
          <a:p>
            <a:pPr indent="0" marL="0">
              <a:spcAft>
                <a:spcPts val="500"/>
              </a:spcAft>
              <a:buNone/>
            </a:pPr>
            <a:r>
              <a:rPr lang="en-US" sz="1500" dirty="0">
                <a:solidFill>
                  <a:srgbClr val="3F1E0D"/>
                </a:solidFill>
                <a:latin typeface="Open Sans" pitchFamily="34" charset="0"/>
                <a:ea typeface="Open Sans" pitchFamily="34" charset="-122"/>
                <a:cs typeface="Open Sans" pitchFamily="34" charset="-120"/>
              </a:rPr>
              <a:t>Contexto, tu intento y qué necesitas de mí.</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ONB 12 · Comunidad AT WORK + Cómo pedir feedback</dc:title>
  <dc:subject>PptxGenJS Presentation</dc:subject>
  <dc:creator>Flor Pérsico</dc:creator>
  <cp:lastModifiedBy>Flor Pérsico</cp:lastModifiedBy>
  <cp:revision>1</cp:revision>
  <dcterms:created xsi:type="dcterms:W3CDTF">2026-09-23T13:39:13Z</dcterms:created>
  <dcterms:modified xsi:type="dcterms:W3CDTF">2026-09-23T13:39:13Z</dcterms:modified>
</cp:coreProperties>
</file>