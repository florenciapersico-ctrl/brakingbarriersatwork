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quiero mostrarte tu espacio personal de AT WORK.
Esta clase va a ser muy práctica, porque no quiero solamente explicarte qué contiene tu Drive: quiero que veas exactamente cómo usarlo.
La idea es que no dependamos de mensajes sueltos, archivos desperdigados o de acordarnos de memoria qué hicimos hace tres semanas.
Tu carpeta personal va a ser la memoria de tu proceso durante estos cinco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 a encontrar cinco carpetas principales: Mi Contexto Profesional, Material Real de Mi Trabajo, Materiales de Sesiones, Mis Prácticas y Mi Progreso.
Ahora voy a dejar la presentación y te voy a mostrar cada una directamente en Drive.
[SCREEN SHARE DE DRIVE]
Primero está 01 · MI CONTEXTO PROFESIONAL.
Acá queda todo lo relacionado con tu punto de partida: tu Starting Point, información sobre tu rol y las situaciones en las que usas inglés. Y también acá quiero que guardes tu Acuerdo de Trabajo firmado.
Cuando lo completes, súbelo directamente a esta carpeta para que todo lo relacionado con el inicio de tu proceso quede en un mismo lugar.
La segunda carpeta es 02 · MATERIAL REAL DE MI TRABAJO.
Acá vas a subir presentaciones, emails, transcripciones, capturas, documentos, notas o cualquier material real que pueda servirnos para entrenar tu comunicación.
No hace falta subir absolutamente todo. Elige materiales representativos de las situaciones en las que realmente necesitas desenvolverte mejor en inglés.
Y si contienen información confidencial, nombres, cifras o datos internos, anonimízalos antes de subirlos.
En 03 · MATERIALES DE SESIONES van a quedar documentos, recursos o materiales que vayamos usando y creando juntas durante nuestras clases.
En 04 · MIS PRÁCTICAS vas a guardar producciones, intentos, audios, textos, ejercicios y retries que vayas haciendo entre sesiones.
Y esta carpeta es especialmente importante: 05 · MI PROGRESO.
Acá quiero que guardes cada Weekly Report que completes durante el programa.
Aunque después compartas un win, una duda o algo del reporte por WhatsApp, el Weekly Report completo queda guardado acá.
Y acá también vas a encontrar tu Progress Tracker. El Weekly Report es tu reflexión de cada semana; el Progress Tracker es la foto del recorrido completo: en qué etapa estás, qué skill estás entrenando, qué evidencia fuiste acumulando, qué hitos ya lograste y cuál es el próximo. Lo vamos a ir actualizando juntas, en general al cierre de nuestras sesiones.
¿Por qué? Porque al final de estos cinco meses quiero que podamos mirar hacia atrás y ver tu proceso completo: qué te costaba al principio, qué situaciones se repetían, qué empezaste a hacer distinto y qué evidencia concreta tenemos de lo que avanzaste.
Tu Drive es la memoria de tu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para el cierre, al volver del screen share)
Tu primera tarea es muy simple.
Asegúrate de que tu Acuerdo de Trabajo firmado esté dentro de 01 · MI CONTEXTO PROFESIONAL.
Completa tu Starting Point si todavía no lo hiciste.
Y sube entre tres y cinco materiales reales de tu trabajo dentro de 02 · MATERIAL REAL DE MI TRABAJO.
No busques los materiales perfectos. Elige cosas que representen de verdad cómo usas inglés hoy.
A partir de ahí, usa esta carpeta durante todo el programa. No como un archivo muerto, sino como el registro vivo de tu proceso en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09</a:t>
            </a:r>
            <a:endParaRPr lang="en-US" sz="1100" dirty="0"/>
          </a:p>
        </p:txBody>
      </p:sp>
      <p:sp>
        <p:nvSpPr>
          <p:cNvPr id="5" name="Text 2"/>
          <p:cNvSpPr txBox="1"/>
          <p:nvPr/>
        </p:nvSpPr>
        <p:spPr>
          <a:xfrm>
            <a:off x="640080" y="1325880"/>
            <a:ext cx="5760720" cy="1516380"/>
          </a:xfrm>
          <a:prstGeom prst="rect">
            <a:avLst/>
          </a:prstGeom>
          <a:noFill/>
          <a:ln/>
        </p:spPr>
        <p:txBody>
          <a:bodyPr wrap="square" lIns="0" tIns="0" rIns="0" bIns="0" rtlCol="0" anchor="t"/>
          <a:lstStyle/>
          <a:p>
            <a:pPr indent="0" marL="0">
              <a:lnSpc>
                <a:spcPct val="90000"/>
              </a:lnSpc>
              <a:buNone/>
            </a:pPr>
            <a:r>
              <a:rPr lang="en-US" sz="5000" b="1" dirty="0">
                <a:solidFill>
                  <a:srgbClr val="F8F5EE"/>
                </a:solidFill>
                <a:latin typeface="Source Serif Pro" pitchFamily="34" charset="0"/>
                <a:ea typeface="Source Serif Pro" pitchFamily="34" charset="-122"/>
                <a:cs typeface="Source Serif Pro" pitchFamily="34" charset="-120"/>
              </a:rPr>
              <a:t>Tu espacio personal AT WORK</a:t>
            </a:r>
            <a:endParaRPr lang="en-US" sz="5000" dirty="0"/>
          </a:p>
        </p:txBody>
      </p:sp>
      <p:sp>
        <p:nvSpPr>
          <p:cNvPr id="6" name="Text 3"/>
          <p:cNvSpPr txBox="1"/>
          <p:nvPr/>
        </p:nvSpPr>
        <p:spPr>
          <a:xfrm>
            <a:off x="640080" y="2933700"/>
            <a:ext cx="5486400" cy="384048"/>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Tu carpeta personal va a ser la memoria de tu proceso</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EN ESTA CLASE</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Qué contiene tu Drive</a:t>
            </a:r>
            <a:endParaRPr lang="en-US" sz="150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Cómo usarlo, en pantalla</a:t>
            </a:r>
            <a:endParaRPr lang="en-US" sz="150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Dónde guardar cada material</a:t>
            </a:r>
            <a:endParaRPr lang="en-US" sz="150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Tu primera tarea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03</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Tus cinco carpetas</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Ahora te las muestro directamente en Drive</a:t>
            </a:r>
            <a:endParaRPr lang="en-US" sz="1600" dirty="0"/>
          </a:p>
        </p:txBody>
      </p:sp>
      <p:sp>
        <p:nvSpPr>
          <p:cNvPr id="7" name="Shape 3"/>
          <p:cNvSpPr/>
          <p:nvPr/>
        </p:nvSpPr>
        <p:spPr>
          <a:xfrm>
            <a:off x="4389120" y="1280160"/>
            <a:ext cx="7159752" cy="868680"/>
          </a:xfrm>
          <a:prstGeom prst="roundRect">
            <a:avLst>
              <a:gd name="adj" fmla="val 1684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440180"/>
            <a:ext cx="548640" cy="548640"/>
          </a:xfrm>
          <a:prstGeom prst="ellipse">
            <a:avLst/>
          </a:prstGeom>
          <a:solidFill>
            <a:srgbClr val="C68C6C"/>
          </a:solidFill>
          <a:ln w="12700">
            <a:solidFill>
              <a:srgbClr val="C68C6C"/>
            </a:solidFill>
            <a:prstDash val="solid"/>
          </a:ln>
        </p:spPr>
      </p:sp>
      <p:sp>
        <p:nvSpPr>
          <p:cNvPr id="9" name="Text 5"/>
          <p:cNvSpPr txBox="1"/>
          <p:nvPr/>
        </p:nvSpPr>
        <p:spPr>
          <a:xfrm>
            <a:off x="4663440" y="144018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1</a:t>
            </a:r>
            <a:endParaRPr lang="en-US" sz="1680" dirty="0"/>
          </a:p>
        </p:txBody>
      </p:sp>
      <p:sp>
        <p:nvSpPr>
          <p:cNvPr id="10" name="Text 6"/>
          <p:cNvSpPr txBox="1"/>
          <p:nvPr/>
        </p:nvSpPr>
        <p:spPr>
          <a:xfrm>
            <a:off x="5486400" y="1280160"/>
            <a:ext cx="5742432" cy="868680"/>
          </a:xfrm>
          <a:prstGeom prst="rect">
            <a:avLst/>
          </a:prstGeom>
          <a:noFill/>
          <a:ln/>
        </p:spPr>
        <p:txBody>
          <a:bodyPr wrap="square" lIns="0" tIns="0" rIns="0" bIns="0" rtlCol="0" anchor="ctr"/>
          <a:lstStyle/>
          <a:p>
            <a:pPr indent="0" marL="0">
              <a:spcAft>
                <a:spcPts val="200"/>
              </a:spcAft>
              <a:buNone/>
            </a:pPr>
            <a:r>
              <a:rPr lang="en-US" sz="1500" b="1" dirty="0">
                <a:solidFill>
                  <a:srgbClr val="3F1E0D"/>
                </a:solidFill>
                <a:latin typeface="Open Sans" pitchFamily="34" charset="0"/>
                <a:ea typeface="Open Sans" pitchFamily="34" charset="-122"/>
                <a:cs typeface="Open Sans" pitchFamily="34" charset="-120"/>
              </a:rPr>
              <a:t>01 · MI CONTEXTO PROFESIONAL</a:t>
            </a:r>
            <a:endParaRPr lang="en-US" sz="1500" dirty="0"/>
          </a:p>
          <a:p>
            <a:pPr indent="0" marL="0">
              <a:spcAft>
                <a:spcPts val="200"/>
              </a:spcAft>
              <a:buNone/>
            </a:pPr>
            <a:r>
              <a:rPr lang="en-US" sz="1200" dirty="0">
                <a:solidFill>
                  <a:srgbClr val="8A6A55"/>
                </a:solidFill>
                <a:latin typeface="Open Sans" pitchFamily="34" charset="0"/>
                <a:ea typeface="Open Sans" pitchFamily="34" charset="-122"/>
                <a:cs typeface="Open Sans" pitchFamily="34" charset="-120"/>
              </a:rPr>
              <a:t>Tu Starting Point, tu rol, dónde usas inglés y tu Acuerdo de Trabajo firmado</a:t>
            </a:r>
            <a:endParaRPr lang="en-US" sz="1500" dirty="0"/>
          </a:p>
        </p:txBody>
      </p:sp>
      <p:sp>
        <p:nvSpPr>
          <p:cNvPr id="11" name="Shape 7"/>
          <p:cNvSpPr/>
          <p:nvPr/>
        </p:nvSpPr>
        <p:spPr>
          <a:xfrm>
            <a:off x="4389120" y="2331720"/>
            <a:ext cx="7159752" cy="868680"/>
          </a:xfrm>
          <a:prstGeom prst="roundRect">
            <a:avLst>
              <a:gd name="adj" fmla="val 1684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4663440" y="2491740"/>
            <a:ext cx="548640" cy="548640"/>
          </a:xfrm>
          <a:prstGeom prst="ellipse">
            <a:avLst/>
          </a:prstGeom>
          <a:solidFill>
            <a:srgbClr val="C68C6C"/>
          </a:solidFill>
          <a:ln w="12700">
            <a:solidFill>
              <a:srgbClr val="C68C6C"/>
            </a:solidFill>
            <a:prstDash val="solid"/>
          </a:ln>
        </p:spPr>
      </p:sp>
      <p:sp>
        <p:nvSpPr>
          <p:cNvPr id="13" name="Text 9"/>
          <p:cNvSpPr txBox="1"/>
          <p:nvPr/>
        </p:nvSpPr>
        <p:spPr>
          <a:xfrm>
            <a:off x="4663440" y="249174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2</a:t>
            </a:r>
            <a:endParaRPr lang="en-US" sz="1680" dirty="0"/>
          </a:p>
        </p:txBody>
      </p:sp>
      <p:sp>
        <p:nvSpPr>
          <p:cNvPr id="14" name="Text 10"/>
          <p:cNvSpPr txBox="1"/>
          <p:nvPr/>
        </p:nvSpPr>
        <p:spPr>
          <a:xfrm>
            <a:off x="5486400" y="2331720"/>
            <a:ext cx="5742432" cy="868680"/>
          </a:xfrm>
          <a:prstGeom prst="rect">
            <a:avLst/>
          </a:prstGeom>
          <a:noFill/>
          <a:ln/>
        </p:spPr>
        <p:txBody>
          <a:bodyPr wrap="square" lIns="0" tIns="0" rIns="0" bIns="0" rtlCol="0" anchor="ctr"/>
          <a:lstStyle/>
          <a:p>
            <a:pPr indent="0" marL="0">
              <a:spcAft>
                <a:spcPts val="200"/>
              </a:spcAft>
              <a:buNone/>
            </a:pPr>
            <a:r>
              <a:rPr lang="en-US" sz="1500" b="1" dirty="0">
                <a:solidFill>
                  <a:srgbClr val="3F1E0D"/>
                </a:solidFill>
                <a:latin typeface="Open Sans" pitchFamily="34" charset="0"/>
                <a:ea typeface="Open Sans" pitchFamily="34" charset="-122"/>
                <a:cs typeface="Open Sans" pitchFamily="34" charset="-120"/>
              </a:rPr>
              <a:t>02 · MATERIAL REAL DE MI TRABAJO</a:t>
            </a:r>
            <a:endParaRPr lang="en-US" sz="1500" dirty="0"/>
          </a:p>
          <a:p>
            <a:pPr indent="0" marL="0">
              <a:spcAft>
                <a:spcPts val="200"/>
              </a:spcAft>
              <a:buNone/>
            </a:pPr>
            <a:r>
              <a:rPr lang="en-US" sz="1200" dirty="0">
                <a:solidFill>
                  <a:srgbClr val="8A6A55"/>
                </a:solidFill>
                <a:latin typeface="Open Sans" pitchFamily="34" charset="0"/>
                <a:ea typeface="Open Sans" pitchFamily="34" charset="-122"/>
                <a:cs typeface="Open Sans" pitchFamily="34" charset="-120"/>
              </a:rPr>
              <a:t>Presentaciones, emails, transcripciones, capturas y documentos (anonimizados)</a:t>
            </a:r>
            <a:endParaRPr lang="en-US" sz="1500" dirty="0"/>
          </a:p>
        </p:txBody>
      </p:sp>
      <p:sp>
        <p:nvSpPr>
          <p:cNvPr id="15" name="Shape 11"/>
          <p:cNvSpPr/>
          <p:nvPr/>
        </p:nvSpPr>
        <p:spPr>
          <a:xfrm>
            <a:off x="4389120" y="3383280"/>
            <a:ext cx="7159752" cy="868680"/>
          </a:xfrm>
          <a:prstGeom prst="roundRect">
            <a:avLst>
              <a:gd name="adj" fmla="val 1684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2"/>
          <p:cNvSpPr/>
          <p:nvPr/>
        </p:nvSpPr>
        <p:spPr>
          <a:xfrm>
            <a:off x="4663440" y="3543300"/>
            <a:ext cx="548640" cy="548640"/>
          </a:xfrm>
          <a:prstGeom prst="ellipse">
            <a:avLst/>
          </a:prstGeom>
          <a:solidFill>
            <a:srgbClr val="C68C6C"/>
          </a:solidFill>
          <a:ln w="12700">
            <a:solidFill>
              <a:srgbClr val="C68C6C"/>
            </a:solidFill>
            <a:prstDash val="solid"/>
          </a:ln>
        </p:spPr>
      </p:sp>
      <p:sp>
        <p:nvSpPr>
          <p:cNvPr id="17" name="Text 13"/>
          <p:cNvSpPr txBox="1"/>
          <p:nvPr/>
        </p:nvSpPr>
        <p:spPr>
          <a:xfrm>
            <a:off x="4663440" y="354330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3</a:t>
            </a:r>
            <a:endParaRPr lang="en-US" sz="1680" dirty="0"/>
          </a:p>
        </p:txBody>
      </p:sp>
      <p:sp>
        <p:nvSpPr>
          <p:cNvPr id="18" name="Text 14"/>
          <p:cNvSpPr txBox="1"/>
          <p:nvPr/>
        </p:nvSpPr>
        <p:spPr>
          <a:xfrm>
            <a:off x="5486400" y="3383280"/>
            <a:ext cx="5742432" cy="868680"/>
          </a:xfrm>
          <a:prstGeom prst="rect">
            <a:avLst/>
          </a:prstGeom>
          <a:noFill/>
          <a:ln/>
        </p:spPr>
        <p:txBody>
          <a:bodyPr wrap="square" lIns="0" tIns="0" rIns="0" bIns="0" rtlCol="0" anchor="ctr"/>
          <a:lstStyle/>
          <a:p>
            <a:pPr indent="0" marL="0">
              <a:spcAft>
                <a:spcPts val="200"/>
              </a:spcAft>
              <a:buNone/>
            </a:pPr>
            <a:r>
              <a:rPr lang="en-US" sz="1500" b="1" dirty="0">
                <a:solidFill>
                  <a:srgbClr val="3F1E0D"/>
                </a:solidFill>
                <a:latin typeface="Open Sans" pitchFamily="34" charset="0"/>
                <a:ea typeface="Open Sans" pitchFamily="34" charset="-122"/>
                <a:cs typeface="Open Sans" pitchFamily="34" charset="-120"/>
              </a:rPr>
              <a:t>03 · MATERIALES DE SESIONES</a:t>
            </a:r>
            <a:endParaRPr lang="en-US" sz="1500" dirty="0"/>
          </a:p>
          <a:p>
            <a:pPr indent="0" marL="0">
              <a:spcAft>
                <a:spcPts val="200"/>
              </a:spcAft>
              <a:buNone/>
            </a:pPr>
            <a:r>
              <a:rPr lang="en-US" sz="1200" dirty="0">
                <a:solidFill>
                  <a:srgbClr val="8A6A55"/>
                </a:solidFill>
                <a:latin typeface="Open Sans" pitchFamily="34" charset="0"/>
                <a:ea typeface="Open Sans" pitchFamily="34" charset="-122"/>
                <a:cs typeface="Open Sans" pitchFamily="34" charset="-120"/>
              </a:rPr>
              <a:t>Lo que vamos usando y creando juntas en nuestras clases</a:t>
            </a:r>
            <a:endParaRPr lang="en-US" sz="1500" dirty="0"/>
          </a:p>
        </p:txBody>
      </p:sp>
      <p:sp>
        <p:nvSpPr>
          <p:cNvPr id="19" name="Shape 15"/>
          <p:cNvSpPr/>
          <p:nvPr/>
        </p:nvSpPr>
        <p:spPr>
          <a:xfrm>
            <a:off x="4389120" y="4434840"/>
            <a:ext cx="7159752" cy="868680"/>
          </a:xfrm>
          <a:prstGeom prst="roundRect">
            <a:avLst>
              <a:gd name="adj" fmla="val 1684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6"/>
          <p:cNvSpPr/>
          <p:nvPr/>
        </p:nvSpPr>
        <p:spPr>
          <a:xfrm>
            <a:off x="4663440" y="4594860"/>
            <a:ext cx="548640" cy="548640"/>
          </a:xfrm>
          <a:prstGeom prst="ellipse">
            <a:avLst/>
          </a:prstGeom>
          <a:solidFill>
            <a:srgbClr val="C68C6C"/>
          </a:solidFill>
          <a:ln w="12700">
            <a:solidFill>
              <a:srgbClr val="C68C6C"/>
            </a:solidFill>
            <a:prstDash val="solid"/>
          </a:ln>
        </p:spPr>
      </p:sp>
      <p:sp>
        <p:nvSpPr>
          <p:cNvPr id="21" name="Text 17"/>
          <p:cNvSpPr txBox="1"/>
          <p:nvPr/>
        </p:nvSpPr>
        <p:spPr>
          <a:xfrm>
            <a:off x="4663440" y="459486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4</a:t>
            </a:r>
            <a:endParaRPr lang="en-US" sz="1680" dirty="0"/>
          </a:p>
        </p:txBody>
      </p:sp>
      <p:sp>
        <p:nvSpPr>
          <p:cNvPr id="22" name="Text 18"/>
          <p:cNvSpPr txBox="1"/>
          <p:nvPr/>
        </p:nvSpPr>
        <p:spPr>
          <a:xfrm>
            <a:off x="5486400" y="4434840"/>
            <a:ext cx="5742432" cy="868680"/>
          </a:xfrm>
          <a:prstGeom prst="rect">
            <a:avLst/>
          </a:prstGeom>
          <a:noFill/>
          <a:ln/>
        </p:spPr>
        <p:txBody>
          <a:bodyPr wrap="square" lIns="0" tIns="0" rIns="0" bIns="0" rtlCol="0" anchor="ctr"/>
          <a:lstStyle/>
          <a:p>
            <a:pPr indent="0" marL="0">
              <a:spcAft>
                <a:spcPts val="200"/>
              </a:spcAft>
              <a:buNone/>
            </a:pPr>
            <a:r>
              <a:rPr lang="en-US" sz="1500" b="1" dirty="0">
                <a:solidFill>
                  <a:srgbClr val="3F1E0D"/>
                </a:solidFill>
                <a:latin typeface="Open Sans" pitchFamily="34" charset="0"/>
                <a:ea typeface="Open Sans" pitchFamily="34" charset="-122"/>
                <a:cs typeface="Open Sans" pitchFamily="34" charset="-120"/>
              </a:rPr>
              <a:t>04 · MIS PRÁCTICAS</a:t>
            </a:r>
            <a:endParaRPr lang="en-US" sz="1500" dirty="0"/>
          </a:p>
          <a:p>
            <a:pPr indent="0" marL="0">
              <a:spcAft>
                <a:spcPts val="200"/>
              </a:spcAft>
              <a:buNone/>
            </a:pPr>
            <a:r>
              <a:rPr lang="en-US" sz="1200" dirty="0">
                <a:solidFill>
                  <a:srgbClr val="8A6A55"/>
                </a:solidFill>
                <a:latin typeface="Open Sans" pitchFamily="34" charset="0"/>
                <a:ea typeface="Open Sans" pitchFamily="34" charset="-122"/>
                <a:cs typeface="Open Sans" pitchFamily="34" charset="-120"/>
              </a:rPr>
              <a:t>Producciones, intentos, audios, textos, ejercicios y retries</a:t>
            </a:r>
            <a:endParaRPr lang="en-US" sz="1500" dirty="0"/>
          </a:p>
        </p:txBody>
      </p:sp>
      <p:sp>
        <p:nvSpPr>
          <p:cNvPr id="23" name="Shape 19"/>
          <p:cNvSpPr/>
          <p:nvPr/>
        </p:nvSpPr>
        <p:spPr>
          <a:xfrm>
            <a:off x="4389120" y="5486400"/>
            <a:ext cx="7159752" cy="868680"/>
          </a:xfrm>
          <a:prstGeom prst="roundRect">
            <a:avLst>
              <a:gd name="adj" fmla="val 1684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4" name="Shape 20"/>
          <p:cNvSpPr/>
          <p:nvPr/>
        </p:nvSpPr>
        <p:spPr>
          <a:xfrm>
            <a:off x="4663440" y="5646420"/>
            <a:ext cx="548640" cy="548640"/>
          </a:xfrm>
          <a:prstGeom prst="ellipse">
            <a:avLst/>
          </a:prstGeom>
          <a:solidFill>
            <a:srgbClr val="C68C6C"/>
          </a:solidFill>
          <a:ln w="12700">
            <a:solidFill>
              <a:srgbClr val="C68C6C"/>
            </a:solidFill>
            <a:prstDash val="solid"/>
          </a:ln>
        </p:spPr>
      </p:sp>
      <p:sp>
        <p:nvSpPr>
          <p:cNvPr id="25" name="Text 21"/>
          <p:cNvSpPr txBox="1"/>
          <p:nvPr/>
        </p:nvSpPr>
        <p:spPr>
          <a:xfrm>
            <a:off x="4663440" y="564642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5</a:t>
            </a:r>
            <a:endParaRPr lang="en-US" sz="1680" dirty="0"/>
          </a:p>
        </p:txBody>
      </p:sp>
      <p:sp>
        <p:nvSpPr>
          <p:cNvPr id="26" name="Text 22"/>
          <p:cNvSpPr txBox="1"/>
          <p:nvPr/>
        </p:nvSpPr>
        <p:spPr>
          <a:xfrm>
            <a:off x="5486400" y="5486400"/>
            <a:ext cx="5742432" cy="868680"/>
          </a:xfrm>
          <a:prstGeom prst="rect">
            <a:avLst/>
          </a:prstGeom>
          <a:noFill/>
          <a:ln/>
        </p:spPr>
        <p:txBody>
          <a:bodyPr wrap="square" lIns="0" tIns="0" rIns="0" bIns="0" rtlCol="0" anchor="ctr"/>
          <a:lstStyle/>
          <a:p>
            <a:pPr indent="0" marL="0">
              <a:spcAft>
                <a:spcPts val="200"/>
              </a:spcAft>
              <a:buNone/>
            </a:pPr>
            <a:r>
              <a:rPr lang="en-US" sz="1500" b="1" dirty="0">
                <a:solidFill>
                  <a:srgbClr val="3F1E0D"/>
                </a:solidFill>
                <a:latin typeface="Open Sans" pitchFamily="34" charset="0"/>
                <a:ea typeface="Open Sans" pitchFamily="34" charset="-122"/>
                <a:cs typeface="Open Sans" pitchFamily="34" charset="-120"/>
              </a:rPr>
              <a:t>05 · MI PROGRESO</a:t>
            </a:r>
            <a:endParaRPr lang="en-US" sz="1500" dirty="0"/>
          </a:p>
          <a:p>
            <a:pPr indent="0" marL="0">
              <a:spcAft>
                <a:spcPts val="200"/>
              </a:spcAft>
              <a:buNone/>
            </a:pPr>
            <a:r>
              <a:rPr lang="en-US" sz="1200" dirty="0">
                <a:solidFill>
                  <a:srgbClr val="8A6A55"/>
                </a:solidFill>
                <a:latin typeface="Open Sans" pitchFamily="34" charset="0"/>
                <a:ea typeface="Open Sans" pitchFamily="34" charset="-122"/>
                <a:cs typeface="Open Sans" pitchFamily="34" charset="-120"/>
              </a:rPr>
              <a:t>Tus Weekly Reports y tu Progress Tracker: dónde estás en el recorrido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68C6C"/>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03 / 03</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Tu primera tarea</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Elige cosas que representen de verdad cómo usas inglés hoy</a:t>
            </a:r>
            <a:endParaRPr lang="en-US" sz="1600" dirty="0"/>
          </a:p>
        </p:txBody>
      </p:sp>
      <p:sp>
        <p:nvSpPr>
          <p:cNvPr id="7" name="Shape 3"/>
          <p:cNvSpPr/>
          <p:nvPr/>
        </p:nvSpPr>
        <p:spPr>
          <a:xfrm>
            <a:off x="4389120" y="1280160"/>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27048"/>
            <a:ext cx="603504" cy="603504"/>
          </a:xfrm>
          <a:prstGeom prst="ellipse">
            <a:avLst/>
          </a:prstGeom>
          <a:solidFill>
            <a:srgbClr val="3F1E0D"/>
          </a:solidFill>
          <a:ln w="12700">
            <a:solidFill>
              <a:srgbClr val="3F1E0D"/>
            </a:solidFill>
            <a:prstDash val="solid"/>
          </a:ln>
        </p:spPr>
      </p:sp>
      <p:pic>
        <p:nvPicPr>
          <p:cNvPr id="9" name="Image 1" descr="preencoded.png">    </p:cNvPr>
          <p:cNvPicPr>
            <a:picLocks noChangeAspect="1"/>
          </p:cNvPicPr>
          <p:nvPr/>
        </p:nvPicPr>
        <p:blipFill>
          <a:blip r:embed="rId2"/>
          <a:stretch>
            <a:fillRect/>
          </a:stretch>
        </p:blipFill>
        <p:spPr>
          <a:xfrm>
            <a:off x="4872106" y="1689994"/>
            <a:ext cx="277612" cy="277612"/>
          </a:xfrm>
          <a:prstGeom prst="rect">
            <a:avLst/>
          </a:prstGeom>
        </p:spPr>
      </p:pic>
      <p:sp>
        <p:nvSpPr>
          <p:cNvPr id="10" name="Text 5"/>
          <p:cNvSpPr txBox="1"/>
          <p:nvPr/>
        </p:nvSpPr>
        <p:spPr>
          <a:xfrm>
            <a:off x="5577840" y="1280160"/>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Asegúrate de que tu </a:t>
            </a:r>
            <a:pPr indent="0" marL="0">
              <a:buNone/>
            </a:pPr>
            <a:r>
              <a:rPr lang="en-US" sz="1650" b="1" dirty="0">
                <a:solidFill>
                  <a:srgbClr val="3F1E0D"/>
                </a:solidFill>
                <a:latin typeface="Open Sans" pitchFamily="34" charset="0"/>
                <a:ea typeface="Open Sans" pitchFamily="34" charset="-122"/>
                <a:cs typeface="Open Sans" pitchFamily="34" charset="-120"/>
              </a:rPr>
              <a:t>Acuerdo de Trabajo firmado</a:t>
            </a:r>
            <a:pPr indent="0" marL="0">
              <a:buNone/>
            </a:pPr>
            <a:r>
              <a:rPr lang="en-US" sz="1650" dirty="0">
                <a:solidFill>
                  <a:srgbClr val="3F1E0D"/>
                </a:solidFill>
                <a:latin typeface="Open Sans" pitchFamily="34" charset="0"/>
                <a:ea typeface="Open Sans" pitchFamily="34" charset="-122"/>
                <a:cs typeface="Open Sans" pitchFamily="34" charset="-120"/>
              </a:rPr>
              <a:t> esté en 01 · MI CONTEXTO PROFESIONAL</a:t>
            </a:r>
            <a:endParaRPr lang="en-US" sz="1650" dirty="0"/>
          </a:p>
        </p:txBody>
      </p:sp>
      <p:sp>
        <p:nvSpPr>
          <p:cNvPr id="11" name="Shape 6"/>
          <p:cNvSpPr/>
          <p:nvPr/>
        </p:nvSpPr>
        <p:spPr>
          <a:xfrm>
            <a:off x="4389120" y="2578608"/>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709160" y="2825496"/>
            <a:ext cx="603504" cy="603504"/>
          </a:xfrm>
          <a:prstGeom prst="ellipse">
            <a:avLst/>
          </a:prstGeom>
          <a:solidFill>
            <a:srgbClr val="3F1E0D"/>
          </a:solidFill>
          <a:ln w="12700">
            <a:solidFill>
              <a:srgbClr val="3F1E0D"/>
            </a:solidFill>
            <a:prstDash val="solid"/>
          </a:ln>
        </p:spPr>
      </p:sp>
      <p:pic>
        <p:nvPicPr>
          <p:cNvPr id="13" name="Image 2" descr="preencoded.png">    </p:cNvPr>
          <p:cNvPicPr>
            <a:picLocks noChangeAspect="1"/>
          </p:cNvPicPr>
          <p:nvPr/>
        </p:nvPicPr>
        <p:blipFill>
          <a:blip r:embed="rId3"/>
          <a:stretch>
            <a:fillRect/>
          </a:stretch>
        </p:blipFill>
        <p:spPr>
          <a:xfrm>
            <a:off x="4872106" y="2988442"/>
            <a:ext cx="277612" cy="277612"/>
          </a:xfrm>
          <a:prstGeom prst="rect">
            <a:avLst/>
          </a:prstGeom>
        </p:spPr>
      </p:pic>
      <p:sp>
        <p:nvSpPr>
          <p:cNvPr id="14" name="Text 8"/>
          <p:cNvSpPr txBox="1"/>
          <p:nvPr/>
        </p:nvSpPr>
        <p:spPr>
          <a:xfrm>
            <a:off x="5577840" y="2578608"/>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Completa tu </a:t>
            </a:r>
            <a:pPr indent="0" marL="0">
              <a:buNone/>
            </a:pPr>
            <a:r>
              <a:rPr lang="en-US" sz="1650" b="1" dirty="0">
                <a:solidFill>
                  <a:srgbClr val="3F1E0D"/>
                </a:solidFill>
                <a:latin typeface="Open Sans" pitchFamily="34" charset="0"/>
                <a:ea typeface="Open Sans" pitchFamily="34" charset="-122"/>
                <a:cs typeface="Open Sans" pitchFamily="34" charset="-120"/>
              </a:rPr>
              <a:t>Starting Point</a:t>
            </a:r>
            <a:pPr indent="0" marL="0">
              <a:buNone/>
            </a:pPr>
            <a:r>
              <a:rPr lang="en-US" sz="1650" dirty="0">
                <a:solidFill>
                  <a:srgbClr val="3F1E0D"/>
                </a:solidFill>
                <a:latin typeface="Open Sans" pitchFamily="34" charset="0"/>
                <a:ea typeface="Open Sans" pitchFamily="34" charset="-122"/>
                <a:cs typeface="Open Sans" pitchFamily="34" charset="-120"/>
              </a:rPr>
              <a:t> si todavía no lo hiciste</a:t>
            </a:r>
            <a:endParaRPr lang="en-US" sz="1650" dirty="0"/>
          </a:p>
        </p:txBody>
      </p:sp>
      <p:sp>
        <p:nvSpPr>
          <p:cNvPr id="15" name="Shape 9"/>
          <p:cNvSpPr/>
          <p:nvPr/>
        </p:nvSpPr>
        <p:spPr>
          <a:xfrm>
            <a:off x="4389120" y="3877056"/>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709160" y="4123944"/>
            <a:ext cx="603504" cy="603504"/>
          </a:xfrm>
          <a:prstGeom prst="ellipse">
            <a:avLst/>
          </a:prstGeom>
          <a:solidFill>
            <a:srgbClr val="3F1E0D"/>
          </a:solidFill>
          <a:ln w="12700">
            <a:solidFill>
              <a:srgbClr val="3F1E0D"/>
            </a:solidFill>
            <a:prstDash val="solid"/>
          </a:ln>
        </p:spPr>
      </p:sp>
      <p:pic>
        <p:nvPicPr>
          <p:cNvPr id="17" name="Image 3" descr="preencoded.png">    </p:cNvPr>
          <p:cNvPicPr>
            <a:picLocks noChangeAspect="1"/>
          </p:cNvPicPr>
          <p:nvPr/>
        </p:nvPicPr>
        <p:blipFill>
          <a:blip r:embed="rId4"/>
          <a:stretch>
            <a:fillRect/>
          </a:stretch>
        </p:blipFill>
        <p:spPr>
          <a:xfrm>
            <a:off x="4872106" y="4286890"/>
            <a:ext cx="277612" cy="277612"/>
          </a:xfrm>
          <a:prstGeom prst="rect">
            <a:avLst/>
          </a:prstGeom>
        </p:spPr>
      </p:pic>
      <p:sp>
        <p:nvSpPr>
          <p:cNvPr id="18" name="Text 11"/>
          <p:cNvSpPr txBox="1"/>
          <p:nvPr/>
        </p:nvSpPr>
        <p:spPr>
          <a:xfrm>
            <a:off x="5577840" y="3877056"/>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Sube </a:t>
            </a:r>
            <a:pPr indent="0" marL="0">
              <a:buNone/>
            </a:pPr>
            <a:r>
              <a:rPr lang="en-US" sz="1650" b="1" dirty="0">
                <a:solidFill>
                  <a:srgbClr val="3F1E0D"/>
                </a:solidFill>
                <a:latin typeface="Open Sans" pitchFamily="34" charset="0"/>
                <a:ea typeface="Open Sans" pitchFamily="34" charset="-122"/>
                <a:cs typeface="Open Sans" pitchFamily="34" charset="-120"/>
              </a:rPr>
              <a:t>entre tres y cinco materiales reales</a:t>
            </a:r>
            <a:pPr indent="0" marL="0">
              <a:buNone/>
            </a:pPr>
            <a:r>
              <a:rPr lang="en-US" sz="1650" dirty="0">
                <a:solidFill>
                  <a:srgbClr val="3F1E0D"/>
                </a:solidFill>
                <a:latin typeface="Open Sans" pitchFamily="34" charset="0"/>
                <a:ea typeface="Open Sans" pitchFamily="34" charset="-122"/>
                <a:cs typeface="Open Sans" pitchFamily="34" charset="-120"/>
              </a:rPr>
              <a:t> a 02 · MATERIAL REAL DE MI TRABAJO</a:t>
            </a:r>
            <a:endParaRPr lang="en-US" sz="1650" dirty="0"/>
          </a:p>
        </p:txBody>
      </p:sp>
      <p:sp>
        <p:nvSpPr>
          <p:cNvPr id="19" name="Text 12"/>
          <p:cNvSpPr txBox="1"/>
          <p:nvPr/>
        </p:nvSpPr>
        <p:spPr>
          <a:xfrm>
            <a:off x="4389120" y="5760720"/>
            <a:ext cx="7159752" cy="594360"/>
          </a:xfrm>
          <a:prstGeom prst="rect">
            <a:avLst/>
          </a:prstGeom>
          <a:noFill/>
          <a:ln/>
        </p:spPr>
        <p:txBody>
          <a:bodyPr wrap="square" lIns="0" tIns="0" rIns="0" bIns="0" rtlCol="0" anchor="ctr"/>
          <a:lstStyle/>
          <a:p>
            <a:pPr indent="0" marL="0">
              <a:buNone/>
            </a:pPr>
            <a:r>
              <a:rPr lang="en-US" sz="1500" i="1" dirty="0">
                <a:solidFill>
                  <a:srgbClr val="3F1E0D"/>
                </a:solidFill>
                <a:latin typeface="Source Serif Pro" pitchFamily="34" charset="0"/>
                <a:ea typeface="Source Serif Pro" pitchFamily="34" charset="-122"/>
                <a:cs typeface="Source Serif Pro" pitchFamily="34" charset="-120"/>
              </a:rPr>
              <a:t>Usa esta carpeta todo el programa: no como un archivo muerto, sino como el registro vivo de tu proceso.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09 · Tu espacio personal AT WORK</dc:title>
  <dc:subject>PptxGenJS Presentation</dc:subject>
  <dc:creator>Flor Pérsico</dc:creator>
  <cp:lastModifiedBy>Flor Pérsico</cp:lastModifiedBy>
  <cp:revision>1</cp:revision>
  <dcterms:created xsi:type="dcterms:W3CDTF">2026-09-23T14:13:58Z</dcterms:created>
  <dcterms:modified xsi:type="dcterms:W3CDTF">2026-09-23T14:13:58Z</dcterms:modified>
</cp:coreProperties>
</file>