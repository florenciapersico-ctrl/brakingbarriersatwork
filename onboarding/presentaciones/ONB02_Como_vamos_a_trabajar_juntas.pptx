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empezar, quiero contarte cómo vamos a trabajar juntas durante estos cinco meses para que puedas aprovechar al máximo todo el acompañamiento que vas a tener dentro de AT WORK.
Quiero que desde el principio sepas qué espacios tienes disponibles, cómo puedes pedirme ayuda, cómo funcionan nuestras sesiones y dónde vamos a ir trabajando cada cosa.
La idea es que te sientas acompañada, contenida y con claridad sobre qué hacer en cada momento, para que puedas enfocarte en tu proceso y en avanzar con tu inglés.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Dentro de esta clase vas a encontrar también tu Acuerdo de Trabajo.
Es un documento simple donde están por escrito algunos aspectos prácticos del programa para que las dos tengamos toda la información clara desde el comienzo.
Si todavía no lo firmaste, descárgalo, complétalo y súbelo a tu carpeta personal de AT WORK, dentro de 01 · MI CONTEXTO PROFESIONAL. Así queda guardado junto con toda la información de inicio de tu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Nuestras sesiones 1:1 son el espacio donde vamos a poder trabajar con más profundidad sobre lo que esté pasando en tu inglés y en tu trabajo real.
Cada horario queda reservado especialmente para ti. Si en algún momento necesitas cambiar una sesión, puedes hacerlo avisándome con al menos 24 horas de anticipación para que podamos reorganizarnos.
Si el cambio se pide con menos de 24 horas, esa sesión se considera utilizada, simplemente porque ese espacio ya quedó reservado para ti y generalmente no puedo reasignarlo con tan poco tiempo.
Y si un día llegas un poquito más tarde, no pasa nada: trabajamos con el tiempo que nos quede dentro del horario reservado.
Obviamente, si soy yo quien necesita mover una sesión, la reprogramamos sin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También quiero que sepas que durante AT WORK no estás sola entre una sesión y la siguiente.
Si te surge una duda, quieres compartir algo, necesitas feedback o simplemente quieres contarme una situación que pasó en tu trabajo, puedes hacerlo dentro de AT WORK Community, nuestra comunidad de WhatsApp.
La comunidad va a ser nuestro espacio principal de comunicación durante el programa. Ahí puedes compartir prácticas, hacer preguntas, pedirme feedback, contar un avance o algo que aprendiste durante la semana.
Si se trata de un tema administrativo o de algo que prefieres mantener en privado, ahí sí puedes escribirme directamente.
Y cuando una situación necesita más contexto, análisis o trabajo en profundidad, la llevamos a nuestra sesión 1:1 para poder trabajarla bien.
La idea es que tengas claro dónde llevar cada cosa para que el acompañamiento sea simple, cercano y ordenado durante todo el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Durante la semana, puedes dejarme tus dudas, prácticas o situaciones en la comunidad siempre que lo necesites.
Yo voy revisando y respondiendo estos mensajes de lunes a viernes, entre las 9 y las 18, horario de Buenos Aires.
Y si algo te surge fuera de ese horario o durante el fin de semana, puedes escribirlo igual con total tranquilidad. El mensaje queda ahí y yo lo retomo cuando vuelva a estar disponible.
La idea es que no tengas que guardarte una duda hasta nuestra próxima sesión ni depender de acordarte después, y que al mismo tiempo podamos sostener un acompañamiento cercano, claro y ordenado durante todo el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Dentro de AT WORK también vas a poder pedirme feedback entre sesiones.
Puede ser sobre una práctica, una respuesta que estés preparando, un mensaje que quieras comunicar con más claridad o algo puntual que quieras revisar.
Y si aparece una situación más grande —por ejemplo una presentación completa, una conversación compleja o algo que necesita bastante contexto— lo dejamos para nuestra sesión 1:1, porque ahí vamos a poder dedicarle el tiempo y la profundidad que merece.
Más adelante en este onboarding te voy a mostrar exactamente cómo pedir feedback para que puedas aprovechar ese espacio de la mejor manera.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de las cosas más importantes de AT WORK es que no vamos a trabajar con un inglés desconectado de tu vida profesional.
Quiero que puedas traer situaciones y materiales reales de tu trabajo: presentaciones, emails, transcripciones, capturas, documentos, reuniones o conversaciones que necesites resolver mejor.
Obviamente, si trabajas con información confidencial o sensible, puedes anonimizar nombres, cifras o cualquier dato interno antes de compartirlo.
No necesito conocer información privada de tu empresa. Lo que necesito es entender la situación comunicativa para poder ayudarte a entrenarla.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por último, quiero que tengas algo muy claro: no necesitas llegar sabiendo exactamente qué practicar ni diagnosticar sola qué te está pasando.
Para eso estoy yo.
Tú vas a traer tu realidad: las reuniones que tienes, las situaciones que te cuestan, lo que salió bien, lo que no salió como querías y las dudas que vayan apareciendo.
Y mi trabajo es ayudarte a entender qué está interfiriendo, elegir qué necesitamos entrenar y darte dirección, herramientas y feedback para que puedas seguir avanzando.
No espero semanas perfectas ni que hagas todo impecablemente. Quiero que podamos sostener un proceso real, constante y conectado con lo que necesitas en tu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esto ya sabes cómo vamos a acompañarnos durante estos cinco meses y qué espacios tienes disponibles dentro de AT WORK.
Ahora descarga el Acuerdo de Trabajo que está adjunto a esta clase, complétalo, fírmalo y súbelo a tu carpeta personal de AT WORK, dentro de 01 · MI CONTEXTO PROFESIONAL.
Y después sigue con la próxima clase, donde te voy a mostrar cómo se organiza todo el ecosistema AT WORK para que sepas exactamente dónde encontrar cada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F1E0D"/>
        </a:solidFill>
      </p:bgPr>
    </p:bg>
    <p:spTree>
      <p:nvGrpSpPr>
        <p:cNvPr id="1" name=""/>
        <p:cNvGrpSpPr/>
        <p:nvPr/>
      </p:nvGrpSpPr>
      <p:grpSpPr>
        <a:xfrm>
          <a:off x="0" y="0"/>
          <a:ext cx="0" cy="0"/>
          <a:chOff x="0" y="0"/>
          <a:chExt cx="0" cy="0"/>
        </a:xfrm>
      </p:grpSpPr>
      <p:sp>
        <p:nvSpPr>
          <p:cNvPr id="3" name="Shape 0"/>
          <p:cNvSpPr/>
          <p:nvPr/>
        </p:nvSpPr>
        <p:spPr>
          <a:xfrm>
            <a:off x="640080" y="685800"/>
            <a:ext cx="1874520" cy="384048"/>
          </a:xfrm>
          <a:prstGeom prst="roundRect">
            <a:avLst>
              <a:gd name="adj" fmla="val 50000"/>
            </a:avLst>
          </a:prstGeom>
          <a:solidFill>
            <a:srgbClr val="C68C6C"/>
          </a:solidFill>
          <a:ln w="12700">
            <a:solidFill>
              <a:srgbClr val="C68C6C"/>
            </a:solidFill>
            <a:prstDash val="solid"/>
          </a:ln>
        </p:spPr>
      </p:sp>
      <p:sp>
        <p:nvSpPr>
          <p:cNvPr id="4" name="Text 1"/>
          <p:cNvSpPr txBox="1"/>
          <p:nvPr/>
        </p:nvSpPr>
        <p:spPr>
          <a:xfrm>
            <a:off x="640080" y="685800"/>
            <a:ext cx="1874520" cy="384048"/>
          </a:xfrm>
          <a:prstGeom prst="rect">
            <a:avLst/>
          </a:prstGeom>
          <a:noFill/>
          <a:ln/>
        </p:spPr>
        <p:txBody>
          <a:bodyPr wrap="square" lIns="0" tIns="0" rIns="0" bIns="0" rtlCol="0" anchor="ctr"/>
          <a:lstStyle/>
          <a:p>
            <a:pPr algn="ctr" indent="0" marL="0">
              <a:buNone/>
            </a:pPr>
            <a:r>
              <a:rPr lang="en-US" sz="1100" b="1" spc="200" kern="0" dirty="0">
                <a:solidFill>
                  <a:srgbClr val="3F1E0D"/>
                </a:solidFill>
                <a:latin typeface="Open Sans" pitchFamily="34" charset="0"/>
                <a:ea typeface="Open Sans" pitchFamily="34" charset="-122"/>
                <a:cs typeface="Open Sans" pitchFamily="34" charset="-120"/>
              </a:rPr>
              <a:t>ONBOARDING · 02</a:t>
            </a:r>
            <a:endParaRPr lang="en-US" sz="1100" dirty="0"/>
          </a:p>
        </p:txBody>
      </p:sp>
      <p:sp>
        <p:nvSpPr>
          <p:cNvPr id="5" name="Text 2"/>
          <p:cNvSpPr txBox="1"/>
          <p:nvPr/>
        </p:nvSpPr>
        <p:spPr>
          <a:xfrm>
            <a:off x="640080" y="1325880"/>
            <a:ext cx="5760720" cy="1783080"/>
          </a:xfrm>
          <a:prstGeom prst="rect">
            <a:avLst/>
          </a:prstGeom>
          <a:noFill/>
          <a:ln/>
        </p:spPr>
        <p:txBody>
          <a:bodyPr wrap="square" lIns="0" tIns="0" rIns="0" bIns="0" rtlCol="0" anchor="t"/>
          <a:lstStyle/>
          <a:p>
            <a:pPr indent="0" marL="0">
              <a:lnSpc>
                <a:spcPct val="90000"/>
              </a:lnSpc>
              <a:buNone/>
            </a:pPr>
            <a:r>
              <a:rPr lang="en-US" sz="5000" b="1" dirty="0">
                <a:solidFill>
                  <a:srgbClr val="F8F5EE"/>
                </a:solidFill>
                <a:latin typeface="Source Serif Pro" pitchFamily="34" charset="0"/>
                <a:ea typeface="Source Serif Pro" pitchFamily="34" charset="-122"/>
                <a:cs typeface="Source Serif Pro" pitchFamily="34" charset="-120"/>
              </a:rPr>
              <a:t>Cómo vamos a trabajar juntas</a:t>
            </a:r>
            <a:endParaRPr lang="en-US" sz="5000" dirty="0"/>
          </a:p>
        </p:txBody>
      </p:sp>
      <p:sp>
        <p:nvSpPr>
          <p:cNvPr id="6" name="Text 3"/>
          <p:cNvSpPr txBox="1"/>
          <p:nvPr/>
        </p:nvSpPr>
        <p:spPr>
          <a:xfrm>
            <a:off x="640080" y="3063240"/>
            <a:ext cx="5486400" cy="731520"/>
          </a:xfrm>
          <a:prstGeom prst="rect">
            <a:avLst/>
          </a:prstGeom>
          <a:noFill/>
          <a:ln/>
        </p:spPr>
        <p:txBody>
          <a:bodyPr wrap="square" lIns="0" tIns="0" rIns="0" bIns="0" rtlCol="0" anchor="t"/>
          <a:lstStyle/>
          <a:p>
            <a:pPr indent="0" marL="0">
              <a:buNone/>
            </a:pPr>
            <a:r>
              <a:rPr lang="en-US" sz="1700" i="1" dirty="0">
                <a:solidFill>
                  <a:srgbClr val="EDE5CC"/>
                </a:solidFill>
                <a:latin typeface="Source Serif Pro" pitchFamily="34" charset="0"/>
                <a:ea typeface="Source Serif Pro" pitchFamily="34" charset="-122"/>
                <a:cs typeface="Source Serif Pro" pitchFamily="34" charset="-120"/>
              </a:rPr>
              <a:t>Para que puedas aprovechar al máximo todo el acompañamiento que vas a tener dentro de AT WORK</a:t>
            </a:r>
            <a:endParaRPr lang="en-US" sz="1700" dirty="0"/>
          </a:p>
        </p:txBody>
      </p:sp>
      <p:pic>
        <p:nvPicPr>
          <p:cNvPr id="7" name="Image 0" descr="preencoded.png">    </p:cNvPr>
          <p:cNvPicPr>
            <a:picLocks noChangeAspect="1"/>
          </p:cNvPicPr>
          <p:nvPr/>
        </p:nvPicPr>
        <p:blipFill>
          <a:blip r:embed="rId1"/>
          <a:stretch>
            <a:fillRect/>
          </a:stretch>
        </p:blipFill>
        <p:spPr>
          <a:xfrm>
            <a:off x="8732520" y="502920"/>
            <a:ext cx="2743200" cy="1252005"/>
          </a:xfrm>
          <a:prstGeom prst="rect">
            <a:avLst/>
          </a:prstGeom>
        </p:spPr>
      </p:pic>
      <p:sp>
        <p:nvSpPr>
          <p:cNvPr id="8" name="Text 4"/>
          <p:cNvSpPr txBox="1"/>
          <p:nvPr/>
        </p:nvSpPr>
        <p:spPr>
          <a:xfrm>
            <a:off x="7086600" y="2103120"/>
            <a:ext cx="4462272" cy="320040"/>
          </a:xfrm>
          <a:prstGeom prst="rect">
            <a:avLst/>
          </a:prstGeom>
          <a:noFill/>
          <a:ln/>
        </p:spPr>
        <p:txBody>
          <a:bodyPr wrap="square" lIns="0" tIns="0" rIns="0" bIns="0" rtlCol="0" anchor="ctr"/>
          <a:lstStyle/>
          <a:p>
            <a:pPr indent="0" marL="0">
              <a:buNone/>
            </a:pPr>
            <a:r>
              <a:rPr lang="en-US" sz="1100" b="1" spc="300" kern="0" dirty="0">
                <a:solidFill>
                  <a:srgbClr val="C68C6C"/>
                </a:solidFill>
                <a:latin typeface="Open Sans" pitchFamily="34" charset="0"/>
                <a:ea typeface="Open Sans" pitchFamily="34" charset="-122"/>
                <a:cs typeface="Open Sans" pitchFamily="34" charset="-120"/>
              </a:rPr>
              <a:t>EN ESTA CLASE VAS A SABER</a:t>
            </a:r>
            <a:endParaRPr lang="en-US" sz="1100" dirty="0"/>
          </a:p>
        </p:txBody>
      </p:sp>
      <p:sp>
        <p:nvSpPr>
          <p:cNvPr id="9" name="Shape 5"/>
          <p:cNvSpPr/>
          <p:nvPr/>
        </p:nvSpPr>
        <p:spPr>
          <a:xfrm>
            <a:off x="7086600" y="25603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0" name="Shape 6"/>
          <p:cNvSpPr/>
          <p:nvPr/>
        </p:nvSpPr>
        <p:spPr>
          <a:xfrm>
            <a:off x="7251192" y="2688336"/>
            <a:ext cx="493776" cy="493776"/>
          </a:xfrm>
          <a:prstGeom prst="ellipse">
            <a:avLst/>
          </a:prstGeom>
          <a:solidFill>
            <a:srgbClr val="C68C6C"/>
          </a:solidFill>
          <a:ln w="12700">
            <a:solidFill>
              <a:srgbClr val="C68C6C"/>
            </a:solidFill>
            <a:prstDash val="solid"/>
          </a:ln>
        </p:spPr>
      </p:sp>
      <p:pic>
        <p:nvPicPr>
          <p:cNvPr id="11" name="Image 1" descr="preencoded.png">    </p:cNvPr>
          <p:cNvPicPr>
            <a:picLocks noChangeAspect="1"/>
          </p:cNvPicPr>
          <p:nvPr/>
        </p:nvPicPr>
        <p:blipFill>
          <a:blip r:embed="rId2"/>
          <a:stretch>
            <a:fillRect/>
          </a:stretch>
        </p:blipFill>
        <p:spPr>
          <a:xfrm>
            <a:off x="7384512" y="2821656"/>
            <a:ext cx="227137" cy="227137"/>
          </a:xfrm>
          <a:prstGeom prst="rect">
            <a:avLst/>
          </a:prstGeom>
        </p:spPr>
      </p:pic>
      <p:sp>
        <p:nvSpPr>
          <p:cNvPr id="12" name="Text 7"/>
          <p:cNvSpPr txBox="1"/>
          <p:nvPr/>
        </p:nvSpPr>
        <p:spPr>
          <a:xfrm>
            <a:off x="7909560" y="2560320"/>
            <a:ext cx="3547872" cy="749808"/>
          </a:xfrm>
          <a:prstGeom prst="rect">
            <a:avLst/>
          </a:prstGeom>
          <a:noFill/>
          <a:ln/>
        </p:spPr>
        <p:txBody>
          <a:bodyPr wrap="square" lIns="0" tIns="0" rIns="0" bIns="0" rtlCol="0" anchor="ctr"/>
          <a:lstStyle/>
          <a:p>
            <a:pPr indent="0" marL="0">
              <a:buNone/>
            </a:pPr>
            <a:r>
              <a:rPr lang="en-US" sz="1550" dirty="0">
                <a:solidFill>
                  <a:srgbClr val="F8F5EE"/>
                </a:solidFill>
                <a:latin typeface="Open Sans" pitchFamily="34" charset="0"/>
                <a:ea typeface="Open Sans" pitchFamily="34" charset="-122"/>
                <a:cs typeface="Open Sans" pitchFamily="34" charset="-120"/>
              </a:rPr>
              <a:t>Qué espacios tienes disponibles</a:t>
            </a:r>
            <a:endParaRPr lang="en-US" sz="1550" dirty="0"/>
          </a:p>
        </p:txBody>
      </p:sp>
      <p:sp>
        <p:nvSpPr>
          <p:cNvPr id="13" name="Shape 8"/>
          <p:cNvSpPr/>
          <p:nvPr/>
        </p:nvSpPr>
        <p:spPr>
          <a:xfrm>
            <a:off x="7086600" y="34747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4" name="Shape 9"/>
          <p:cNvSpPr/>
          <p:nvPr/>
        </p:nvSpPr>
        <p:spPr>
          <a:xfrm>
            <a:off x="7251192" y="3602736"/>
            <a:ext cx="493776" cy="493776"/>
          </a:xfrm>
          <a:prstGeom prst="ellipse">
            <a:avLst/>
          </a:prstGeom>
          <a:solidFill>
            <a:srgbClr val="C68C6C"/>
          </a:solidFill>
          <a:ln w="12700">
            <a:solidFill>
              <a:srgbClr val="C68C6C"/>
            </a:solidFill>
            <a:prstDash val="solid"/>
          </a:ln>
        </p:spPr>
      </p:sp>
      <p:pic>
        <p:nvPicPr>
          <p:cNvPr id="15" name="Image 2" descr="preencoded.png">    </p:cNvPr>
          <p:cNvPicPr>
            <a:picLocks noChangeAspect="1"/>
          </p:cNvPicPr>
          <p:nvPr/>
        </p:nvPicPr>
        <p:blipFill>
          <a:blip r:embed="rId3"/>
          <a:stretch>
            <a:fillRect/>
          </a:stretch>
        </p:blipFill>
        <p:spPr>
          <a:xfrm>
            <a:off x="7384512" y="3736056"/>
            <a:ext cx="227137" cy="227137"/>
          </a:xfrm>
          <a:prstGeom prst="rect">
            <a:avLst/>
          </a:prstGeom>
        </p:spPr>
      </p:pic>
      <p:sp>
        <p:nvSpPr>
          <p:cNvPr id="16" name="Text 10"/>
          <p:cNvSpPr txBox="1"/>
          <p:nvPr/>
        </p:nvSpPr>
        <p:spPr>
          <a:xfrm>
            <a:off x="7909560" y="3474720"/>
            <a:ext cx="3547872" cy="749808"/>
          </a:xfrm>
          <a:prstGeom prst="rect">
            <a:avLst/>
          </a:prstGeom>
          <a:noFill/>
          <a:ln/>
        </p:spPr>
        <p:txBody>
          <a:bodyPr wrap="square" lIns="0" tIns="0" rIns="0" bIns="0" rtlCol="0" anchor="ctr"/>
          <a:lstStyle/>
          <a:p>
            <a:pPr indent="0" marL="0">
              <a:buNone/>
            </a:pPr>
            <a:r>
              <a:rPr lang="en-US" sz="1550" dirty="0">
                <a:solidFill>
                  <a:srgbClr val="F8F5EE"/>
                </a:solidFill>
                <a:latin typeface="Open Sans" pitchFamily="34" charset="0"/>
                <a:ea typeface="Open Sans" pitchFamily="34" charset="-122"/>
                <a:cs typeface="Open Sans" pitchFamily="34" charset="-120"/>
              </a:rPr>
              <a:t>Cómo puedes pedirme ayuda</a:t>
            </a:r>
            <a:endParaRPr lang="en-US" sz="1550" dirty="0"/>
          </a:p>
        </p:txBody>
      </p:sp>
      <p:sp>
        <p:nvSpPr>
          <p:cNvPr id="17" name="Shape 11"/>
          <p:cNvSpPr/>
          <p:nvPr/>
        </p:nvSpPr>
        <p:spPr>
          <a:xfrm>
            <a:off x="7086600" y="43891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8" name="Shape 12"/>
          <p:cNvSpPr/>
          <p:nvPr/>
        </p:nvSpPr>
        <p:spPr>
          <a:xfrm>
            <a:off x="7251192" y="4517136"/>
            <a:ext cx="493776" cy="493776"/>
          </a:xfrm>
          <a:prstGeom prst="ellipse">
            <a:avLst/>
          </a:prstGeom>
          <a:solidFill>
            <a:srgbClr val="C68C6C"/>
          </a:solidFill>
          <a:ln w="12700">
            <a:solidFill>
              <a:srgbClr val="C68C6C"/>
            </a:solidFill>
            <a:prstDash val="solid"/>
          </a:ln>
        </p:spPr>
      </p:sp>
      <p:pic>
        <p:nvPicPr>
          <p:cNvPr id="19" name="Image 3" descr="preencoded.png">    </p:cNvPr>
          <p:cNvPicPr>
            <a:picLocks noChangeAspect="1"/>
          </p:cNvPicPr>
          <p:nvPr/>
        </p:nvPicPr>
        <p:blipFill>
          <a:blip r:embed="rId4"/>
          <a:stretch>
            <a:fillRect/>
          </a:stretch>
        </p:blipFill>
        <p:spPr>
          <a:xfrm>
            <a:off x="7384512" y="4650456"/>
            <a:ext cx="227137" cy="227137"/>
          </a:xfrm>
          <a:prstGeom prst="rect">
            <a:avLst/>
          </a:prstGeom>
        </p:spPr>
      </p:pic>
      <p:sp>
        <p:nvSpPr>
          <p:cNvPr id="20" name="Text 13"/>
          <p:cNvSpPr txBox="1"/>
          <p:nvPr/>
        </p:nvSpPr>
        <p:spPr>
          <a:xfrm>
            <a:off x="7909560" y="4389120"/>
            <a:ext cx="3547872" cy="749808"/>
          </a:xfrm>
          <a:prstGeom prst="rect">
            <a:avLst/>
          </a:prstGeom>
          <a:noFill/>
          <a:ln/>
        </p:spPr>
        <p:txBody>
          <a:bodyPr wrap="square" lIns="0" tIns="0" rIns="0" bIns="0" rtlCol="0" anchor="ctr"/>
          <a:lstStyle/>
          <a:p>
            <a:pPr indent="0" marL="0">
              <a:buNone/>
            </a:pPr>
            <a:r>
              <a:rPr lang="en-US" sz="1550" dirty="0">
                <a:solidFill>
                  <a:srgbClr val="F8F5EE"/>
                </a:solidFill>
                <a:latin typeface="Open Sans" pitchFamily="34" charset="0"/>
                <a:ea typeface="Open Sans" pitchFamily="34" charset="-122"/>
                <a:cs typeface="Open Sans" pitchFamily="34" charset="-120"/>
              </a:rPr>
              <a:t>Cómo funcionan nuestras sesiones</a:t>
            </a:r>
            <a:endParaRPr lang="en-US" sz="1550" dirty="0"/>
          </a:p>
        </p:txBody>
      </p:sp>
      <p:sp>
        <p:nvSpPr>
          <p:cNvPr id="21" name="Shape 14"/>
          <p:cNvSpPr/>
          <p:nvPr/>
        </p:nvSpPr>
        <p:spPr>
          <a:xfrm>
            <a:off x="7086600" y="53035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22" name="Shape 15"/>
          <p:cNvSpPr/>
          <p:nvPr/>
        </p:nvSpPr>
        <p:spPr>
          <a:xfrm>
            <a:off x="7251192" y="5431536"/>
            <a:ext cx="493776" cy="493776"/>
          </a:xfrm>
          <a:prstGeom prst="ellipse">
            <a:avLst/>
          </a:prstGeom>
          <a:solidFill>
            <a:srgbClr val="C68C6C"/>
          </a:solidFill>
          <a:ln w="12700">
            <a:solidFill>
              <a:srgbClr val="C68C6C"/>
            </a:solidFill>
            <a:prstDash val="solid"/>
          </a:ln>
        </p:spPr>
      </p:sp>
      <p:pic>
        <p:nvPicPr>
          <p:cNvPr id="23" name="Image 4" descr="preencoded.png">    </p:cNvPr>
          <p:cNvPicPr>
            <a:picLocks noChangeAspect="1"/>
          </p:cNvPicPr>
          <p:nvPr/>
        </p:nvPicPr>
        <p:blipFill>
          <a:blip r:embed="rId5"/>
          <a:stretch>
            <a:fillRect/>
          </a:stretch>
        </p:blipFill>
        <p:spPr>
          <a:xfrm>
            <a:off x="7384512" y="5564856"/>
            <a:ext cx="227137" cy="227137"/>
          </a:xfrm>
          <a:prstGeom prst="rect">
            <a:avLst/>
          </a:prstGeom>
        </p:spPr>
      </p:pic>
      <p:sp>
        <p:nvSpPr>
          <p:cNvPr id="24" name="Text 16"/>
          <p:cNvSpPr txBox="1"/>
          <p:nvPr/>
        </p:nvSpPr>
        <p:spPr>
          <a:xfrm>
            <a:off x="7909560" y="5303520"/>
            <a:ext cx="3547872" cy="749808"/>
          </a:xfrm>
          <a:prstGeom prst="rect">
            <a:avLst/>
          </a:prstGeom>
          <a:noFill/>
          <a:ln/>
        </p:spPr>
        <p:txBody>
          <a:bodyPr wrap="square" lIns="0" tIns="0" rIns="0" bIns="0" rtlCol="0" anchor="ctr"/>
          <a:lstStyle/>
          <a:p>
            <a:pPr indent="0" marL="0">
              <a:buNone/>
            </a:pPr>
            <a:r>
              <a:rPr lang="en-US" sz="1550" dirty="0">
                <a:solidFill>
                  <a:srgbClr val="F8F5EE"/>
                </a:solidFill>
                <a:latin typeface="Open Sans" pitchFamily="34" charset="0"/>
                <a:ea typeface="Open Sans" pitchFamily="34" charset="-122"/>
                <a:cs typeface="Open Sans" pitchFamily="34" charset="-120"/>
              </a:rPr>
              <a:t>Dónde vamos a trabajar cada cosa</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02 / 09</a:t>
            </a:r>
            <a:endParaRPr lang="en-US" sz="1100" dirty="0"/>
          </a:p>
        </p:txBody>
      </p:sp>
      <p:sp>
        <p:nvSpPr>
          <p:cNvPr id="5" name="Text 1"/>
          <p:cNvSpPr txBox="1"/>
          <p:nvPr/>
        </p:nvSpPr>
        <p:spPr>
          <a:xfrm>
            <a:off x="640080" y="1280160"/>
            <a:ext cx="3429000" cy="1783080"/>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Tu Acuerdo de Trabajo</a:t>
            </a:r>
            <a:endParaRPr lang="en-US" sz="3400" dirty="0"/>
          </a:p>
        </p:txBody>
      </p:sp>
      <p:sp>
        <p:nvSpPr>
          <p:cNvPr id="6" name="Text 2"/>
          <p:cNvSpPr txBox="1"/>
          <p:nvPr/>
        </p:nvSpPr>
        <p:spPr>
          <a:xfrm>
            <a:off x="640080" y="2596896"/>
            <a:ext cx="3291840" cy="73152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Un documento simple para que las dos tengamos toda la información clara desde el comienzo</a:t>
            </a:r>
            <a:endParaRPr lang="en-US" sz="1600" dirty="0"/>
          </a:p>
        </p:txBody>
      </p:sp>
      <p:sp>
        <p:nvSpPr>
          <p:cNvPr id="7" name="Shape 3"/>
          <p:cNvSpPr/>
          <p:nvPr/>
        </p:nvSpPr>
        <p:spPr>
          <a:xfrm>
            <a:off x="4389120" y="1280160"/>
            <a:ext cx="7159752" cy="1051560"/>
          </a:xfrm>
          <a:prstGeom prst="roundRect">
            <a:avLst>
              <a:gd name="adj" fmla="val 13913"/>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663440" y="1531620"/>
            <a:ext cx="548640" cy="548640"/>
          </a:xfrm>
          <a:prstGeom prst="ellipse">
            <a:avLst/>
          </a:prstGeom>
          <a:solidFill>
            <a:srgbClr val="C68C6C"/>
          </a:solidFill>
          <a:ln w="12700">
            <a:solidFill>
              <a:srgbClr val="C68C6C"/>
            </a:solidFill>
            <a:prstDash val="solid"/>
          </a:ln>
        </p:spPr>
      </p:sp>
      <p:sp>
        <p:nvSpPr>
          <p:cNvPr id="9" name="Text 5"/>
          <p:cNvSpPr txBox="1"/>
          <p:nvPr/>
        </p:nvSpPr>
        <p:spPr>
          <a:xfrm>
            <a:off x="4663440" y="1531620"/>
            <a:ext cx="548640" cy="548640"/>
          </a:xfrm>
          <a:prstGeom prst="rect">
            <a:avLst/>
          </a:prstGeom>
          <a:noFill/>
          <a:ln/>
        </p:spPr>
        <p:txBody>
          <a:bodyPr wrap="square" lIns="0" tIns="0" rIns="0" bIns="0" rtlCol="0" anchor="ctr"/>
          <a:lstStyle/>
          <a:p>
            <a:pPr algn="ctr" indent="0" marL="0">
              <a:buNone/>
            </a:pPr>
            <a:r>
              <a:rPr lang="en-US" sz="1800" b="1" dirty="0">
                <a:solidFill>
                  <a:srgbClr val="FFFDF9"/>
                </a:solidFill>
                <a:latin typeface="Source Serif Pro" pitchFamily="34" charset="0"/>
                <a:ea typeface="Source Serif Pro" pitchFamily="34" charset="-122"/>
                <a:cs typeface="Source Serif Pro" pitchFamily="34" charset="-120"/>
              </a:rPr>
              <a:t>1</a:t>
            </a:r>
            <a:endParaRPr lang="en-US" sz="1800" dirty="0"/>
          </a:p>
        </p:txBody>
      </p:sp>
      <p:sp>
        <p:nvSpPr>
          <p:cNvPr id="10" name="Text 6"/>
          <p:cNvSpPr txBox="1"/>
          <p:nvPr/>
        </p:nvSpPr>
        <p:spPr>
          <a:xfrm>
            <a:off x="5440680" y="1280160"/>
            <a:ext cx="5239512" cy="1051560"/>
          </a:xfrm>
          <a:prstGeom prst="rect">
            <a:avLst/>
          </a:prstGeom>
          <a:noFill/>
          <a:ln/>
        </p:spPr>
        <p:txBody>
          <a:bodyPr wrap="square" lIns="0" tIns="0" rIns="0" bIns="0" rtlCol="0" anchor="ctr"/>
          <a:lstStyle/>
          <a:p>
            <a:pPr indent="0" marL="0">
              <a:buNone/>
            </a:pPr>
            <a:r>
              <a:rPr lang="en-US" sz="1800" dirty="0">
                <a:solidFill>
                  <a:srgbClr val="3F1E0D"/>
                </a:solidFill>
                <a:latin typeface="Open Sans" pitchFamily="34" charset="0"/>
                <a:ea typeface="Open Sans" pitchFamily="34" charset="-122"/>
                <a:cs typeface="Open Sans" pitchFamily="34" charset="-120"/>
              </a:rPr>
              <a:t>Descárgalo</a:t>
            </a:r>
            <a:pPr indent="0" marL="0">
              <a:buNone/>
            </a:pPr>
            <a:r>
              <a:rPr lang="en-US" sz="1500" dirty="0">
                <a:solidFill>
                  <a:srgbClr val="8A6A55"/>
                </a:solidFill>
                <a:latin typeface="Open Sans" pitchFamily="34" charset="0"/>
                <a:ea typeface="Open Sans" pitchFamily="34" charset="-122"/>
                <a:cs typeface="Open Sans" pitchFamily="34" charset="-120"/>
              </a:rPr>
              <a:t>  ·  está dentro de esta clase</a:t>
            </a:r>
            <a:endParaRPr lang="en-US" sz="1800" dirty="0"/>
          </a:p>
        </p:txBody>
      </p:sp>
      <p:pic>
        <p:nvPicPr>
          <p:cNvPr id="11" name="Image 1" descr="preencoded.png">    </p:cNvPr>
          <p:cNvPicPr>
            <a:picLocks noChangeAspect="1"/>
          </p:cNvPicPr>
          <p:nvPr/>
        </p:nvPicPr>
        <p:blipFill>
          <a:blip r:embed="rId2"/>
          <a:stretch>
            <a:fillRect/>
          </a:stretch>
        </p:blipFill>
        <p:spPr>
          <a:xfrm>
            <a:off x="10817352" y="1600200"/>
            <a:ext cx="411480" cy="411480"/>
          </a:xfrm>
          <a:prstGeom prst="rect">
            <a:avLst/>
          </a:prstGeom>
        </p:spPr>
      </p:pic>
      <p:sp>
        <p:nvSpPr>
          <p:cNvPr id="12" name="Shape 7"/>
          <p:cNvSpPr/>
          <p:nvPr/>
        </p:nvSpPr>
        <p:spPr>
          <a:xfrm>
            <a:off x="4389120" y="2532888"/>
            <a:ext cx="7159752" cy="1051560"/>
          </a:xfrm>
          <a:prstGeom prst="roundRect">
            <a:avLst>
              <a:gd name="adj" fmla="val 13913"/>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8"/>
          <p:cNvSpPr/>
          <p:nvPr/>
        </p:nvSpPr>
        <p:spPr>
          <a:xfrm>
            <a:off x="4663440" y="2784348"/>
            <a:ext cx="548640" cy="548640"/>
          </a:xfrm>
          <a:prstGeom prst="ellipse">
            <a:avLst/>
          </a:prstGeom>
          <a:solidFill>
            <a:srgbClr val="C68C6C"/>
          </a:solidFill>
          <a:ln w="12700">
            <a:solidFill>
              <a:srgbClr val="C68C6C"/>
            </a:solidFill>
            <a:prstDash val="solid"/>
          </a:ln>
        </p:spPr>
      </p:sp>
      <p:sp>
        <p:nvSpPr>
          <p:cNvPr id="14" name="Text 9"/>
          <p:cNvSpPr txBox="1"/>
          <p:nvPr/>
        </p:nvSpPr>
        <p:spPr>
          <a:xfrm>
            <a:off x="4663440" y="2784348"/>
            <a:ext cx="548640" cy="548640"/>
          </a:xfrm>
          <a:prstGeom prst="rect">
            <a:avLst/>
          </a:prstGeom>
          <a:noFill/>
          <a:ln/>
        </p:spPr>
        <p:txBody>
          <a:bodyPr wrap="square" lIns="0" tIns="0" rIns="0" bIns="0" rtlCol="0" anchor="ctr"/>
          <a:lstStyle/>
          <a:p>
            <a:pPr algn="ctr" indent="0" marL="0">
              <a:buNone/>
            </a:pPr>
            <a:r>
              <a:rPr lang="en-US" sz="1800" b="1" dirty="0">
                <a:solidFill>
                  <a:srgbClr val="FFFDF9"/>
                </a:solidFill>
                <a:latin typeface="Source Serif Pro" pitchFamily="34" charset="0"/>
                <a:ea typeface="Source Serif Pro" pitchFamily="34" charset="-122"/>
                <a:cs typeface="Source Serif Pro" pitchFamily="34" charset="-120"/>
              </a:rPr>
              <a:t>2</a:t>
            </a:r>
            <a:endParaRPr lang="en-US" sz="1800" dirty="0"/>
          </a:p>
        </p:txBody>
      </p:sp>
      <p:sp>
        <p:nvSpPr>
          <p:cNvPr id="15" name="Text 10"/>
          <p:cNvSpPr txBox="1"/>
          <p:nvPr/>
        </p:nvSpPr>
        <p:spPr>
          <a:xfrm>
            <a:off x="5440680" y="2532888"/>
            <a:ext cx="5239512" cy="1051560"/>
          </a:xfrm>
          <a:prstGeom prst="rect">
            <a:avLst/>
          </a:prstGeom>
          <a:noFill/>
          <a:ln/>
        </p:spPr>
        <p:txBody>
          <a:bodyPr wrap="square" lIns="0" tIns="0" rIns="0" bIns="0" rtlCol="0" anchor="ctr"/>
          <a:lstStyle/>
          <a:p>
            <a:pPr indent="0" marL="0">
              <a:buNone/>
            </a:pPr>
            <a:r>
              <a:rPr lang="en-US" sz="1800" dirty="0">
                <a:solidFill>
                  <a:srgbClr val="3F1E0D"/>
                </a:solidFill>
                <a:latin typeface="Open Sans" pitchFamily="34" charset="0"/>
                <a:ea typeface="Open Sans" pitchFamily="34" charset="-122"/>
                <a:cs typeface="Open Sans" pitchFamily="34" charset="-120"/>
              </a:rPr>
              <a:t>Complétalo y fírmalo</a:t>
            </a:r>
            <a:endParaRPr lang="en-US" sz="1800" dirty="0"/>
          </a:p>
        </p:txBody>
      </p:sp>
      <p:pic>
        <p:nvPicPr>
          <p:cNvPr id="16" name="Image 2" descr="preencoded.png">    </p:cNvPr>
          <p:cNvPicPr>
            <a:picLocks noChangeAspect="1"/>
          </p:cNvPicPr>
          <p:nvPr/>
        </p:nvPicPr>
        <p:blipFill>
          <a:blip r:embed="rId3"/>
          <a:stretch>
            <a:fillRect/>
          </a:stretch>
        </p:blipFill>
        <p:spPr>
          <a:xfrm>
            <a:off x="10817352" y="2852928"/>
            <a:ext cx="411480" cy="411480"/>
          </a:xfrm>
          <a:prstGeom prst="rect">
            <a:avLst/>
          </a:prstGeom>
        </p:spPr>
      </p:pic>
      <p:sp>
        <p:nvSpPr>
          <p:cNvPr id="17" name="Shape 11"/>
          <p:cNvSpPr/>
          <p:nvPr/>
        </p:nvSpPr>
        <p:spPr>
          <a:xfrm>
            <a:off x="4389120" y="3785616"/>
            <a:ext cx="7159752" cy="1051560"/>
          </a:xfrm>
          <a:prstGeom prst="roundRect">
            <a:avLst>
              <a:gd name="adj" fmla="val 13913"/>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8" name="Shape 12"/>
          <p:cNvSpPr/>
          <p:nvPr/>
        </p:nvSpPr>
        <p:spPr>
          <a:xfrm>
            <a:off x="4663440" y="4037076"/>
            <a:ext cx="548640" cy="548640"/>
          </a:xfrm>
          <a:prstGeom prst="ellipse">
            <a:avLst/>
          </a:prstGeom>
          <a:solidFill>
            <a:srgbClr val="C68C6C"/>
          </a:solidFill>
          <a:ln w="12700">
            <a:solidFill>
              <a:srgbClr val="C68C6C"/>
            </a:solidFill>
            <a:prstDash val="solid"/>
          </a:ln>
        </p:spPr>
      </p:sp>
      <p:sp>
        <p:nvSpPr>
          <p:cNvPr id="19" name="Text 13"/>
          <p:cNvSpPr txBox="1"/>
          <p:nvPr/>
        </p:nvSpPr>
        <p:spPr>
          <a:xfrm>
            <a:off x="4663440" y="4037076"/>
            <a:ext cx="548640" cy="548640"/>
          </a:xfrm>
          <a:prstGeom prst="rect">
            <a:avLst/>
          </a:prstGeom>
          <a:noFill/>
          <a:ln/>
        </p:spPr>
        <p:txBody>
          <a:bodyPr wrap="square" lIns="0" tIns="0" rIns="0" bIns="0" rtlCol="0" anchor="ctr"/>
          <a:lstStyle/>
          <a:p>
            <a:pPr algn="ctr" indent="0" marL="0">
              <a:buNone/>
            </a:pPr>
            <a:r>
              <a:rPr lang="en-US" sz="1800" b="1" dirty="0">
                <a:solidFill>
                  <a:srgbClr val="FFFDF9"/>
                </a:solidFill>
                <a:latin typeface="Source Serif Pro" pitchFamily="34" charset="0"/>
                <a:ea typeface="Source Serif Pro" pitchFamily="34" charset="-122"/>
                <a:cs typeface="Source Serif Pro" pitchFamily="34" charset="-120"/>
              </a:rPr>
              <a:t>3</a:t>
            </a:r>
            <a:endParaRPr lang="en-US" sz="1800" dirty="0"/>
          </a:p>
        </p:txBody>
      </p:sp>
      <p:sp>
        <p:nvSpPr>
          <p:cNvPr id="20" name="Text 14"/>
          <p:cNvSpPr txBox="1"/>
          <p:nvPr/>
        </p:nvSpPr>
        <p:spPr>
          <a:xfrm>
            <a:off x="5440680" y="3785616"/>
            <a:ext cx="5239512" cy="1051560"/>
          </a:xfrm>
          <a:prstGeom prst="rect">
            <a:avLst/>
          </a:prstGeom>
          <a:noFill/>
          <a:ln/>
        </p:spPr>
        <p:txBody>
          <a:bodyPr wrap="square" lIns="0" tIns="0" rIns="0" bIns="0" rtlCol="0" anchor="ctr"/>
          <a:lstStyle/>
          <a:p>
            <a:pPr indent="0" marL="0">
              <a:buNone/>
            </a:pPr>
            <a:r>
              <a:rPr lang="en-US" sz="1800" dirty="0">
                <a:solidFill>
                  <a:srgbClr val="3F1E0D"/>
                </a:solidFill>
                <a:latin typeface="Open Sans" pitchFamily="34" charset="0"/>
                <a:ea typeface="Open Sans" pitchFamily="34" charset="-122"/>
                <a:cs typeface="Open Sans" pitchFamily="34" charset="-120"/>
              </a:rPr>
              <a:t>Súbelo a tu carpeta personal de AT WORK, dentro de </a:t>
            </a:r>
            <a:pPr indent="0" marL="0">
              <a:buNone/>
            </a:pPr>
            <a:r>
              <a:rPr lang="en-US" sz="1800" b="1" dirty="0">
                <a:solidFill>
                  <a:srgbClr val="81552E"/>
                </a:solidFill>
                <a:latin typeface="Open Sans" pitchFamily="34" charset="0"/>
                <a:ea typeface="Open Sans" pitchFamily="34" charset="-122"/>
                <a:cs typeface="Open Sans" pitchFamily="34" charset="-120"/>
              </a:rPr>
              <a:t>01 · MI CONTEXTO PROFESIONAL</a:t>
            </a:r>
            <a:endParaRPr lang="en-US" sz="1800" dirty="0"/>
          </a:p>
        </p:txBody>
      </p:sp>
      <p:pic>
        <p:nvPicPr>
          <p:cNvPr id="21" name="Image 3" descr="preencoded.png">    </p:cNvPr>
          <p:cNvPicPr>
            <a:picLocks noChangeAspect="1"/>
          </p:cNvPicPr>
          <p:nvPr/>
        </p:nvPicPr>
        <p:blipFill>
          <a:blip r:embed="rId4"/>
          <a:stretch>
            <a:fillRect/>
          </a:stretch>
        </p:blipFill>
        <p:spPr>
          <a:xfrm>
            <a:off x="10817352" y="4105656"/>
            <a:ext cx="411480" cy="411480"/>
          </a:xfrm>
          <a:prstGeom prst="rect">
            <a:avLst/>
          </a:prstGeom>
        </p:spPr>
      </p:pic>
      <p:sp>
        <p:nvSpPr>
          <p:cNvPr id="22" name="Shape 15"/>
          <p:cNvSpPr/>
          <p:nvPr/>
        </p:nvSpPr>
        <p:spPr>
          <a:xfrm>
            <a:off x="4389120" y="5129784"/>
            <a:ext cx="7159752" cy="1097280"/>
          </a:xfrm>
          <a:prstGeom prst="roundRect">
            <a:avLst>
              <a:gd name="adj" fmla="val 13333"/>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3" name="Shape 16"/>
          <p:cNvSpPr/>
          <p:nvPr/>
        </p:nvSpPr>
        <p:spPr>
          <a:xfrm>
            <a:off x="4754880" y="5289804"/>
            <a:ext cx="777240" cy="777240"/>
          </a:xfrm>
          <a:prstGeom prst="ellipse">
            <a:avLst/>
          </a:prstGeom>
          <a:solidFill>
            <a:srgbClr val="C68C6C"/>
          </a:solidFill>
          <a:ln w="12700">
            <a:solidFill>
              <a:srgbClr val="C68C6C"/>
            </a:solidFill>
            <a:prstDash val="solid"/>
          </a:ln>
        </p:spPr>
      </p:sp>
      <p:pic>
        <p:nvPicPr>
          <p:cNvPr id="24" name="Image 4" descr="preencoded.png">    </p:cNvPr>
          <p:cNvPicPr>
            <a:picLocks noChangeAspect="1"/>
          </p:cNvPicPr>
          <p:nvPr/>
        </p:nvPicPr>
        <p:blipFill>
          <a:blip r:embed="rId5"/>
          <a:stretch>
            <a:fillRect/>
          </a:stretch>
        </p:blipFill>
        <p:spPr>
          <a:xfrm>
            <a:off x="4964735" y="5499659"/>
            <a:ext cx="357530" cy="357530"/>
          </a:xfrm>
          <a:prstGeom prst="rect">
            <a:avLst/>
          </a:prstGeom>
        </p:spPr>
      </p:pic>
      <p:sp>
        <p:nvSpPr>
          <p:cNvPr id="25" name="Text 17"/>
          <p:cNvSpPr txBox="1"/>
          <p:nvPr/>
        </p:nvSpPr>
        <p:spPr>
          <a:xfrm>
            <a:off x="5806440" y="5129784"/>
            <a:ext cx="5422392" cy="1097280"/>
          </a:xfrm>
          <a:prstGeom prst="rect">
            <a:avLst/>
          </a:prstGeom>
          <a:noFill/>
          <a:ln/>
        </p:spPr>
        <p:txBody>
          <a:bodyPr wrap="square" lIns="0" tIns="0" rIns="0" bIns="0" rtlCol="0" anchor="ctr"/>
          <a:lstStyle/>
          <a:p>
            <a:pPr indent="0" marL="0">
              <a:spcAft>
                <a:spcPts val="500"/>
              </a:spcAft>
              <a:buNone/>
            </a:pPr>
            <a:r>
              <a:rPr lang="en-US" sz="1500" dirty="0">
                <a:solidFill>
                  <a:srgbClr val="81552E"/>
                </a:solidFill>
                <a:latin typeface="Open Sans" pitchFamily="34" charset="0"/>
                <a:ea typeface="Open Sans" pitchFamily="34" charset="-122"/>
                <a:cs typeface="Open Sans" pitchFamily="34" charset="-120"/>
              </a:rPr>
              <a:t>Así queda guardado junto con toda la información de inicio de tu proceso.</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03 / 09</a:t>
            </a:r>
            <a:endParaRPr lang="en-US" sz="1100" dirty="0"/>
          </a:p>
        </p:txBody>
      </p:sp>
      <p:sp>
        <p:nvSpPr>
          <p:cNvPr id="5" name="Text 1"/>
          <p:cNvSpPr txBox="1"/>
          <p:nvPr/>
        </p:nvSpPr>
        <p:spPr>
          <a:xfrm>
            <a:off x="640080" y="1280160"/>
            <a:ext cx="3429000" cy="1783080"/>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Nuestras sesiones 1:1</a:t>
            </a:r>
            <a:endParaRPr lang="en-US" sz="3400" dirty="0"/>
          </a:p>
        </p:txBody>
      </p:sp>
      <p:sp>
        <p:nvSpPr>
          <p:cNvPr id="6" name="Text 2"/>
          <p:cNvSpPr txBox="1"/>
          <p:nvPr/>
        </p:nvSpPr>
        <p:spPr>
          <a:xfrm>
            <a:off x="640080" y="2596896"/>
            <a:ext cx="3291840" cy="73152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El espacio para trabajar con más profundidad sobre tu inglés y tu trabajo real</a:t>
            </a:r>
            <a:endParaRPr lang="en-US" sz="1600" dirty="0"/>
          </a:p>
        </p:txBody>
      </p:sp>
      <p:sp>
        <p:nvSpPr>
          <p:cNvPr id="7" name="Shape 3"/>
          <p:cNvSpPr/>
          <p:nvPr/>
        </p:nvSpPr>
        <p:spPr>
          <a:xfrm>
            <a:off x="4389120" y="1280160"/>
            <a:ext cx="3442716" cy="2331720"/>
          </a:xfrm>
          <a:prstGeom prst="roundRect">
            <a:avLst>
              <a:gd name="adj" fmla="val 6275"/>
            </a:avLst>
          </a:prstGeom>
          <a:solidFill>
            <a:srgbClr val="81552E"/>
          </a:solidFill>
          <a:ln w="12700">
            <a:solidFill>
              <a:srgbClr val="81552E"/>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709160" y="1572768"/>
            <a:ext cx="640080" cy="640080"/>
          </a:xfrm>
          <a:prstGeom prst="ellipse">
            <a:avLst/>
          </a:prstGeom>
          <a:solidFill>
            <a:srgbClr val="C68C6C"/>
          </a:solidFill>
          <a:ln w="12700">
            <a:solidFill>
              <a:srgbClr val="C68C6C"/>
            </a:solidFill>
            <a:prstDash val="solid"/>
          </a:ln>
        </p:spPr>
      </p:sp>
      <p:pic>
        <p:nvPicPr>
          <p:cNvPr id="9" name="Image 1" descr="preencoded.png">    </p:cNvPr>
          <p:cNvPicPr>
            <a:picLocks noChangeAspect="1"/>
          </p:cNvPicPr>
          <p:nvPr/>
        </p:nvPicPr>
        <p:blipFill>
          <a:blip r:embed="rId2"/>
          <a:stretch>
            <a:fillRect/>
          </a:stretch>
        </p:blipFill>
        <p:spPr>
          <a:xfrm>
            <a:off x="4881982" y="1745590"/>
            <a:ext cx="294437" cy="294437"/>
          </a:xfrm>
          <a:prstGeom prst="rect">
            <a:avLst/>
          </a:prstGeom>
        </p:spPr>
      </p:pic>
      <p:sp>
        <p:nvSpPr>
          <p:cNvPr id="10" name="Text 5"/>
          <p:cNvSpPr txBox="1"/>
          <p:nvPr/>
        </p:nvSpPr>
        <p:spPr>
          <a:xfrm>
            <a:off x="4709160" y="2286000"/>
            <a:ext cx="2894076" cy="502920"/>
          </a:xfrm>
          <a:prstGeom prst="rect">
            <a:avLst/>
          </a:prstGeom>
          <a:noFill/>
          <a:ln/>
        </p:spPr>
        <p:txBody>
          <a:bodyPr wrap="square" lIns="0" tIns="0" rIns="0" bIns="0" rtlCol="0" anchor="ctr"/>
          <a:lstStyle/>
          <a:p>
            <a:pPr indent="0" marL="0">
              <a:buNone/>
            </a:pPr>
            <a:r>
              <a:rPr lang="en-US" sz="3200" b="1" dirty="0">
                <a:solidFill>
                  <a:srgbClr val="F8F5EE"/>
                </a:solidFill>
                <a:latin typeface="Source Serif Pro" pitchFamily="34" charset="0"/>
                <a:ea typeface="Source Serif Pro" pitchFamily="34" charset="-122"/>
                <a:cs typeface="Source Serif Pro" pitchFamily="34" charset="-120"/>
              </a:rPr>
              <a:t>24 h</a:t>
            </a:r>
            <a:endParaRPr lang="en-US" sz="3200" dirty="0"/>
          </a:p>
        </p:txBody>
      </p:sp>
      <p:sp>
        <p:nvSpPr>
          <p:cNvPr id="11" name="Text 6"/>
          <p:cNvSpPr txBox="1"/>
          <p:nvPr/>
        </p:nvSpPr>
        <p:spPr>
          <a:xfrm>
            <a:off x="4709160" y="2834640"/>
            <a:ext cx="2894076" cy="640080"/>
          </a:xfrm>
          <a:prstGeom prst="rect">
            <a:avLst/>
          </a:prstGeom>
          <a:noFill/>
          <a:ln/>
        </p:spPr>
        <p:txBody>
          <a:bodyPr wrap="square" lIns="0" tIns="0" rIns="0" bIns="0" rtlCol="0" anchor="t"/>
          <a:lstStyle/>
          <a:p>
            <a:pPr indent="0" marL="0">
              <a:buNone/>
            </a:pPr>
            <a:r>
              <a:rPr lang="en-US" sz="1350" dirty="0">
                <a:solidFill>
                  <a:srgbClr val="EDE5CC"/>
                </a:solidFill>
                <a:latin typeface="Open Sans" pitchFamily="34" charset="0"/>
                <a:ea typeface="Open Sans" pitchFamily="34" charset="-122"/>
                <a:cs typeface="Open Sans" pitchFamily="34" charset="-120"/>
              </a:rPr>
              <a:t>Avísame con al menos 24 horas de anticipación si necesitas cambiar una sesión</a:t>
            </a:r>
            <a:endParaRPr lang="en-US" sz="1350" dirty="0"/>
          </a:p>
        </p:txBody>
      </p:sp>
      <p:sp>
        <p:nvSpPr>
          <p:cNvPr id="12" name="Shape 7"/>
          <p:cNvSpPr/>
          <p:nvPr/>
        </p:nvSpPr>
        <p:spPr>
          <a:xfrm>
            <a:off x="8106156" y="1280160"/>
            <a:ext cx="3442716" cy="2331720"/>
          </a:xfrm>
          <a:prstGeom prst="roundRect">
            <a:avLst>
              <a:gd name="adj" fmla="val 6275"/>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8"/>
          <p:cNvSpPr/>
          <p:nvPr/>
        </p:nvSpPr>
        <p:spPr>
          <a:xfrm>
            <a:off x="8426196" y="1572768"/>
            <a:ext cx="640080" cy="640080"/>
          </a:xfrm>
          <a:prstGeom prst="ellipse">
            <a:avLst/>
          </a:prstGeom>
          <a:solidFill>
            <a:srgbClr val="FBF2D0"/>
          </a:solidFill>
          <a:ln w="12700">
            <a:solidFill>
              <a:srgbClr val="FBF2D0"/>
            </a:solidFill>
            <a:prstDash val="solid"/>
          </a:ln>
        </p:spPr>
      </p:sp>
      <p:pic>
        <p:nvPicPr>
          <p:cNvPr id="14" name="Image 2" descr="preencoded.png">    </p:cNvPr>
          <p:cNvPicPr>
            <a:picLocks noChangeAspect="1"/>
          </p:cNvPicPr>
          <p:nvPr/>
        </p:nvPicPr>
        <p:blipFill>
          <a:blip r:embed="rId3"/>
          <a:stretch>
            <a:fillRect/>
          </a:stretch>
        </p:blipFill>
        <p:spPr>
          <a:xfrm>
            <a:off x="8599018" y="1745590"/>
            <a:ext cx="294437" cy="294437"/>
          </a:xfrm>
          <a:prstGeom prst="rect">
            <a:avLst/>
          </a:prstGeom>
        </p:spPr>
      </p:pic>
      <p:sp>
        <p:nvSpPr>
          <p:cNvPr id="15" name="Text 9"/>
          <p:cNvSpPr txBox="1"/>
          <p:nvPr/>
        </p:nvSpPr>
        <p:spPr>
          <a:xfrm>
            <a:off x="8426196" y="2286000"/>
            <a:ext cx="2894076" cy="502920"/>
          </a:xfrm>
          <a:prstGeom prst="rect">
            <a:avLst/>
          </a:prstGeom>
          <a:noFill/>
          <a:ln/>
        </p:spPr>
        <p:txBody>
          <a:bodyPr wrap="square" lIns="0" tIns="0" rIns="0" bIns="0" rtlCol="0" anchor="ctr"/>
          <a:lstStyle/>
          <a:p>
            <a:pPr indent="0" marL="0">
              <a:buNone/>
            </a:pPr>
            <a:r>
              <a:rPr lang="en-US" sz="2100" b="1" dirty="0">
                <a:solidFill>
                  <a:srgbClr val="81552E"/>
                </a:solidFill>
                <a:latin typeface="Source Serif Pro" pitchFamily="34" charset="0"/>
                <a:ea typeface="Source Serif Pro" pitchFamily="34" charset="-122"/>
                <a:cs typeface="Source Serif Pro" pitchFamily="34" charset="-120"/>
              </a:rPr>
              <a:t>Menos de 24 h</a:t>
            </a:r>
            <a:endParaRPr lang="en-US" sz="2100" dirty="0"/>
          </a:p>
        </p:txBody>
      </p:sp>
      <p:sp>
        <p:nvSpPr>
          <p:cNvPr id="16" name="Text 10"/>
          <p:cNvSpPr txBox="1"/>
          <p:nvPr/>
        </p:nvSpPr>
        <p:spPr>
          <a:xfrm>
            <a:off x="8426196" y="2834640"/>
            <a:ext cx="2894076" cy="640080"/>
          </a:xfrm>
          <a:prstGeom prst="rect">
            <a:avLst/>
          </a:prstGeom>
          <a:noFill/>
          <a:ln/>
        </p:spPr>
        <p:txBody>
          <a:bodyPr wrap="square" lIns="0" tIns="0" rIns="0" bIns="0" rtlCol="0" anchor="t"/>
          <a:lstStyle/>
          <a:p>
            <a:pPr indent="0" marL="0">
              <a:buNone/>
            </a:pPr>
            <a:r>
              <a:rPr lang="en-US" sz="1350" dirty="0">
                <a:solidFill>
                  <a:srgbClr val="3F1E0D"/>
                </a:solidFill>
                <a:latin typeface="Open Sans" pitchFamily="34" charset="0"/>
                <a:ea typeface="Open Sans" pitchFamily="34" charset="-122"/>
                <a:cs typeface="Open Sans" pitchFamily="34" charset="-120"/>
              </a:rPr>
              <a:t>La sesión se considera utilizada: ese espacio ya quedó reservado para ti</a:t>
            </a:r>
            <a:endParaRPr lang="en-US" sz="1350" dirty="0"/>
          </a:p>
        </p:txBody>
      </p:sp>
      <p:sp>
        <p:nvSpPr>
          <p:cNvPr id="17" name="Shape 11"/>
          <p:cNvSpPr/>
          <p:nvPr/>
        </p:nvSpPr>
        <p:spPr>
          <a:xfrm>
            <a:off x="4389120" y="3886200"/>
            <a:ext cx="3442716" cy="2331720"/>
          </a:xfrm>
          <a:prstGeom prst="roundRect">
            <a:avLst>
              <a:gd name="adj" fmla="val 6275"/>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8" name="Shape 12"/>
          <p:cNvSpPr/>
          <p:nvPr/>
        </p:nvSpPr>
        <p:spPr>
          <a:xfrm>
            <a:off x="4709160" y="4178808"/>
            <a:ext cx="640080" cy="640080"/>
          </a:xfrm>
          <a:prstGeom prst="ellipse">
            <a:avLst/>
          </a:prstGeom>
          <a:solidFill>
            <a:srgbClr val="FBF2D0"/>
          </a:solidFill>
          <a:ln w="12700">
            <a:solidFill>
              <a:srgbClr val="FBF2D0"/>
            </a:solidFill>
            <a:prstDash val="solid"/>
          </a:ln>
        </p:spPr>
      </p:sp>
      <p:pic>
        <p:nvPicPr>
          <p:cNvPr id="19" name="Image 3" descr="preencoded.png">    </p:cNvPr>
          <p:cNvPicPr>
            <a:picLocks noChangeAspect="1"/>
          </p:cNvPicPr>
          <p:nvPr/>
        </p:nvPicPr>
        <p:blipFill>
          <a:blip r:embed="rId4"/>
          <a:stretch>
            <a:fillRect/>
          </a:stretch>
        </p:blipFill>
        <p:spPr>
          <a:xfrm>
            <a:off x="4881982" y="4351630"/>
            <a:ext cx="294437" cy="294437"/>
          </a:xfrm>
          <a:prstGeom prst="rect">
            <a:avLst/>
          </a:prstGeom>
        </p:spPr>
      </p:pic>
      <p:sp>
        <p:nvSpPr>
          <p:cNvPr id="20" name="Text 13"/>
          <p:cNvSpPr txBox="1"/>
          <p:nvPr/>
        </p:nvSpPr>
        <p:spPr>
          <a:xfrm>
            <a:off x="4709160" y="4892040"/>
            <a:ext cx="2894076" cy="502920"/>
          </a:xfrm>
          <a:prstGeom prst="rect">
            <a:avLst/>
          </a:prstGeom>
          <a:noFill/>
          <a:ln/>
        </p:spPr>
        <p:txBody>
          <a:bodyPr wrap="square" lIns="0" tIns="0" rIns="0" bIns="0" rtlCol="0" anchor="ctr"/>
          <a:lstStyle/>
          <a:p>
            <a:pPr indent="0" marL="0">
              <a:buNone/>
            </a:pPr>
            <a:r>
              <a:rPr lang="en-US" sz="2100" b="1" dirty="0">
                <a:solidFill>
                  <a:srgbClr val="81552E"/>
                </a:solidFill>
                <a:latin typeface="Source Serif Pro" pitchFamily="34" charset="0"/>
                <a:ea typeface="Source Serif Pro" pitchFamily="34" charset="-122"/>
                <a:cs typeface="Source Serif Pro" pitchFamily="34" charset="-120"/>
              </a:rPr>
              <a:t>Si llegas más tarde</a:t>
            </a:r>
            <a:endParaRPr lang="en-US" sz="2100" dirty="0"/>
          </a:p>
        </p:txBody>
      </p:sp>
      <p:sp>
        <p:nvSpPr>
          <p:cNvPr id="21" name="Text 14"/>
          <p:cNvSpPr txBox="1"/>
          <p:nvPr/>
        </p:nvSpPr>
        <p:spPr>
          <a:xfrm>
            <a:off x="4709160" y="5440680"/>
            <a:ext cx="2894076" cy="640080"/>
          </a:xfrm>
          <a:prstGeom prst="rect">
            <a:avLst/>
          </a:prstGeom>
          <a:noFill/>
          <a:ln/>
        </p:spPr>
        <p:txBody>
          <a:bodyPr wrap="square" lIns="0" tIns="0" rIns="0" bIns="0" rtlCol="0" anchor="t"/>
          <a:lstStyle/>
          <a:p>
            <a:pPr indent="0" marL="0">
              <a:buNone/>
            </a:pPr>
            <a:r>
              <a:rPr lang="en-US" sz="1350" dirty="0">
                <a:solidFill>
                  <a:srgbClr val="3F1E0D"/>
                </a:solidFill>
                <a:latin typeface="Open Sans" pitchFamily="34" charset="0"/>
                <a:ea typeface="Open Sans" pitchFamily="34" charset="-122"/>
                <a:cs typeface="Open Sans" pitchFamily="34" charset="-120"/>
              </a:rPr>
              <a:t>No pasa nada: trabajamos con el tiempo que nos quede</a:t>
            </a:r>
            <a:endParaRPr lang="en-US" sz="1350" dirty="0"/>
          </a:p>
        </p:txBody>
      </p:sp>
      <p:sp>
        <p:nvSpPr>
          <p:cNvPr id="22" name="Shape 15"/>
          <p:cNvSpPr/>
          <p:nvPr/>
        </p:nvSpPr>
        <p:spPr>
          <a:xfrm>
            <a:off x="8106156" y="3886200"/>
            <a:ext cx="3442716" cy="2331720"/>
          </a:xfrm>
          <a:prstGeom prst="roundRect">
            <a:avLst>
              <a:gd name="adj" fmla="val 6275"/>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3" name="Shape 16"/>
          <p:cNvSpPr/>
          <p:nvPr/>
        </p:nvSpPr>
        <p:spPr>
          <a:xfrm>
            <a:off x="8426196" y="4178808"/>
            <a:ext cx="640080" cy="640080"/>
          </a:xfrm>
          <a:prstGeom prst="ellipse">
            <a:avLst/>
          </a:prstGeom>
          <a:solidFill>
            <a:srgbClr val="FBF2D0"/>
          </a:solidFill>
          <a:ln w="12700">
            <a:solidFill>
              <a:srgbClr val="FBF2D0"/>
            </a:solidFill>
            <a:prstDash val="solid"/>
          </a:ln>
        </p:spPr>
      </p:sp>
      <p:pic>
        <p:nvPicPr>
          <p:cNvPr id="24" name="Image 4" descr="preencoded.png">    </p:cNvPr>
          <p:cNvPicPr>
            <a:picLocks noChangeAspect="1"/>
          </p:cNvPicPr>
          <p:nvPr/>
        </p:nvPicPr>
        <p:blipFill>
          <a:blip r:embed="rId5"/>
          <a:stretch>
            <a:fillRect/>
          </a:stretch>
        </p:blipFill>
        <p:spPr>
          <a:xfrm>
            <a:off x="8599018" y="4351630"/>
            <a:ext cx="294437" cy="294437"/>
          </a:xfrm>
          <a:prstGeom prst="rect">
            <a:avLst/>
          </a:prstGeom>
        </p:spPr>
      </p:pic>
      <p:sp>
        <p:nvSpPr>
          <p:cNvPr id="25" name="Text 17"/>
          <p:cNvSpPr txBox="1"/>
          <p:nvPr/>
        </p:nvSpPr>
        <p:spPr>
          <a:xfrm>
            <a:off x="8426196" y="4892040"/>
            <a:ext cx="2894076" cy="502920"/>
          </a:xfrm>
          <a:prstGeom prst="rect">
            <a:avLst/>
          </a:prstGeom>
          <a:noFill/>
          <a:ln/>
        </p:spPr>
        <p:txBody>
          <a:bodyPr wrap="square" lIns="0" tIns="0" rIns="0" bIns="0" rtlCol="0" anchor="ctr"/>
          <a:lstStyle/>
          <a:p>
            <a:pPr indent="0" marL="0">
              <a:buNone/>
            </a:pPr>
            <a:r>
              <a:rPr lang="en-US" sz="2100" b="1" dirty="0">
                <a:solidFill>
                  <a:srgbClr val="81552E"/>
                </a:solidFill>
                <a:latin typeface="Source Serif Pro" pitchFamily="34" charset="0"/>
                <a:ea typeface="Source Serif Pro" pitchFamily="34" charset="-122"/>
                <a:cs typeface="Source Serif Pro" pitchFamily="34" charset="-120"/>
              </a:rPr>
              <a:t>Si la muevo yo</a:t>
            </a:r>
            <a:endParaRPr lang="en-US" sz="2100" dirty="0"/>
          </a:p>
        </p:txBody>
      </p:sp>
      <p:sp>
        <p:nvSpPr>
          <p:cNvPr id="26" name="Text 18"/>
          <p:cNvSpPr txBox="1"/>
          <p:nvPr/>
        </p:nvSpPr>
        <p:spPr>
          <a:xfrm>
            <a:off x="8426196" y="5440680"/>
            <a:ext cx="2894076" cy="640080"/>
          </a:xfrm>
          <a:prstGeom prst="rect">
            <a:avLst/>
          </a:prstGeom>
          <a:noFill/>
          <a:ln/>
        </p:spPr>
        <p:txBody>
          <a:bodyPr wrap="square" lIns="0" tIns="0" rIns="0" bIns="0" rtlCol="0" anchor="t"/>
          <a:lstStyle/>
          <a:p>
            <a:pPr indent="0" marL="0">
              <a:buNone/>
            </a:pPr>
            <a:r>
              <a:rPr lang="en-US" sz="1350" dirty="0">
                <a:solidFill>
                  <a:srgbClr val="3F1E0D"/>
                </a:solidFill>
                <a:latin typeface="Open Sans" pitchFamily="34" charset="0"/>
                <a:ea typeface="Open Sans" pitchFamily="34" charset="-122"/>
                <a:cs typeface="Open Sans" pitchFamily="34" charset="-120"/>
              </a:rPr>
              <a:t>La reprogramamos sin problema</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04 / 09</a:t>
            </a:r>
            <a:endParaRPr lang="en-US" sz="1100" dirty="0"/>
          </a:p>
        </p:txBody>
      </p:sp>
      <p:sp>
        <p:nvSpPr>
          <p:cNvPr id="5" name="Text 1"/>
          <p:cNvSpPr txBox="1"/>
          <p:nvPr/>
        </p:nvSpPr>
        <p:spPr>
          <a:xfrm>
            <a:off x="640080" y="1280160"/>
            <a:ext cx="3429000" cy="1783080"/>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No estás sola entre sesiones</a:t>
            </a:r>
            <a:endParaRPr lang="en-US" sz="3400" dirty="0"/>
          </a:p>
        </p:txBody>
      </p:sp>
      <p:sp>
        <p:nvSpPr>
          <p:cNvPr id="6" name="Text 2"/>
          <p:cNvSpPr txBox="1"/>
          <p:nvPr/>
        </p:nvSpPr>
        <p:spPr>
          <a:xfrm>
            <a:off x="640080" y="2596896"/>
            <a:ext cx="3291840" cy="73152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Dónde llevar cada cosa, para que todo sea simple, cercano y ordenado</a:t>
            </a:r>
            <a:endParaRPr lang="en-US" sz="1600" dirty="0"/>
          </a:p>
        </p:txBody>
      </p:sp>
      <p:sp>
        <p:nvSpPr>
          <p:cNvPr id="7" name="Shape 3"/>
          <p:cNvSpPr/>
          <p:nvPr/>
        </p:nvSpPr>
        <p:spPr>
          <a:xfrm>
            <a:off x="4389120" y="1280160"/>
            <a:ext cx="2203704" cy="4023360"/>
          </a:xfrm>
          <a:prstGeom prst="roundRect">
            <a:avLst>
              <a:gd name="adj" fmla="val 663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389120" y="1280160"/>
            <a:ext cx="2203704" cy="1600200"/>
          </a:xfrm>
          <a:prstGeom prst="roundRect">
            <a:avLst>
              <a:gd name="adj" fmla="val 9143"/>
            </a:avLst>
          </a:prstGeom>
          <a:solidFill>
            <a:srgbClr val="81552E"/>
          </a:solidFill>
          <a:ln w="12700">
            <a:solidFill>
              <a:srgbClr val="81552E"/>
            </a:solidFill>
            <a:prstDash val="solid"/>
          </a:ln>
        </p:spPr>
      </p:sp>
      <p:sp>
        <p:nvSpPr>
          <p:cNvPr id="9" name="Shape 5"/>
          <p:cNvSpPr/>
          <p:nvPr/>
        </p:nvSpPr>
        <p:spPr>
          <a:xfrm>
            <a:off x="4389120" y="2606040"/>
            <a:ext cx="2203704" cy="274320"/>
          </a:xfrm>
          <a:prstGeom prst="rect">
            <a:avLst/>
          </a:prstGeom>
          <a:solidFill>
            <a:srgbClr val="81552E"/>
          </a:solidFill>
          <a:ln w="12700">
            <a:solidFill>
              <a:srgbClr val="81552E"/>
            </a:solidFill>
            <a:prstDash val="solid"/>
          </a:ln>
        </p:spPr>
      </p:sp>
      <p:pic>
        <p:nvPicPr>
          <p:cNvPr id="10" name="Image 1" descr="preencoded.png">    </p:cNvPr>
          <p:cNvPicPr>
            <a:picLocks noChangeAspect="1"/>
          </p:cNvPicPr>
          <p:nvPr/>
        </p:nvPicPr>
        <p:blipFill>
          <a:blip r:embed="rId2"/>
          <a:stretch>
            <a:fillRect/>
          </a:stretch>
        </p:blipFill>
        <p:spPr>
          <a:xfrm>
            <a:off x="4663440" y="1536192"/>
            <a:ext cx="365760" cy="365760"/>
          </a:xfrm>
          <a:prstGeom prst="rect">
            <a:avLst/>
          </a:prstGeom>
        </p:spPr>
      </p:pic>
      <p:sp>
        <p:nvSpPr>
          <p:cNvPr id="11" name="Text 6"/>
          <p:cNvSpPr txBox="1"/>
          <p:nvPr/>
        </p:nvSpPr>
        <p:spPr>
          <a:xfrm>
            <a:off x="4663440" y="1965960"/>
            <a:ext cx="1746504" cy="548640"/>
          </a:xfrm>
          <a:prstGeom prst="rect">
            <a:avLst/>
          </a:prstGeom>
          <a:noFill/>
          <a:ln/>
        </p:spPr>
        <p:txBody>
          <a:bodyPr wrap="square" lIns="0" tIns="0" rIns="0" bIns="0" rtlCol="0" anchor="ctr"/>
          <a:lstStyle/>
          <a:p>
            <a:pPr indent="0" marL="0">
              <a:lnSpc>
                <a:spcPct val="90000"/>
              </a:lnSpc>
              <a:buNone/>
            </a:pPr>
            <a:r>
              <a:rPr lang="en-US" sz="1700" b="1" dirty="0">
                <a:solidFill>
                  <a:srgbClr val="F8F5EE"/>
                </a:solidFill>
                <a:latin typeface="Source Serif Pro" pitchFamily="34" charset="0"/>
                <a:ea typeface="Source Serif Pro" pitchFamily="34" charset="-122"/>
                <a:cs typeface="Source Serif Pro" pitchFamily="34" charset="-120"/>
              </a:rPr>
              <a:t>AT WORK Community</a:t>
            </a:r>
            <a:endParaRPr lang="en-US" sz="1700" dirty="0"/>
          </a:p>
        </p:txBody>
      </p:sp>
      <p:sp>
        <p:nvSpPr>
          <p:cNvPr id="12" name="Text 7"/>
          <p:cNvSpPr txBox="1"/>
          <p:nvPr/>
        </p:nvSpPr>
        <p:spPr>
          <a:xfrm>
            <a:off x="4663440" y="2514600"/>
            <a:ext cx="1746504" cy="256032"/>
          </a:xfrm>
          <a:prstGeom prst="rect">
            <a:avLst/>
          </a:prstGeom>
          <a:noFill/>
          <a:ln/>
        </p:spPr>
        <p:txBody>
          <a:bodyPr wrap="square" lIns="0" tIns="0" rIns="0" bIns="0" rtlCol="0" anchor="ctr"/>
          <a:lstStyle/>
          <a:p>
            <a:pPr indent="0" marL="0">
              <a:buNone/>
            </a:pPr>
            <a:r>
              <a:rPr lang="en-US" sz="1050" i="1" dirty="0">
                <a:solidFill>
                  <a:srgbClr val="EDE5CC"/>
                </a:solidFill>
                <a:latin typeface="Open Sans" pitchFamily="34" charset="0"/>
                <a:ea typeface="Open Sans" pitchFamily="34" charset="-122"/>
                <a:cs typeface="Open Sans" pitchFamily="34" charset="-120"/>
              </a:rPr>
              <a:t>en WhatsApp · nuestro espacio principal</a:t>
            </a:r>
            <a:endParaRPr lang="en-US" sz="1050" dirty="0"/>
          </a:p>
        </p:txBody>
      </p:sp>
      <p:sp>
        <p:nvSpPr>
          <p:cNvPr id="13" name="Text 8"/>
          <p:cNvSpPr txBox="1"/>
          <p:nvPr/>
        </p:nvSpPr>
        <p:spPr>
          <a:xfrm>
            <a:off x="4617720" y="3108960"/>
            <a:ext cx="1792224" cy="205740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rgbClr val="3F1E0D"/>
                </a:solidFill>
                <a:latin typeface="Open Sans" pitchFamily="34" charset="0"/>
                <a:ea typeface="Open Sans" pitchFamily="34" charset="-122"/>
                <a:cs typeface="Open Sans" pitchFamily="34" charset="-120"/>
              </a:rPr>
              <a:t>hacer preguntas</a:t>
            </a:r>
            <a:endParaRPr lang="en-US" sz="1350" dirty="0"/>
          </a:p>
          <a:p>
            <a:pPr marL="177800" indent="-177800">
              <a:spcAft>
                <a:spcPts val="700"/>
              </a:spcAft>
              <a:buSzPct val="100000"/>
              <a:buChar char="•"/>
            </a:pPr>
            <a:r>
              <a:rPr lang="en-US" sz="1350" dirty="0">
                <a:solidFill>
                  <a:srgbClr val="3F1E0D"/>
                </a:solidFill>
                <a:latin typeface="Open Sans" pitchFamily="34" charset="0"/>
                <a:ea typeface="Open Sans" pitchFamily="34" charset="-122"/>
                <a:cs typeface="Open Sans" pitchFamily="34" charset="-120"/>
              </a:rPr>
              <a:t>compartir prácticas</a:t>
            </a:r>
            <a:endParaRPr lang="en-US" sz="1350" dirty="0"/>
          </a:p>
          <a:p>
            <a:pPr marL="177800" indent="-177800">
              <a:spcAft>
                <a:spcPts val="700"/>
              </a:spcAft>
              <a:buSzPct val="100000"/>
              <a:buChar char="•"/>
            </a:pPr>
            <a:r>
              <a:rPr lang="en-US" sz="1350" dirty="0">
                <a:solidFill>
                  <a:srgbClr val="3F1E0D"/>
                </a:solidFill>
                <a:latin typeface="Open Sans" pitchFamily="34" charset="0"/>
                <a:ea typeface="Open Sans" pitchFamily="34" charset="-122"/>
                <a:cs typeface="Open Sans" pitchFamily="34" charset="-120"/>
              </a:rPr>
              <a:t>pedirme feedback</a:t>
            </a:r>
            <a:endParaRPr lang="en-US" sz="1350" dirty="0"/>
          </a:p>
          <a:p>
            <a:pPr marL="177800" indent="-177800">
              <a:spcAft>
                <a:spcPts val="700"/>
              </a:spcAft>
              <a:buSzPct val="100000"/>
              <a:buChar char="•"/>
            </a:pPr>
            <a:r>
              <a:rPr lang="en-US" sz="1350" dirty="0">
                <a:solidFill>
                  <a:srgbClr val="3F1E0D"/>
                </a:solidFill>
                <a:latin typeface="Open Sans" pitchFamily="34" charset="0"/>
                <a:ea typeface="Open Sans" pitchFamily="34" charset="-122"/>
                <a:cs typeface="Open Sans" pitchFamily="34" charset="-120"/>
              </a:rPr>
              <a:t>contar un avance o algo que aprendiste</a:t>
            </a:r>
            <a:endParaRPr lang="en-US" sz="1350" dirty="0"/>
          </a:p>
          <a:p>
            <a:pPr marL="177800" indent="-177800">
              <a:spcAft>
                <a:spcPts val="700"/>
              </a:spcAft>
              <a:buSzPct val="100000"/>
              <a:buChar char="•"/>
            </a:pPr>
            <a:r>
              <a:rPr lang="en-US" sz="1350" dirty="0">
                <a:solidFill>
                  <a:srgbClr val="3F1E0D"/>
                </a:solidFill>
                <a:latin typeface="Open Sans" pitchFamily="34" charset="0"/>
                <a:ea typeface="Open Sans" pitchFamily="34" charset="-122"/>
                <a:cs typeface="Open Sans" pitchFamily="34" charset="-120"/>
              </a:rPr>
              <a:t>contarme algo que pasó en tu trabajo</a:t>
            </a:r>
            <a:endParaRPr lang="en-US" sz="1350" dirty="0"/>
          </a:p>
        </p:txBody>
      </p:sp>
      <p:sp>
        <p:nvSpPr>
          <p:cNvPr id="14" name="Shape 9"/>
          <p:cNvSpPr/>
          <p:nvPr/>
        </p:nvSpPr>
        <p:spPr>
          <a:xfrm>
            <a:off x="6867144" y="1280160"/>
            <a:ext cx="2203704" cy="4023360"/>
          </a:xfrm>
          <a:prstGeom prst="roundRect">
            <a:avLst>
              <a:gd name="adj" fmla="val 663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5" name="Shape 10"/>
          <p:cNvSpPr/>
          <p:nvPr/>
        </p:nvSpPr>
        <p:spPr>
          <a:xfrm>
            <a:off x="6867144" y="1280160"/>
            <a:ext cx="2203704" cy="1600200"/>
          </a:xfrm>
          <a:prstGeom prst="roundRect">
            <a:avLst>
              <a:gd name="adj" fmla="val 9143"/>
            </a:avLst>
          </a:prstGeom>
          <a:solidFill>
            <a:srgbClr val="C68C6C"/>
          </a:solidFill>
          <a:ln w="12700">
            <a:solidFill>
              <a:srgbClr val="C68C6C"/>
            </a:solidFill>
            <a:prstDash val="solid"/>
          </a:ln>
        </p:spPr>
      </p:sp>
      <p:sp>
        <p:nvSpPr>
          <p:cNvPr id="16" name="Shape 11"/>
          <p:cNvSpPr/>
          <p:nvPr/>
        </p:nvSpPr>
        <p:spPr>
          <a:xfrm>
            <a:off x="6867144" y="2606040"/>
            <a:ext cx="2203704" cy="274320"/>
          </a:xfrm>
          <a:prstGeom prst="rect">
            <a:avLst/>
          </a:prstGeom>
          <a:solidFill>
            <a:srgbClr val="C68C6C"/>
          </a:solidFill>
          <a:ln w="12700">
            <a:solidFill>
              <a:srgbClr val="C68C6C"/>
            </a:solidFill>
            <a:prstDash val="solid"/>
          </a:ln>
        </p:spPr>
      </p:sp>
      <p:pic>
        <p:nvPicPr>
          <p:cNvPr id="17" name="Image 2" descr="preencoded.png">    </p:cNvPr>
          <p:cNvPicPr>
            <a:picLocks noChangeAspect="1"/>
          </p:cNvPicPr>
          <p:nvPr/>
        </p:nvPicPr>
        <p:blipFill>
          <a:blip r:embed="rId3"/>
          <a:stretch>
            <a:fillRect/>
          </a:stretch>
        </p:blipFill>
        <p:spPr>
          <a:xfrm>
            <a:off x="7141464" y="1536192"/>
            <a:ext cx="365760" cy="365760"/>
          </a:xfrm>
          <a:prstGeom prst="rect">
            <a:avLst/>
          </a:prstGeom>
        </p:spPr>
      </p:pic>
      <p:sp>
        <p:nvSpPr>
          <p:cNvPr id="18" name="Text 12"/>
          <p:cNvSpPr txBox="1"/>
          <p:nvPr/>
        </p:nvSpPr>
        <p:spPr>
          <a:xfrm>
            <a:off x="7141464" y="1965960"/>
            <a:ext cx="1746504" cy="548640"/>
          </a:xfrm>
          <a:prstGeom prst="rect">
            <a:avLst/>
          </a:prstGeom>
          <a:noFill/>
          <a:ln/>
        </p:spPr>
        <p:txBody>
          <a:bodyPr wrap="square" lIns="0" tIns="0" rIns="0" bIns="0" rtlCol="0" anchor="ctr"/>
          <a:lstStyle/>
          <a:p>
            <a:pPr indent="0" marL="0">
              <a:lnSpc>
                <a:spcPct val="90000"/>
              </a:lnSpc>
              <a:buNone/>
            </a:pPr>
            <a:r>
              <a:rPr lang="en-US" sz="1700" b="1" dirty="0">
                <a:solidFill>
                  <a:srgbClr val="F8F5EE"/>
                </a:solidFill>
                <a:latin typeface="Source Serif Pro" pitchFamily="34" charset="0"/>
                <a:ea typeface="Source Serif Pro" pitchFamily="34" charset="-122"/>
                <a:cs typeface="Source Serif Pro" pitchFamily="34" charset="-120"/>
              </a:rPr>
              <a:t>Mensaje privado</a:t>
            </a:r>
            <a:endParaRPr lang="en-US" sz="1700" dirty="0"/>
          </a:p>
        </p:txBody>
      </p:sp>
      <p:sp>
        <p:nvSpPr>
          <p:cNvPr id="19" name="Text 13"/>
          <p:cNvSpPr txBox="1"/>
          <p:nvPr/>
        </p:nvSpPr>
        <p:spPr>
          <a:xfrm>
            <a:off x="7141464" y="2514600"/>
            <a:ext cx="1746504" cy="256032"/>
          </a:xfrm>
          <a:prstGeom prst="rect">
            <a:avLst/>
          </a:prstGeom>
          <a:noFill/>
          <a:ln/>
        </p:spPr>
        <p:txBody>
          <a:bodyPr wrap="square" lIns="0" tIns="0" rIns="0" bIns="0" rtlCol="0" anchor="ctr"/>
          <a:lstStyle/>
          <a:p>
            <a:pPr indent="0" marL="0">
              <a:buNone/>
            </a:pPr>
            <a:r>
              <a:rPr lang="en-US" sz="1050" i="1" dirty="0">
                <a:solidFill>
                  <a:srgbClr val="EDE5CC"/>
                </a:solidFill>
                <a:latin typeface="Open Sans" pitchFamily="34" charset="0"/>
                <a:ea typeface="Open Sans" pitchFamily="34" charset="-122"/>
                <a:cs typeface="Open Sans" pitchFamily="34" charset="-120"/>
              </a:rPr>
              <a:t>escríbeme directamente</a:t>
            </a:r>
            <a:endParaRPr lang="en-US" sz="1050" dirty="0"/>
          </a:p>
        </p:txBody>
      </p:sp>
      <p:sp>
        <p:nvSpPr>
          <p:cNvPr id="20" name="Text 14"/>
          <p:cNvSpPr txBox="1"/>
          <p:nvPr/>
        </p:nvSpPr>
        <p:spPr>
          <a:xfrm>
            <a:off x="7095744" y="3108960"/>
            <a:ext cx="1792224" cy="205740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rgbClr val="3F1E0D"/>
                </a:solidFill>
                <a:latin typeface="Open Sans" pitchFamily="34" charset="0"/>
                <a:ea typeface="Open Sans" pitchFamily="34" charset="-122"/>
                <a:cs typeface="Open Sans" pitchFamily="34" charset="-120"/>
              </a:rPr>
              <a:t>temas administrativos</a:t>
            </a:r>
            <a:endParaRPr lang="en-US" sz="1350" dirty="0"/>
          </a:p>
          <a:p>
            <a:pPr marL="177800" indent="-177800">
              <a:spcAft>
                <a:spcPts val="700"/>
              </a:spcAft>
              <a:buSzPct val="100000"/>
              <a:buChar char="•"/>
            </a:pPr>
            <a:r>
              <a:rPr lang="en-US" sz="1350" dirty="0">
                <a:solidFill>
                  <a:srgbClr val="3F1E0D"/>
                </a:solidFill>
                <a:latin typeface="Open Sans" pitchFamily="34" charset="0"/>
                <a:ea typeface="Open Sans" pitchFamily="34" charset="-122"/>
                <a:cs typeface="Open Sans" pitchFamily="34" charset="-120"/>
              </a:rPr>
              <a:t>algo que prefieres mantener en privado</a:t>
            </a:r>
            <a:endParaRPr lang="en-US" sz="1350" dirty="0"/>
          </a:p>
        </p:txBody>
      </p:sp>
      <p:sp>
        <p:nvSpPr>
          <p:cNvPr id="21" name="Shape 15"/>
          <p:cNvSpPr/>
          <p:nvPr/>
        </p:nvSpPr>
        <p:spPr>
          <a:xfrm>
            <a:off x="9345168" y="1280160"/>
            <a:ext cx="2203704" cy="4023360"/>
          </a:xfrm>
          <a:prstGeom prst="roundRect">
            <a:avLst>
              <a:gd name="adj" fmla="val 663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2" name="Shape 16"/>
          <p:cNvSpPr/>
          <p:nvPr/>
        </p:nvSpPr>
        <p:spPr>
          <a:xfrm>
            <a:off x="9345168" y="1280160"/>
            <a:ext cx="2203704" cy="1600200"/>
          </a:xfrm>
          <a:prstGeom prst="roundRect">
            <a:avLst>
              <a:gd name="adj" fmla="val 9143"/>
            </a:avLst>
          </a:prstGeom>
          <a:solidFill>
            <a:srgbClr val="3F1E0D"/>
          </a:solidFill>
          <a:ln w="12700">
            <a:solidFill>
              <a:srgbClr val="3F1E0D"/>
            </a:solidFill>
            <a:prstDash val="solid"/>
          </a:ln>
        </p:spPr>
      </p:sp>
      <p:sp>
        <p:nvSpPr>
          <p:cNvPr id="23" name="Shape 17"/>
          <p:cNvSpPr/>
          <p:nvPr/>
        </p:nvSpPr>
        <p:spPr>
          <a:xfrm>
            <a:off x="9345168" y="2606040"/>
            <a:ext cx="2203704" cy="274320"/>
          </a:xfrm>
          <a:prstGeom prst="rect">
            <a:avLst/>
          </a:prstGeom>
          <a:solidFill>
            <a:srgbClr val="3F1E0D"/>
          </a:solidFill>
          <a:ln w="12700">
            <a:solidFill>
              <a:srgbClr val="3F1E0D"/>
            </a:solidFill>
            <a:prstDash val="solid"/>
          </a:ln>
        </p:spPr>
      </p:sp>
      <p:pic>
        <p:nvPicPr>
          <p:cNvPr id="24" name="Image 3" descr="preencoded.png">    </p:cNvPr>
          <p:cNvPicPr>
            <a:picLocks noChangeAspect="1"/>
          </p:cNvPicPr>
          <p:nvPr/>
        </p:nvPicPr>
        <p:blipFill>
          <a:blip r:embed="rId4"/>
          <a:stretch>
            <a:fillRect/>
          </a:stretch>
        </p:blipFill>
        <p:spPr>
          <a:xfrm>
            <a:off x="9619488" y="1536192"/>
            <a:ext cx="365760" cy="365760"/>
          </a:xfrm>
          <a:prstGeom prst="rect">
            <a:avLst/>
          </a:prstGeom>
        </p:spPr>
      </p:pic>
      <p:sp>
        <p:nvSpPr>
          <p:cNvPr id="25" name="Text 18"/>
          <p:cNvSpPr txBox="1"/>
          <p:nvPr/>
        </p:nvSpPr>
        <p:spPr>
          <a:xfrm>
            <a:off x="9619488" y="1965960"/>
            <a:ext cx="1746504" cy="548640"/>
          </a:xfrm>
          <a:prstGeom prst="rect">
            <a:avLst/>
          </a:prstGeom>
          <a:noFill/>
          <a:ln/>
        </p:spPr>
        <p:txBody>
          <a:bodyPr wrap="square" lIns="0" tIns="0" rIns="0" bIns="0" rtlCol="0" anchor="ctr"/>
          <a:lstStyle/>
          <a:p>
            <a:pPr indent="0" marL="0">
              <a:lnSpc>
                <a:spcPct val="90000"/>
              </a:lnSpc>
              <a:buNone/>
            </a:pPr>
            <a:r>
              <a:rPr lang="en-US" sz="1700" b="1" dirty="0">
                <a:solidFill>
                  <a:srgbClr val="F8F5EE"/>
                </a:solidFill>
                <a:latin typeface="Source Serif Pro" pitchFamily="34" charset="0"/>
                <a:ea typeface="Source Serif Pro" pitchFamily="34" charset="-122"/>
                <a:cs typeface="Source Serif Pro" pitchFamily="34" charset="-120"/>
              </a:rPr>
              <a:t>Sesión 1:1</a:t>
            </a:r>
            <a:endParaRPr lang="en-US" sz="1700" dirty="0"/>
          </a:p>
        </p:txBody>
      </p:sp>
      <p:sp>
        <p:nvSpPr>
          <p:cNvPr id="26" name="Text 19"/>
          <p:cNvSpPr txBox="1"/>
          <p:nvPr/>
        </p:nvSpPr>
        <p:spPr>
          <a:xfrm>
            <a:off x="9619488" y="2514600"/>
            <a:ext cx="1746504" cy="256032"/>
          </a:xfrm>
          <a:prstGeom prst="rect">
            <a:avLst/>
          </a:prstGeom>
          <a:noFill/>
          <a:ln/>
        </p:spPr>
        <p:txBody>
          <a:bodyPr wrap="square" lIns="0" tIns="0" rIns="0" bIns="0" rtlCol="0" anchor="ctr"/>
          <a:lstStyle/>
          <a:p>
            <a:pPr indent="0" marL="0">
              <a:buNone/>
            </a:pPr>
            <a:r>
              <a:rPr lang="en-US" sz="1050" i="1" dirty="0">
                <a:solidFill>
                  <a:srgbClr val="EDE5CC"/>
                </a:solidFill>
                <a:latin typeface="Open Sans" pitchFamily="34" charset="0"/>
                <a:ea typeface="Open Sans" pitchFamily="34" charset="-122"/>
                <a:cs typeface="Open Sans" pitchFamily="34" charset="-120"/>
              </a:rPr>
              <a:t>para trabajarlo bien</a:t>
            </a:r>
            <a:endParaRPr lang="en-US" sz="1050" dirty="0"/>
          </a:p>
        </p:txBody>
      </p:sp>
      <p:sp>
        <p:nvSpPr>
          <p:cNvPr id="27" name="Text 20"/>
          <p:cNvSpPr txBox="1"/>
          <p:nvPr/>
        </p:nvSpPr>
        <p:spPr>
          <a:xfrm>
            <a:off x="9573768" y="3108960"/>
            <a:ext cx="1792224" cy="205740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rgbClr val="3F1E0D"/>
                </a:solidFill>
                <a:latin typeface="Open Sans" pitchFamily="34" charset="0"/>
                <a:ea typeface="Open Sans" pitchFamily="34" charset="-122"/>
                <a:cs typeface="Open Sans" pitchFamily="34" charset="-120"/>
              </a:rPr>
              <a:t>situaciones que necesitan más contexto, análisis o trabajo en profundidad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05 / 09</a:t>
            </a:r>
            <a:endParaRPr lang="en-US" sz="1100" dirty="0"/>
          </a:p>
        </p:txBody>
      </p:sp>
      <p:sp>
        <p:nvSpPr>
          <p:cNvPr id="5" name="Text 1"/>
          <p:cNvSpPr txBox="1"/>
          <p:nvPr/>
        </p:nvSpPr>
        <p:spPr>
          <a:xfrm>
            <a:off x="640080" y="1280160"/>
            <a:ext cx="3429000" cy="1783080"/>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Cuándo reviso tus mensajes</a:t>
            </a:r>
            <a:endParaRPr lang="en-US" sz="3400" dirty="0"/>
          </a:p>
        </p:txBody>
      </p:sp>
      <p:sp>
        <p:nvSpPr>
          <p:cNvPr id="6" name="Text 2"/>
          <p:cNvSpPr txBox="1"/>
          <p:nvPr/>
        </p:nvSpPr>
        <p:spPr>
          <a:xfrm>
            <a:off x="640080" y="2596896"/>
            <a:ext cx="3291840" cy="73152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Deja tus dudas, prácticas o situaciones en la comunidad siempre que lo necesites</a:t>
            </a:r>
            <a:endParaRPr lang="en-US" sz="1600" dirty="0"/>
          </a:p>
        </p:txBody>
      </p:sp>
      <p:sp>
        <p:nvSpPr>
          <p:cNvPr id="7" name="Shape 3"/>
          <p:cNvSpPr/>
          <p:nvPr/>
        </p:nvSpPr>
        <p:spPr>
          <a:xfrm>
            <a:off x="4389120" y="1280160"/>
            <a:ext cx="7159752" cy="2651760"/>
          </a:xfrm>
          <a:prstGeom prst="roundRect">
            <a:avLst>
              <a:gd name="adj" fmla="val 5517"/>
            </a:avLst>
          </a:prstGeom>
          <a:solidFill>
            <a:srgbClr val="3F1E0D"/>
          </a:solidFill>
          <a:ln w="12700">
            <a:solidFill>
              <a:srgbClr val="3F1E0D"/>
            </a:solidFill>
            <a:prstDash val="solid"/>
          </a:ln>
          <a:effectLst>
            <a:outerShdw sx="100000" sy="100000" kx="0" ky="0" algn="bl" rotWithShape="0" blurRad="177800" dist="38100" dir="5400000">
              <a:srgbClr val="3F1E0D">
                <a:alpha val="10000"/>
              </a:srgbClr>
            </a:outerShdw>
          </a:effectLst>
        </p:spPr>
      </p:sp>
      <p:sp>
        <p:nvSpPr>
          <p:cNvPr id="8" name="Text 4"/>
          <p:cNvSpPr txBox="1"/>
          <p:nvPr/>
        </p:nvSpPr>
        <p:spPr>
          <a:xfrm>
            <a:off x="4846320" y="1645920"/>
            <a:ext cx="6245352" cy="320040"/>
          </a:xfrm>
          <a:prstGeom prst="rect">
            <a:avLst/>
          </a:prstGeom>
          <a:noFill/>
          <a:ln/>
        </p:spPr>
        <p:txBody>
          <a:bodyPr wrap="square" lIns="0" tIns="0" rIns="0" bIns="0" rtlCol="0" anchor="ctr"/>
          <a:lstStyle/>
          <a:p>
            <a:pPr indent="0" marL="0">
              <a:buNone/>
            </a:pPr>
            <a:r>
              <a:rPr lang="en-US" sz="1250" b="1" spc="300" kern="0" dirty="0">
                <a:solidFill>
                  <a:srgbClr val="C68C6C"/>
                </a:solidFill>
                <a:latin typeface="Open Sans" pitchFamily="34" charset="0"/>
                <a:ea typeface="Open Sans" pitchFamily="34" charset="-122"/>
                <a:cs typeface="Open Sans" pitchFamily="34" charset="-120"/>
              </a:rPr>
              <a:t>REVISO Y RESPONDO LOS MENSAJES</a:t>
            </a:r>
            <a:endParaRPr lang="en-US" sz="1250" dirty="0"/>
          </a:p>
        </p:txBody>
      </p:sp>
      <p:sp>
        <p:nvSpPr>
          <p:cNvPr id="9" name="Text 5"/>
          <p:cNvSpPr txBox="1"/>
          <p:nvPr/>
        </p:nvSpPr>
        <p:spPr>
          <a:xfrm>
            <a:off x="4846320" y="2057400"/>
            <a:ext cx="6245352" cy="1097280"/>
          </a:xfrm>
          <a:prstGeom prst="rect">
            <a:avLst/>
          </a:prstGeom>
          <a:noFill/>
          <a:ln/>
        </p:spPr>
        <p:txBody>
          <a:bodyPr wrap="square" lIns="0" tIns="0" rIns="0" bIns="0" rtlCol="0" anchor="ctr"/>
          <a:lstStyle/>
          <a:p>
            <a:pPr indent="0" marL="0">
              <a:buNone/>
            </a:pPr>
            <a:r>
              <a:rPr lang="en-US" sz="3000" i="1" dirty="0">
                <a:solidFill>
                  <a:srgbClr val="F8F5EE"/>
                </a:solidFill>
                <a:latin typeface="Source Serif Pro" pitchFamily="34" charset="0"/>
                <a:ea typeface="Source Serif Pro" pitchFamily="34" charset="-122"/>
                <a:cs typeface="Source Serif Pro" pitchFamily="34" charset="-120"/>
              </a:rPr>
              <a:t>de lunes a viernes, </a:t>
            </a:r>
            <a:pPr indent="0" marL="0">
              <a:buNone/>
            </a:pPr>
            <a:r>
              <a:rPr lang="en-US" sz="5400" b="1" dirty="0">
                <a:solidFill>
                  <a:srgbClr val="F8F5EE"/>
                </a:solidFill>
                <a:latin typeface="Source Serif Pro" pitchFamily="34" charset="0"/>
                <a:ea typeface="Source Serif Pro" pitchFamily="34" charset="-122"/>
                <a:cs typeface="Source Serif Pro" pitchFamily="34" charset="-120"/>
              </a:rPr>
              <a:t>9 a 18 h</a:t>
            </a:r>
            <a:endParaRPr lang="en-US" sz="3000" dirty="0"/>
          </a:p>
        </p:txBody>
      </p:sp>
      <p:sp>
        <p:nvSpPr>
          <p:cNvPr id="10" name="Text 6"/>
          <p:cNvSpPr txBox="1"/>
          <p:nvPr/>
        </p:nvSpPr>
        <p:spPr>
          <a:xfrm>
            <a:off x="4846320" y="3200400"/>
            <a:ext cx="6245352" cy="365760"/>
          </a:xfrm>
          <a:prstGeom prst="rect">
            <a:avLst/>
          </a:prstGeom>
          <a:noFill/>
          <a:ln/>
        </p:spPr>
        <p:txBody>
          <a:bodyPr wrap="square" lIns="0" tIns="0" rIns="0" bIns="0" rtlCol="0" anchor="ctr"/>
          <a:lstStyle/>
          <a:p>
            <a:pPr indent="0" marL="0">
              <a:buNone/>
            </a:pPr>
            <a:r>
              <a:rPr lang="en-US" sz="1700" i="1" dirty="0">
                <a:solidFill>
                  <a:srgbClr val="EDE5CC"/>
                </a:solidFill>
                <a:latin typeface="Source Serif Pro" pitchFamily="34" charset="0"/>
                <a:ea typeface="Source Serif Pro" pitchFamily="34" charset="-122"/>
                <a:cs typeface="Source Serif Pro" pitchFamily="34" charset="-120"/>
              </a:rPr>
              <a:t>horario de Buenos Aires</a:t>
            </a:r>
            <a:endParaRPr lang="en-US" sz="1700" dirty="0"/>
          </a:p>
        </p:txBody>
      </p:sp>
      <p:sp>
        <p:nvSpPr>
          <p:cNvPr id="11" name="Shape 7"/>
          <p:cNvSpPr/>
          <p:nvPr/>
        </p:nvSpPr>
        <p:spPr>
          <a:xfrm>
            <a:off x="4389120" y="4206240"/>
            <a:ext cx="7159752" cy="1417320"/>
          </a:xfrm>
          <a:prstGeom prst="roundRect">
            <a:avLst>
              <a:gd name="adj" fmla="val 10323"/>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12" name="Shape 8"/>
          <p:cNvSpPr/>
          <p:nvPr/>
        </p:nvSpPr>
        <p:spPr>
          <a:xfrm>
            <a:off x="4754880" y="4526280"/>
            <a:ext cx="777240" cy="777240"/>
          </a:xfrm>
          <a:prstGeom prst="ellipse">
            <a:avLst/>
          </a:prstGeom>
          <a:solidFill>
            <a:srgbClr val="C68C6C"/>
          </a:solidFill>
          <a:ln w="12700">
            <a:solidFill>
              <a:srgbClr val="C68C6C"/>
            </a:solidFill>
            <a:prstDash val="solid"/>
          </a:ln>
        </p:spPr>
      </p:sp>
      <p:pic>
        <p:nvPicPr>
          <p:cNvPr id="13" name="Image 1" descr="preencoded.png">    </p:cNvPr>
          <p:cNvPicPr>
            <a:picLocks noChangeAspect="1"/>
          </p:cNvPicPr>
          <p:nvPr/>
        </p:nvPicPr>
        <p:blipFill>
          <a:blip r:embed="rId2"/>
          <a:stretch>
            <a:fillRect/>
          </a:stretch>
        </p:blipFill>
        <p:spPr>
          <a:xfrm>
            <a:off x="4964735" y="4736135"/>
            <a:ext cx="357530" cy="357530"/>
          </a:xfrm>
          <a:prstGeom prst="rect">
            <a:avLst/>
          </a:prstGeom>
        </p:spPr>
      </p:pic>
      <p:sp>
        <p:nvSpPr>
          <p:cNvPr id="14" name="Text 9"/>
          <p:cNvSpPr txBox="1"/>
          <p:nvPr/>
        </p:nvSpPr>
        <p:spPr>
          <a:xfrm>
            <a:off x="5806440" y="4206240"/>
            <a:ext cx="5422392" cy="1417320"/>
          </a:xfrm>
          <a:prstGeom prst="rect">
            <a:avLst/>
          </a:prstGeom>
          <a:noFill/>
          <a:ln/>
        </p:spPr>
        <p:txBody>
          <a:bodyPr wrap="square" lIns="0" tIns="0" rIns="0" bIns="0" rtlCol="0" anchor="ctr"/>
          <a:lstStyle/>
          <a:p>
            <a:pPr indent="0" marL="0">
              <a:spcAft>
                <a:spcPts val="500"/>
              </a:spcAft>
              <a:buNone/>
            </a:pPr>
            <a:r>
              <a:rPr lang="en-US" sz="1750" b="1" dirty="0">
                <a:solidFill>
                  <a:srgbClr val="81552E"/>
                </a:solidFill>
                <a:latin typeface="Open Sans" pitchFamily="34" charset="0"/>
                <a:ea typeface="Open Sans" pitchFamily="34" charset="-122"/>
                <a:cs typeface="Open Sans" pitchFamily="34" charset="-120"/>
              </a:rPr>
              <a:t>¿Fuera de ese horario o el fin de semana?</a:t>
            </a:r>
            <a:endParaRPr lang="en-US" sz="1750" dirty="0"/>
          </a:p>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Escríbelo igual, con total tranquilidad. El mensaje queda ahí y lo retomo cuando vuelva a estar disponible.</a:t>
            </a:r>
            <a:endParaRPr lang="en-US" sz="1750" dirty="0"/>
          </a:p>
        </p:txBody>
      </p:sp>
      <p:sp>
        <p:nvSpPr>
          <p:cNvPr id="15" name="Text 10"/>
          <p:cNvSpPr txBox="1"/>
          <p:nvPr/>
        </p:nvSpPr>
        <p:spPr>
          <a:xfrm>
            <a:off x="4389120" y="5806440"/>
            <a:ext cx="7159752" cy="411480"/>
          </a:xfrm>
          <a:prstGeom prst="rect">
            <a:avLst/>
          </a:prstGeom>
          <a:noFill/>
          <a:ln/>
        </p:spPr>
        <p:txBody>
          <a:bodyPr wrap="square" lIns="0" tIns="0" rIns="0" bIns="0" rtlCol="0" anchor="ctr"/>
          <a:lstStyle/>
          <a:p>
            <a:pPr algn="ctr" indent="0" marL="0">
              <a:buNone/>
            </a:pPr>
            <a:r>
              <a:rPr lang="en-US" sz="1600" i="1" dirty="0">
                <a:solidFill>
                  <a:srgbClr val="81552E"/>
                </a:solidFill>
                <a:latin typeface="Source Serif Pro" pitchFamily="34" charset="0"/>
                <a:ea typeface="Source Serif Pro" pitchFamily="34" charset="-122"/>
                <a:cs typeface="Source Serif Pro" pitchFamily="34" charset="-120"/>
              </a:rPr>
              <a:t>No tienes que guardarte una duda hasta nuestra próxima sesión.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06 / 09</a:t>
            </a:r>
            <a:endParaRPr lang="en-US" sz="1100" dirty="0"/>
          </a:p>
        </p:txBody>
      </p:sp>
      <p:sp>
        <p:nvSpPr>
          <p:cNvPr id="5" name="Text 1"/>
          <p:cNvSpPr txBox="1"/>
          <p:nvPr/>
        </p:nvSpPr>
        <p:spPr>
          <a:xfrm>
            <a:off x="640080" y="1280160"/>
            <a:ext cx="3429000" cy="1783080"/>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Feedback entre sesiones</a:t>
            </a:r>
            <a:endParaRPr lang="en-US" sz="3400" dirty="0"/>
          </a:p>
        </p:txBody>
      </p:sp>
      <p:sp>
        <p:nvSpPr>
          <p:cNvPr id="6" name="Text 2"/>
          <p:cNvSpPr txBox="1"/>
          <p:nvPr/>
        </p:nvSpPr>
        <p:spPr>
          <a:xfrm>
            <a:off x="640080" y="2596896"/>
            <a:ext cx="3291840" cy="73152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Más adelante en este onboarding te muestro exactamente cómo pedirlo</a:t>
            </a:r>
            <a:endParaRPr lang="en-US" sz="1600" dirty="0"/>
          </a:p>
        </p:txBody>
      </p:sp>
      <p:sp>
        <p:nvSpPr>
          <p:cNvPr id="7" name="Shape 3"/>
          <p:cNvSpPr/>
          <p:nvPr/>
        </p:nvSpPr>
        <p:spPr>
          <a:xfrm>
            <a:off x="4389120" y="1280160"/>
            <a:ext cx="1618488" cy="2606040"/>
          </a:xfrm>
          <a:prstGeom prst="roundRect">
            <a:avLst>
              <a:gd name="adj" fmla="val 904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786884" y="1600200"/>
            <a:ext cx="822960" cy="822960"/>
          </a:xfrm>
          <a:prstGeom prst="ellipse">
            <a:avLst/>
          </a:prstGeom>
          <a:solidFill>
            <a:srgbClr val="C68C6C"/>
          </a:solidFill>
          <a:ln w="12700">
            <a:solidFill>
              <a:srgbClr val="C68C6C"/>
            </a:solidFill>
            <a:prstDash val="solid"/>
          </a:ln>
        </p:spPr>
      </p:sp>
      <p:pic>
        <p:nvPicPr>
          <p:cNvPr id="9" name="Image 1" descr="preencoded.png">    </p:cNvPr>
          <p:cNvPicPr>
            <a:picLocks noChangeAspect="1"/>
          </p:cNvPicPr>
          <p:nvPr/>
        </p:nvPicPr>
        <p:blipFill>
          <a:blip r:embed="rId2"/>
          <a:stretch>
            <a:fillRect/>
          </a:stretch>
        </p:blipFill>
        <p:spPr>
          <a:xfrm>
            <a:off x="5009083" y="1822399"/>
            <a:ext cx="378562" cy="378562"/>
          </a:xfrm>
          <a:prstGeom prst="rect">
            <a:avLst/>
          </a:prstGeom>
        </p:spPr>
      </p:pic>
      <p:sp>
        <p:nvSpPr>
          <p:cNvPr id="10" name="Text 5"/>
          <p:cNvSpPr txBox="1"/>
          <p:nvPr/>
        </p:nvSpPr>
        <p:spPr>
          <a:xfrm>
            <a:off x="4526280" y="2560320"/>
            <a:ext cx="1344168" cy="1143000"/>
          </a:xfrm>
          <a:prstGeom prst="rect">
            <a:avLst/>
          </a:prstGeom>
          <a:noFill/>
          <a:ln/>
        </p:spPr>
        <p:txBody>
          <a:bodyPr wrap="square" lIns="0" tIns="0" rIns="0" bIns="0" rtlCol="0" anchor="ctr"/>
          <a:lstStyle/>
          <a:p>
            <a:pPr algn="ctr" indent="0" marL="0">
              <a:buNone/>
            </a:pPr>
            <a:r>
              <a:rPr lang="en-US" sz="1350" b="1" dirty="0">
                <a:solidFill>
                  <a:srgbClr val="81552E"/>
                </a:solidFill>
                <a:latin typeface="Open Sans" pitchFamily="34" charset="0"/>
                <a:ea typeface="Open Sans" pitchFamily="34" charset="-122"/>
                <a:cs typeface="Open Sans" pitchFamily="34" charset="-120"/>
              </a:rPr>
              <a:t>Una práctica</a:t>
            </a:r>
            <a:endParaRPr lang="en-US" sz="1350" dirty="0"/>
          </a:p>
        </p:txBody>
      </p:sp>
      <p:sp>
        <p:nvSpPr>
          <p:cNvPr id="11" name="Shape 6"/>
          <p:cNvSpPr/>
          <p:nvPr/>
        </p:nvSpPr>
        <p:spPr>
          <a:xfrm>
            <a:off x="6236208" y="1280160"/>
            <a:ext cx="1618488" cy="2606040"/>
          </a:xfrm>
          <a:prstGeom prst="roundRect">
            <a:avLst>
              <a:gd name="adj" fmla="val 904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2" name="Shape 7"/>
          <p:cNvSpPr/>
          <p:nvPr/>
        </p:nvSpPr>
        <p:spPr>
          <a:xfrm>
            <a:off x="6633972" y="1600200"/>
            <a:ext cx="822960" cy="822960"/>
          </a:xfrm>
          <a:prstGeom prst="ellipse">
            <a:avLst/>
          </a:prstGeom>
          <a:solidFill>
            <a:srgbClr val="C68C6C"/>
          </a:solidFill>
          <a:ln w="12700">
            <a:solidFill>
              <a:srgbClr val="C68C6C"/>
            </a:solidFill>
            <a:prstDash val="solid"/>
          </a:ln>
        </p:spPr>
      </p:sp>
      <p:pic>
        <p:nvPicPr>
          <p:cNvPr id="13" name="Image 2" descr="preencoded.png">    </p:cNvPr>
          <p:cNvPicPr>
            <a:picLocks noChangeAspect="1"/>
          </p:cNvPicPr>
          <p:nvPr/>
        </p:nvPicPr>
        <p:blipFill>
          <a:blip r:embed="rId3"/>
          <a:stretch>
            <a:fillRect/>
          </a:stretch>
        </p:blipFill>
        <p:spPr>
          <a:xfrm>
            <a:off x="6856171" y="1822399"/>
            <a:ext cx="378562" cy="378562"/>
          </a:xfrm>
          <a:prstGeom prst="rect">
            <a:avLst/>
          </a:prstGeom>
        </p:spPr>
      </p:pic>
      <p:sp>
        <p:nvSpPr>
          <p:cNvPr id="14" name="Text 8"/>
          <p:cNvSpPr txBox="1"/>
          <p:nvPr/>
        </p:nvSpPr>
        <p:spPr>
          <a:xfrm>
            <a:off x="6373368" y="2560320"/>
            <a:ext cx="1344168" cy="1143000"/>
          </a:xfrm>
          <a:prstGeom prst="rect">
            <a:avLst/>
          </a:prstGeom>
          <a:noFill/>
          <a:ln/>
        </p:spPr>
        <p:txBody>
          <a:bodyPr wrap="square" lIns="0" tIns="0" rIns="0" bIns="0" rtlCol="0" anchor="ctr"/>
          <a:lstStyle/>
          <a:p>
            <a:pPr algn="ctr" indent="0" marL="0">
              <a:buNone/>
            </a:pPr>
            <a:r>
              <a:rPr lang="en-US" sz="1350" b="1" dirty="0">
                <a:solidFill>
                  <a:srgbClr val="81552E"/>
                </a:solidFill>
                <a:latin typeface="Open Sans" pitchFamily="34" charset="0"/>
                <a:ea typeface="Open Sans" pitchFamily="34" charset="-122"/>
                <a:cs typeface="Open Sans" pitchFamily="34" charset="-120"/>
              </a:rPr>
              <a:t>Una respuesta que estés preparando</a:t>
            </a:r>
            <a:endParaRPr lang="en-US" sz="1350" dirty="0"/>
          </a:p>
        </p:txBody>
      </p:sp>
      <p:sp>
        <p:nvSpPr>
          <p:cNvPr id="15" name="Shape 9"/>
          <p:cNvSpPr/>
          <p:nvPr/>
        </p:nvSpPr>
        <p:spPr>
          <a:xfrm>
            <a:off x="8083296" y="1280160"/>
            <a:ext cx="1618488" cy="2606040"/>
          </a:xfrm>
          <a:prstGeom prst="roundRect">
            <a:avLst>
              <a:gd name="adj" fmla="val 904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6" name="Shape 10"/>
          <p:cNvSpPr/>
          <p:nvPr/>
        </p:nvSpPr>
        <p:spPr>
          <a:xfrm>
            <a:off x="8481060" y="1600200"/>
            <a:ext cx="822960" cy="822960"/>
          </a:xfrm>
          <a:prstGeom prst="ellipse">
            <a:avLst/>
          </a:prstGeom>
          <a:solidFill>
            <a:srgbClr val="C68C6C"/>
          </a:solidFill>
          <a:ln w="12700">
            <a:solidFill>
              <a:srgbClr val="C68C6C"/>
            </a:solidFill>
            <a:prstDash val="solid"/>
          </a:ln>
        </p:spPr>
      </p:sp>
      <p:pic>
        <p:nvPicPr>
          <p:cNvPr id="17" name="Image 3" descr="preencoded.png">    </p:cNvPr>
          <p:cNvPicPr>
            <a:picLocks noChangeAspect="1"/>
          </p:cNvPicPr>
          <p:nvPr/>
        </p:nvPicPr>
        <p:blipFill>
          <a:blip r:embed="rId4"/>
          <a:stretch>
            <a:fillRect/>
          </a:stretch>
        </p:blipFill>
        <p:spPr>
          <a:xfrm>
            <a:off x="8703259" y="1822399"/>
            <a:ext cx="378562" cy="378562"/>
          </a:xfrm>
          <a:prstGeom prst="rect">
            <a:avLst/>
          </a:prstGeom>
        </p:spPr>
      </p:pic>
      <p:sp>
        <p:nvSpPr>
          <p:cNvPr id="18" name="Text 11"/>
          <p:cNvSpPr txBox="1"/>
          <p:nvPr/>
        </p:nvSpPr>
        <p:spPr>
          <a:xfrm>
            <a:off x="8220456" y="2560320"/>
            <a:ext cx="1344168" cy="1143000"/>
          </a:xfrm>
          <a:prstGeom prst="rect">
            <a:avLst/>
          </a:prstGeom>
          <a:noFill/>
          <a:ln/>
        </p:spPr>
        <p:txBody>
          <a:bodyPr wrap="square" lIns="0" tIns="0" rIns="0" bIns="0" rtlCol="0" anchor="ctr"/>
          <a:lstStyle/>
          <a:p>
            <a:pPr algn="ctr" indent="0" marL="0">
              <a:buNone/>
            </a:pPr>
            <a:r>
              <a:rPr lang="en-US" sz="1350" b="1" dirty="0">
                <a:solidFill>
                  <a:srgbClr val="81552E"/>
                </a:solidFill>
                <a:latin typeface="Open Sans" pitchFamily="34" charset="0"/>
                <a:ea typeface="Open Sans" pitchFamily="34" charset="-122"/>
                <a:cs typeface="Open Sans" pitchFamily="34" charset="-120"/>
              </a:rPr>
              <a:t>Un mensaje que quieras comunicar con más claridad</a:t>
            </a:r>
            <a:endParaRPr lang="en-US" sz="1350" dirty="0"/>
          </a:p>
        </p:txBody>
      </p:sp>
      <p:sp>
        <p:nvSpPr>
          <p:cNvPr id="19" name="Shape 12"/>
          <p:cNvSpPr/>
          <p:nvPr/>
        </p:nvSpPr>
        <p:spPr>
          <a:xfrm>
            <a:off x="9930384" y="1280160"/>
            <a:ext cx="1618488" cy="2606040"/>
          </a:xfrm>
          <a:prstGeom prst="roundRect">
            <a:avLst>
              <a:gd name="adj" fmla="val 904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0" name="Shape 13"/>
          <p:cNvSpPr/>
          <p:nvPr/>
        </p:nvSpPr>
        <p:spPr>
          <a:xfrm>
            <a:off x="10328148" y="1600200"/>
            <a:ext cx="822960" cy="822960"/>
          </a:xfrm>
          <a:prstGeom prst="ellipse">
            <a:avLst/>
          </a:prstGeom>
          <a:solidFill>
            <a:srgbClr val="C68C6C"/>
          </a:solidFill>
          <a:ln w="12700">
            <a:solidFill>
              <a:srgbClr val="C68C6C"/>
            </a:solidFill>
            <a:prstDash val="solid"/>
          </a:ln>
        </p:spPr>
      </p:sp>
      <p:pic>
        <p:nvPicPr>
          <p:cNvPr id="21" name="Image 4" descr="preencoded.png">    </p:cNvPr>
          <p:cNvPicPr>
            <a:picLocks noChangeAspect="1"/>
          </p:cNvPicPr>
          <p:nvPr/>
        </p:nvPicPr>
        <p:blipFill>
          <a:blip r:embed="rId5"/>
          <a:stretch>
            <a:fillRect/>
          </a:stretch>
        </p:blipFill>
        <p:spPr>
          <a:xfrm>
            <a:off x="10550347" y="1822399"/>
            <a:ext cx="378562" cy="378562"/>
          </a:xfrm>
          <a:prstGeom prst="rect">
            <a:avLst/>
          </a:prstGeom>
        </p:spPr>
      </p:pic>
      <p:sp>
        <p:nvSpPr>
          <p:cNvPr id="22" name="Text 14"/>
          <p:cNvSpPr txBox="1"/>
          <p:nvPr/>
        </p:nvSpPr>
        <p:spPr>
          <a:xfrm>
            <a:off x="10067544" y="2560320"/>
            <a:ext cx="1344168" cy="1143000"/>
          </a:xfrm>
          <a:prstGeom prst="rect">
            <a:avLst/>
          </a:prstGeom>
          <a:noFill/>
          <a:ln/>
        </p:spPr>
        <p:txBody>
          <a:bodyPr wrap="square" lIns="0" tIns="0" rIns="0" bIns="0" rtlCol="0" anchor="ctr"/>
          <a:lstStyle/>
          <a:p>
            <a:pPr algn="ctr" indent="0" marL="0">
              <a:buNone/>
            </a:pPr>
            <a:r>
              <a:rPr lang="en-US" sz="1350" b="1" dirty="0">
                <a:solidFill>
                  <a:srgbClr val="81552E"/>
                </a:solidFill>
                <a:latin typeface="Open Sans" pitchFamily="34" charset="0"/>
                <a:ea typeface="Open Sans" pitchFamily="34" charset="-122"/>
                <a:cs typeface="Open Sans" pitchFamily="34" charset="-120"/>
              </a:rPr>
              <a:t>Algo puntual que quieras revisar</a:t>
            </a:r>
            <a:endParaRPr lang="en-US" sz="1350" dirty="0"/>
          </a:p>
        </p:txBody>
      </p:sp>
      <p:sp>
        <p:nvSpPr>
          <p:cNvPr id="23" name="Shape 15"/>
          <p:cNvSpPr/>
          <p:nvPr/>
        </p:nvSpPr>
        <p:spPr>
          <a:xfrm>
            <a:off x="4389120" y="4206240"/>
            <a:ext cx="7159752" cy="1965960"/>
          </a:xfrm>
          <a:prstGeom prst="roundRect">
            <a:avLst>
              <a:gd name="adj" fmla="val 7442"/>
            </a:avLst>
          </a:prstGeom>
          <a:solidFill>
            <a:srgbClr val="81552E"/>
          </a:solidFill>
          <a:ln w="12700">
            <a:solidFill>
              <a:srgbClr val="81552E"/>
            </a:solidFill>
            <a:prstDash val="solid"/>
          </a:ln>
          <a:effectLst>
            <a:outerShdw sx="100000" sy="100000" kx="0" ky="0" algn="bl" rotWithShape="0" blurRad="177800" dist="38100" dir="5400000">
              <a:srgbClr val="3F1E0D">
                <a:alpha val="10000"/>
              </a:srgbClr>
            </a:outerShdw>
          </a:effectLst>
        </p:spPr>
      </p:sp>
      <p:sp>
        <p:nvSpPr>
          <p:cNvPr id="24" name="Shape 16"/>
          <p:cNvSpPr/>
          <p:nvPr/>
        </p:nvSpPr>
        <p:spPr>
          <a:xfrm>
            <a:off x="4754880" y="4800600"/>
            <a:ext cx="777240" cy="777240"/>
          </a:xfrm>
          <a:prstGeom prst="ellipse">
            <a:avLst/>
          </a:prstGeom>
          <a:solidFill>
            <a:srgbClr val="C68C6C"/>
          </a:solidFill>
          <a:ln w="12700">
            <a:solidFill>
              <a:srgbClr val="C68C6C"/>
            </a:solidFill>
            <a:prstDash val="solid"/>
          </a:ln>
        </p:spPr>
      </p:sp>
      <p:pic>
        <p:nvPicPr>
          <p:cNvPr id="25" name="Image 5" descr="preencoded.png">    </p:cNvPr>
          <p:cNvPicPr>
            <a:picLocks noChangeAspect="1"/>
          </p:cNvPicPr>
          <p:nvPr/>
        </p:nvPicPr>
        <p:blipFill>
          <a:blip r:embed="rId6"/>
          <a:stretch>
            <a:fillRect/>
          </a:stretch>
        </p:blipFill>
        <p:spPr>
          <a:xfrm>
            <a:off x="4964735" y="5010455"/>
            <a:ext cx="357530" cy="357530"/>
          </a:xfrm>
          <a:prstGeom prst="rect">
            <a:avLst/>
          </a:prstGeom>
        </p:spPr>
      </p:pic>
      <p:sp>
        <p:nvSpPr>
          <p:cNvPr id="26" name="Text 17"/>
          <p:cNvSpPr txBox="1"/>
          <p:nvPr/>
        </p:nvSpPr>
        <p:spPr>
          <a:xfrm>
            <a:off x="5806440" y="4206240"/>
            <a:ext cx="5422392" cy="1965960"/>
          </a:xfrm>
          <a:prstGeom prst="rect">
            <a:avLst/>
          </a:prstGeom>
          <a:noFill/>
          <a:ln/>
        </p:spPr>
        <p:txBody>
          <a:bodyPr wrap="square" lIns="0" tIns="0" rIns="0" bIns="0" rtlCol="0" anchor="ctr"/>
          <a:lstStyle/>
          <a:p>
            <a:pPr indent="0" marL="0">
              <a:spcAft>
                <a:spcPts val="500"/>
              </a:spcAft>
              <a:buNone/>
            </a:pPr>
            <a:r>
              <a:rPr lang="en-US" sz="1750" b="1" dirty="0">
                <a:solidFill>
                  <a:srgbClr val="F8F5EE"/>
                </a:solidFill>
                <a:latin typeface="Open Sans" pitchFamily="34" charset="0"/>
                <a:ea typeface="Open Sans" pitchFamily="34" charset="-122"/>
                <a:cs typeface="Open Sans" pitchFamily="34" charset="-120"/>
              </a:rPr>
              <a:t>¿Algo más grande?</a:t>
            </a:r>
            <a:endParaRPr lang="en-US" sz="1750" dirty="0"/>
          </a:p>
          <a:p>
            <a:pPr indent="0" marL="0">
              <a:spcAft>
                <a:spcPts val="500"/>
              </a:spcAft>
              <a:buNone/>
            </a:pPr>
            <a:r>
              <a:rPr lang="en-US" sz="1500" dirty="0">
                <a:solidFill>
                  <a:srgbClr val="EDE5CC"/>
                </a:solidFill>
                <a:latin typeface="Open Sans" pitchFamily="34" charset="0"/>
                <a:ea typeface="Open Sans" pitchFamily="34" charset="-122"/>
                <a:cs typeface="Open Sans" pitchFamily="34" charset="-120"/>
              </a:rPr>
              <a:t>Una presentación completa, una conversación compleja o algo que necesita bastante contexto: lo dejamos para la sesión 1:1, donde le damos el tiempo y la profundidad que merece.</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07 / 09</a:t>
            </a:r>
            <a:endParaRPr lang="en-US" sz="1100" dirty="0"/>
          </a:p>
        </p:txBody>
      </p:sp>
      <p:sp>
        <p:nvSpPr>
          <p:cNvPr id="5" name="Text 1"/>
          <p:cNvSpPr txBox="1"/>
          <p:nvPr/>
        </p:nvSpPr>
        <p:spPr>
          <a:xfrm>
            <a:off x="640080" y="1280160"/>
            <a:ext cx="3429000" cy="1783080"/>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Trabajamos con tu contexto real</a:t>
            </a:r>
            <a:endParaRPr lang="en-US" sz="3400" dirty="0"/>
          </a:p>
        </p:txBody>
      </p:sp>
      <p:sp>
        <p:nvSpPr>
          <p:cNvPr id="6" name="Text 2"/>
          <p:cNvSpPr txBox="1"/>
          <p:nvPr/>
        </p:nvSpPr>
        <p:spPr>
          <a:xfrm>
            <a:off x="640080" y="2596896"/>
            <a:ext cx="3291840" cy="73152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No con un inglés desconectado de tu vida profesional</a:t>
            </a:r>
            <a:endParaRPr lang="en-US" sz="1600" dirty="0"/>
          </a:p>
        </p:txBody>
      </p:sp>
      <p:sp>
        <p:nvSpPr>
          <p:cNvPr id="7" name="Text 3"/>
          <p:cNvSpPr txBox="1"/>
          <p:nvPr/>
        </p:nvSpPr>
        <p:spPr>
          <a:xfrm>
            <a:off x="4389120" y="1280160"/>
            <a:ext cx="7159752" cy="320040"/>
          </a:xfrm>
          <a:prstGeom prst="rect">
            <a:avLst/>
          </a:prstGeom>
          <a:noFill/>
          <a:ln/>
        </p:spPr>
        <p:txBody>
          <a:bodyPr wrap="square" lIns="0" tIns="0" rIns="0" bIns="0" rtlCol="0" anchor="ctr"/>
          <a:lstStyle/>
          <a:p>
            <a:pPr indent="0" marL="0">
              <a:buNone/>
            </a:pPr>
            <a:r>
              <a:rPr lang="en-US" sz="1150" b="1" spc="200" kern="0" dirty="0">
                <a:solidFill>
                  <a:srgbClr val="C68C6C"/>
                </a:solidFill>
                <a:latin typeface="Open Sans" pitchFamily="34" charset="0"/>
                <a:ea typeface="Open Sans" pitchFamily="34" charset="-122"/>
                <a:cs typeface="Open Sans" pitchFamily="34" charset="-120"/>
              </a:rPr>
              <a:t>TRAE SITUACIONES Y MATERIALES REALES DE TU TRABAJO</a:t>
            </a:r>
            <a:endParaRPr lang="en-US" sz="1150" dirty="0"/>
          </a:p>
        </p:txBody>
      </p:sp>
      <p:sp>
        <p:nvSpPr>
          <p:cNvPr id="8" name="Shape 4"/>
          <p:cNvSpPr/>
          <p:nvPr/>
        </p:nvSpPr>
        <p:spPr>
          <a:xfrm>
            <a:off x="4389120" y="1737360"/>
            <a:ext cx="3465576" cy="777240"/>
          </a:xfrm>
          <a:prstGeom prst="roundRect">
            <a:avLst>
              <a:gd name="adj" fmla="val 18824"/>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9" name="Shape 5"/>
          <p:cNvSpPr/>
          <p:nvPr/>
        </p:nvSpPr>
        <p:spPr>
          <a:xfrm>
            <a:off x="4590288" y="1860804"/>
            <a:ext cx="530352" cy="530352"/>
          </a:xfrm>
          <a:prstGeom prst="ellipse">
            <a:avLst/>
          </a:prstGeom>
          <a:solidFill>
            <a:srgbClr val="FBF2D0"/>
          </a:solidFill>
          <a:ln w="12700">
            <a:solidFill>
              <a:srgbClr val="FBF2D0"/>
            </a:solidFill>
            <a:prstDash val="solid"/>
          </a:ln>
        </p:spPr>
      </p:sp>
      <p:pic>
        <p:nvPicPr>
          <p:cNvPr id="10" name="Image 1" descr="preencoded.png">    </p:cNvPr>
          <p:cNvPicPr>
            <a:picLocks noChangeAspect="1"/>
          </p:cNvPicPr>
          <p:nvPr/>
        </p:nvPicPr>
        <p:blipFill>
          <a:blip r:embed="rId2"/>
          <a:stretch>
            <a:fillRect/>
          </a:stretch>
        </p:blipFill>
        <p:spPr>
          <a:xfrm>
            <a:off x="4733483" y="2003999"/>
            <a:ext cx="243962" cy="243962"/>
          </a:xfrm>
          <a:prstGeom prst="rect">
            <a:avLst/>
          </a:prstGeom>
        </p:spPr>
      </p:pic>
      <p:sp>
        <p:nvSpPr>
          <p:cNvPr id="11" name="Text 6"/>
          <p:cNvSpPr txBox="1"/>
          <p:nvPr/>
        </p:nvSpPr>
        <p:spPr>
          <a:xfrm>
            <a:off x="5285232" y="1737360"/>
            <a:ext cx="2414016" cy="777240"/>
          </a:xfrm>
          <a:prstGeom prst="rect">
            <a:avLst/>
          </a:prstGeom>
          <a:noFill/>
          <a:ln/>
        </p:spPr>
        <p:txBody>
          <a:bodyPr wrap="square" lIns="0" tIns="0" rIns="0" bIns="0" rtlCol="0" anchor="ctr"/>
          <a:lstStyle/>
          <a:p>
            <a:pPr indent="0" marL="0">
              <a:buNone/>
            </a:pPr>
            <a:r>
              <a:rPr lang="en-US" sz="1500" b="1" dirty="0">
                <a:solidFill>
                  <a:srgbClr val="81552E"/>
                </a:solidFill>
                <a:latin typeface="Open Sans" pitchFamily="34" charset="0"/>
                <a:ea typeface="Open Sans" pitchFamily="34" charset="-122"/>
                <a:cs typeface="Open Sans" pitchFamily="34" charset="-120"/>
              </a:rPr>
              <a:t>Presentaciones</a:t>
            </a:r>
            <a:endParaRPr lang="en-US" sz="1500" dirty="0"/>
          </a:p>
        </p:txBody>
      </p:sp>
      <p:sp>
        <p:nvSpPr>
          <p:cNvPr id="12" name="Shape 7"/>
          <p:cNvSpPr/>
          <p:nvPr/>
        </p:nvSpPr>
        <p:spPr>
          <a:xfrm>
            <a:off x="8083296" y="1737360"/>
            <a:ext cx="3465576" cy="777240"/>
          </a:xfrm>
          <a:prstGeom prst="roundRect">
            <a:avLst>
              <a:gd name="adj" fmla="val 18824"/>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8"/>
          <p:cNvSpPr/>
          <p:nvPr/>
        </p:nvSpPr>
        <p:spPr>
          <a:xfrm>
            <a:off x="8284464" y="1860804"/>
            <a:ext cx="530352" cy="530352"/>
          </a:xfrm>
          <a:prstGeom prst="ellipse">
            <a:avLst/>
          </a:prstGeom>
          <a:solidFill>
            <a:srgbClr val="FBF2D0"/>
          </a:solidFill>
          <a:ln w="12700">
            <a:solidFill>
              <a:srgbClr val="FBF2D0"/>
            </a:solidFill>
            <a:prstDash val="solid"/>
          </a:ln>
        </p:spPr>
      </p:sp>
      <p:pic>
        <p:nvPicPr>
          <p:cNvPr id="14" name="Image 2" descr="preencoded.png">    </p:cNvPr>
          <p:cNvPicPr>
            <a:picLocks noChangeAspect="1"/>
          </p:cNvPicPr>
          <p:nvPr/>
        </p:nvPicPr>
        <p:blipFill>
          <a:blip r:embed="rId3"/>
          <a:stretch>
            <a:fillRect/>
          </a:stretch>
        </p:blipFill>
        <p:spPr>
          <a:xfrm>
            <a:off x="8427659" y="2003999"/>
            <a:ext cx="243962" cy="243962"/>
          </a:xfrm>
          <a:prstGeom prst="rect">
            <a:avLst/>
          </a:prstGeom>
        </p:spPr>
      </p:pic>
      <p:sp>
        <p:nvSpPr>
          <p:cNvPr id="15" name="Text 9"/>
          <p:cNvSpPr txBox="1"/>
          <p:nvPr/>
        </p:nvSpPr>
        <p:spPr>
          <a:xfrm>
            <a:off x="8979408" y="1737360"/>
            <a:ext cx="2414016" cy="777240"/>
          </a:xfrm>
          <a:prstGeom prst="rect">
            <a:avLst/>
          </a:prstGeom>
          <a:noFill/>
          <a:ln/>
        </p:spPr>
        <p:txBody>
          <a:bodyPr wrap="square" lIns="0" tIns="0" rIns="0" bIns="0" rtlCol="0" anchor="ctr"/>
          <a:lstStyle/>
          <a:p>
            <a:pPr indent="0" marL="0">
              <a:buNone/>
            </a:pPr>
            <a:r>
              <a:rPr lang="en-US" sz="1500" b="1" dirty="0">
                <a:solidFill>
                  <a:srgbClr val="81552E"/>
                </a:solidFill>
                <a:latin typeface="Open Sans" pitchFamily="34" charset="0"/>
                <a:ea typeface="Open Sans" pitchFamily="34" charset="-122"/>
                <a:cs typeface="Open Sans" pitchFamily="34" charset="-120"/>
              </a:rPr>
              <a:t>Emails</a:t>
            </a:r>
            <a:endParaRPr lang="en-US" sz="1500" dirty="0"/>
          </a:p>
        </p:txBody>
      </p:sp>
      <p:sp>
        <p:nvSpPr>
          <p:cNvPr id="16" name="Shape 10"/>
          <p:cNvSpPr/>
          <p:nvPr/>
        </p:nvSpPr>
        <p:spPr>
          <a:xfrm>
            <a:off x="4389120" y="2697480"/>
            <a:ext cx="3465576" cy="777240"/>
          </a:xfrm>
          <a:prstGeom prst="roundRect">
            <a:avLst>
              <a:gd name="adj" fmla="val 18824"/>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7" name="Shape 11"/>
          <p:cNvSpPr/>
          <p:nvPr/>
        </p:nvSpPr>
        <p:spPr>
          <a:xfrm>
            <a:off x="4590288" y="2820924"/>
            <a:ext cx="530352" cy="530352"/>
          </a:xfrm>
          <a:prstGeom prst="ellipse">
            <a:avLst/>
          </a:prstGeom>
          <a:solidFill>
            <a:srgbClr val="FBF2D0"/>
          </a:solidFill>
          <a:ln w="12700">
            <a:solidFill>
              <a:srgbClr val="FBF2D0"/>
            </a:solidFill>
            <a:prstDash val="solid"/>
          </a:ln>
        </p:spPr>
      </p:sp>
      <p:pic>
        <p:nvPicPr>
          <p:cNvPr id="18" name="Image 3" descr="preencoded.png">    </p:cNvPr>
          <p:cNvPicPr>
            <a:picLocks noChangeAspect="1"/>
          </p:cNvPicPr>
          <p:nvPr/>
        </p:nvPicPr>
        <p:blipFill>
          <a:blip r:embed="rId4"/>
          <a:stretch>
            <a:fillRect/>
          </a:stretch>
        </p:blipFill>
        <p:spPr>
          <a:xfrm>
            <a:off x="4733483" y="2964119"/>
            <a:ext cx="243962" cy="243962"/>
          </a:xfrm>
          <a:prstGeom prst="rect">
            <a:avLst/>
          </a:prstGeom>
        </p:spPr>
      </p:pic>
      <p:sp>
        <p:nvSpPr>
          <p:cNvPr id="19" name="Text 12"/>
          <p:cNvSpPr txBox="1"/>
          <p:nvPr/>
        </p:nvSpPr>
        <p:spPr>
          <a:xfrm>
            <a:off x="5285232" y="2697480"/>
            <a:ext cx="2414016" cy="777240"/>
          </a:xfrm>
          <a:prstGeom prst="rect">
            <a:avLst/>
          </a:prstGeom>
          <a:noFill/>
          <a:ln/>
        </p:spPr>
        <p:txBody>
          <a:bodyPr wrap="square" lIns="0" tIns="0" rIns="0" bIns="0" rtlCol="0" anchor="ctr"/>
          <a:lstStyle/>
          <a:p>
            <a:pPr indent="0" marL="0">
              <a:buNone/>
            </a:pPr>
            <a:r>
              <a:rPr lang="en-US" sz="1500" b="1" dirty="0">
                <a:solidFill>
                  <a:srgbClr val="81552E"/>
                </a:solidFill>
                <a:latin typeface="Open Sans" pitchFamily="34" charset="0"/>
                <a:ea typeface="Open Sans" pitchFamily="34" charset="-122"/>
                <a:cs typeface="Open Sans" pitchFamily="34" charset="-120"/>
              </a:rPr>
              <a:t>Transcripciones</a:t>
            </a:r>
            <a:endParaRPr lang="en-US" sz="1500" dirty="0"/>
          </a:p>
        </p:txBody>
      </p:sp>
      <p:sp>
        <p:nvSpPr>
          <p:cNvPr id="20" name="Shape 13"/>
          <p:cNvSpPr/>
          <p:nvPr/>
        </p:nvSpPr>
        <p:spPr>
          <a:xfrm>
            <a:off x="8083296" y="2697480"/>
            <a:ext cx="3465576" cy="777240"/>
          </a:xfrm>
          <a:prstGeom prst="roundRect">
            <a:avLst>
              <a:gd name="adj" fmla="val 18824"/>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1" name="Shape 14"/>
          <p:cNvSpPr/>
          <p:nvPr/>
        </p:nvSpPr>
        <p:spPr>
          <a:xfrm>
            <a:off x="8284464" y="2820924"/>
            <a:ext cx="530352" cy="530352"/>
          </a:xfrm>
          <a:prstGeom prst="ellipse">
            <a:avLst/>
          </a:prstGeom>
          <a:solidFill>
            <a:srgbClr val="FBF2D0"/>
          </a:solidFill>
          <a:ln w="12700">
            <a:solidFill>
              <a:srgbClr val="FBF2D0"/>
            </a:solidFill>
            <a:prstDash val="solid"/>
          </a:ln>
        </p:spPr>
      </p:sp>
      <p:pic>
        <p:nvPicPr>
          <p:cNvPr id="22" name="Image 4" descr="preencoded.png">    </p:cNvPr>
          <p:cNvPicPr>
            <a:picLocks noChangeAspect="1"/>
          </p:cNvPicPr>
          <p:nvPr/>
        </p:nvPicPr>
        <p:blipFill>
          <a:blip r:embed="rId5"/>
          <a:stretch>
            <a:fillRect/>
          </a:stretch>
        </p:blipFill>
        <p:spPr>
          <a:xfrm>
            <a:off x="8427659" y="2964119"/>
            <a:ext cx="243962" cy="243962"/>
          </a:xfrm>
          <a:prstGeom prst="rect">
            <a:avLst/>
          </a:prstGeom>
        </p:spPr>
      </p:pic>
      <p:sp>
        <p:nvSpPr>
          <p:cNvPr id="23" name="Text 15"/>
          <p:cNvSpPr txBox="1"/>
          <p:nvPr/>
        </p:nvSpPr>
        <p:spPr>
          <a:xfrm>
            <a:off x="8979408" y="2697480"/>
            <a:ext cx="2414016" cy="777240"/>
          </a:xfrm>
          <a:prstGeom prst="rect">
            <a:avLst/>
          </a:prstGeom>
          <a:noFill/>
          <a:ln/>
        </p:spPr>
        <p:txBody>
          <a:bodyPr wrap="square" lIns="0" tIns="0" rIns="0" bIns="0" rtlCol="0" anchor="ctr"/>
          <a:lstStyle/>
          <a:p>
            <a:pPr indent="0" marL="0">
              <a:buNone/>
            </a:pPr>
            <a:r>
              <a:rPr lang="en-US" sz="1500" b="1" dirty="0">
                <a:solidFill>
                  <a:srgbClr val="81552E"/>
                </a:solidFill>
                <a:latin typeface="Open Sans" pitchFamily="34" charset="0"/>
                <a:ea typeface="Open Sans" pitchFamily="34" charset="-122"/>
                <a:cs typeface="Open Sans" pitchFamily="34" charset="-120"/>
              </a:rPr>
              <a:t>Capturas</a:t>
            </a:r>
            <a:endParaRPr lang="en-US" sz="1500" dirty="0"/>
          </a:p>
        </p:txBody>
      </p:sp>
      <p:sp>
        <p:nvSpPr>
          <p:cNvPr id="24" name="Shape 16"/>
          <p:cNvSpPr/>
          <p:nvPr/>
        </p:nvSpPr>
        <p:spPr>
          <a:xfrm>
            <a:off x="4389120" y="3657600"/>
            <a:ext cx="3465576" cy="777240"/>
          </a:xfrm>
          <a:prstGeom prst="roundRect">
            <a:avLst>
              <a:gd name="adj" fmla="val 18824"/>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5" name="Shape 17"/>
          <p:cNvSpPr/>
          <p:nvPr/>
        </p:nvSpPr>
        <p:spPr>
          <a:xfrm>
            <a:off x="4590288" y="3781044"/>
            <a:ext cx="530352" cy="530352"/>
          </a:xfrm>
          <a:prstGeom prst="ellipse">
            <a:avLst/>
          </a:prstGeom>
          <a:solidFill>
            <a:srgbClr val="FBF2D0"/>
          </a:solidFill>
          <a:ln w="12700">
            <a:solidFill>
              <a:srgbClr val="FBF2D0"/>
            </a:solidFill>
            <a:prstDash val="solid"/>
          </a:ln>
        </p:spPr>
      </p:sp>
      <p:pic>
        <p:nvPicPr>
          <p:cNvPr id="26" name="Image 5" descr="preencoded.png">    </p:cNvPr>
          <p:cNvPicPr>
            <a:picLocks noChangeAspect="1"/>
          </p:cNvPicPr>
          <p:nvPr/>
        </p:nvPicPr>
        <p:blipFill>
          <a:blip r:embed="rId6"/>
          <a:stretch>
            <a:fillRect/>
          </a:stretch>
        </p:blipFill>
        <p:spPr>
          <a:xfrm>
            <a:off x="4733483" y="3924239"/>
            <a:ext cx="243962" cy="243962"/>
          </a:xfrm>
          <a:prstGeom prst="rect">
            <a:avLst/>
          </a:prstGeom>
        </p:spPr>
      </p:pic>
      <p:sp>
        <p:nvSpPr>
          <p:cNvPr id="27" name="Text 18"/>
          <p:cNvSpPr txBox="1"/>
          <p:nvPr/>
        </p:nvSpPr>
        <p:spPr>
          <a:xfrm>
            <a:off x="5285232" y="3657600"/>
            <a:ext cx="2414016" cy="777240"/>
          </a:xfrm>
          <a:prstGeom prst="rect">
            <a:avLst/>
          </a:prstGeom>
          <a:noFill/>
          <a:ln/>
        </p:spPr>
        <p:txBody>
          <a:bodyPr wrap="square" lIns="0" tIns="0" rIns="0" bIns="0" rtlCol="0" anchor="ctr"/>
          <a:lstStyle/>
          <a:p>
            <a:pPr indent="0" marL="0">
              <a:buNone/>
            </a:pPr>
            <a:r>
              <a:rPr lang="en-US" sz="1500" b="1" dirty="0">
                <a:solidFill>
                  <a:srgbClr val="81552E"/>
                </a:solidFill>
                <a:latin typeface="Open Sans" pitchFamily="34" charset="0"/>
                <a:ea typeface="Open Sans" pitchFamily="34" charset="-122"/>
                <a:cs typeface="Open Sans" pitchFamily="34" charset="-120"/>
              </a:rPr>
              <a:t>Documentos</a:t>
            </a:r>
            <a:endParaRPr lang="en-US" sz="1500" dirty="0"/>
          </a:p>
        </p:txBody>
      </p:sp>
      <p:sp>
        <p:nvSpPr>
          <p:cNvPr id="28" name="Shape 19"/>
          <p:cNvSpPr/>
          <p:nvPr/>
        </p:nvSpPr>
        <p:spPr>
          <a:xfrm>
            <a:off x="8083296" y="3657600"/>
            <a:ext cx="3465576" cy="777240"/>
          </a:xfrm>
          <a:prstGeom prst="roundRect">
            <a:avLst>
              <a:gd name="adj" fmla="val 18824"/>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9" name="Shape 20"/>
          <p:cNvSpPr/>
          <p:nvPr/>
        </p:nvSpPr>
        <p:spPr>
          <a:xfrm>
            <a:off x="8284464" y="3781044"/>
            <a:ext cx="530352" cy="530352"/>
          </a:xfrm>
          <a:prstGeom prst="ellipse">
            <a:avLst/>
          </a:prstGeom>
          <a:solidFill>
            <a:srgbClr val="FBF2D0"/>
          </a:solidFill>
          <a:ln w="12700">
            <a:solidFill>
              <a:srgbClr val="FBF2D0"/>
            </a:solidFill>
            <a:prstDash val="solid"/>
          </a:ln>
        </p:spPr>
      </p:sp>
      <p:pic>
        <p:nvPicPr>
          <p:cNvPr id="30" name="Image 6" descr="preencoded.png">    </p:cNvPr>
          <p:cNvPicPr>
            <a:picLocks noChangeAspect="1"/>
          </p:cNvPicPr>
          <p:nvPr/>
        </p:nvPicPr>
        <p:blipFill>
          <a:blip r:embed="rId7"/>
          <a:stretch>
            <a:fillRect/>
          </a:stretch>
        </p:blipFill>
        <p:spPr>
          <a:xfrm>
            <a:off x="8427659" y="3924239"/>
            <a:ext cx="243962" cy="243962"/>
          </a:xfrm>
          <a:prstGeom prst="rect">
            <a:avLst/>
          </a:prstGeom>
        </p:spPr>
      </p:pic>
      <p:sp>
        <p:nvSpPr>
          <p:cNvPr id="31" name="Text 21"/>
          <p:cNvSpPr txBox="1"/>
          <p:nvPr/>
        </p:nvSpPr>
        <p:spPr>
          <a:xfrm>
            <a:off x="8979408" y="3657600"/>
            <a:ext cx="2414016" cy="777240"/>
          </a:xfrm>
          <a:prstGeom prst="rect">
            <a:avLst/>
          </a:prstGeom>
          <a:noFill/>
          <a:ln/>
        </p:spPr>
        <p:txBody>
          <a:bodyPr wrap="square" lIns="0" tIns="0" rIns="0" bIns="0" rtlCol="0" anchor="ctr"/>
          <a:lstStyle/>
          <a:p>
            <a:pPr indent="0" marL="0">
              <a:buNone/>
            </a:pPr>
            <a:r>
              <a:rPr lang="en-US" sz="1500" b="1" dirty="0">
                <a:solidFill>
                  <a:srgbClr val="81552E"/>
                </a:solidFill>
                <a:latin typeface="Open Sans" pitchFamily="34" charset="0"/>
                <a:ea typeface="Open Sans" pitchFamily="34" charset="-122"/>
                <a:cs typeface="Open Sans" pitchFamily="34" charset="-120"/>
              </a:rPr>
              <a:t>Reuniones o conversaciones</a:t>
            </a:r>
            <a:endParaRPr lang="en-US" sz="1500" dirty="0"/>
          </a:p>
        </p:txBody>
      </p:sp>
      <p:sp>
        <p:nvSpPr>
          <p:cNvPr id="32" name="Shape 22"/>
          <p:cNvSpPr/>
          <p:nvPr/>
        </p:nvSpPr>
        <p:spPr>
          <a:xfrm>
            <a:off x="4389120" y="4663440"/>
            <a:ext cx="7159752" cy="1600200"/>
          </a:xfrm>
          <a:prstGeom prst="roundRect">
            <a:avLst>
              <a:gd name="adj" fmla="val 9143"/>
            </a:avLst>
          </a:prstGeom>
          <a:solidFill>
            <a:srgbClr val="3F1E0D"/>
          </a:solidFill>
          <a:ln w="12700">
            <a:solidFill>
              <a:srgbClr val="3F1E0D"/>
            </a:solidFill>
            <a:prstDash val="solid"/>
          </a:ln>
          <a:effectLst>
            <a:outerShdw sx="100000" sy="100000" kx="0" ky="0" algn="bl" rotWithShape="0" blurRad="177800" dist="38100" dir="5400000">
              <a:srgbClr val="3F1E0D">
                <a:alpha val="10000"/>
              </a:srgbClr>
            </a:outerShdw>
          </a:effectLst>
        </p:spPr>
      </p:sp>
      <p:sp>
        <p:nvSpPr>
          <p:cNvPr id="33" name="Shape 23"/>
          <p:cNvSpPr/>
          <p:nvPr/>
        </p:nvSpPr>
        <p:spPr>
          <a:xfrm>
            <a:off x="4754880" y="5074920"/>
            <a:ext cx="777240" cy="777240"/>
          </a:xfrm>
          <a:prstGeom prst="ellipse">
            <a:avLst/>
          </a:prstGeom>
          <a:solidFill>
            <a:srgbClr val="C68C6C"/>
          </a:solidFill>
          <a:ln w="12700">
            <a:solidFill>
              <a:srgbClr val="C68C6C"/>
            </a:solidFill>
            <a:prstDash val="solid"/>
          </a:ln>
        </p:spPr>
      </p:sp>
      <p:pic>
        <p:nvPicPr>
          <p:cNvPr id="34" name="Image 7" descr="preencoded.png">    </p:cNvPr>
          <p:cNvPicPr>
            <a:picLocks noChangeAspect="1"/>
          </p:cNvPicPr>
          <p:nvPr/>
        </p:nvPicPr>
        <p:blipFill>
          <a:blip r:embed="rId8"/>
          <a:stretch>
            <a:fillRect/>
          </a:stretch>
        </p:blipFill>
        <p:spPr>
          <a:xfrm>
            <a:off x="4964735" y="5284775"/>
            <a:ext cx="357530" cy="357530"/>
          </a:xfrm>
          <a:prstGeom prst="rect">
            <a:avLst/>
          </a:prstGeom>
        </p:spPr>
      </p:pic>
      <p:sp>
        <p:nvSpPr>
          <p:cNvPr id="35" name="Text 24"/>
          <p:cNvSpPr txBox="1"/>
          <p:nvPr/>
        </p:nvSpPr>
        <p:spPr>
          <a:xfrm>
            <a:off x="5806440" y="4663440"/>
            <a:ext cx="5422392" cy="1600200"/>
          </a:xfrm>
          <a:prstGeom prst="rect">
            <a:avLst/>
          </a:prstGeom>
          <a:noFill/>
          <a:ln/>
        </p:spPr>
        <p:txBody>
          <a:bodyPr wrap="square" lIns="0" tIns="0" rIns="0" bIns="0" rtlCol="0" anchor="ctr"/>
          <a:lstStyle/>
          <a:p>
            <a:pPr indent="0" marL="0">
              <a:spcAft>
                <a:spcPts val="500"/>
              </a:spcAft>
              <a:buNone/>
            </a:pPr>
            <a:r>
              <a:rPr lang="en-US" sz="1750" b="1" dirty="0">
                <a:solidFill>
                  <a:srgbClr val="F8F5EE"/>
                </a:solidFill>
                <a:latin typeface="Open Sans" pitchFamily="34" charset="0"/>
                <a:ea typeface="Open Sans" pitchFamily="34" charset="-122"/>
                <a:cs typeface="Open Sans" pitchFamily="34" charset="-120"/>
              </a:rPr>
              <a:t>¿Información confidencial o sensible? Anonimízala.</a:t>
            </a:r>
            <a:endParaRPr lang="en-US" sz="1750" dirty="0"/>
          </a:p>
          <a:p>
            <a:pPr indent="0" marL="0">
              <a:spcAft>
                <a:spcPts val="500"/>
              </a:spcAft>
              <a:buNone/>
            </a:pPr>
            <a:r>
              <a:rPr lang="en-US" sz="1500" dirty="0">
                <a:solidFill>
                  <a:srgbClr val="EDE5CC"/>
                </a:solidFill>
                <a:latin typeface="Open Sans" pitchFamily="34" charset="0"/>
                <a:ea typeface="Open Sans" pitchFamily="34" charset="-122"/>
                <a:cs typeface="Open Sans" pitchFamily="34" charset="-120"/>
              </a:rPr>
              <a:t>No necesito conocer información privada de tu empresa. Lo que necesito es entender la situación comunicativa para ayudarte a entrenarla.</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08 / 09</a:t>
            </a:r>
            <a:endParaRPr lang="en-US" sz="1100" dirty="0"/>
          </a:p>
        </p:txBody>
      </p:sp>
      <p:sp>
        <p:nvSpPr>
          <p:cNvPr id="5" name="Text 1"/>
          <p:cNvSpPr txBox="1"/>
          <p:nvPr/>
        </p:nvSpPr>
        <p:spPr>
          <a:xfrm>
            <a:off x="640080" y="1280160"/>
            <a:ext cx="3429000" cy="1783080"/>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Para eso estoy yo</a:t>
            </a:r>
            <a:endParaRPr lang="en-US" sz="3400" dirty="0"/>
          </a:p>
        </p:txBody>
      </p:sp>
      <p:sp>
        <p:nvSpPr>
          <p:cNvPr id="6" name="Text 2"/>
          <p:cNvSpPr txBox="1"/>
          <p:nvPr/>
        </p:nvSpPr>
        <p:spPr>
          <a:xfrm>
            <a:off x="640080" y="2075688"/>
            <a:ext cx="3291840" cy="73152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No necesitas llegar sabiendo qué practicar ni diagnosticar sola qué te está pasando</a:t>
            </a:r>
            <a:endParaRPr lang="en-US" sz="1600" dirty="0"/>
          </a:p>
        </p:txBody>
      </p:sp>
      <p:sp>
        <p:nvSpPr>
          <p:cNvPr id="7" name="Shape 3"/>
          <p:cNvSpPr/>
          <p:nvPr/>
        </p:nvSpPr>
        <p:spPr>
          <a:xfrm>
            <a:off x="4389120" y="1280160"/>
            <a:ext cx="3442716" cy="3611880"/>
          </a:xfrm>
          <a:prstGeom prst="roundRect">
            <a:avLst>
              <a:gd name="adj" fmla="val 425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Text 4"/>
          <p:cNvSpPr txBox="1"/>
          <p:nvPr/>
        </p:nvSpPr>
        <p:spPr>
          <a:xfrm>
            <a:off x="4754880" y="1554480"/>
            <a:ext cx="2711196" cy="502920"/>
          </a:xfrm>
          <a:prstGeom prst="rect">
            <a:avLst/>
          </a:prstGeom>
          <a:noFill/>
          <a:ln/>
        </p:spPr>
        <p:txBody>
          <a:bodyPr wrap="square" lIns="0" tIns="0" rIns="0" bIns="0" rtlCol="0" anchor="ctr"/>
          <a:lstStyle/>
          <a:p>
            <a:pPr indent="0" marL="0">
              <a:buNone/>
            </a:pPr>
            <a:r>
              <a:rPr lang="en-US" sz="2200" b="1" dirty="0">
                <a:solidFill>
                  <a:srgbClr val="81552E"/>
                </a:solidFill>
                <a:latin typeface="Source Serif Pro" pitchFamily="34" charset="0"/>
                <a:ea typeface="Source Serif Pro" pitchFamily="34" charset="-122"/>
                <a:cs typeface="Source Serif Pro" pitchFamily="34" charset="-120"/>
              </a:rPr>
              <a:t>Tú traes tu realidad</a:t>
            </a:r>
            <a:endParaRPr lang="en-US" sz="2200" dirty="0"/>
          </a:p>
        </p:txBody>
      </p:sp>
      <p:sp>
        <p:nvSpPr>
          <p:cNvPr id="9" name="Text 5"/>
          <p:cNvSpPr txBox="1"/>
          <p:nvPr/>
        </p:nvSpPr>
        <p:spPr>
          <a:xfrm>
            <a:off x="4754880" y="2194560"/>
            <a:ext cx="2802636" cy="2514600"/>
          </a:xfrm>
          <a:prstGeom prst="rect">
            <a:avLst/>
          </a:prstGeom>
          <a:noFill/>
          <a:ln/>
        </p:spPr>
        <p:txBody>
          <a:bodyPr wrap="square" lIns="0" tIns="0" rIns="0" bIns="0" rtlCol="0" anchor="t"/>
          <a:lstStyle/>
          <a:p>
            <a:pPr marL="190500" indent="-190500">
              <a:spcAft>
                <a:spcPts val="800"/>
              </a:spcAft>
              <a:buSzPct val="100000"/>
              <a:buChar char="•"/>
            </a:pPr>
            <a:r>
              <a:rPr lang="en-US" sz="1450" dirty="0">
                <a:solidFill>
                  <a:srgbClr val="3F1E0D"/>
                </a:solidFill>
                <a:latin typeface="Open Sans" pitchFamily="34" charset="0"/>
                <a:ea typeface="Open Sans" pitchFamily="34" charset="-122"/>
                <a:cs typeface="Open Sans" pitchFamily="34" charset="-120"/>
              </a:rPr>
              <a:t>las reuniones que tienes</a:t>
            </a:r>
            <a:endParaRPr lang="en-US" sz="1450" dirty="0"/>
          </a:p>
          <a:p>
            <a:pPr marL="190500" indent="-190500">
              <a:spcAft>
                <a:spcPts val="800"/>
              </a:spcAft>
              <a:buSzPct val="100000"/>
              <a:buChar char="•"/>
            </a:pPr>
            <a:r>
              <a:rPr lang="en-US" sz="1450" dirty="0">
                <a:solidFill>
                  <a:srgbClr val="3F1E0D"/>
                </a:solidFill>
                <a:latin typeface="Open Sans" pitchFamily="34" charset="0"/>
                <a:ea typeface="Open Sans" pitchFamily="34" charset="-122"/>
                <a:cs typeface="Open Sans" pitchFamily="34" charset="-120"/>
              </a:rPr>
              <a:t>las situaciones que te cuestan</a:t>
            </a:r>
            <a:endParaRPr lang="en-US" sz="1450" dirty="0"/>
          </a:p>
          <a:p>
            <a:pPr marL="190500" indent="-190500">
              <a:spcAft>
                <a:spcPts val="800"/>
              </a:spcAft>
              <a:buSzPct val="100000"/>
              <a:buChar char="•"/>
            </a:pPr>
            <a:r>
              <a:rPr lang="en-US" sz="1450" dirty="0">
                <a:solidFill>
                  <a:srgbClr val="3F1E0D"/>
                </a:solidFill>
                <a:latin typeface="Open Sans" pitchFamily="34" charset="0"/>
                <a:ea typeface="Open Sans" pitchFamily="34" charset="-122"/>
                <a:cs typeface="Open Sans" pitchFamily="34" charset="-120"/>
              </a:rPr>
              <a:t>lo que salió bien</a:t>
            </a:r>
            <a:endParaRPr lang="en-US" sz="1450" dirty="0"/>
          </a:p>
          <a:p>
            <a:pPr marL="190500" indent="-190500">
              <a:spcAft>
                <a:spcPts val="800"/>
              </a:spcAft>
              <a:buSzPct val="100000"/>
              <a:buChar char="•"/>
            </a:pPr>
            <a:r>
              <a:rPr lang="en-US" sz="1450" dirty="0">
                <a:solidFill>
                  <a:srgbClr val="3F1E0D"/>
                </a:solidFill>
                <a:latin typeface="Open Sans" pitchFamily="34" charset="0"/>
                <a:ea typeface="Open Sans" pitchFamily="34" charset="-122"/>
                <a:cs typeface="Open Sans" pitchFamily="34" charset="-120"/>
              </a:rPr>
              <a:t>lo que no salió como querías</a:t>
            </a:r>
            <a:endParaRPr lang="en-US" sz="1450" dirty="0"/>
          </a:p>
          <a:p>
            <a:pPr marL="190500" indent="-190500">
              <a:spcAft>
                <a:spcPts val="800"/>
              </a:spcAft>
              <a:buSzPct val="100000"/>
              <a:buChar char="•"/>
            </a:pPr>
            <a:r>
              <a:rPr lang="en-US" sz="1450" dirty="0">
                <a:solidFill>
                  <a:srgbClr val="3F1E0D"/>
                </a:solidFill>
                <a:latin typeface="Open Sans" pitchFamily="34" charset="0"/>
                <a:ea typeface="Open Sans" pitchFamily="34" charset="-122"/>
                <a:cs typeface="Open Sans" pitchFamily="34" charset="-120"/>
              </a:rPr>
              <a:t>las dudas que vayan apareciendo</a:t>
            </a:r>
            <a:endParaRPr lang="en-US" sz="1450" dirty="0"/>
          </a:p>
        </p:txBody>
      </p:sp>
      <p:sp>
        <p:nvSpPr>
          <p:cNvPr id="10" name="Shape 6"/>
          <p:cNvSpPr/>
          <p:nvPr/>
        </p:nvSpPr>
        <p:spPr>
          <a:xfrm>
            <a:off x="8106156" y="1280160"/>
            <a:ext cx="3442716" cy="3611880"/>
          </a:xfrm>
          <a:prstGeom prst="roundRect">
            <a:avLst>
              <a:gd name="adj" fmla="val 4250"/>
            </a:avLst>
          </a:prstGeom>
          <a:solidFill>
            <a:srgbClr val="81552E"/>
          </a:solidFill>
          <a:ln w="12700">
            <a:solidFill>
              <a:srgbClr val="81552E"/>
            </a:solidFill>
            <a:prstDash val="solid"/>
          </a:ln>
          <a:effectLst>
            <a:outerShdw sx="100000" sy="100000" kx="0" ky="0" algn="bl" rotWithShape="0" blurRad="177800" dist="38100" dir="5400000">
              <a:srgbClr val="3F1E0D">
                <a:alpha val="10000"/>
              </a:srgbClr>
            </a:outerShdw>
          </a:effectLst>
        </p:spPr>
      </p:sp>
      <p:sp>
        <p:nvSpPr>
          <p:cNvPr id="11" name="Text 7"/>
          <p:cNvSpPr txBox="1"/>
          <p:nvPr/>
        </p:nvSpPr>
        <p:spPr>
          <a:xfrm>
            <a:off x="8471916" y="1554480"/>
            <a:ext cx="2711196" cy="502920"/>
          </a:xfrm>
          <a:prstGeom prst="rect">
            <a:avLst/>
          </a:prstGeom>
          <a:noFill/>
          <a:ln/>
        </p:spPr>
        <p:txBody>
          <a:bodyPr wrap="square" lIns="0" tIns="0" rIns="0" bIns="0" rtlCol="0" anchor="ctr"/>
          <a:lstStyle/>
          <a:p>
            <a:pPr indent="0" marL="0">
              <a:buNone/>
            </a:pPr>
            <a:r>
              <a:rPr lang="en-US" sz="2200" b="1" dirty="0">
                <a:solidFill>
                  <a:srgbClr val="F8F5EE"/>
                </a:solidFill>
                <a:latin typeface="Source Serif Pro" pitchFamily="34" charset="0"/>
                <a:ea typeface="Source Serif Pro" pitchFamily="34" charset="-122"/>
                <a:cs typeface="Source Serif Pro" pitchFamily="34" charset="-120"/>
              </a:rPr>
              <a:t>Mi trabajo es</a:t>
            </a:r>
            <a:endParaRPr lang="en-US" sz="2200" dirty="0"/>
          </a:p>
        </p:txBody>
      </p:sp>
      <p:sp>
        <p:nvSpPr>
          <p:cNvPr id="12" name="Text 8"/>
          <p:cNvSpPr txBox="1"/>
          <p:nvPr/>
        </p:nvSpPr>
        <p:spPr>
          <a:xfrm>
            <a:off x="8471916" y="2194560"/>
            <a:ext cx="2802636" cy="2514600"/>
          </a:xfrm>
          <a:prstGeom prst="rect">
            <a:avLst/>
          </a:prstGeom>
          <a:noFill/>
          <a:ln/>
        </p:spPr>
        <p:txBody>
          <a:bodyPr wrap="square" lIns="0" tIns="0" rIns="0" bIns="0" rtlCol="0" anchor="t"/>
          <a:lstStyle/>
          <a:p>
            <a:pPr marL="190500" indent="-190500">
              <a:spcAft>
                <a:spcPts val="800"/>
              </a:spcAft>
              <a:buSzPct val="100000"/>
              <a:buChar char="•"/>
            </a:pPr>
            <a:r>
              <a:rPr lang="en-US" sz="1450" dirty="0">
                <a:solidFill>
                  <a:srgbClr val="F8F5EE"/>
                </a:solidFill>
                <a:latin typeface="Open Sans" pitchFamily="34" charset="0"/>
                <a:ea typeface="Open Sans" pitchFamily="34" charset="-122"/>
                <a:cs typeface="Open Sans" pitchFamily="34" charset="-120"/>
              </a:rPr>
              <a:t>ayudarte a entender qué está interfiriendo</a:t>
            </a:r>
            <a:endParaRPr lang="en-US" sz="1450" dirty="0"/>
          </a:p>
          <a:p>
            <a:pPr marL="190500" indent="-190500">
              <a:spcAft>
                <a:spcPts val="800"/>
              </a:spcAft>
              <a:buSzPct val="100000"/>
              <a:buChar char="•"/>
            </a:pPr>
            <a:r>
              <a:rPr lang="en-US" sz="1450" dirty="0">
                <a:solidFill>
                  <a:srgbClr val="F8F5EE"/>
                </a:solidFill>
                <a:latin typeface="Open Sans" pitchFamily="34" charset="0"/>
                <a:ea typeface="Open Sans" pitchFamily="34" charset="-122"/>
                <a:cs typeface="Open Sans" pitchFamily="34" charset="-120"/>
              </a:rPr>
              <a:t>elegir qué necesitamos entrenar</a:t>
            </a:r>
            <a:endParaRPr lang="en-US" sz="1450" dirty="0"/>
          </a:p>
          <a:p>
            <a:pPr marL="190500" indent="-190500">
              <a:spcAft>
                <a:spcPts val="800"/>
              </a:spcAft>
              <a:buSzPct val="100000"/>
              <a:buChar char="•"/>
            </a:pPr>
            <a:r>
              <a:rPr lang="en-US" sz="1450" dirty="0">
                <a:solidFill>
                  <a:srgbClr val="F8F5EE"/>
                </a:solidFill>
                <a:latin typeface="Open Sans" pitchFamily="34" charset="0"/>
                <a:ea typeface="Open Sans" pitchFamily="34" charset="-122"/>
                <a:cs typeface="Open Sans" pitchFamily="34" charset="-120"/>
              </a:rPr>
              <a:t>darte dirección, herramientas y feedback</a:t>
            </a:r>
            <a:endParaRPr lang="en-US" sz="1450" dirty="0"/>
          </a:p>
        </p:txBody>
      </p:sp>
      <p:sp>
        <p:nvSpPr>
          <p:cNvPr id="13" name="Shape 9"/>
          <p:cNvSpPr/>
          <p:nvPr/>
        </p:nvSpPr>
        <p:spPr>
          <a:xfrm>
            <a:off x="4389120" y="5166360"/>
            <a:ext cx="7159752" cy="1051560"/>
          </a:xfrm>
          <a:prstGeom prst="roundRect">
            <a:avLst>
              <a:gd name="adj" fmla="val 13913"/>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14" name="Shape 10"/>
          <p:cNvSpPr/>
          <p:nvPr/>
        </p:nvSpPr>
        <p:spPr>
          <a:xfrm>
            <a:off x="4754880" y="5367528"/>
            <a:ext cx="640080" cy="640080"/>
          </a:xfrm>
          <a:prstGeom prst="ellipse">
            <a:avLst/>
          </a:prstGeom>
          <a:solidFill>
            <a:srgbClr val="C68C6C"/>
          </a:solidFill>
          <a:ln w="12700">
            <a:solidFill>
              <a:srgbClr val="C68C6C"/>
            </a:solidFill>
            <a:prstDash val="solid"/>
          </a:ln>
        </p:spPr>
      </p:sp>
      <p:pic>
        <p:nvPicPr>
          <p:cNvPr id="15" name="Image 1" descr="preencoded.png">    </p:cNvPr>
          <p:cNvPicPr>
            <a:picLocks noChangeAspect="1"/>
          </p:cNvPicPr>
          <p:nvPr/>
        </p:nvPicPr>
        <p:blipFill>
          <a:blip r:embed="rId2"/>
          <a:stretch>
            <a:fillRect/>
          </a:stretch>
        </p:blipFill>
        <p:spPr>
          <a:xfrm>
            <a:off x="4927702" y="5540350"/>
            <a:ext cx="294437" cy="294437"/>
          </a:xfrm>
          <a:prstGeom prst="rect">
            <a:avLst/>
          </a:prstGeom>
        </p:spPr>
      </p:pic>
      <p:sp>
        <p:nvSpPr>
          <p:cNvPr id="16" name="Text 11"/>
          <p:cNvSpPr txBox="1"/>
          <p:nvPr/>
        </p:nvSpPr>
        <p:spPr>
          <a:xfrm>
            <a:off x="5623560" y="5166360"/>
            <a:ext cx="5605272" cy="1051560"/>
          </a:xfrm>
          <a:prstGeom prst="rect">
            <a:avLst/>
          </a:prstGeom>
          <a:noFill/>
          <a:ln/>
        </p:spPr>
        <p:txBody>
          <a:bodyPr wrap="square" lIns="0" tIns="0" rIns="0" bIns="0" rtlCol="0" anchor="ctr"/>
          <a:lstStyle/>
          <a:p>
            <a:pPr indent="0" marL="0">
              <a:buNone/>
            </a:pPr>
            <a:r>
              <a:rPr lang="en-US" sz="1700" b="1" i="1" dirty="0">
                <a:solidFill>
                  <a:srgbClr val="81552E"/>
                </a:solidFill>
                <a:latin typeface="Source Serif Pro" pitchFamily="34" charset="0"/>
                <a:ea typeface="Source Serif Pro" pitchFamily="34" charset="-122"/>
                <a:cs typeface="Source Serif Pro" pitchFamily="34" charset="-120"/>
              </a:rPr>
              <a:t>No espero semanas perfectas. </a:t>
            </a:r>
            <a:pPr indent="0" marL="0">
              <a:buNone/>
            </a:pPr>
            <a:r>
              <a:rPr lang="en-US" sz="1700" i="1" dirty="0">
                <a:solidFill>
                  <a:srgbClr val="81552E"/>
                </a:solidFill>
                <a:latin typeface="Source Serif Pro" pitchFamily="34" charset="0"/>
                <a:ea typeface="Source Serif Pro" pitchFamily="34" charset="-122"/>
                <a:cs typeface="Source Serif Pro" pitchFamily="34" charset="-120"/>
              </a:rPr>
              <a:t>Quiero un proceso real, constante y conectado con lo que necesitas en tu trabajo.</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C68C6C"/>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3F1E0D"/>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3F1E0D"/>
                </a:solidFill>
                <a:latin typeface="Open Sans" pitchFamily="34" charset="0"/>
                <a:ea typeface="Open Sans" pitchFamily="34" charset="-122"/>
                <a:cs typeface="Open Sans" pitchFamily="34" charset="-120"/>
              </a:rPr>
              <a:t>   ·   09 / 09</a:t>
            </a:r>
            <a:endParaRPr lang="en-US" sz="1100" dirty="0"/>
          </a:p>
        </p:txBody>
      </p:sp>
      <p:sp>
        <p:nvSpPr>
          <p:cNvPr id="5" name="Text 1"/>
          <p:cNvSpPr txBox="1"/>
          <p:nvPr/>
        </p:nvSpPr>
        <p:spPr>
          <a:xfrm>
            <a:off x="640080" y="1280160"/>
            <a:ext cx="3429000" cy="1783080"/>
          </a:xfrm>
          <a:prstGeom prst="rect">
            <a:avLst/>
          </a:prstGeom>
          <a:noFill/>
          <a:ln/>
        </p:spPr>
        <p:txBody>
          <a:bodyPr wrap="square" lIns="0" tIns="0" rIns="0" bIns="0" rtlCol="0" anchor="t"/>
          <a:lstStyle/>
          <a:p>
            <a:pPr indent="0" marL="0">
              <a:lnSpc>
                <a:spcPct val="92000"/>
              </a:lnSpc>
              <a:buNone/>
            </a:pPr>
            <a:r>
              <a:rPr lang="en-US" sz="3400" b="1" dirty="0">
                <a:solidFill>
                  <a:srgbClr val="3F1E0D"/>
                </a:solidFill>
                <a:latin typeface="Source Serif Pro" pitchFamily="34" charset="0"/>
                <a:ea typeface="Source Serif Pro" pitchFamily="34" charset="-122"/>
                <a:cs typeface="Source Serif Pro" pitchFamily="34" charset="-120"/>
              </a:rPr>
              <a:t>Tu siguiente paso</a:t>
            </a:r>
            <a:endParaRPr lang="en-US" sz="3400" dirty="0"/>
          </a:p>
        </p:txBody>
      </p:sp>
      <p:sp>
        <p:nvSpPr>
          <p:cNvPr id="6" name="Text 2"/>
          <p:cNvSpPr txBox="1"/>
          <p:nvPr/>
        </p:nvSpPr>
        <p:spPr>
          <a:xfrm>
            <a:off x="640080" y="2596896"/>
            <a:ext cx="3291840" cy="731520"/>
          </a:xfrm>
          <a:prstGeom prst="rect">
            <a:avLst/>
          </a:prstGeom>
          <a:noFill/>
          <a:ln/>
        </p:spPr>
        <p:txBody>
          <a:bodyPr wrap="square" lIns="0" tIns="0" rIns="0" bIns="0" rtlCol="0" anchor="t"/>
          <a:lstStyle/>
          <a:p>
            <a:pPr indent="0" marL="0">
              <a:buNone/>
            </a:pPr>
            <a:r>
              <a:rPr lang="en-US" sz="1600" i="1" dirty="0">
                <a:solidFill>
                  <a:srgbClr val="3F1E0D"/>
                </a:solidFill>
                <a:latin typeface="Source Serif Pro" pitchFamily="34" charset="0"/>
                <a:ea typeface="Source Serif Pro" pitchFamily="34" charset="-122"/>
                <a:cs typeface="Source Serif Pro" pitchFamily="34" charset="-120"/>
              </a:rPr>
              <a:t>Ya sabes cómo vamos a acompañarnos y qué espacios tienes dentro de AT WORK</a:t>
            </a:r>
            <a:endParaRPr lang="en-US" sz="1600" dirty="0"/>
          </a:p>
        </p:txBody>
      </p:sp>
      <p:sp>
        <p:nvSpPr>
          <p:cNvPr id="7" name="Shape 3"/>
          <p:cNvSpPr/>
          <p:nvPr/>
        </p:nvSpPr>
        <p:spPr>
          <a:xfrm>
            <a:off x="4389120" y="1280160"/>
            <a:ext cx="7159752" cy="1051560"/>
          </a:xfrm>
          <a:prstGeom prst="roundRect">
            <a:avLst>
              <a:gd name="adj" fmla="val 1391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709160" y="1485900"/>
            <a:ext cx="640080" cy="640080"/>
          </a:xfrm>
          <a:prstGeom prst="ellipse">
            <a:avLst/>
          </a:prstGeom>
          <a:solidFill>
            <a:srgbClr val="3F1E0D"/>
          </a:solidFill>
          <a:ln w="12700">
            <a:solidFill>
              <a:srgbClr val="3F1E0D"/>
            </a:solidFill>
            <a:prstDash val="solid"/>
          </a:ln>
        </p:spPr>
      </p:sp>
      <p:pic>
        <p:nvPicPr>
          <p:cNvPr id="9" name="Image 1" descr="preencoded.png">    </p:cNvPr>
          <p:cNvPicPr>
            <a:picLocks noChangeAspect="1"/>
          </p:cNvPicPr>
          <p:nvPr/>
        </p:nvPicPr>
        <p:blipFill>
          <a:blip r:embed="rId2"/>
          <a:stretch>
            <a:fillRect/>
          </a:stretch>
        </p:blipFill>
        <p:spPr>
          <a:xfrm>
            <a:off x="4881982" y="1658722"/>
            <a:ext cx="294437" cy="294437"/>
          </a:xfrm>
          <a:prstGeom prst="rect">
            <a:avLst/>
          </a:prstGeom>
        </p:spPr>
      </p:pic>
      <p:sp>
        <p:nvSpPr>
          <p:cNvPr id="10" name="Text 5"/>
          <p:cNvSpPr txBox="1"/>
          <p:nvPr/>
        </p:nvSpPr>
        <p:spPr>
          <a:xfrm>
            <a:off x="5623560" y="1280160"/>
            <a:ext cx="5605272" cy="1051560"/>
          </a:xfrm>
          <a:prstGeom prst="rect">
            <a:avLst/>
          </a:prstGeom>
          <a:noFill/>
          <a:ln/>
        </p:spPr>
        <p:txBody>
          <a:bodyPr wrap="square" lIns="0" tIns="0" rIns="0" bIns="0" rtlCol="0" anchor="ctr"/>
          <a:lstStyle/>
          <a:p>
            <a:pPr indent="0" marL="0">
              <a:buNone/>
            </a:pPr>
            <a:r>
              <a:rPr lang="en-US" sz="1700" dirty="0">
                <a:solidFill>
                  <a:srgbClr val="3F1E0D"/>
                </a:solidFill>
                <a:latin typeface="Open Sans" pitchFamily="34" charset="0"/>
                <a:ea typeface="Open Sans" pitchFamily="34" charset="-122"/>
                <a:cs typeface="Open Sans" pitchFamily="34" charset="-120"/>
              </a:rPr>
              <a:t>Descarga el </a:t>
            </a:r>
            <a:pPr indent="0" marL="0">
              <a:buNone/>
            </a:pPr>
            <a:r>
              <a:rPr lang="en-US" sz="1700" b="1" dirty="0">
                <a:solidFill>
                  <a:srgbClr val="3F1E0D"/>
                </a:solidFill>
                <a:latin typeface="Open Sans" pitchFamily="34" charset="0"/>
                <a:ea typeface="Open Sans" pitchFamily="34" charset="-122"/>
                <a:cs typeface="Open Sans" pitchFamily="34" charset="-120"/>
              </a:rPr>
              <a:t>Acuerdo de Trabajo</a:t>
            </a:r>
            <a:pPr indent="0" marL="0">
              <a:buNone/>
            </a:pPr>
            <a:r>
              <a:rPr lang="en-US" sz="1700" dirty="0">
                <a:solidFill>
                  <a:srgbClr val="3F1E0D"/>
                </a:solidFill>
                <a:latin typeface="Open Sans" pitchFamily="34" charset="0"/>
                <a:ea typeface="Open Sans" pitchFamily="34" charset="-122"/>
                <a:cs typeface="Open Sans" pitchFamily="34" charset="-120"/>
              </a:rPr>
              <a:t> adjunto a esta clase</a:t>
            </a:r>
            <a:endParaRPr lang="en-US" sz="1700" dirty="0"/>
          </a:p>
        </p:txBody>
      </p:sp>
      <p:sp>
        <p:nvSpPr>
          <p:cNvPr id="11" name="Shape 6"/>
          <p:cNvSpPr/>
          <p:nvPr/>
        </p:nvSpPr>
        <p:spPr>
          <a:xfrm>
            <a:off x="4389120" y="2532888"/>
            <a:ext cx="7159752" cy="1051560"/>
          </a:xfrm>
          <a:prstGeom prst="roundRect">
            <a:avLst>
              <a:gd name="adj" fmla="val 1391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12" name="Shape 7"/>
          <p:cNvSpPr/>
          <p:nvPr/>
        </p:nvSpPr>
        <p:spPr>
          <a:xfrm>
            <a:off x="4709160" y="2738628"/>
            <a:ext cx="640080" cy="640080"/>
          </a:xfrm>
          <a:prstGeom prst="ellipse">
            <a:avLst/>
          </a:prstGeom>
          <a:solidFill>
            <a:srgbClr val="3F1E0D"/>
          </a:solidFill>
          <a:ln w="12700">
            <a:solidFill>
              <a:srgbClr val="3F1E0D"/>
            </a:solidFill>
            <a:prstDash val="solid"/>
          </a:ln>
        </p:spPr>
      </p:sp>
      <p:pic>
        <p:nvPicPr>
          <p:cNvPr id="13" name="Image 2" descr="preencoded.png">    </p:cNvPr>
          <p:cNvPicPr>
            <a:picLocks noChangeAspect="1"/>
          </p:cNvPicPr>
          <p:nvPr/>
        </p:nvPicPr>
        <p:blipFill>
          <a:blip r:embed="rId3"/>
          <a:stretch>
            <a:fillRect/>
          </a:stretch>
        </p:blipFill>
        <p:spPr>
          <a:xfrm>
            <a:off x="4881982" y="2911450"/>
            <a:ext cx="294437" cy="294437"/>
          </a:xfrm>
          <a:prstGeom prst="rect">
            <a:avLst/>
          </a:prstGeom>
        </p:spPr>
      </p:pic>
      <p:sp>
        <p:nvSpPr>
          <p:cNvPr id="14" name="Text 8"/>
          <p:cNvSpPr txBox="1"/>
          <p:nvPr/>
        </p:nvSpPr>
        <p:spPr>
          <a:xfrm>
            <a:off x="5623560" y="2532888"/>
            <a:ext cx="5605272" cy="1051560"/>
          </a:xfrm>
          <a:prstGeom prst="rect">
            <a:avLst/>
          </a:prstGeom>
          <a:noFill/>
          <a:ln/>
        </p:spPr>
        <p:txBody>
          <a:bodyPr wrap="square" lIns="0" tIns="0" rIns="0" bIns="0" rtlCol="0" anchor="ctr"/>
          <a:lstStyle/>
          <a:p>
            <a:pPr indent="0" marL="0">
              <a:buNone/>
            </a:pPr>
            <a:r>
              <a:rPr lang="en-US" sz="1700" dirty="0">
                <a:solidFill>
                  <a:srgbClr val="3F1E0D"/>
                </a:solidFill>
                <a:latin typeface="Open Sans" pitchFamily="34" charset="0"/>
                <a:ea typeface="Open Sans" pitchFamily="34" charset="-122"/>
                <a:cs typeface="Open Sans" pitchFamily="34" charset="-120"/>
              </a:rPr>
              <a:t>Complétalo y fírmalo</a:t>
            </a:r>
            <a:endParaRPr lang="en-US" sz="1700" dirty="0"/>
          </a:p>
        </p:txBody>
      </p:sp>
      <p:sp>
        <p:nvSpPr>
          <p:cNvPr id="15" name="Shape 9"/>
          <p:cNvSpPr/>
          <p:nvPr/>
        </p:nvSpPr>
        <p:spPr>
          <a:xfrm>
            <a:off x="4389120" y="3785616"/>
            <a:ext cx="7159752" cy="1051560"/>
          </a:xfrm>
          <a:prstGeom prst="roundRect">
            <a:avLst>
              <a:gd name="adj" fmla="val 1391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16" name="Shape 10"/>
          <p:cNvSpPr/>
          <p:nvPr/>
        </p:nvSpPr>
        <p:spPr>
          <a:xfrm>
            <a:off x="4709160" y="3991356"/>
            <a:ext cx="640080" cy="640080"/>
          </a:xfrm>
          <a:prstGeom prst="ellipse">
            <a:avLst/>
          </a:prstGeom>
          <a:solidFill>
            <a:srgbClr val="3F1E0D"/>
          </a:solidFill>
          <a:ln w="12700">
            <a:solidFill>
              <a:srgbClr val="3F1E0D"/>
            </a:solidFill>
            <a:prstDash val="solid"/>
          </a:ln>
        </p:spPr>
      </p:sp>
      <p:pic>
        <p:nvPicPr>
          <p:cNvPr id="17" name="Image 3" descr="preencoded.png">    </p:cNvPr>
          <p:cNvPicPr>
            <a:picLocks noChangeAspect="1"/>
          </p:cNvPicPr>
          <p:nvPr/>
        </p:nvPicPr>
        <p:blipFill>
          <a:blip r:embed="rId4"/>
          <a:stretch>
            <a:fillRect/>
          </a:stretch>
        </p:blipFill>
        <p:spPr>
          <a:xfrm>
            <a:off x="4881982" y="4164178"/>
            <a:ext cx="294437" cy="294437"/>
          </a:xfrm>
          <a:prstGeom prst="rect">
            <a:avLst/>
          </a:prstGeom>
        </p:spPr>
      </p:pic>
      <p:sp>
        <p:nvSpPr>
          <p:cNvPr id="18" name="Text 11"/>
          <p:cNvSpPr txBox="1"/>
          <p:nvPr/>
        </p:nvSpPr>
        <p:spPr>
          <a:xfrm>
            <a:off x="5623560" y="3785616"/>
            <a:ext cx="5605272" cy="1051560"/>
          </a:xfrm>
          <a:prstGeom prst="rect">
            <a:avLst/>
          </a:prstGeom>
          <a:noFill/>
          <a:ln/>
        </p:spPr>
        <p:txBody>
          <a:bodyPr wrap="square" lIns="0" tIns="0" rIns="0" bIns="0" rtlCol="0" anchor="ctr"/>
          <a:lstStyle/>
          <a:p>
            <a:pPr indent="0" marL="0">
              <a:buNone/>
            </a:pPr>
            <a:r>
              <a:rPr lang="en-US" sz="1700" dirty="0">
                <a:solidFill>
                  <a:srgbClr val="3F1E0D"/>
                </a:solidFill>
                <a:latin typeface="Open Sans" pitchFamily="34" charset="0"/>
                <a:ea typeface="Open Sans" pitchFamily="34" charset="-122"/>
                <a:cs typeface="Open Sans" pitchFamily="34" charset="-120"/>
              </a:rPr>
              <a:t>Súbelo a tu carpeta, dentro de </a:t>
            </a:r>
            <a:pPr indent="0" marL="0">
              <a:buNone/>
            </a:pPr>
            <a:r>
              <a:rPr lang="en-US" sz="1700" b="1" dirty="0">
                <a:solidFill>
                  <a:srgbClr val="3F1E0D"/>
                </a:solidFill>
                <a:latin typeface="Open Sans" pitchFamily="34" charset="0"/>
                <a:ea typeface="Open Sans" pitchFamily="34" charset="-122"/>
                <a:cs typeface="Open Sans" pitchFamily="34" charset="-120"/>
              </a:rPr>
              <a:t>01 · MI CONTEXTO PROFESIONAL</a:t>
            </a:r>
            <a:endParaRPr lang="en-US" sz="1700" dirty="0"/>
          </a:p>
        </p:txBody>
      </p:sp>
      <p:sp>
        <p:nvSpPr>
          <p:cNvPr id="19" name="Shape 12"/>
          <p:cNvSpPr/>
          <p:nvPr/>
        </p:nvSpPr>
        <p:spPr>
          <a:xfrm>
            <a:off x="4389120" y="5038344"/>
            <a:ext cx="7159752" cy="1051560"/>
          </a:xfrm>
          <a:prstGeom prst="roundRect">
            <a:avLst>
              <a:gd name="adj" fmla="val 1391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20" name="Shape 13"/>
          <p:cNvSpPr/>
          <p:nvPr/>
        </p:nvSpPr>
        <p:spPr>
          <a:xfrm>
            <a:off x="4709160" y="5244084"/>
            <a:ext cx="640080" cy="640080"/>
          </a:xfrm>
          <a:prstGeom prst="ellipse">
            <a:avLst/>
          </a:prstGeom>
          <a:solidFill>
            <a:srgbClr val="3F1E0D"/>
          </a:solidFill>
          <a:ln w="12700">
            <a:solidFill>
              <a:srgbClr val="3F1E0D"/>
            </a:solidFill>
            <a:prstDash val="solid"/>
          </a:ln>
        </p:spPr>
      </p:sp>
      <p:pic>
        <p:nvPicPr>
          <p:cNvPr id="21" name="Image 4" descr="preencoded.png">    </p:cNvPr>
          <p:cNvPicPr>
            <a:picLocks noChangeAspect="1"/>
          </p:cNvPicPr>
          <p:nvPr/>
        </p:nvPicPr>
        <p:blipFill>
          <a:blip r:embed="rId5"/>
          <a:stretch>
            <a:fillRect/>
          </a:stretch>
        </p:blipFill>
        <p:spPr>
          <a:xfrm>
            <a:off x="4881982" y="5416906"/>
            <a:ext cx="294437" cy="294437"/>
          </a:xfrm>
          <a:prstGeom prst="rect">
            <a:avLst/>
          </a:prstGeom>
        </p:spPr>
      </p:pic>
      <p:sp>
        <p:nvSpPr>
          <p:cNvPr id="22" name="Text 14"/>
          <p:cNvSpPr txBox="1"/>
          <p:nvPr/>
        </p:nvSpPr>
        <p:spPr>
          <a:xfrm>
            <a:off x="5623560" y="5038344"/>
            <a:ext cx="5605272" cy="1051560"/>
          </a:xfrm>
          <a:prstGeom prst="rect">
            <a:avLst/>
          </a:prstGeom>
          <a:noFill/>
          <a:ln/>
        </p:spPr>
        <p:txBody>
          <a:bodyPr wrap="square" lIns="0" tIns="0" rIns="0" bIns="0" rtlCol="0" anchor="ctr"/>
          <a:lstStyle/>
          <a:p>
            <a:pPr indent="0" marL="0">
              <a:buNone/>
            </a:pPr>
            <a:r>
              <a:rPr lang="en-US" sz="1700" dirty="0">
                <a:solidFill>
                  <a:srgbClr val="3F1E0D"/>
                </a:solidFill>
                <a:latin typeface="Open Sans" pitchFamily="34" charset="0"/>
                <a:ea typeface="Open Sans" pitchFamily="34" charset="-122"/>
                <a:cs typeface="Open Sans" pitchFamily="34" charset="-120"/>
              </a:rPr>
              <a:t>Sigue con la próxima clase: </a:t>
            </a:r>
            <a:pPr indent="0" marL="0">
              <a:buNone/>
            </a:pPr>
            <a:r>
              <a:rPr lang="en-US" sz="1700" b="1" dirty="0">
                <a:solidFill>
                  <a:srgbClr val="3F1E0D"/>
                </a:solidFill>
                <a:latin typeface="Open Sans" pitchFamily="34" charset="0"/>
                <a:ea typeface="Open Sans" pitchFamily="34" charset="-122"/>
                <a:cs typeface="Open Sans" pitchFamily="34" charset="-120"/>
              </a:rPr>
              <a:t>cómo se organiza el ecosistema AT WORK</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ONB 02 · Cómo vamos a trabajar juntas</dc:title>
  <dc:subject>PptxGenJS Presentation</dc:subject>
  <dc:creator>Flor Pérsico</dc:creator>
  <cp:lastModifiedBy>Flor Pérsico</cp:lastModifiedBy>
  <cp:revision>1</cp:revision>
  <dcterms:created xsi:type="dcterms:W3CDTF">2026-09-23T14:07:38Z</dcterms:created>
  <dcterms:modified xsi:type="dcterms:W3CDTF">2026-09-23T14:07:38Z</dcterms:modified>
</cp:coreProperties>
</file>