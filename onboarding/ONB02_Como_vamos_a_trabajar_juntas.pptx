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empezar, quiero contarte cómo vamos a trabajar juntas durante estos cinco meses para que puedas aprovechar al máximo todo el acompañamiento que vas a tener dentro de AT WORK.
Quiero que desde el principio sepas qué espacios tenés disponibles, cómo podés pedirme ayuda, cómo funcionan nuestras sesiones y dónde vamos a ir trabajando cada cosa.
La idea es que te sientas acompañada, contenida y con claridad sobre qué hacer en cada momento, para que puedas enfocarte en tu proceso y en avanzar con tu inglés.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Dentro de esta clase vas a encontrar también tu Acuerdo de Trabajo.
Es un documento simple donde están por escrito algunos aspectos prácticos del programa para que las dos tengamos toda la información clara desde el comienzo.
Si todavía no lo firmaste, descargalo, completalo y subilo a tu carpeta personal de AT WORK, dentro de 01 · MI CONTEXTO PROFESIONAL. Así queda guardado junto con toda la información de inicio de tu proceso.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Nuestras sesiones 1:1 son el espacio donde vamos a poder trabajar con más profundidad sobre lo que esté pasando en tu inglés y en tu trabajo real.
Cada horario queda reservado especialmente para vos. Si en algún momento necesitás cambiar una sesión, podés hacerlo avisándome con al menos 24 horas de anticipación para que podamos reorganizarnos.
Si el cambio se pide con menos de 24 horas, esa sesión se considera utilizada, simplemente porque ese espacio ya quedó reservado para vos y generalmente no puedo reasignarlo con tan poco tiempo.
Y si un día llegás un poquito más tarde, no pasa nada: trabajamos con el tiempo que nos quede dentro del horario reservado.
Obviamente, si soy yo quien necesita mover una sesión, la reprogramamos sin problema.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También quiero que sepas que durante AT WORK no estás sola entre una sesión y la siguiente.
Si te surge una duda, querés compartir algo, necesitás feedback o simplemente querés contarme una situación que pasó en tu trabajo, podés hacerlo dentro de la comunidad de WhatsApp.
La comunidad va a ser nuestro espacio principal de comunicación durante el programa. Ahí podés compartir prácticas, hacer preguntas, pedirme feedback, contar un avance o algo que aprendiste durante la semana.
Si se trata de un tema administrativo o de algo que preferís mantener en privado, ahí sí podés escribirme directamente.
Y cuando una situación necesita más contexto, análisis o trabajo en profundidad, la llevamos a nuestra sesión 1:1 para poder trabajarla bien.
La idea es que tengas claro dónde llevar cada cosa para que el acompañamiento sea simple, cercano y ordenado durante todo el proceso.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Durante la semana, podés dejarme tus dudas, prácticas o situaciones en la comunidad siempre que lo necesites.
Yo voy revisando y respondiendo estos mensajes de lunes a viernes, entre las 9 y las 18, horario de Buenos Aires.
Y si algo te surge fuera de ese horario o durante el fin de semana, podés escribirlo igual con total tranquilidad. El mensaje queda ahí y yo lo retomo cuando vuelva a estar disponible.
La idea es que no tengas que guardarte una duda hasta nuestra próxima sesión ni depender de acordarte después, y que al mismo tiempo podamos sostener un acompañamiento cercano, claro y ordenado durante todo el proceso.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Dentro de AT WORK también vas a poder pedirme feedback entre sesiones.
Puede ser sobre una práctica, una respuesta que estés preparando, un mensaje que quieras comunicar con más claridad o algo puntual que quieras revisar.
Y si aparece una situación más grande —por ejemplo una presentación completa, una conversación compleja o algo que necesita bastante contexto— lo dejamos para nuestra sesión 1:1, porque ahí vamos a poder dedicarle el tiempo y la profundidad que merece.
Más adelante en este onboarding te voy a mostrar exactamente cómo pedir feedback para que puedas aprovechar ese espacio de la mejor manera.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de las cosas más importantes de AT WORK es que no vamos a trabajar con un inglés desconectado de tu vida profesional.
Quiero que puedas traer situaciones y materiales reales de tu trabajo: presentaciones, emails, transcripciones, capturas, documentos, reuniones o conversaciones que necesites resolver mejor.
Obviamente, si trabajás con información confidencial o sensible, podés anonimizar nombres, cifras o cualquier dato interno antes de compartirlo.
No necesito conocer información privada de tu empresa. Lo que necesito es entender la situación comunicativa para poder ayudarte a entrenarla.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por último, quiero que tengas algo muy claro: no necesitás llegar sabiendo exactamente qué practicar ni diagnosticar sola qué te está pasando.
Para eso estoy yo.
Vos vas a traer tu realidad: las reuniones que tenés, las situaciones que te cuestan, lo que salió bien, lo que no salió como querías y las dudas que vayan apareciendo.
Y mi trabajo es ayudarte a entender qué está interfiriendo, elegir qué necesitamos entrenar y darte dirección, herramientas y feedback para que puedas seguir avanzando.
No espero semanas perfectas ni que hagas todo impecablemente. Quiero que podamos sostener un proceso real, constante y conectado con lo que necesitás en tu trabajo.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esto ya sabés cómo vamos a acompañarnos durante estos cinco meses y qué espacios tenés disponibles dentro de AT WORK.
Ahora descargá el Acuerdo de Trabajo que está adjunto a esta clase, completalo, firmalo y subilo a tu carpeta personal de AT WORK, dentro de 01 · MI CONTEXTO PROFESIONAL.
Y después seguí con la próxima clase, donde te voy a mostrar cómo se organiza todo el ecosistema AT WORK para que sepas exactamente dónde encontrar cada cosa.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F1E0D"/>
        </a:solidFill>
      </p:bgPr>
    </p:bg>
    <p:spTree>
      <p:nvGrpSpPr>
        <p:cNvPr id="1" name=""/>
        <p:cNvGrpSpPr/>
        <p:nvPr/>
      </p:nvGrpSpPr>
      <p:grpSpPr>
        <a:xfrm>
          <a:off x="0" y="0"/>
          <a:ext cx="0" cy="0"/>
          <a:chOff x="0" y="0"/>
          <a:chExt cx="0" cy="0"/>
        </a:xfrm>
      </p:grpSpPr>
      <p:sp>
        <p:nvSpPr>
          <p:cNvPr id="3" name="Shape 0"/>
          <p:cNvSpPr/>
          <p:nvPr/>
        </p:nvSpPr>
        <p:spPr>
          <a:xfrm>
            <a:off x="7223760" y="548640"/>
            <a:ext cx="6583680" cy="6583680"/>
          </a:xfrm>
          <a:prstGeom prst="ellipse">
            <a:avLst/>
          </a:prstGeom>
          <a:solidFill>
            <a:srgbClr val="81552E">
              <a:alpha val="55000"/>
            </a:srgbClr>
          </a:solidFill>
          <a:ln w="12700">
            <a:solidFill>
              <a:srgbClr val="81552E">
                <a:alpha val="55000"/>
              </a:srgbClr>
            </a:solidFill>
            <a:prstDash val="solid"/>
          </a:ln>
        </p:spPr>
      </p:sp>
      <p:sp>
        <p:nvSpPr>
          <p:cNvPr id="4" name="Shape 1"/>
          <p:cNvSpPr/>
          <p:nvPr/>
        </p:nvSpPr>
        <p:spPr>
          <a:xfrm>
            <a:off x="7772400" y="1097280"/>
            <a:ext cx="5486400" cy="5486400"/>
          </a:xfrm>
          <a:prstGeom prst="ellipse">
            <a:avLst/>
          </a:prstGeom>
          <a:solidFill>
            <a:srgbClr val="3F1E0D">
              <a:alpha val="0"/>
            </a:srgbClr>
          </a:solidFill>
          <a:ln w="15875">
            <a:solidFill>
              <a:srgbClr val="C68C6C"/>
            </a:solidFill>
            <a:prstDash val="solid"/>
          </a:ln>
        </p:spPr>
      </p:sp>
      <p:pic>
        <p:nvPicPr>
          <p:cNvPr id="5" name="Image 0" descr="preencoded.png">    </p:cNvPr>
          <p:cNvPicPr>
            <a:picLocks noChangeAspect="1"/>
          </p:cNvPicPr>
          <p:nvPr/>
        </p:nvPicPr>
        <p:blipFill>
          <a:blip r:embed="rId1"/>
          <a:stretch>
            <a:fillRect/>
          </a:stretch>
        </p:blipFill>
        <p:spPr>
          <a:xfrm>
            <a:off x="8001000" y="2514600"/>
            <a:ext cx="3566160" cy="1627607"/>
          </a:xfrm>
          <a:prstGeom prst="rect">
            <a:avLst/>
          </a:prstGeom>
        </p:spPr>
      </p:pic>
      <p:sp>
        <p:nvSpPr>
          <p:cNvPr id="6" name="Shape 2"/>
          <p:cNvSpPr/>
          <p:nvPr/>
        </p:nvSpPr>
        <p:spPr>
          <a:xfrm>
            <a:off x="640080" y="685800"/>
            <a:ext cx="1874520" cy="384048"/>
          </a:xfrm>
          <a:prstGeom prst="roundRect">
            <a:avLst>
              <a:gd name="adj" fmla="val 50000"/>
            </a:avLst>
          </a:prstGeom>
          <a:solidFill>
            <a:srgbClr val="C68C6C"/>
          </a:solidFill>
          <a:ln w="12700">
            <a:solidFill>
              <a:srgbClr val="C68C6C"/>
            </a:solidFill>
            <a:prstDash val="solid"/>
          </a:ln>
        </p:spPr>
      </p:sp>
      <p:sp>
        <p:nvSpPr>
          <p:cNvPr id="7" name="Text 3"/>
          <p:cNvSpPr txBox="1"/>
          <p:nvPr/>
        </p:nvSpPr>
        <p:spPr>
          <a:xfrm>
            <a:off x="640080" y="685800"/>
            <a:ext cx="1874520" cy="384048"/>
          </a:xfrm>
          <a:prstGeom prst="rect">
            <a:avLst/>
          </a:prstGeom>
          <a:noFill/>
          <a:ln/>
        </p:spPr>
        <p:txBody>
          <a:bodyPr wrap="square" lIns="0" tIns="0" rIns="0" bIns="0" rtlCol="0" anchor="ctr"/>
          <a:lstStyle/>
          <a:p>
            <a:pPr algn="ctr" indent="0" marL="0">
              <a:buNone/>
            </a:pPr>
            <a:r>
              <a:rPr lang="en-US" sz="1100" b="1" spc="200" kern="0" dirty="0">
                <a:solidFill>
                  <a:srgbClr val="3F1E0D"/>
                </a:solidFill>
                <a:latin typeface="Open Sans" pitchFamily="34" charset="0"/>
                <a:ea typeface="Open Sans" pitchFamily="34" charset="-122"/>
                <a:cs typeface="Open Sans" pitchFamily="34" charset="-120"/>
              </a:rPr>
              <a:t>ONBOARDING · 02</a:t>
            </a:r>
            <a:endParaRPr lang="en-US" sz="1100" dirty="0"/>
          </a:p>
        </p:txBody>
      </p:sp>
      <p:sp>
        <p:nvSpPr>
          <p:cNvPr id="8" name="Text 4"/>
          <p:cNvSpPr txBox="1"/>
          <p:nvPr/>
        </p:nvSpPr>
        <p:spPr>
          <a:xfrm>
            <a:off x="640080" y="1325880"/>
            <a:ext cx="6309360" cy="1783080"/>
          </a:xfrm>
          <a:prstGeom prst="rect">
            <a:avLst/>
          </a:prstGeom>
          <a:noFill/>
          <a:ln/>
        </p:spPr>
        <p:txBody>
          <a:bodyPr wrap="square" lIns="0" tIns="0" rIns="0" bIns="0" rtlCol="0" anchor="t"/>
          <a:lstStyle/>
          <a:p>
            <a:pPr indent="0" marL="0">
              <a:lnSpc>
                <a:spcPct val="90000"/>
              </a:lnSpc>
              <a:buNone/>
            </a:pPr>
            <a:r>
              <a:rPr lang="en-US" sz="5200" b="1" dirty="0">
                <a:solidFill>
                  <a:srgbClr val="F8F5EE"/>
                </a:solidFill>
                <a:latin typeface="Source Serif Pro" pitchFamily="34" charset="0"/>
                <a:ea typeface="Source Serif Pro" pitchFamily="34" charset="-122"/>
                <a:cs typeface="Source Serif Pro" pitchFamily="34" charset="-120"/>
              </a:rPr>
              <a:t>Cómo vamos a trabajar juntas</a:t>
            </a:r>
            <a:endParaRPr lang="en-US" sz="5200" dirty="0"/>
          </a:p>
        </p:txBody>
      </p:sp>
      <p:sp>
        <p:nvSpPr>
          <p:cNvPr id="9" name="Text 5"/>
          <p:cNvSpPr txBox="1"/>
          <p:nvPr/>
        </p:nvSpPr>
        <p:spPr>
          <a:xfrm>
            <a:off x="640080" y="3154680"/>
            <a:ext cx="5852160" cy="658368"/>
          </a:xfrm>
          <a:prstGeom prst="rect">
            <a:avLst/>
          </a:prstGeom>
          <a:noFill/>
          <a:ln/>
        </p:spPr>
        <p:txBody>
          <a:bodyPr wrap="square" lIns="0" tIns="0" rIns="0" bIns="0" rtlCol="0" anchor="t"/>
          <a:lstStyle/>
          <a:p>
            <a:pPr indent="0" marL="0">
              <a:buNone/>
            </a:pPr>
            <a:r>
              <a:rPr lang="en-US" sz="1800" i="1" dirty="0">
                <a:solidFill>
                  <a:srgbClr val="EDE5CC"/>
                </a:solidFill>
                <a:latin typeface="Source Serif Pro" pitchFamily="34" charset="0"/>
                <a:ea typeface="Source Serif Pro" pitchFamily="34" charset="-122"/>
                <a:cs typeface="Source Serif Pro" pitchFamily="34" charset="-120"/>
              </a:rPr>
              <a:t>Para que puedas aprovechar al máximo todo el acompañamiento de AT WORK</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5EE"/>
        </a:solidFill>
      </p:bgPr>
    </p:bg>
    <p:spTree>
      <p:nvGrpSpPr>
        <p:cNvPr id="1" name=""/>
        <p:cNvGrpSpPr/>
        <p:nvPr/>
      </p:nvGrpSpPr>
      <p:grpSpPr>
        <a:xfrm>
          <a:off x="0" y="0"/>
          <a:ext cx="0" cy="0"/>
          <a:chOff x="0" y="0"/>
          <a:chExt cx="0" cy="0"/>
        </a:xfrm>
      </p:grpSpPr>
      <p:sp>
        <p:nvSpPr>
          <p:cNvPr id="3" name="Text 0"/>
          <p:cNvSpPr txBox="1"/>
          <p:nvPr/>
        </p:nvSpPr>
        <p:spPr>
          <a:xfrm>
            <a:off x="640080" y="384048"/>
            <a:ext cx="4572000" cy="274320"/>
          </a:xfrm>
          <a:prstGeom prst="rect">
            <a:avLst/>
          </a:prstGeom>
          <a:noFill/>
          <a:ln/>
        </p:spPr>
        <p:txBody>
          <a:bodyPr wrap="square" lIns="0" tIns="0" rIns="0" bIns="0" rtlCol="0" anchor="ctr"/>
          <a:lstStyle/>
          <a:p>
            <a:pPr indent="0" marL="0">
              <a:buNone/>
            </a:pPr>
            <a:r>
              <a:rPr lang="en-US" sz="1050" b="1" spc="300" kern="0" dirty="0">
                <a:solidFill>
                  <a:srgbClr val="C68C6C"/>
                </a:solidFill>
                <a:latin typeface="Open Sans" pitchFamily="34" charset="0"/>
                <a:ea typeface="Open Sans" pitchFamily="34" charset="-122"/>
                <a:cs typeface="Open Sans" pitchFamily="34" charset="-120"/>
              </a:rPr>
              <a:t>BREAKING BARRIERS · AT WORK</a:t>
            </a:r>
            <a:endParaRPr lang="en-US" sz="1050" dirty="0"/>
          </a:p>
        </p:txBody>
      </p:sp>
      <p:sp>
        <p:nvSpPr>
          <p:cNvPr id="4" name="Text 1"/>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02 / 09</a:t>
            </a:r>
            <a:endParaRPr lang="en-US" sz="1100" dirty="0"/>
          </a:p>
        </p:txBody>
      </p:sp>
      <p:sp>
        <p:nvSpPr>
          <p:cNvPr id="5" name="Text 2"/>
          <p:cNvSpPr txBox="1"/>
          <p:nvPr/>
        </p:nvSpPr>
        <p:spPr>
          <a:xfrm>
            <a:off x="640080" y="1097280"/>
            <a:ext cx="3429000" cy="1783080"/>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Tu Acuerdo de Trabajo</a:t>
            </a:r>
            <a:endParaRPr lang="en-US" sz="3400" dirty="0"/>
          </a:p>
        </p:txBody>
      </p:sp>
      <p:sp>
        <p:nvSpPr>
          <p:cNvPr id="6" name="Text 3"/>
          <p:cNvSpPr txBox="1"/>
          <p:nvPr/>
        </p:nvSpPr>
        <p:spPr>
          <a:xfrm>
            <a:off x="640080" y="2414016"/>
            <a:ext cx="3291840" cy="73152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Todo lo práctico, claro y por escrito desde el comienzo</a:t>
            </a:r>
            <a:endParaRPr lang="en-US" sz="1600" dirty="0"/>
          </a:p>
        </p:txBody>
      </p:sp>
      <p:sp>
        <p:nvSpPr>
          <p:cNvPr id="7" name="Shape 4"/>
          <p:cNvSpPr/>
          <p:nvPr/>
        </p:nvSpPr>
        <p:spPr>
          <a:xfrm>
            <a:off x="4389120" y="1143000"/>
            <a:ext cx="7159752" cy="1097280"/>
          </a:xfrm>
          <a:prstGeom prst="roundRect">
            <a:avLst>
              <a:gd name="adj" fmla="val 13333"/>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8" name="Shape 5"/>
          <p:cNvSpPr/>
          <p:nvPr/>
        </p:nvSpPr>
        <p:spPr>
          <a:xfrm>
            <a:off x="4663440" y="1399032"/>
            <a:ext cx="585216" cy="585216"/>
          </a:xfrm>
          <a:prstGeom prst="ellipse">
            <a:avLst/>
          </a:prstGeom>
          <a:solidFill>
            <a:srgbClr val="C68C6C"/>
          </a:solidFill>
          <a:ln w="12700">
            <a:solidFill>
              <a:srgbClr val="C68C6C"/>
            </a:solidFill>
            <a:prstDash val="solid"/>
          </a:ln>
        </p:spPr>
      </p:sp>
      <p:sp>
        <p:nvSpPr>
          <p:cNvPr id="9" name="Text 6"/>
          <p:cNvSpPr txBox="1"/>
          <p:nvPr/>
        </p:nvSpPr>
        <p:spPr>
          <a:xfrm>
            <a:off x="4663440" y="1399032"/>
            <a:ext cx="585216" cy="585216"/>
          </a:xfrm>
          <a:prstGeom prst="rect">
            <a:avLst/>
          </a:prstGeom>
          <a:noFill/>
          <a:ln/>
        </p:spPr>
        <p:txBody>
          <a:bodyPr wrap="square" lIns="0" tIns="0" rIns="0" bIns="0" rtlCol="0" anchor="ctr"/>
          <a:lstStyle/>
          <a:p>
            <a:pPr algn="ctr" indent="0" marL="0">
              <a:buNone/>
            </a:pPr>
            <a:r>
              <a:rPr lang="en-US" sz="2000" b="1" dirty="0">
                <a:solidFill>
                  <a:srgbClr val="FFFDF9"/>
                </a:solidFill>
                <a:latin typeface="Source Serif Pro" pitchFamily="34" charset="0"/>
                <a:ea typeface="Source Serif Pro" pitchFamily="34" charset="-122"/>
                <a:cs typeface="Source Serif Pro" pitchFamily="34" charset="-120"/>
              </a:rPr>
              <a:t>1</a:t>
            </a:r>
            <a:endParaRPr lang="en-US" sz="2000" dirty="0"/>
          </a:p>
        </p:txBody>
      </p:sp>
      <p:sp>
        <p:nvSpPr>
          <p:cNvPr id="10" name="Text 7"/>
          <p:cNvSpPr txBox="1"/>
          <p:nvPr/>
        </p:nvSpPr>
        <p:spPr>
          <a:xfrm>
            <a:off x="5486400" y="1143000"/>
            <a:ext cx="5148072" cy="1097280"/>
          </a:xfrm>
          <a:prstGeom prst="rect">
            <a:avLst/>
          </a:prstGeom>
          <a:noFill/>
          <a:ln/>
        </p:spPr>
        <p:txBody>
          <a:bodyPr wrap="square" lIns="0" tIns="0" rIns="0" bIns="0" rtlCol="0" anchor="ctr"/>
          <a:lstStyle/>
          <a:p>
            <a:pPr indent="0" marL="0">
              <a:buNone/>
            </a:pPr>
            <a:r>
              <a:rPr lang="en-US" sz="1900" dirty="0">
                <a:solidFill>
                  <a:srgbClr val="3F1E0D"/>
                </a:solidFill>
                <a:latin typeface="Open Sans" pitchFamily="34" charset="0"/>
                <a:ea typeface="Open Sans" pitchFamily="34" charset="-122"/>
                <a:cs typeface="Open Sans" pitchFamily="34" charset="-120"/>
              </a:rPr>
              <a:t>Descargalo desde esta clase</a:t>
            </a:r>
            <a:endParaRPr lang="en-US" sz="1900" dirty="0"/>
          </a:p>
        </p:txBody>
      </p:sp>
      <p:pic>
        <p:nvPicPr>
          <p:cNvPr id="11" name="Image 0" descr="preencoded.png">    </p:cNvPr>
          <p:cNvPicPr>
            <a:picLocks noChangeAspect="1"/>
          </p:cNvPicPr>
          <p:nvPr/>
        </p:nvPicPr>
        <p:blipFill>
          <a:blip r:embed="rId1"/>
          <a:stretch>
            <a:fillRect/>
          </a:stretch>
        </p:blipFill>
        <p:spPr>
          <a:xfrm>
            <a:off x="10771632" y="1472184"/>
            <a:ext cx="438912" cy="438912"/>
          </a:xfrm>
          <a:prstGeom prst="rect">
            <a:avLst/>
          </a:prstGeom>
        </p:spPr>
      </p:pic>
      <p:sp>
        <p:nvSpPr>
          <p:cNvPr id="12" name="Shape 8"/>
          <p:cNvSpPr/>
          <p:nvPr/>
        </p:nvSpPr>
        <p:spPr>
          <a:xfrm>
            <a:off x="4389120" y="2423160"/>
            <a:ext cx="7159752" cy="1097280"/>
          </a:xfrm>
          <a:prstGeom prst="roundRect">
            <a:avLst>
              <a:gd name="adj" fmla="val 13333"/>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3" name="Shape 9"/>
          <p:cNvSpPr/>
          <p:nvPr/>
        </p:nvSpPr>
        <p:spPr>
          <a:xfrm>
            <a:off x="4663440" y="2679192"/>
            <a:ext cx="585216" cy="585216"/>
          </a:xfrm>
          <a:prstGeom prst="ellipse">
            <a:avLst/>
          </a:prstGeom>
          <a:solidFill>
            <a:srgbClr val="C68C6C"/>
          </a:solidFill>
          <a:ln w="12700">
            <a:solidFill>
              <a:srgbClr val="C68C6C"/>
            </a:solidFill>
            <a:prstDash val="solid"/>
          </a:ln>
        </p:spPr>
      </p:sp>
      <p:sp>
        <p:nvSpPr>
          <p:cNvPr id="14" name="Text 10"/>
          <p:cNvSpPr txBox="1"/>
          <p:nvPr/>
        </p:nvSpPr>
        <p:spPr>
          <a:xfrm>
            <a:off x="4663440" y="2679192"/>
            <a:ext cx="585216" cy="585216"/>
          </a:xfrm>
          <a:prstGeom prst="rect">
            <a:avLst/>
          </a:prstGeom>
          <a:noFill/>
          <a:ln/>
        </p:spPr>
        <p:txBody>
          <a:bodyPr wrap="square" lIns="0" tIns="0" rIns="0" bIns="0" rtlCol="0" anchor="ctr"/>
          <a:lstStyle/>
          <a:p>
            <a:pPr algn="ctr" indent="0" marL="0">
              <a:buNone/>
            </a:pPr>
            <a:r>
              <a:rPr lang="en-US" sz="2000" b="1" dirty="0">
                <a:solidFill>
                  <a:srgbClr val="FFFDF9"/>
                </a:solidFill>
                <a:latin typeface="Source Serif Pro" pitchFamily="34" charset="0"/>
                <a:ea typeface="Source Serif Pro" pitchFamily="34" charset="-122"/>
                <a:cs typeface="Source Serif Pro" pitchFamily="34" charset="-120"/>
              </a:rPr>
              <a:t>2</a:t>
            </a:r>
            <a:endParaRPr lang="en-US" sz="2000" dirty="0"/>
          </a:p>
        </p:txBody>
      </p:sp>
      <p:sp>
        <p:nvSpPr>
          <p:cNvPr id="15" name="Text 11"/>
          <p:cNvSpPr txBox="1"/>
          <p:nvPr/>
        </p:nvSpPr>
        <p:spPr>
          <a:xfrm>
            <a:off x="5486400" y="2423160"/>
            <a:ext cx="5148072" cy="1097280"/>
          </a:xfrm>
          <a:prstGeom prst="rect">
            <a:avLst/>
          </a:prstGeom>
          <a:noFill/>
          <a:ln/>
        </p:spPr>
        <p:txBody>
          <a:bodyPr wrap="square" lIns="0" tIns="0" rIns="0" bIns="0" rtlCol="0" anchor="ctr"/>
          <a:lstStyle/>
          <a:p>
            <a:pPr indent="0" marL="0">
              <a:buNone/>
            </a:pPr>
            <a:r>
              <a:rPr lang="en-US" sz="1900" dirty="0">
                <a:solidFill>
                  <a:srgbClr val="3F1E0D"/>
                </a:solidFill>
                <a:latin typeface="Open Sans" pitchFamily="34" charset="0"/>
                <a:ea typeface="Open Sans" pitchFamily="34" charset="-122"/>
                <a:cs typeface="Open Sans" pitchFamily="34" charset="-120"/>
              </a:rPr>
              <a:t>Completalo y firmalo</a:t>
            </a:r>
            <a:endParaRPr lang="en-US" sz="1900" dirty="0"/>
          </a:p>
        </p:txBody>
      </p:sp>
      <p:pic>
        <p:nvPicPr>
          <p:cNvPr id="16" name="Image 1" descr="preencoded.png">    </p:cNvPr>
          <p:cNvPicPr>
            <a:picLocks noChangeAspect="1"/>
          </p:cNvPicPr>
          <p:nvPr/>
        </p:nvPicPr>
        <p:blipFill>
          <a:blip r:embed="rId2"/>
          <a:stretch>
            <a:fillRect/>
          </a:stretch>
        </p:blipFill>
        <p:spPr>
          <a:xfrm>
            <a:off x="10771632" y="2752344"/>
            <a:ext cx="438912" cy="438912"/>
          </a:xfrm>
          <a:prstGeom prst="rect">
            <a:avLst/>
          </a:prstGeom>
        </p:spPr>
      </p:pic>
      <p:sp>
        <p:nvSpPr>
          <p:cNvPr id="17" name="Shape 12"/>
          <p:cNvSpPr/>
          <p:nvPr/>
        </p:nvSpPr>
        <p:spPr>
          <a:xfrm>
            <a:off x="4389120" y="3703320"/>
            <a:ext cx="7159752" cy="1097280"/>
          </a:xfrm>
          <a:prstGeom prst="roundRect">
            <a:avLst>
              <a:gd name="adj" fmla="val 13333"/>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8" name="Shape 13"/>
          <p:cNvSpPr/>
          <p:nvPr/>
        </p:nvSpPr>
        <p:spPr>
          <a:xfrm>
            <a:off x="4663440" y="3959352"/>
            <a:ext cx="585216" cy="585216"/>
          </a:xfrm>
          <a:prstGeom prst="ellipse">
            <a:avLst/>
          </a:prstGeom>
          <a:solidFill>
            <a:srgbClr val="C68C6C"/>
          </a:solidFill>
          <a:ln w="12700">
            <a:solidFill>
              <a:srgbClr val="C68C6C"/>
            </a:solidFill>
            <a:prstDash val="solid"/>
          </a:ln>
        </p:spPr>
      </p:sp>
      <p:sp>
        <p:nvSpPr>
          <p:cNvPr id="19" name="Text 14"/>
          <p:cNvSpPr txBox="1"/>
          <p:nvPr/>
        </p:nvSpPr>
        <p:spPr>
          <a:xfrm>
            <a:off x="4663440" y="3959352"/>
            <a:ext cx="585216" cy="585216"/>
          </a:xfrm>
          <a:prstGeom prst="rect">
            <a:avLst/>
          </a:prstGeom>
          <a:noFill/>
          <a:ln/>
        </p:spPr>
        <p:txBody>
          <a:bodyPr wrap="square" lIns="0" tIns="0" rIns="0" bIns="0" rtlCol="0" anchor="ctr"/>
          <a:lstStyle/>
          <a:p>
            <a:pPr algn="ctr" indent="0" marL="0">
              <a:buNone/>
            </a:pPr>
            <a:r>
              <a:rPr lang="en-US" sz="2000" b="1" dirty="0">
                <a:solidFill>
                  <a:srgbClr val="FFFDF9"/>
                </a:solidFill>
                <a:latin typeface="Source Serif Pro" pitchFamily="34" charset="0"/>
                <a:ea typeface="Source Serif Pro" pitchFamily="34" charset="-122"/>
                <a:cs typeface="Source Serif Pro" pitchFamily="34" charset="-120"/>
              </a:rPr>
              <a:t>3</a:t>
            </a:r>
            <a:endParaRPr lang="en-US" sz="2000" dirty="0"/>
          </a:p>
        </p:txBody>
      </p:sp>
      <p:sp>
        <p:nvSpPr>
          <p:cNvPr id="20" name="Text 15"/>
          <p:cNvSpPr txBox="1"/>
          <p:nvPr/>
        </p:nvSpPr>
        <p:spPr>
          <a:xfrm>
            <a:off x="5486400" y="3703320"/>
            <a:ext cx="5148072" cy="1097280"/>
          </a:xfrm>
          <a:prstGeom prst="rect">
            <a:avLst/>
          </a:prstGeom>
          <a:noFill/>
          <a:ln/>
        </p:spPr>
        <p:txBody>
          <a:bodyPr wrap="square" lIns="0" tIns="0" rIns="0" bIns="0" rtlCol="0" anchor="ctr"/>
          <a:lstStyle/>
          <a:p>
            <a:pPr indent="0" marL="0">
              <a:buNone/>
            </a:pPr>
            <a:r>
              <a:rPr lang="en-US" sz="1900" dirty="0">
                <a:solidFill>
                  <a:srgbClr val="3F1E0D"/>
                </a:solidFill>
                <a:latin typeface="Open Sans" pitchFamily="34" charset="0"/>
                <a:ea typeface="Open Sans" pitchFamily="34" charset="-122"/>
                <a:cs typeface="Open Sans" pitchFamily="34" charset="-120"/>
              </a:rPr>
              <a:t>Subilo a tu carpeta personal de AT WORK</a:t>
            </a:r>
            <a:endParaRPr lang="en-US" sz="1900" dirty="0"/>
          </a:p>
        </p:txBody>
      </p:sp>
      <p:pic>
        <p:nvPicPr>
          <p:cNvPr id="21" name="Image 2" descr="preencoded.png">    </p:cNvPr>
          <p:cNvPicPr>
            <a:picLocks noChangeAspect="1"/>
          </p:cNvPicPr>
          <p:nvPr/>
        </p:nvPicPr>
        <p:blipFill>
          <a:blip r:embed="rId3"/>
          <a:stretch>
            <a:fillRect/>
          </a:stretch>
        </p:blipFill>
        <p:spPr>
          <a:xfrm>
            <a:off x="10771632" y="4032504"/>
            <a:ext cx="438912" cy="438912"/>
          </a:xfrm>
          <a:prstGeom prst="rect">
            <a:avLst/>
          </a:prstGeom>
        </p:spPr>
      </p:pic>
      <p:sp>
        <p:nvSpPr>
          <p:cNvPr id="22" name="Shape 16"/>
          <p:cNvSpPr/>
          <p:nvPr/>
        </p:nvSpPr>
        <p:spPr>
          <a:xfrm>
            <a:off x="4389120" y="4983480"/>
            <a:ext cx="7159752" cy="1097280"/>
          </a:xfrm>
          <a:prstGeom prst="roundRect">
            <a:avLst>
              <a:gd name="adj" fmla="val 13333"/>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23" name="Shape 17"/>
          <p:cNvSpPr/>
          <p:nvPr/>
        </p:nvSpPr>
        <p:spPr>
          <a:xfrm>
            <a:off x="4663440" y="5239512"/>
            <a:ext cx="585216" cy="585216"/>
          </a:xfrm>
          <a:prstGeom prst="ellipse">
            <a:avLst/>
          </a:prstGeom>
          <a:solidFill>
            <a:srgbClr val="C68C6C"/>
          </a:solidFill>
          <a:ln w="12700">
            <a:solidFill>
              <a:srgbClr val="C68C6C"/>
            </a:solidFill>
            <a:prstDash val="solid"/>
          </a:ln>
        </p:spPr>
      </p:sp>
      <p:sp>
        <p:nvSpPr>
          <p:cNvPr id="24" name="Text 18"/>
          <p:cNvSpPr txBox="1"/>
          <p:nvPr/>
        </p:nvSpPr>
        <p:spPr>
          <a:xfrm>
            <a:off x="4663440" y="5239512"/>
            <a:ext cx="585216" cy="585216"/>
          </a:xfrm>
          <a:prstGeom prst="rect">
            <a:avLst/>
          </a:prstGeom>
          <a:noFill/>
          <a:ln/>
        </p:spPr>
        <p:txBody>
          <a:bodyPr wrap="square" lIns="0" tIns="0" rIns="0" bIns="0" rtlCol="0" anchor="ctr"/>
          <a:lstStyle/>
          <a:p>
            <a:pPr algn="ctr" indent="0" marL="0">
              <a:buNone/>
            </a:pPr>
            <a:r>
              <a:rPr lang="en-US" sz="2000" b="1" dirty="0">
                <a:solidFill>
                  <a:srgbClr val="FFFDF9"/>
                </a:solidFill>
                <a:latin typeface="Source Serif Pro" pitchFamily="34" charset="0"/>
                <a:ea typeface="Source Serif Pro" pitchFamily="34" charset="-122"/>
                <a:cs typeface="Source Serif Pro" pitchFamily="34" charset="-120"/>
              </a:rPr>
              <a:t>4</a:t>
            </a:r>
            <a:endParaRPr lang="en-US" sz="2000" dirty="0"/>
          </a:p>
        </p:txBody>
      </p:sp>
      <p:sp>
        <p:nvSpPr>
          <p:cNvPr id="25" name="Text 19"/>
          <p:cNvSpPr txBox="1"/>
          <p:nvPr/>
        </p:nvSpPr>
        <p:spPr>
          <a:xfrm>
            <a:off x="5486400" y="4983480"/>
            <a:ext cx="5148072" cy="1097280"/>
          </a:xfrm>
          <a:prstGeom prst="rect">
            <a:avLst/>
          </a:prstGeom>
          <a:noFill/>
          <a:ln/>
        </p:spPr>
        <p:txBody>
          <a:bodyPr wrap="square" lIns="0" tIns="0" rIns="0" bIns="0" rtlCol="0" anchor="ctr"/>
          <a:lstStyle/>
          <a:p>
            <a:pPr indent="0" marL="0">
              <a:buNone/>
            </a:pPr>
            <a:r>
              <a:rPr lang="en-US" sz="1900" dirty="0">
                <a:solidFill>
                  <a:srgbClr val="3F1E0D"/>
                </a:solidFill>
                <a:latin typeface="Open Sans" pitchFamily="34" charset="0"/>
                <a:ea typeface="Open Sans" pitchFamily="34" charset="-122"/>
                <a:cs typeface="Open Sans" pitchFamily="34" charset="-120"/>
              </a:rPr>
              <a:t>Dentro de </a:t>
            </a:r>
            <a:pPr indent="0" marL="0">
              <a:buNone/>
            </a:pPr>
            <a:r>
              <a:rPr lang="en-US" sz="1900" b="1" dirty="0">
                <a:solidFill>
                  <a:srgbClr val="81552E"/>
                </a:solidFill>
                <a:latin typeface="Open Sans" pitchFamily="34" charset="0"/>
                <a:ea typeface="Open Sans" pitchFamily="34" charset="-122"/>
                <a:cs typeface="Open Sans" pitchFamily="34" charset="-120"/>
              </a:rPr>
              <a:t>01 · MI CONTEXTO PROFESIONAL</a:t>
            </a:r>
            <a:endParaRPr lang="en-US" sz="1900" dirty="0"/>
          </a:p>
        </p:txBody>
      </p:sp>
      <p:pic>
        <p:nvPicPr>
          <p:cNvPr id="26" name="Image 3" descr="preencoded.png">    </p:cNvPr>
          <p:cNvPicPr>
            <a:picLocks noChangeAspect="1"/>
          </p:cNvPicPr>
          <p:nvPr/>
        </p:nvPicPr>
        <p:blipFill>
          <a:blip r:embed="rId4"/>
          <a:stretch>
            <a:fillRect/>
          </a:stretch>
        </p:blipFill>
        <p:spPr>
          <a:xfrm>
            <a:off x="10771632" y="5312664"/>
            <a:ext cx="438912" cy="43891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5EE"/>
        </a:solidFill>
      </p:bgPr>
    </p:bg>
    <p:spTree>
      <p:nvGrpSpPr>
        <p:cNvPr id="1" name=""/>
        <p:cNvGrpSpPr/>
        <p:nvPr/>
      </p:nvGrpSpPr>
      <p:grpSpPr>
        <a:xfrm>
          <a:off x="0" y="0"/>
          <a:ext cx="0" cy="0"/>
          <a:chOff x="0" y="0"/>
          <a:chExt cx="0" cy="0"/>
        </a:xfrm>
      </p:grpSpPr>
      <p:sp>
        <p:nvSpPr>
          <p:cNvPr id="3" name="Text 0"/>
          <p:cNvSpPr txBox="1"/>
          <p:nvPr/>
        </p:nvSpPr>
        <p:spPr>
          <a:xfrm>
            <a:off x="640080" y="384048"/>
            <a:ext cx="4572000" cy="274320"/>
          </a:xfrm>
          <a:prstGeom prst="rect">
            <a:avLst/>
          </a:prstGeom>
          <a:noFill/>
          <a:ln/>
        </p:spPr>
        <p:txBody>
          <a:bodyPr wrap="square" lIns="0" tIns="0" rIns="0" bIns="0" rtlCol="0" anchor="ctr"/>
          <a:lstStyle/>
          <a:p>
            <a:pPr indent="0" marL="0">
              <a:buNone/>
            </a:pPr>
            <a:r>
              <a:rPr lang="en-US" sz="1050" b="1" spc="300" kern="0" dirty="0">
                <a:solidFill>
                  <a:srgbClr val="C68C6C"/>
                </a:solidFill>
                <a:latin typeface="Open Sans" pitchFamily="34" charset="0"/>
                <a:ea typeface="Open Sans" pitchFamily="34" charset="-122"/>
                <a:cs typeface="Open Sans" pitchFamily="34" charset="-120"/>
              </a:rPr>
              <a:t>BREAKING BARRIERS · AT WORK</a:t>
            </a:r>
            <a:endParaRPr lang="en-US" sz="1050" dirty="0"/>
          </a:p>
        </p:txBody>
      </p:sp>
      <p:sp>
        <p:nvSpPr>
          <p:cNvPr id="4" name="Text 1"/>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03 / 09</a:t>
            </a:r>
            <a:endParaRPr lang="en-US" sz="1100" dirty="0"/>
          </a:p>
        </p:txBody>
      </p:sp>
      <p:sp>
        <p:nvSpPr>
          <p:cNvPr id="5" name="Text 2"/>
          <p:cNvSpPr txBox="1"/>
          <p:nvPr/>
        </p:nvSpPr>
        <p:spPr>
          <a:xfrm>
            <a:off x="640080" y="1097280"/>
            <a:ext cx="3429000" cy="1783080"/>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Tus sesiones 1:1</a:t>
            </a:r>
            <a:endParaRPr lang="en-US" sz="3400" dirty="0"/>
          </a:p>
        </p:txBody>
      </p:sp>
      <p:sp>
        <p:nvSpPr>
          <p:cNvPr id="6" name="Text 3"/>
          <p:cNvSpPr txBox="1"/>
          <p:nvPr/>
        </p:nvSpPr>
        <p:spPr>
          <a:xfrm>
            <a:off x="640080" y="1892808"/>
            <a:ext cx="3291840" cy="73152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Cada horario queda reservado especialmente para vos</a:t>
            </a:r>
            <a:endParaRPr lang="en-US" sz="1600" dirty="0"/>
          </a:p>
        </p:txBody>
      </p:sp>
      <p:sp>
        <p:nvSpPr>
          <p:cNvPr id="7" name="Shape 4"/>
          <p:cNvSpPr/>
          <p:nvPr/>
        </p:nvSpPr>
        <p:spPr>
          <a:xfrm>
            <a:off x="4389120" y="1143000"/>
            <a:ext cx="3442716" cy="2286000"/>
          </a:xfrm>
          <a:prstGeom prst="roundRect">
            <a:avLst>
              <a:gd name="adj" fmla="val 6400"/>
            </a:avLst>
          </a:prstGeom>
          <a:solidFill>
            <a:srgbClr val="81552E"/>
          </a:solidFill>
          <a:ln w="12700">
            <a:solidFill>
              <a:srgbClr val="81552E"/>
            </a:solidFill>
            <a:prstDash val="solid"/>
          </a:ln>
          <a:effectLst>
            <a:outerShdw sx="100000" sy="100000" kx="0" ky="0" algn="bl" rotWithShape="0" blurRad="177800" dist="38100" dir="5400000">
              <a:srgbClr val="3F1E0D">
                <a:alpha val="10000"/>
              </a:srgbClr>
            </a:outerShdw>
          </a:effectLst>
        </p:spPr>
      </p:sp>
      <p:sp>
        <p:nvSpPr>
          <p:cNvPr id="8" name="Shape 5"/>
          <p:cNvSpPr/>
          <p:nvPr/>
        </p:nvSpPr>
        <p:spPr>
          <a:xfrm>
            <a:off x="4709160" y="1463040"/>
            <a:ext cx="685800" cy="685800"/>
          </a:xfrm>
          <a:prstGeom prst="ellipse">
            <a:avLst/>
          </a:prstGeom>
          <a:solidFill>
            <a:srgbClr val="C68C6C"/>
          </a:solidFill>
          <a:ln w="12700">
            <a:solidFill>
              <a:srgbClr val="C68C6C"/>
            </a:solidFill>
            <a:prstDash val="solid"/>
          </a:ln>
        </p:spPr>
      </p:sp>
      <p:pic>
        <p:nvPicPr>
          <p:cNvPr id="9" name="Image 0" descr="preencoded.png">    </p:cNvPr>
          <p:cNvPicPr>
            <a:picLocks noChangeAspect="1"/>
          </p:cNvPicPr>
          <p:nvPr/>
        </p:nvPicPr>
        <p:blipFill>
          <a:blip r:embed="rId1"/>
          <a:stretch>
            <a:fillRect/>
          </a:stretch>
        </p:blipFill>
        <p:spPr>
          <a:xfrm>
            <a:off x="4894326" y="1648206"/>
            <a:ext cx="315468" cy="315468"/>
          </a:xfrm>
          <a:prstGeom prst="rect">
            <a:avLst/>
          </a:prstGeom>
        </p:spPr>
      </p:pic>
      <p:sp>
        <p:nvSpPr>
          <p:cNvPr id="10" name="Text 6"/>
          <p:cNvSpPr txBox="1"/>
          <p:nvPr/>
        </p:nvSpPr>
        <p:spPr>
          <a:xfrm>
            <a:off x="4709160" y="2240280"/>
            <a:ext cx="2802636" cy="548640"/>
          </a:xfrm>
          <a:prstGeom prst="rect">
            <a:avLst/>
          </a:prstGeom>
          <a:noFill/>
          <a:ln/>
        </p:spPr>
        <p:txBody>
          <a:bodyPr wrap="square" lIns="0" tIns="0" rIns="0" bIns="0" rtlCol="0" anchor="ctr"/>
          <a:lstStyle/>
          <a:p>
            <a:pPr indent="0" marL="0">
              <a:buNone/>
            </a:pPr>
            <a:r>
              <a:rPr lang="en-US" sz="3400" b="1" dirty="0">
                <a:solidFill>
                  <a:srgbClr val="F8F5EE"/>
                </a:solidFill>
                <a:latin typeface="Source Serif Pro" pitchFamily="34" charset="0"/>
                <a:ea typeface="Source Serif Pro" pitchFamily="34" charset="-122"/>
                <a:cs typeface="Source Serif Pro" pitchFamily="34" charset="-120"/>
              </a:rPr>
              <a:t>24 h</a:t>
            </a:r>
            <a:endParaRPr lang="en-US" sz="3400" dirty="0"/>
          </a:p>
        </p:txBody>
      </p:sp>
      <p:sp>
        <p:nvSpPr>
          <p:cNvPr id="11" name="Text 7"/>
          <p:cNvSpPr txBox="1"/>
          <p:nvPr/>
        </p:nvSpPr>
        <p:spPr>
          <a:xfrm>
            <a:off x="4709160" y="2788920"/>
            <a:ext cx="2802636" cy="457200"/>
          </a:xfrm>
          <a:prstGeom prst="rect">
            <a:avLst/>
          </a:prstGeom>
          <a:noFill/>
          <a:ln/>
        </p:spPr>
        <p:txBody>
          <a:bodyPr wrap="square" lIns="0" tIns="0" rIns="0" bIns="0" rtlCol="0" anchor="t"/>
          <a:lstStyle/>
          <a:p>
            <a:pPr indent="0" marL="0">
              <a:buNone/>
            </a:pPr>
            <a:r>
              <a:rPr lang="en-US" sz="1550" dirty="0">
                <a:solidFill>
                  <a:srgbClr val="EDE5CC"/>
                </a:solidFill>
                <a:latin typeface="Open Sans" pitchFamily="34" charset="0"/>
                <a:ea typeface="Open Sans" pitchFamily="34" charset="-122"/>
                <a:cs typeface="Open Sans" pitchFamily="34" charset="-120"/>
              </a:rPr>
              <a:t>de anticipación para reprogramar una sesión</a:t>
            </a:r>
            <a:endParaRPr lang="en-US" sz="1550" dirty="0"/>
          </a:p>
        </p:txBody>
      </p:sp>
      <p:sp>
        <p:nvSpPr>
          <p:cNvPr id="12" name="Shape 8"/>
          <p:cNvSpPr/>
          <p:nvPr/>
        </p:nvSpPr>
        <p:spPr>
          <a:xfrm>
            <a:off x="8106156" y="1143000"/>
            <a:ext cx="3442716" cy="2286000"/>
          </a:xfrm>
          <a:prstGeom prst="roundRect">
            <a:avLst>
              <a:gd name="adj" fmla="val 6400"/>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3" name="Shape 9"/>
          <p:cNvSpPr/>
          <p:nvPr/>
        </p:nvSpPr>
        <p:spPr>
          <a:xfrm>
            <a:off x="8426196" y="1463040"/>
            <a:ext cx="685800" cy="685800"/>
          </a:xfrm>
          <a:prstGeom prst="ellipse">
            <a:avLst/>
          </a:prstGeom>
          <a:solidFill>
            <a:srgbClr val="FBF2D0"/>
          </a:solidFill>
          <a:ln w="12700">
            <a:solidFill>
              <a:srgbClr val="FBF2D0"/>
            </a:solidFill>
            <a:prstDash val="solid"/>
          </a:ln>
        </p:spPr>
      </p:sp>
      <p:pic>
        <p:nvPicPr>
          <p:cNvPr id="14" name="Image 1" descr="preencoded.png">    </p:cNvPr>
          <p:cNvPicPr>
            <a:picLocks noChangeAspect="1"/>
          </p:cNvPicPr>
          <p:nvPr/>
        </p:nvPicPr>
        <p:blipFill>
          <a:blip r:embed="rId2"/>
          <a:stretch>
            <a:fillRect/>
          </a:stretch>
        </p:blipFill>
        <p:spPr>
          <a:xfrm>
            <a:off x="8611362" y="1648206"/>
            <a:ext cx="315468" cy="315468"/>
          </a:xfrm>
          <a:prstGeom prst="rect">
            <a:avLst/>
          </a:prstGeom>
        </p:spPr>
      </p:pic>
      <p:sp>
        <p:nvSpPr>
          <p:cNvPr id="15" name="Text 10"/>
          <p:cNvSpPr txBox="1"/>
          <p:nvPr/>
        </p:nvSpPr>
        <p:spPr>
          <a:xfrm>
            <a:off x="8426196" y="2240280"/>
            <a:ext cx="2802636" cy="548640"/>
          </a:xfrm>
          <a:prstGeom prst="rect">
            <a:avLst/>
          </a:prstGeom>
          <a:noFill/>
          <a:ln/>
        </p:spPr>
        <p:txBody>
          <a:bodyPr wrap="square" lIns="0" tIns="0" rIns="0" bIns="0" rtlCol="0" anchor="ctr"/>
          <a:lstStyle/>
          <a:p>
            <a:pPr indent="0" marL="0">
              <a:buNone/>
            </a:pPr>
            <a:r>
              <a:rPr lang="en-US" sz="2300" b="1" dirty="0">
                <a:solidFill>
                  <a:srgbClr val="81552E"/>
                </a:solidFill>
                <a:latin typeface="Source Serif Pro" pitchFamily="34" charset="0"/>
                <a:ea typeface="Source Serif Pro" pitchFamily="34" charset="-122"/>
                <a:cs typeface="Source Serif Pro" pitchFamily="34" charset="-120"/>
              </a:rPr>
              <a:t>Menos de 24 h</a:t>
            </a:r>
            <a:endParaRPr lang="en-US" sz="2300" dirty="0"/>
          </a:p>
        </p:txBody>
      </p:sp>
      <p:sp>
        <p:nvSpPr>
          <p:cNvPr id="16" name="Text 11"/>
          <p:cNvSpPr txBox="1"/>
          <p:nvPr/>
        </p:nvSpPr>
        <p:spPr>
          <a:xfrm>
            <a:off x="8426196" y="2788920"/>
            <a:ext cx="2802636" cy="457200"/>
          </a:xfrm>
          <a:prstGeom prst="rect">
            <a:avLst/>
          </a:prstGeom>
          <a:noFill/>
          <a:ln/>
        </p:spPr>
        <p:txBody>
          <a:bodyPr wrap="square" lIns="0" tIns="0" rIns="0" bIns="0" rtlCol="0" anchor="t"/>
          <a:lstStyle/>
          <a:p>
            <a:pPr indent="0" marL="0">
              <a:buNone/>
            </a:pPr>
            <a:r>
              <a:rPr lang="en-US" sz="1550" dirty="0">
                <a:solidFill>
                  <a:srgbClr val="3F1E0D"/>
                </a:solidFill>
                <a:latin typeface="Open Sans" pitchFamily="34" charset="0"/>
                <a:ea typeface="Open Sans" pitchFamily="34" charset="-122"/>
                <a:cs typeface="Open Sans" pitchFamily="34" charset="-120"/>
              </a:rPr>
              <a:t>la sesión se considera utilizada</a:t>
            </a:r>
            <a:endParaRPr lang="en-US" sz="1550" dirty="0"/>
          </a:p>
        </p:txBody>
      </p:sp>
      <p:sp>
        <p:nvSpPr>
          <p:cNvPr id="17" name="Shape 12"/>
          <p:cNvSpPr/>
          <p:nvPr/>
        </p:nvSpPr>
        <p:spPr>
          <a:xfrm>
            <a:off x="4389120" y="3703320"/>
            <a:ext cx="3442716" cy="2286000"/>
          </a:xfrm>
          <a:prstGeom prst="roundRect">
            <a:avLst>
              <a:gd name="adj" fmla="val 6400"/>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8" name="Shape 13"/>
          <p:cNvSpPr/>
          <p:nvPr/>
        </p:nvSpPr>
        <p:spPr>
          <a:xfrm>
            <a:off x="4709160" y="4023360"/>
            <a:ext cx="685800" cy="685800"/>
          </a:xfrm>
          <a:prstGeom prst="ellipse">
            <a:avLst/>
          </a:prstGeom>
          <a:solidFill>
            <a:srgbClr val="FBF2D0"/>
          </a:solidFill>
          <a:ln w="12700">
            <a:solidFill>
              <a:srgbClr val="FBF2D0"/>
            </a:solidFill>
            <a:prstDash val="solid"/>
          </a:ln>
        </p:spPr>
      </p:sp>
      <p:pic>
        <p:nvPicPr>
          <p:cNvPr id="19" name="Image 2" descr="preencoded.png">    </p:cNvPr>
          <p:cNvPicPr>
            <a:picLocks noChangeAspect="1"/>
          </p:cNvPicPr>
          <p:nvPr/>
        </p:nvPicPr>
        <p:blipFill>
          <a:blip r:embed="rId3"/>
          <a:stretch>
            <a:fillRect/>
          </a:stretch>
        </p:blipFill>
        <p:spPr>
          <a:xfrm>
            <a:off x="4894326" y="4208526"/>
            <a:ext cx="315468" cy="315468"/>
          </a:xfrm>
          <a:prstGeom prst="rect">
            <a:avLst/>
          </a:prstGeom>
        </p:spPr>
      </p:pic>
      <p:sp>
        <p:nvSpPr>
          <p:cNvPr id="20" name="Text 14"/>
          <p:cNvSpPr txBox="1"/>
          <p:nvPr/>
        </p:nvSpPr>
        <p:spPr>
          <a:xfrm>
            <a:off x="4709160" y="4800600"/>
            <a:ext cx="2802636" cy="548640"/>
          </a:xfrm>
          <a:prstGeom prst="rect">
            <a:avLst/>
          </a:prstGeom>
          <a:noFill/>
          <a:ln/>
        </p:spPr>
        <p:txBody>
          <a:bodyPr wrap="square" lIns="0" tIns="0" rIns="0" bIns="0" rtlCol="0" anchor="ctr"/>
          <a:lstStyle/>
          <a:p>
            <a:pPr indent="0" marL="0">
              <a:buNone/>
            </a:pPr>
            <a:r>
              <a:rPr lang="en-US" sz="2300" b="1" dirty="0">
                <a:solidFill>
                  <a:srgbClr val="81552E"/>
                </a:solidFill>
                <a:latin typeface="Source Serif Pro" pitchFamily="34" charset="0"/>
                <a:ea typeface="Source Serif Pro" pitchFamily="34" charset="-122"/>
                <a:cs typeface="Source Serif Pro" pitchFamily="34" charset="-120"/>
              </a:rPr>
              <a:t>Si llegás tarde</a:t>
            </a:r>
            <a:endParaRPr lang="en-US" sz="2300" dirty="0"/>
          </a:p>
        </p:txBody>
      </p:sp>
      <p:sp>
        <p:nvSpPr>
          <p:cNvPr id="21" name="Text 15"/>
          <p:cNvSpPr txBox="1"/>
          <p:nvPr/>
        </p:nvSpPr>
        <p:spPr>
          <a:xfrm>
            <a:off x="4709160" y="5349240"/>
            <a:ext cx="2802636" cy="457200"/>
          </a:xfrm>
          <a:prstGeom prst="rect">
            <a:avLst/>
          </a:prstGeom>
          <a:noFill/>
          <a:ln/>
        </p:spPr>
        <p:txBody>
          <a:bodyPr wrap="square" lIns="0" tIns="0" rIns="0" bIns="0" rtlCol="0" anchor="t"/>
          <a:lstStyle/>
          <a:p>
            <a:pPr indent="0" marL="0">
              <a:buNone/>
            </a:pPr>
            <a:r>
              <a:rPr lang="en-US" sz="1550" dirty="0">
                <a:solidFill>
                  <a:srgbClr val="3F1E0D"/>
                </a:solidFill>
                <a:latin typeface="Open Sans" pitchFamily="34" charset="0"/>
                <a:ea typeface="Open Sans" pitchFamily="34" charset="-122"/>
                <a:cs typeface="Open Sans" pitchFamily="34" charset="-120"/>
              </a:rPr>
              <a:t>trabajamos con el tiempo que quede</a:t>
            </a:r>
            <a:endParaRPr lang="en-US" sz="1550" dirty="0"/>
          </a:p>
        </p:txBody>
      </p:sp>
      <p:sp>
        <p:nvSpPr>
          <p:cNvPr id="22" name="Shape 16"/>
          <p:cNvSpPr/>
          <p:nvPr/>
        </p:nvSpPr>
        <p:spPr>
          <a:xfrm>
            <a:off x="8106156" y="3703320"/>
            <a:ext cx="3442716" cy="2286000"/>
          </a:xfrm>
          <a:prstGeom prst="roundRect">
            <a:avLst>
              <a:gd name="adj" fmla="val 6400"/>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23" name="Shape 17"/>
          <p:cNvSpPr/>
          <p:nvPr/>
        </p:nvSpPr>
        <p:spPr>
          <a:xfrm>
            <a:off x="8426196" y="4023360"/>
            <a:ext cx="685800" cy="685800"/>
          </a:xfrm>
          <a:prstGeom prst="ellipse">
            <a:avLst/>
          </a:prstGeom>
          <a:solidFill>
            <a:srgbClr val="FBF2D0"/>
          </a:solidFill>
          <a:ln w="12700">
            <a:solidFill>
              <a:srgbClr val="FBF2D0"/>
            </a:solidFill>
            <a:prstDash val="solid"/>
          </a:ln>
        </p:spPr>
      </p:sp>
      <p:pic>
        <p:nvPicPr>
          <p:cNvPr id="24" name="Image 3" descr="preencoded.png">    </p:cNvPr>
          <p:cNvPicPr>
            <a:picLocks noChangeAspect="1"/>
          </p:cNvPicPr>
          <p:nvPr/>
        </p:nvPicPr>
        <p:blipFill>
          <a:blip r:embed="rId4"/>
          <a:stretch>
            <a:fillRect/>
          </a:stretch>
        </p:blipFill>
        <p:spPr>
          <a:xfrm>
            <a:off x="8611362" y="4208526"/>
            <a:ext cx="315468" cy="315468"/>
          </a:xfrm>
          <a:prstGeom prst="rect">
            <a:avLst/>
          </a:prstGeom>
        </p:spPr>
      </p:pic>
      <p:sp>
        <p:nvSpPr>
          <p:cNvPr id="25" name="Text 18"/>
          <p:cNvSpPr txBox="1"/>
          <p:nvPr/>
        </p:nvSpPr>
        <p:spPr>
          <a:xfrm>
            <a:off x="8426196" y="4800600"/>
            <a:ext cx="2802636" cy="548640"/>
          </a:xfrm>
          <a:prstGeom prst="rect">
            <a:avLst/>
          </a:prstGeom>
          <a:noFill/>
          <a:ln/>
        </p:spPr>
        <p:txBody>
          <a:bodyPr wrap="square" lIns="0" tIns="0" rIns="0" bIns="0" rtlCol="0" anchor="ctr"/>
          <a:lstStyle/>
          <a:p>
            <a:pPr indent="0" marL="0">
              <a:buNone/>
            </a:pPr>
            <a:r>
              <a:rPr lang="en-US" sz="2300" b="1" dirty="0">
                <a:solidFill>
                  <a:srgbClr val="81552E"/>
                </a:solidFill>
                <a:latin typeface="Source Serif Pro" pitchFamily="34" charset="0"/>
                <a:ea typeface="Source Serif Pro" pitchFamily="34" charset="-122"/>
                <a:cs typeface="Source Serif Pro" pitchFamily="34" charset="-120"/>
              </a:rPr>
              <a:t>Si yo la muevo</a:t>
            </a:r>
            <a:endParaRPr lang="en-US" sz="2300" dirty="0"/>
          </a:p>
        </p:txBody>
      </p:sp>
      <p:sp>
        <p:nvSpPr>
          <p:cNvPr id="26" name="Text 19"/>
          <p:cNvSpPr txBox="1"/>
          <p:nvPr/>
        </p:nvSpPr>
        <p:spPr>
          <a:xfrm>
            <a:off x="8426196" y="5349240"/>
            <a:ext cx="2802636" cy="457200"/>
          </a:xfrm>
          <a:prstGeom prst="rect">
            <a:avLst/>
          </a:prstGeom>
          <a:noFill/>
          <a:ln/>
        </p:spPr>
        <p:txBody>
          <a:bodyPr wrap="square" lIns="0" tIns="0" rIns="0" bIns="0" rtlCol="0" anchor="t"/>
          <a:lstStyle/>
          <a:p>
            <a:pPr indent="0" marL="0">
              <a:buNone/>
            </a:pPr>
            <a:r>
              <a:rPr lang="en-US" sz="1550" dirty="0">
                <a:solidFill>
                  <a:srgbClr val="3F1E0D"/>
                </a:solidFill>
                <a:latin typeface="Open Sans" pitchFamily="34" charset="0"/>
                <a:ea typeface="Open Sans" pitchFamily="34" charset="-122"/>
                <a:cs typeface="Open Sans" pitchFamily="34" charset="-120"/>
              </a:rPr>
              <a:t>la reprogramamos sin problema</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5EE"/>
        </a:solidFill>
      </p:bgPr>
    </p:bg>
    <p:spTree>
      <p:nvGrpSpPr>
        <p:cNvPr id="1" name=""/>
        <p:cNvGrpSpPr/>
        <p:nvPr/>
      </p:nvGrpSpPr>
      <p:grpSpPr>
        <a:xfrm>
          <a:off x="0" y="0"/>
          <a:ext cx="0" cy="0"/>
          <a:chOff x="0" y="0"/>
          <a:chExt cx="0" cy="0"/>
        </a:xfrm>
      </p:grpSpPr>
      <p:sp>
        <p:nvSpPr>
          <p:cNvPr id="3" name="Text 0"/>
          <p:cNvSpPr txBox="1"/>
          <p:nvPr/>
        </p:nvSpPr>
        <p:spPr>
          <a:xfrm>
            <a:off x="640080" y="384048"/>
            <a:ext cx="4572000" cy="274320"/>
          </a:xfrm>
          <a:prstGeom prst="rect">
            <a:avLst/>
          </a:prstGeom>
          <a:noFill/>
          <a:ln/>
        </p:spPr>
        <p:txBody>
          <a:bodyPr wrap="square" lIns="0" tIns="0" rIns="0" bIns="0" rtlCol="0" anchor="ctr"/>
          <a:lstStyle/>
          <a:p>
            <a:pPr indent="0" marL="0">
              <a:buNone/>
            </a:pPr>
            <a:r>
              <a:rPr lang="en-US" sz="1050" b="1" spc="300" kern="0" dirty="0">
                <a:solidFill>
                  <a:srgbClr val="C68C6C"/>
                </a:solidFill>
                <a:latin typeface="Open Sans" pitchFamily="34" charset="0"/>
                <a:ea typeface="Open Sans" pitchFamily="34" charset="-122"/>
                <a:cs typeface="Open Sans" pitchFamily="34" charset="-120"/>
              </a:rPr>
              <a:t>BREAKING BARRIERS · AT WORK</a:t>
            </a:r>
            <a:endParaRPr lang="en-US" sz="1050" dirty="0"/>
          </a:p>
        </p:txBody>
      </p:sp>
      <p:sp>
        <p:nvSpPr>
          <p:cNvPr id="4" name="Text 1"/>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04 / 09</a:t>
            </a:r>
            <a:endParaRPr lang="en-US" sz="1100" dirty="0"/>
          </a:p>
        </p:txBody>
      </p:sp>
      <p:sp>
        <p:nvSpPr>
          <p:cNvPr id="5" name="Text 2"/>
          <p:cNvSpPr txBox="1"/>
          <p:nvPr/>
        </p:nvSpPr>
        <p:spPr>
          <a:xfrm>
            <a:off x="640080" y="1097280"/>
            <a:ext cx="3429000" cy="1783080"/>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Cómo nos comunicamos</a:t>
            </a:r>
            <a:endParaRPr lang="en-US" sz="3400" dirty="0"/>
          </a:p>
        </p:txBody>
      </p:sp>
      <p:sp>
        <p:nvSpPr>
          <p:cNvPr id="6" name="Text 3"/>
          <p:cNvSpPr txBox="1"/>
          <p:nvPr/>
        </p:nvSpPr>
        <p:spPr>
          <a:xfrm>
            <a:off x="640080" y="2414016"/>
            <a:ext cx="3291840" cy="73152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No estás sola entre una sesión y la siguiente</a:t>
            </a:r>
            <a:endParaRPr lang="en-US" sz="1600" dirty="0"/>
          </a:p>
        </p:txBody>
      </p:sp>
      <p:sp>
        <p:nvSpPr>
          <p:cNvPr id="7" name="Shape 4"/>
          <p:cNvSpPr/>
          <p:nvPr/>
        </p:nvSpPr>
        <p:spPr>
          <a:xfrm>
            <a:off x="4389120" y="1143000"/>
            <a:ext cx="2203704" cy="4206240"/>
          </a:xfrm>
          <a:prstGeom prst="roundRect">
            <a:avLst>
              <a:gd name="adj" fmla="val 6639"/>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8" name="Shape 5"/>
          <p:cNvSpPr/>
          <p:nvPr/>
        </p:nvSpPr>
        <p:spPr>
          <a:xfrm>
            <a:off x="4389120" y="1143000"/>
            <a:ext cx="2203704" cy="1600200"/>
          </a:xfrm>
          <a:prstGeom prst="roundRect">
            <a:avLst>
              <a:gd name="adj" fmla="val 9143"/>
            </a:avLst>
          </a:prstGeom>
          <a:solidFill>
            <a:srgbClr val="81552E"/>
          </a:solidFill>
          <a:ln w="12700">
            <a:solidFill>
              <a:srgbClr val="81552E"/>
            </a:solidFill>
            <a:prstDash val="solid"/>
          </a:ln>
        </p:spPr>
      </p:sp>
      <p:sp>
        <p:nvSpPr>
          <p:cNvPr id="9" name="Shape 6"/>
          <p:cNvSpPr/>
          <p:nvPr/>
        </p:nvSpPr>
        <p:spPr>
          <a:xfrm>
            <a:off x="4389120" y="2468880"/>
            <a:ext cx="2203704" cy="274320"/>
          </a:xfrm>
          <a:prstGeom prst="rect">
            <a:avLst/>
          </a:prstGeom>
          <a:solidFill>
            <a:srgbClr val="81552E"/>
          </a:solidFill>
          <a:ln w="12700">
            <a:solidFill>
              <a:srgbClr val="81552E"/>
            </a:solidFill>
            <a:prstDash val="solid"/>
          </a:ln>
        </p:spPr>
      </p:sp>
      <p:pic>
        <p:nvPicPr>
          <p:cNvPr id="10" name="Image 0" descr="preencoded.png">    </p:cNvPr>
          <p:cNvPicPr>
            <a:picLocks noChangeAspect="1"/>
          </p:cNvPicPr>
          <p:nvPr/>
        </p:nvPicPr>
        <p:blipFill>
          <a:blip r:embed="rId1"/>
          <a:stretch>
            <a:fillRect/>
          </a:stretch>
        </p:blipFill>
        <p:spPr>
          <a:xfrm>
            <a:off x="4709160" y="1417320"/>
            <a:ext cx="384048" cy="384048"/>
          </a:xfrm>
          <a:prstGeom prst="rect">
            <a:avLst/>
          </a:prstGeom>
        </p:spPr>
      </p:pic>
      <p:sp>
        <p:nvSpPr>
          <p:cNvPr id="11" name="Text 7"/>
          <p:cNvSpPr txBox="1"/>
          <p:nvPr/>
        </p:nvSpPr>
        <p:spPr>
          <a:xfrm>
            <a:off x="4709160" y="1892808"/>
            <a:ext cx="1655064" cy="411480"/>
          </a:xfrm>
          <a:prstGeom prst="rect">
            <a:avLst/>
          </a:prstGeom>
          <a:noFill/>
          <a:ln/>
        </p:spPr>
        <p:txBody>
          <a:bodyPr wrap="square" lIns="0" tIns="0" rIns="0" bIns="0" rtlCol="0" anchor="ctr"/>
          <a:lstStyle/>
          <a:p>
            <a:pPr indent="0" marL="0">
              <a:buNone/>
            </a:pPr>
            <a:r>
              <a:rPr lang="en-US" sz="2100" b="1" dirty="0">
                <a:solidFill>
                  <a:srgbClr val="F8F5EE"/>
                </a:solidFill>
                <a:latin typeface="Source Serif Pro" pitchFamily="34" charset="0"/>
                <a:ea typeface="Source Serif Pro" pitchFamily="34" charset="-122"/>
                <a:cs typeface="Source Serif Pro" pitchFamily="34" charset="-120"/>
              </a:rPr>
              <a:t>Comunidad</a:t>
            </a:r>
            <a:endParaRPr lang="en-US" sz="2100" dirty="0"/>
          </a:p>
        </p:txBody>
      </p:sp>
      <p:sp>
        <p:nvSpPr>
          <p:cNvPr id="12" name="Text 8"/>
          <p:cNvSpPr txBox="1"/>
          <p:nvPr/>
        </p:nvSpPr>
        <p:spPr>
          <a:xfrm>
            <a:off x="4709160" y="2286000"/>
            <a:ext cx="1746504" cy="274320"/>
          </a:xfrm>
          <a:prstGeom prst="rect">
            <a:avLst/>
          </a:prstGeom>
          <a:noFill/>
          <a:ln/>
        </p:spPr>
        <p:txBody>
          <a:bodyPr wrap="square" lIns="0" tIns="0" rIns="0" bIns="0" rtlCol="0" anchor="ctr"/>
          <a:lstStyle/>
          <a:p>
            <a:pPr indent="0" marL="0">
              <a:buNone/>
            </a:pPr>
            <a:r>
              <a:rPr lang="en-US" sz="1050" dirty="0">
                <a:solidFill>
                  <a:srgbClr val="EDE5CC"/>
                </a:solidFill>
                <a:latin typeface="Open Sans" pitchFamily="34" charset="0"/>
                <a:ea typeface="Open Sans" pitchFamily="34" charset="-122"/>
                <a:cs typeface="Open Sans" pitchFamily="34" charset="-120"/>
              </a:rPr>
              <a:t>WhatsApp · espacio principal</a:t>
            </a:r>
            <a:endParaRPr lang="en-US" sz="1050" dirty="0"/>
          </a:p>
        </p:txBody>
      </p:sp>
      <p:sp>
        <p:nvSpPr>
          <p:cNvPr id="13" name="Text 9"/>
          <p:cNvSpPr txBox="1"/>
          <p:nvPr/>
        </p:nvSpPr>
        <p:spPr>
          <a:xfrm>
            <a:off x="4663440" y="3017520"/>
            <a:ext cx="1700784" cy="2148840"/>
          </a:xfrm>
          <a:prstGeom prst="rect">
            <a:avLst/>
          </a:prstGeom>
          <a:noFill/>
          <a:ln/>
        </p:spPr>
        <p:txBody>
          <a:bodyPr wrap="square" lIns="0" tIns="0" rIns="0" bIns="0" rtlCol="0" anchor="t"/>
          <a:lstStyle/>
          <a:p>
            <a:pPr marL="190500" indent="-190500">
              <a:spcAft>
                <a:spcPts val="900"/>
              </a:spcAft>
              <a:buSzPct val="100000"/>
              <a:buChar char="•"/>
            </a:pPr>
            <a:r>
              <a:rPr lang="en-US" sz="1550" dirty="0">
                <a:solidFill>
                  <a:srgbClr val="3F1E0D"/>
                </a:solidFill>
                <a:latin typeface="Open Sans" pitchFamily="34" charset="0"/>
                <a:ea typeface="Open Sans" pitchFamily="34" charset="-122"/>
                <a:cs typeface="Open Sans" pitchFamily="34" charset="-120"/>
              </a:rPr>
              <a:t>dudas y preguntas</a:t>
            </a:r>
            <a:endParaRPr lang="en-US" sz="1550" dirty="0"/>
          </a:p>
          <a:p>
            <a:pPr marL="190500" indent="-190500">
              <a:spcAft>
                <a:spcPts val="900"/>
              </a:spcAft>
              <a:buSzPct val="100000"/>
              <a:buChar char="•"/>
            </a:pPr>
            <a:r>
              <a:rPr lang="en-US" sz="1550" dirty="0">
                <a:solidFill>
                  <a:srgbClr val="3F1E0D"/>
                </a:solidFill>
                <a:latin typeface="Open Sans" pitchFamily="34" charset="0"/>
                <a:ea typeface="Open Sans" pitchFamily="34" charset="-122"/>
                <a:cs typeface="Open Sans" pitchFamily="34" charset="-120"/>
              </a:rPr>
              <a:t>prácticas</a:t>
            </a:r>
            <a:endParaRPr lang="en-US" sz="1550" dirty="0"/>
          </a:p>
          <a:p>
            <a:pPr marL="190500" indent="-190500">
              <a:spcAft>
                <a:spcPts val="900"/>
              </a:spcAft>
              <a:buSzPct val="100000"/>
              <a:buChar char="•"/>
            </a:pPr>
            <a:r>
              <a:rPr lang="en-US" sz="1550" dirty="0">
                <a:solidFill>
                  <a:srgbClr val="3F1E0D"/>
                </a:solidFill>
                <a:latin typeface="Open Sans" pitchFamily="34" charset="0"/>
                <a:ea typeface="Open Sans" pitchFamily="34" charset="-122"/>
                <a:cs typeface="Open Sans" pitchFamily="34" charset="-120"/>
              </a:rPr>
              <a:t>feedback</a:t>
            </a:r>
            <a:endParaRPr lang="en-US" sz="1550" dirty="0"/>
          </a:p>
          <a:p>
            <a:pPr marL="190500" indent="-190500">
              <a:spcAft>
                <a:spcPts val="900"/>
              </a:spcAft>
              <a:buSzPct val="100000"/>
              <a:buChar char="•"/>
            </a:pPr>
            <a:r>
              <a:rPr lang="en-US" sz="1550" dirty="0">
                <a:solidFill>
                  <a:srgbClr val="3F1E0D"/>
                </a:solidFill>
                <a:latin typeface="Open Sans" pitchFamily="34" charset="0"/>
                <a:ea typeface="Open Sans" pitchFamily="34" charset="-122"/>
                <a:cs typeface="Open Sans" pitchFamily="34" charset="-120"/>
              </a:rPr>
              <a:t>avances y aprendizajes</a:t>
            </a:r>
            <a:endParaRPr lang="en-US" sz="1550" dirty="0"/>
          </a:p>
        </p:txBody>
      </p:sp>
      <p:sp>
        <p:nvSpPr>
          <p:cNvPr id="14" name="Shape 10"/>
          <p:cNvSpPr/>
          <p:nvPr/>
        </p:nvSpPr>
        <p:spPr>
          <a:xfrm>
            <a:off x="6867144" y="1143000"/>
            <a:ext cx="2203704" cy="4206240"/>
          </a:xfrm>
          <a:prstGeom prst="roundRect">
            <a:avLst>
              <a:gd name="adj" fmla="val 6639"/>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5" name="Shape 11"/>
          <p:cNvSpPr/>
          <p:nvPr/>
        </p:nvSpPr>
        <p:spPr>
          <a:xfrm>
            <a:off x="6867144" y="1143000"/>
            <a:ext cx="2203704" cy="1600200"/>
          </a:xfrm>
          <a:prstGeom prst="roundRect">
            <a:avLst>
              <a:gd name="adj" fmla="val 9143"/>
            </a:avLst>
          </a:prstGeom>
          <a:solidFill>
            <a:srgbClr val="C68C6C"/>
          </a:solidFill>
          <a:ln w="12700">
            <a:solidFill>
              <a:srgbClr val="C68C6C"/>
            </a:solidFill>
            <a:prstDash val="solid"/>
          </a:ln>
        </p:spPr>
      </p:sp>
      <p:sp>
        <p:nvSpPr>
          <p:cNvPr id="16" name="Shape 12"/>
          <p:cNvSpPr/>
          <p:nvPr/>
        </p:nvSpPr>
        <p:spPr>
          <a:xfrm>
            <a:off x="6867144" y="2468880"/>
            <a:ext cx="2203704" cy="274320"/>
          </a:xfrm>
          <a:prstGeom prst="rect">
            <a:avLst/>
          </a:prstGeom>
          <a:solidFill>
            <a:srgbClr val="C68C6C"/>
          </a:solidFill>
          <a:ln w="12700">
            <a:solidFill>
              <a:srgbClr val="C68C6C"/>
            </a:solidFill>
            <a:prstDash val="solid"/>
          </a:ln>
        </p:spPr>
      </p:sp>
      <p:pic>
        <p:nvPicPr>
          <p:cNvPr id="17" name="Image 1" descr="preencoded.png">    </p:cNvPr>
          <p:cNvPicPr>
            <a:picLocks noChangeAspect="1"/>
          </p:cNvPicPr>
          <p:nvPr/>
        </p:nvPicPr>
        <p:blipFill>
          <a:blip r:embed="rId2"/>
          <a:stretch>
            <a:fillRect/>
          </a:stretch>
        </p:blipFill>
        <p:spPr>
          <a:xfrm>
            <a:off x="7187184" y="1417320"/>
            <a:ext cx="384048" cy="384048"/>
          </a:xfrm>
          <a:prstGeom prst="rect">
            <a:avLst/>
          </a:prstGeom>
        </p:spPr>
      </p:pic>
      <p:sp>
        <p:nvSpPr>
          <p:cNvPr id="18" name="Text 13"/>
          <p:cNvSpPr txBox="1"/>
          <p:nvPr/>
        </p:nvSpPr>
        <p:spPr>
          <a:xfrm>
            <a:off x="7187184" y="1892808"/>
            <a:ext cx="1655064" cy="411480"/>
          </a:xfrm>
          <a:prstGeom prst="rect">
            <a:avLst/>
          </a:prstGeom>
          <a:noFill/>
          <a:ln/>
        </p:spPr>
        <p:txBody>
          <a:bodyPr wrap="square" lIns="0" tIns="0" rIns="0" bIns="0" rtlCol="0" anchor="ctr"/>
          <a:lstStyle/>
          <a:p>
            <a:pPr indent="0" marL="0">
              <a:buNone/>
            </a:pPr>
            <a:r>
              <a:rPr lang="en-US" sz="2100" b="1" dirty="0">
                <a:solidFill>
                  <a:srgbClr val="F8F5EE"/>
                </a:solidFill>
                <a:latin typeface="Source Serif Pro" pitchFamily="34" charset="0"/>
                <a:ea typeface="Source Serif Pro" pitchFamily="34" charset="-122"/>
                <a:cs typeface="Source Serif Pro" pitchFamily="34" charset="-120"/>
              </a:rPr>
              <a:t>Privado</a:t>
            </a:r>
            <a:endParaRPr lang="en-US" sz="2100" dirty="0"/>
          </a:p>
        </p:txBody>
      </p:sp>
      <p:sp>
        <p:nvSpPr>
          <p:cNvPr id="19" name="Text 14"/>
          <p:cNvSpPr txBox="1"/>
          <p:nvPr/>
        </p:nvSpPr>
        <p:spPr>
          <a:xfrm>
            <a:off x="7187184" y="2286000"/>
            <a:ext cx="1746504" cy="274320"/>
          </a:xfrm>
          <a:prstGeom prst="rect">
            <a:avLst/>
          </a:prstGeom>
          <a:noFill/>
          <a:ln/>
        </p:spPr>
        <p:txBody>
          <a:bodyPr wrap="square" lIns="0" tIns="0" rIns="0" bIns="0" rtlCol="0" anchor="ctr"/>
          <a:lstStyle/>
          <a:p>
            <a:pPr indent="0" marL="0">
              <a:buNone/>
            </a:pPr>
            <a:r>
              <a:rPr lang="en-US" sz="1050" dirty="0">
                <a:solidFill>
                  <a:srgbClr val="EDE5CC"/>
                </a:solidFill>
                <a:latin typeface="Open Sans" pitchFamily="34" charset="0"/>
                <a:ea typeface="Open Sans" pitchFamily="34" charset="-122"/>
                <a:cs typeface="Open Sans" pitchFamily="34" charset="-120"/>
              </a:rPr>
              <a:t>mensaje directo</a:t>
            </a:r>
            <a:endParaRPr lang="en-US" sz="1050" dirty="0"/>
          </a:p>
        </p:txBody>
      </p:sp>
      <p:sp>
        <p:nvSpPr>
          <p:cNvPr id="20" name="Text 15"/>
          <p:cNvSpPr txBox="1"/>
          <p:nvPr/>
        </p:nvSpPr>
        <p:spPr>
          <a:xfrm>
            <a:off x="7141464" y="3017520"/>
            <a:ext cx="1700784" cy="2148840"/>
          </a:xfrm>
          <a:prstGeom prst="rect">
            <a:avLst/>
          </a:prstGeom>
          <a:noFill/>
          <a:ln/>
        </p:spPr>
        <p:txBody>
          <a:bodyPr wrap="square" lIns="0" tIns="0" rIns="0" bIns="0" rtlCol="0" anchor="t"/>
          <a:lstStyle/>
          <a:p>
            <a:pPr marL="190500" indent="-190500">
              <a:spcAft>
                <a:spcPts val="900"/>
              </a:spcAft>
              <a:buSzPct val="100000"/>
              <a:buChar char="•"/>
            </a:pPr>
            <a:r>
              <a:rPr lang="en-US" sz="1550" dirty="0">
                <a:solidFill>
                  <a:srgbClr val="3F1E0D"/>
                </a:solidFill>
                <a:latin typeface="Open Sans" pitchFamily="34" charset="0"/>
                <a:ea typeface="Open Sans" pitchFamily="34" charset="-122"/>
                <a:cs typeface="Open Sans" pitchFamily="34" charset="-120"/>
              </a:rPr>
              <a:t>temas administrativos</a:t>
            </a:r>
            <a:endParaRPr lang="en-US" sz="1550" dirty="0"/>
          </a:p>
          <a:p>
            <a:pPr marL="190500" indent="-190500">
              <a:spcAft>
                <a:spcPts val="900"/>
              </a:spcAft>
              <a:buSzPct val="100000"/>
              <a:buChar char="•"/>
            </a:pPr>
            <a:r>
              <a:rPr lang="en-US" sz="1550" dirty="0">
                <a:solidFill>
                  <a:srgbClr val="3F1E0D"/>
                </a:solidFill>
                <a:latin typeface="Open Sans" pitchFamily="34" charset="0"/>
                <a:ea typeface="Open Sans" pitchFamily="34" charset="-122"/>
                <a:cs typeface="Open Sans" pitchFamily="34" charset="-120"/>
              </a:rPr>
              <a:t>lo que prefieras mantener en privado</a:t>
            </a:r>
            <a:endParaRPr lang="en-US" sz="1550" dirty="0"/>
          </a:p>
        </p:txBody>
      </p:sp>
      <p:sp>
        <p:nvSpPr>
          <p:cNvPr id="21" name="Shape 16"/>
          <p:cNvSpPr/>
          <p:nvPr/>
        </p:nvSpPr>
        <p:spPr>
          <a:xfrm>
            <a:off x="9345168" y="1143000"/>
            <a:ext cx="2203704" cy="4206240"/>
          </a:xfrm>
          <a:prstGeom prst="roundRect">
            <a:avLst>
              <a:gd name="adj" fmla="val 6639"/>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22" name="Shape 17"/>
          <p:cNvSpPr/>
          <p:nvPr/>
        </p:nvSpPr>
        <p:spPr>
          <a:xfrm>
            <a:off x="9345168" y="1143000"/>
            <a:ext cx="2203704" cy="1600200"/>
          </a:xfrm>
          <a:prstGeom prst="roundRect">
            <a:avLst>
              <a:gd name="adj" fmla="val 9143"/>
            </a:avLst>
          </a:prstGeom>
          <a:solidFill>
            <a:srgbClr val="3F1E0D"/>
          </a:solidFill>
          <a:ln w="12700">
            <a:solidFill>
              <a:srgbClr val="3F1E0D"/>
            </a:solidFill>
            <a:prstDash val="solid"/>
          </a:ln>
        </p:spPr>
      </p:sp>
      <p:sp>
        <p:nvSpPr>
          <p:cNvPr id="23" name="Shape 18"/>
          <p:cNvSpPr/>
          <p:nvPr/>
        </p:nvSpPr>
        <p:spPr>
          <a:xfrm>
            <a:off x="9345168" y="2468880"/>
            <a:ext cx="2203704" cy="274320"/>
          </a:xfrm>
          <a:prstGeom prst="rect">
            <a:avLst/>
          </a:prstGeom>
          <a:solidFill>
            <a:srgbClr val="3F1E0D"/>
          </a:solidFill>
          <a:ln w="12700">
            <a:solidFill>
              <a:srgbClr val="3F1E0D"/>
            </a:solidFill>
            <a:prstDash val="solid"/>
          </a:ln>
        </p:spPr>
      </p:sp>
      <p:pic>
        <p:nvPicPr>
          <p:cNvPr id="24" name="Image 2" descr="preencoded.png">    </p:cNvPr>
          <p:cNvPicPr>
            <a:picLocks noChangeAspect="1"/>
          </p:cNvPicPr>
          <p:nvPr/>
        </p:nvPicPr>
        <p:blipFill>
          <a:blip r:embed="rId3"/>
          <a:stretch>
            <a:fillRect/>
          </a:stretch>
        </p:blipFill>
        <p:spPr>
          <a:xfrm>
            <a:off x="9665208" y="1417320"/>
            <a:ext cx="384048" cy="384048"/>
          </a:xfrm>
          <a:prstGeom prst="rect">
            <a:avLst/>
          </a:prstGeom>
        </p:spPr>
      </p:pic>
      <p:sp>
        <p:nvSpPr>
          <p:cNvPr id="25" name="Text 19"/>
          <p:cNvSpPr txBox="1"/>
          <p:nvPr/>
        </p:nvSpPr>
        <p:spPr>
          <a:xfrm>
            <a:off x="9665208" y="1892808"/>
            <a:ext cx="1655064" cy="411480"/>
          </a:xfrm>
          <a:prstGeom prst="rect">
            <a:avLst/>
          </a:prstGeom>
          <a:noFill/>
          <a:ln/>
        </p:spPr>
        <p:txBody>
          <a:bodyPr wrap="square" lIns="0" tIns="0" rIns="0" bIns="0" rtlCol="0" anchor="ctr"/>
          <a:lstStyle/>
          <a:p>
            <a:pPr indent="0" marL="0">
              <a:buNone/>
            </a:pPr>
            <a:r>
              <a:rPr lang="en-US" sz="2100" b="1" dirty="0">
                <a:solidFill>
                  <a:srgbClr val="F8F5EE"/>
                </a:solidFill>
                <a:latin typeface="Source Serif Pro" pitchFamily="34" charset="0"/>
                <a:ea typeface="Source Serif Pro" pitchFamily="34" charset="-122"/>
                <a:cs typeface="Source Serif Pro" pitchFamily="34" charset="-120"/>
              </a:rPr>
              <a:t>Sesión 1:1</a:t>
            </a:r>
            <a:endParaRPr lang="en-US" sz="2100" dirty="0"/>
          </a:p>
        </p:txBody>
      </p:sp>
      <p:sp>
        <p:nvSpPr>
          <p:cNvPr id="26" name="Text 20"/>
          <p:cNvSpPr txBox="1"/>
          <p:nvPr/>
        </p:nvSpPr>
        <p:spPr>
          <a:xfrm>
            <a:off x="9665208" y="2286000"/>
            <a:ext cx="1746504" cy="274320"/>
          </a:xfrm>
          <a:prstGeom prst="rect">
            <a:avLst/>
          </a:prstGeom>
          <a:noFill/>
          <a:ln/>
        </p:spPr>
        <p:txBody>
          <a:bodyPr wrap="square" lIns="0" tIns="0" rIns="0" bIns="0" rtlCol="0" anchor="ctr"/>
          <a:lstStyle/>
          <a:p>
            <a:pPr indent="0" marL="0">
              <a:buNone/>
            </a:pPr>
            <a:r>
              <a:rPr lang="en-US" sz="1050" dirty="0">
                <a:solidFill>
                  <a:srgbClr val="EDE5CC"/>
                </a:solidFill>
                <a:latin typeface="Open Sans" pitchFamily="34" charset="0"/>
                <a:ea typeface="Open Sans" pitchFamily="34" charset="-122"/>
                <a:cs typeface="Open Sans" pitchFamily="34" charset="-120"/>
              </a:rPr>
              <a:t>trabajo en profundidad</a:t>
            </a:r>
            <a:endParaRPr lang="en-US" sz="1050" dirty="0"/>
          </a:p>
        </p:txBody>
      </p:sp>
      <p:sp>
        <p:nvSpPr>
          <p:cNvPr id="27" name="Text 21"/>
          <p:cNvSpPr txBox="1"/>
          <p:nvPr/>
        </p:nvSpPr>
        <p:spPr>
          <a:xfrm>
            <a:off x="9619488" y="3017520"/>
            <a:ext cx="1700784" cy="2148840"/>
          </a:xfrm>
          <a:prstGeom prst="rect">
            <a:avLst/>
          </a:prstGeom>
          <a:noFill/>
          <a:ln/>
        </p:spPr>
        <p:txBody>
          <a:bodyPr wrap="square" lIns="0" tIns="0" rIns="0" bIns="0" rtlCol="0" anchor="t"/>
          <a:lstStyle/>
          <a:p>
            <a:pPr marL="190500" indent="-190500">
              <a:spcAft>
                <a:spcPts val="900"/>
              </a:spcAft>
              <a:buSzPct val="100000"/>
              <a:buChar char="•"/>
            </a:pPr>
            <a:r>
              <a:rPr lang="en-US" sz="1550" dirty="0">
                <a:solidFill>
                  <a:srgbClr val="3F1E0D"/>
                </a:solidFill>
                <a:latin typeface="Open Sans" pitchFamily="34" charset="0"/>
                <a:ea typeface="Open Sans" pitchFamily="34" charset="-122"/>
                <a:cs typeface="Open Sans" pitchFamily="34" charset="-120"/>
              </a:rPr>
              <a:t>situaciones que necesitan más contexto y análisis</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5EE"/>
        </a:solidFill>
      </p:bgPr>
    </p:bg>
    <p:spTree>
      <p:nvGrpSpPr>
        <p:cNvPr id="1" name=""/>
        <p:cNvGrpSpPr/>
        <p:nvPr/>
      </p:nvGrpSpPr>
      <p:grpSpPr>
        <a:xfrm>
          <a:off x="0" y="0"/>
          <a:ext cx="0" cy="0"/>
          <a:chOff x="0" y="0"/>
          <a:chExt cx="0" cy="0"/>
        </a:xfrm>
      </p:grpSpPr>
      <p:sp>
        <p:nvSpPr>
          <p:cNvPr id="3" name="Text 0"/>
          <p:cNvSpPr txBox="1"/>
          <p:nvPr/>
        </p:nvSpPr>
        <p:spPr>
          <a:xfrm>
            <a:off x="640080" y="384048"/>
            <a:ext cx="4572000" cy="274320"/>
          </a:xfrm>
          <a:prstGeom prst="rect">
            <a:avLst/>
          </a:prstGeom>
          <a:noFill/>
          <a:ln/>
        </p:spPr>
        <p:txBody>
          <a:bodyPr wrap="square" lIns="0" tIns="0" rIns="0" bIns="0" rtlCol="0" anchor="ctr"/>
          <a:lstStyle/>
          <a:p>
            <a:pPr indent="0" marL="0">
              <a:buNone/>
            </a:pPr>
            <a:r>
              <a:rPr lang="en-US" sz="1050" b="1" spc="300" kern="0" dirty="0">
                <a:solidFill>
                  <a:srgbClr val="C68C6C"/>
                </a:solidFill>
                <a:latin typeface="Open Sans" pitchFamily="34" charset="0"/>
                <a:ea typeface="Open Sans" pitchFamily="34" charset="-122"/>
                <a:cs typeface="Open Sans" pitchFamily="34" charset="-120"/>
              </a:rPr>
              <a:t>BREAKING BARRIERS · AT WORK</a:t>
            </a:r>
            <a:endParaRPr lang="en-US" sz="1050" dirty="0"/>
          </a:p>
        </p:txBody>
      </p:sp>
      <p:sp>
        <p:nvSpPr>
          <p:cNvPr id="4" name="Text 1"/>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05 / 09</a:t>
            </a:r>
            <a:endParaRPr lang="en-US" sz="1100" dirty="0"/>
          </a:p>
        </p:txBody>
      </p:sp>
      <p:sp>
        <p:nvSpPr>
          <p:cNvPr id="5" name="Text 2"/>
          <p:cNvSpPr txBox="1"/>
          <p:nvPr/>
        </p:nvSpPr>
        <p:spPr>
          <a:xfrm>
            <a:off x="640080" y="1097280"/>
            <a:ext cx="3429000" cy="1783080"/>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Mi horario de trabajo</a:t>
            </a:r>
            <a:endParaRPr lang="en-US" sz="3400" dirty="0"/>
          </a:p>
        </p:txBody>
      </p:sp>
      <p:sp>
        <p:nvSpPr>
          <p:cNvPr id="6" name="Text 3"/>
          <p:cNvSpPr txBox="1"/>
          <p:nvPr/>
        </p:nvSpPr>
        <p:spPr>
          <a:xfrm>
            <a:off x="640080" y="2414016"/>
            <a:ext cx="3291840" cy="73152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Cuándo reviso y respondo tus mensajes</a:t>
            </a:r>
            <a:endParaRPr lang="en-US" sz="1600" dirty="0"/>
          </a:p>
        </p:txBody>
      </p:sp>
      <p:sp>
        <p:nvSpPr>
          <p:cNvPr id="7" name="Shape 4"/>
          <p:cNvSpPr/>
          <p:nvPr/>
        </p:nvSpPr>
        <p:spPr>
          <a:xfrm>
            <a:off x="4389120" y="1143000"/>
            <a:ext cx="7159752" cy="2788920"/>
          </a:xfrm>
          <a:prstGeom prst="roundRect">
            <a:avLst>
              <a:gd name="adj" fmla="val 5246"/>
            </a:avLst>
          </a:prstGeom>
          <a:solidFill>
            <a:srgbClr val="3F1E0D"/>
          </a:solidFill>
          <a:ln w="12700">
            <a:solidFill>
              <a:srgbClr val="3F1E0D"/>
            </a:solidFill>
            <a:prstDash val="solid"/>
          </a:ln>
          <a:effectLst>
            <a:outerShdw sx="100000" sy="100000" kx="0" ky="0" algn="bl" rotWithShape="0" blurRad="177800" dist="38100" dir="5400000">
              <a:srgbClr val="3F1E0D">
                <a:alpha val="10000"/>
              </a:srgbClr>
            </a:outerShdw>
          </a:effectLst>
        </p:spPr>
      </p:sp>
      <p:pic>
        <p:nvPicPr>
          <p:cNvPr id="8" name="Image 0" descr="preencoded.png">    </p:cNvPr>
          <p:cNvPicPr>
            <a:picLocks noChangeAspect="1"/>
          </p:cNvPicPr>
          <p:nvPr/>
        </p:nvPicPr>
        <p:blipFill>
          <a:blip r:embed="rId1"/>
          <a:stretch>
            <a:fillRect/>
          </a:stretch>
        </p:blipFill>
        <p:spPr>
          <a:xfrm>
            <a:off x="4846320" y="1554480"/>
            <a:ext cx="347472" cy="347472"/>
          </a:xfrm>
          <a:prstGeom prst="rect">
            <a:avLst/>
          </a:prstGeom>
        </p:spPr>
      </p:pic>
      <p:sp>
        <p:nvSpPr>
          <p:cNvPr id="9" name="Text 5"/>
          <p:cNvSpPr txBox="1"/>
          <p:nvPr/>
        </p:nvSpPr>
        <p:spPr>
          <a:xfrm>
            <a:off x="5349240" y="1545336"/>
            <a:ext cx="4572000" cy="365760"/>
          </a:xfrm>
          <a:prstGeom prst="rect">
            <a:avLst/>
          </a:prstGeom>
          <a:noFill/>
          <a:ln/>
        </p:spPr>
        <p:txBody>
          <a:bodyPr wrap="square" lIns="0" tIns="0" rIns="0" bIns="0" rtlCol="0" anchor="ctr"/>
          <a:lstStyle/>
          <a:p>
            <a:pPr indent="0" marL="0">
              <a:buNone/>
            </a:pPr>
            <a:r>
              <a:rPr lang="en-US" sz="1400" b="1" spc="400" kern="0" dirty="0">
                <a:solidFill>
                  <a:srgbClr val="C68C6C"/>
                </a:solidFill>
                <a:latin typeface="Open Sans" pitchFamily="34" charset="0"/>
                <a:ea typeface="Open Sans" pitchFamily="34" charset="-122"/>
                <a:cs typeface="Open Sans" pitchFamily="34" charset="-120"/>
              </a:rPr>
              <a:t>LUNES A VIERNES</a:t>
            </a:r>
            <a:endParaRPr lang="en-US" sz="1400" dirty="0"/>
          </a:p>
        </p:txBody>
      </p:sp>
      <p:sp>
        <p:nvSpPr>
          <p:cNvPr id="10" name="Text 6"/>
          <p:cNvSpPr txBox="1"/>
          <p:nvPr/>
        </p:nvSpPr>
        <p:spPr>
          <a:xfrm>
            <a:off x="4846320" y="2057400"/>
            <a:ext cx="6245352" cy="1143000"/>
          </a:xfrm>
          <a:prstGeom prst="rect">
            <a:avLst/>
          </a:prstGeom>
          <a:noFill/>
          <a:ln/>
        </p:spPr>
        <p:txBody>
          <a:bodyPr wrap="square" lIns="0" tIns="0" rIns="0" bIns="0" rtlCol="0" anchor="ctr"/>
          <a:lstStyle/>
          <a:p>
            <a:pPr indent="0" marL="0">
              <a:buNone/>
            </a:pPr>
            <a:r>
              <a:rPr lang="en-US" sz="7000" b="1" dirty="0">
                <a:solidFill>
                  <a:srgbClr val="F8F5EE"/>
                </a:solidFill>
                <a:latin typeface="Source Serif Pro" pitchFamily="34" charset="0"/>
                <a:ea typeface="Source Serif Pro" pitchFamily="34" charset="-122"/>
                <a:cs typeface="Source Serif Pro" pitchFamily="34" charset="-120"/>
              </a:rPr>
              <a:t>9:00 – 18:00</a:t>
            </a:r>
            <a:endParaRPr lang="en-US" sz="7000" dirty="0"/>
          </a:p>
        </p:txBody>
      </p:sp>
      <p:sp>
        <p:nvSpPr>
          <p:cNvPr id="11" name="Text 7"/>
          <p:cNvSpPr txBox="1"/>
          <p:nvPr/>
        </p:nvSpPr>
        <p:spPr>
          <a:xfrm>
            <a:off x="4846320" y="3246120"/>
            <a:ext cx="6245352" cy="411480"/>
          </a:xfrm>
          <a:prstGeom prst="rect">
            <a:avLst/>
          </a:prstGeom>
          <a:noFill/>
          <a:ln/>
        </p:spPr>
        <p:txBody>
          <a:bodyPr wrap="square" lIns="0" tIns="0" rIns="0" bIns="0" rtlCol="0" anchor="ctr"/>
          <a:lstStyle/>
          <a:p>
            <a:pPr indent="0" marL="0">
              <a:buNone/>
            </a:pPr>
            <a:r>
              <a:rPr lang="en-US" sz="1800" i="1" dirty="0">
                <a:solidFill>
                  <a:srgbClr val="EDE5CC"/>
                </a:solidFill>
                <a:latin typeface="Source Serif Pro" pitchFamily="34" charset="0"/>
                <a:ea typeface="Source Serif Pro" pitchFamily="34" charset="-122"/>
                <a:cs typeface="Source Serif Pro" pitchFamily="34" charset="-120"/>
              </a:rPr>
              <a:t>horario de Buenos Aires</a:t>
            </a:r>
            <a:endParaRPr lang="en-US" sz="1800" dirty="0"/>
          </a:p>
        </p:txBody>
      </p:sp>
      <p:sp>
        <p:nvSpPr>
          <p:cNvPr id="12" name="Shape 8"/>
          <p:cNvSpPr/>
          <p:nvPr/>
        </p:nvSpPr>
        <p:spPr>
          <a:xfrm>
            <a:off x="4389120" y="4206240"/>
            <a:ext cx="7159752" cy="1783080"/>
          </a:xfrm>
          <a:prstGeom prst="roundRect">
            <a:avLst>
              <a:gd name="adj" fmla="val 8205"/>
            </a:avLst>
          </a:prstGeom>
          <a:solidFill>
            <a:srgbClr val="FBF2D0"/>
          </a:solidFill>
          <a:ln w="12700">
            <a:solidFill>
              <a:srgbClr val="FBF2D0"/>
            </a:solidFill>
            <a:prstDash val="solid"/>
          </a:ln>
          <a:effectLst>
            <a:outerShdw sx="100000" sy="100000" kx="0" ky="0" algn="bl" rotWithShape="0" blurRad="177800" dist="38100" dir="5400000">
              <a:srgbClr val="3F1E0D">
                <a:alpha val="10000"/>
              </a:srgbClr>
            </a:outerShdw>
          </a:effectLst>
        </p:spPr>
      </p:sp>
      <p:sp>
        <p:nvSpPr>
          <p:cNvPr id="13" name="Shape 9"/>
          <p:cNvSpPr/>
          <p:nvPr/>
        </p:nvSpPr>
        <p:spPr>
          <a:xfrm>
            <a:off x="4800600" y="4681728"/>
            <a:ext cx="822960" cy="822960"/>
          </a:xfrm>
          <a:prstGeom prst="ellipse">
            <a:avLst/>
          </a:prstGeom>
          <a:solidFill>
            <a:srgbClr val="C68C6C"/>
          </a:solidFill>
          <a:ln w="12700">
            <a:solidFill>
              <a:srgbClr val="C68C6C"/>
            </a:solidFill>
            <a:prstDash val="solid"/>
          </a:ln>
        </p:spPr>
      </p:sp>
      <p:pic>
        <p:nvPicPr>
          <p:cNvPr id="14" name="Image 1" descr="preencoded.png">    </p:cNvPr>
          <p:cNvPicPr>
            <a:picLocks noChangeAspect="1"/>
          </p:cNvPicPr>
          <p:nvPr/>
        </p:nvPicPr>
        <p:blipFill>
          <a:blip r:embed="rId2"/>
          <a:stretch>
            <a:fillRect/>
          </a:stretch>
        </p:blipFill>
        <p:spPr>
          <a:xfrm>
            <a:off x="5022799" y="4903927"/>
            <a:ext cx="378562" cy="378562"/>
          </a:xfrm>
          <a:prstGeom prst="rect">
            <a:avLst/>
          </a:prstGeom>
        </p:spPr>
      </p:pic>
      <p:sp>
        <p:nvSpPr>
          <p:cNvPr id="15" name="Text 10"/>
          <p:cNvSpPr txBox="1"/>
          <p:nvPr/>
        </p:nvSpPr>
        <p:spPr>
          <a:xfrm>
            <a:off x="5943600" y="4206240"/>
            <a:ext cx="5239512" cy="1783080"/>
          </a:xfrm>
          <a:prstGeom prst="rect">
            <a:avLst/>
          </a:prstGeom>
          <a:noFill/>
          <a:ln/>
        </p:spPr>
        <p:txBody>
          <a:bodyPr wrap="square" lIns="0" tIns="0" rIns="0" bIns="0" rtlCol="0" anchor="ctr"/>
          <a:lstStyle/>
          <a:p>
            <a:pPr indent="0" marL="0">
              <a:spcAft>
                <a:spcPts val="600"/>
              </a:spcAft>
              <a:buNone/>
            </a:pPr>
            <a:r>
              <a:rPr lang="en-US" sz="1900" b="1" dirty="0">
                <a:solidFill>
                  <a:srgbClr val="81552E"/>
                </a:solidFill>
                <a:latin typeface="Open Sans" pitchFamily="34" charset="0"/>
                <a:ea typeface="Open Sans" pitchFamily="34" charset="-122"/>
                <a:cs typeface="Open Sans" pitchFamily="34" charset="-120"/>
              </a:rPr>
              <a:t>Escribime cuando lo necesites</a:t>
            </a:r>
            <a:endParaRPr lang="en-US" sz="1900" dirty="0"/>
          </a:p>
          <a:p>
            <a:pPr indent="0" marL="0">
              <a:spcAft>
                <a:spcPts val="600"/>
              </a:spcAft>
              <a:buNone/>
            </a:pPr>
            <a:r>
              <a:rPr lang="en-US" sz="1550" dirty="0">
                <a:solidFill>
                  <a:srgbClr val="3F1E0D"/>
                </a:solidFill>
                <a:latin typeface="Open Sans" pitchFamily="34" charset="0"/>
                <a:ea typeface="Open Sans" pitchFamily="34" charset="-122"/>
                <a:cs typeface="Open Sans" pitchFamily="34" charset="-120"/>
              </a:rPr>
              <a:t>Si es fuera de horario o el fin de semana, escribilo igual: el mensaje queda ahí y lo retomo cuando vuelva a estar disponible.</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5EE"/>
        </a:solidFill>
      </p:bgPr>
    </p:bg>
    <p:spTree>
      <p:nvGrpSpPr>
        <p:cNvPr id="1" name=""/>
        <p:cNvGrpSpPr/>
        <p:nvPr/>
      </p:nvGrpSpPr>
      <p:grpSpPr>
        <a:xfrm>
          <a:off x="0" y="0"/>
          <a:ext cx="0" cy="0"/>
          <a:chOff x="0" y="0"/>
          <a:chExt cx="0" cy="0"/>
        </a:xfrm>
      </p:grpSpPr>
      <p:sp>
        <p:nvSpPr>
          <p:cNvPr id="3" name="Text 0"/>
          <p:cNvSpPr txBox="1"/>
          <p:nvPr/>
        </p:nvSpPr>
        <p:spPr>
          <a:xfrm>
            <a:off x="640080" y="384048"/>
            <a:ext cx="4572000" cy="274320"/>
          </a:xfrm>
          <a:prstGeom prst="rect">
            <a:avLst/>
          </a:prstGeom>
          <a:noFill/>
          <a:ln/>
        </p:spPr>
        <p:txBody>
          <a:bodyPr wrap="square" lIns="0" tIns="0" rIns="0" bIns="0" rtlCol="0" anchor="ctr"/>
          <a:lstStyle/>
          <a:p>
            <a:pPr indent="0" marL="0">
              <a:buNone/>
            </a:pPr>
            <a:r>
              <a:rPr lang="en-US" sz="1050" b="1" spc="300" kern="0" dirty="0">
                <a:solidFill>
                  <a:srgbClr val="C68C6C"/>
                </a:solidFill>
                <a:latin typeface="Open Sans" pitchFamily="34" charset="0"/>
                <a:ea typeface="Open Sans" pitchFamily="34" charset="-122"/>
                <a:cs typeface="Open Sans" pitchFamily="34" charset="-120"/>
              </a:rPr>
              <a:t>BREAKING BARRIERS · AT WORK</a:t>
            </a:r>
            <a:endParaRPr lang="en-US" sz="1050" dirty="0"/>
          </a:p>
        </p:txBody>
      </p:sp>
      <p:sp>
        <p:nvSpPr>
          <p:cNvPr id="4" name="Text 1"/>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06 / 09</a:t>
            </a:r>
            <a:endParaRPr lang="en-US" sz="1100" dirty="0"/>
          </a:p>
        </p:txBody>
      </p:sp>
      <p:sp>
        <p:nvSpPr>
          <p:cNvPr id="5" name="Text 2"/>
          <p:cNvSpPr txBox="1"/>
          <p:nvPr/>
        </p:nvSpPr>
        <p:spPr>
          <a:xfrm>
            <a:off x="640080" y="1097280"/>
            <a:ext cx="3429000" cy="1783080"/>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Feedback entre sesiones</a:t>
            </a:r>
            <a:endParaRPr lang="en-US" sz="3400" dirty="0"/>
          </a:p>
        </p:txBody>
      </p:sp>
      <p:sp>
        <p:nvSpPr>
          <p:cNvPr id="6" name="Text 3"/>
          <p:cNvSpPr txBox="1"/>
          <p:nvPr/>
        </p:nvSpPr>
        <p:spPr>
          <a:xfrm>
            <a:off x="640080" y="2414016"/>
            <a:ext cx="3291840" cy="73152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Algo puntual que quieras revisar</a:t>
            </a:r>
            <a:endParaRPr lang="en-US" sz="1600" dirty="0"/>
          </a:p>
        </p:txBody>
      </p:sp>
      <p:sp>
        <p:nvSpPr>
          <p:cNvPr id="7" name="Shape 4"/>
          <p:cNvSpPr/>
          <p:nvPr/>
        </p:nvSpPr>
        <p:spPr>
          <a:xfrm>
            <a:off x="4389120" y="1143000"/>
            <a:ext cx="2203704" cy="2697480"/>
          </a:xfrm>
          <a:prstGeom prst="roundRect">
            <a:avLst>
              <a:gd name="adj" fmla="val 6639"/>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8" name="Shape 5"/>
          <p:cNvSpPr/>
          <p:nvPr/>
        </p:nvSpPr>
        <p:spPr>
          <a:xfrm>
            <a:off x="5010912" y="1508760"/>
            <a:ext cx="960120" cy="960120"/>
          </a:xfrm>
          <a:prstGeom prst="ellipse">
            <a:avLst/>
          </a:prstGeom>
          <a:solidFill>
            <a:srgbClr val="C68C6C"/>
          </a:solidFill>
          <a:ln w="12700">
            <a:solidFill>
              <a:srgbClr val="C68C6C"/>
            </a:solidFill>
            <a:prstDash val="solid"/>
          </a:ln>
        </p:spPr>
      </p:sp>
      <p:pic>
        <p:nvPicPr>
          <p:cNvPr id="9" name="Image 0" descr="preencoded.png">    </p:cNvPr>
          <p:cNvPicPr>
            <a:picLocks noChangeAspect="1"/>
          </p:cNvPicPr>
          <p:nvPr/>
        </p:nvPicPr>
        <p:blipFill>
          <a:blip r:embed="rId1"/>
          <a:stretch>
            <a:fillRect/>
          </a:stretch>
        </p:blipFill>
        <p:spPr>
          <a:xfrm>
            <a:off x="5270144" y="1767992"/>
            <a:ext cx="441655" cy="441655"/>
          </a:xfrm>
          <a:prstGeom prst="rect">
            <a:avLst/>
          </a:prstGeom>
        </p:spPr>
      </p:pic>
      <p:sp>
        <p:nvSpPr>
          <p:cNvPr id="10" name="Text 6"/>
          <p:cNvSpPr txBox="1"/>
          <p:nvPr/>
        </p:nvSpPr>
        <p:spPr>
          <a:xfrm>
            <a:off x="4617720" y="2697480"/>
            <a:ext cx="1746504" cy="960120"/>
          </a:xfrm>
          <a:prstGeom prst="rect">
            <a:avLst/>
          </a:prstGeom>
          <a:noFill/>
          <a:ln/>
        </p:spPr>
        <p:txBody>
          <a:bodyPr wrap="square" lIns="0" tIns="0" rIns="0" bIns="0" rtlCol="0" anchor="ctr"/>
          <a:lstStyle/>
          <a:p>
            <a:pPr algn="ctr" indent="0" marL="0">
              <a:buNone/>
            </a:pPr>
            <a:r>
              <a:rPr lang="en-US" sz="1600" b="1" dirty="0">
                <a:solidFill>
                  <a:srgbClr val="81552E"/>
                </a:solidFill>
                <a:latin typeface="Open Sans" pitchFamily="34" charset="0"/>
                <a:ea typeface="Open Sans" pitchFamily="34" charset="-122"/>
                <a:cs typeface="Open Sans" pitchFamily="34" charset="-120"/>
              </a:rPr>
              <a:t>Una práctica</a:t>
            </a:r>
            <a:endParaRPr lang="en-US" sz="1600" dirty="0"/>
          </a:p>
        </p:txBody>
      </p:sp>
      <p:sp>
        <p:nvSpPr>
          <p:cNvPr id="11" name="Shape 7"/>
          <p:cNvSpPr/>
          <p:nvPr/>
        </p:nvSpPr>
        <p:spPr>
          <a:xfrm>
            <a:off x="6867144" y="1143000"/>
            <a:ext cx="2203704" cy="2697480"/>
          </a:xfrm>
          <a:prstGeom prst="roundRect">
            <a:avLst>
              <a:gd name="adj" fmla="val 6639"/>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2" name="Shape 8"/>
          <p:cNvSpPr/>
          <p:nvPr/>
        </p:nvSpPr>
        <p:spPr>
          <a:xfrm>
            <a:off x="7488936" y="1508760"/>
            <a:ext cx="960120" cy="960120"/>
          </a:xfrm>
          <a:prstGeom prst="ellipse">
            <a:avLst/>
          </a:prstGeom>
          <a:solidFill>
            <a:srgbClr val="C68C6C"/>
          </a:solidFill>
          <a:ln w="12700">
            <a:solidFill>
              <a:srgbClr val="C68C6C"/>
            </a:solidFill>
            <a:prstDash val="solid"/>
          </a:ln>
        </p:spPr>
      </p:sp>
      <p:pic>
        <p:nvPicPr>
          <p:cNvPr id="13" name="Image 1" descr="preencoded.png">    </p:cNvPr>
          <p:cNvPicPr>
            <a:picLocks noChangeAspect="1"/>
          </p:cNvPicPr>
          <p:nvPr/>
        </p:nvPicPr>
        <p:blipFill>
          <a:blip r:embed="rId2"/>
          <a:stretch>
            <a:fillRect/>
          </a:stretch>
        </p:blipFill>
        <p:spPr>
          <a:xfrm>
            <a:off x="7748168" y="1767992"/>
            <a:ext cx="441655" cy="441655"/>
          </a:xfrm>
          <a:prstGeom prst="rect">
            <a:avLst/>
          </a:prstGeom>
        </p:spPr>
      </p:pic>
      <p:sp>
        <p:nvSpPr>
          <p:cNvPr id="14" name="Text 9"/>
          <p:cNvSpPr txBox="1"/>
          <p:nvPr/>
        </p:nvSpPr>
        <p:spPr>
          <a:xfrm>
            <a:off x="7095744" y="2697480"/>
            <a:ext cx="1746504" cy="960120"/>
          </a:xfrm>
          <a:prstGeom prst="rect">
            <a:avLst/>
          </a:prstGeom>
          <a:noFill/>
          <a:ln/>
        </p:spPr>
        <p:txBody>
          <a:bodyPr wrap="square" lIns="0" tIns="0" rIns="0" bIns="0" rtlCol="0" anchor="ctr"/>
          <a:lstStyle/>
          <a:p>
            <a:pPr algn="ctr" indent="0" marL="0">
              <a:buNone/>
            </a:pPr>
            <a:r>
              <a:rPr lang="en-US" sz="1600" b="1" dirty="0">
                <a:solidFill>
                  <a:srgbClr val="81552E"/>
                </a:solidFill>
                <a:latin typeface="Open Sans" pitchFamily="34" charset="0"/>
                <a:ea typeface="Open Sans" pitchFamily="34" charset="-122"/>
                <a:cs typeface="Open Sans" pitchFamily="34" charset="-120"/>
              </a:rPr>
              <a:t>Una respuesta que estés preparando</a:t>
            </a:r>
            <a:endParaRPr lang="en-US" sz="1600" dirty="0"/>
          </a:p>
        </p:txBody>
      </p:sp>
      <p:sp>
        <p:nvSpPr>
          <p:cNvPr id="15" name="Shape 10"/>
          <p:cNvSpPr/>
          <p:nvPr/>
        </p:nvSpPr>
        <p:spPr>
          <a:xfrm>
            <a:off x="9345168" y="1143000"/>
            <a:ext cx="2203704" cy="2697480"/>
          </a:xfrm>
          <a:prstGeom prst="roundRect">
            <a:avLst>
              <a:gd name="adj" fmla="val 6639"/>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6" name="Shape 11"/>
          <p:cNvSpPr/>
          <p:nvPr/>
        </p:nvSpPr>
        <p:spPr>
          <a:xfrm>
            <a:off x="9966960" y="1508760"/>
            <a:ext cx="960120" cy="960120"/>
          </a:xfrm>
          <a:prstGeom prst="ellipse">
            <a:avLst/>
          </a:prstGeom>
          <a:solidFill>
            <a:srgbClr val="C68C6C"/>
          </a:solidFill>
          <a:ln w="12700">
            <a:solidFill>
              <a:srgbClr val="C68C6C"/>
            </a:solidFill>
            <a:prstDash val="solid"/>
          </a:ln>
        </p:spPr>
      </p:sp>
      <p:pic>
        <p:nvPicPr>
          <p:cNvPr id="17" name="Image 2" descr="preencoded.png">    </p:cNvPr>
          <p:cNvPicPr>
            <a:picLocks noChangeAspect="1"/>
          </p:cNvPicPr>
          <p:nvPr/>
        </p:nvPicPr>
        <p:blipFill>
          <a:blip r:embed="rId3"/>
          <a:stretch>
            <a:fillRect/>
          </a:stretch>
        </p:blipFill>
        <p:spPr>
          <a:xfrm>
            <a:off x="10226192" y="1767992"/>
            <a:ext cx="441655" cy="441655"/>
          </a:xfrm>
          <a:prstGeom prst="rect">
            <a:avLst/>
          </a:prstGeom>
        </p:spPr>
      </p:pic>
      <p:sp>
        <p:nvSpPr>
          <p:cNvPr id="18" name="Text 12"/>
          <p:cNvSpPr txBox="1"/>
          <p:nvPr/>
        </p:nvSpPr>
        <p:spPr>
          <a:xfrm>
            <a:off x="9573768" y="2697480"/>
            <a:ext cx="1746504" cy="960120"/>
          </a:xfrm>
          <a:prstGeom prst="rect">
            <a:avLst/>
          </a:prstGeom>
          <a:noFill/>
          <a:ln/>
        </p:spPr>
        <p:txBody>
          <a:bodyPr wrap="square" lIns="0" tIns="0" rIns="0" bIns="0" rtlCol="0" anchor="ctr"/>
          <a:lstStyle/>
          <a:p>
            <a:pPr algn="ctr" indent="0" marL="0">
              <a:buNone/>
            </a:pPr>
            <a:r>
              <a:rPr lang="en-US" sz="1600" b="1" dirty="0">
                <a:solidFill>
                  <a:srgbClr val="81552E"/>
                </a:solidFill>
                <a:latin typeface="Open Sans" pitchFamily="34" charset="0"/>
                <a:ea typeface="Open Sans" pitchFamily="34" charset="-122"/>
                <a:cs typeface="Open Sans" pitchFamily="34" charset="-120"/>
              </a:rPr>
              <a:t>Un mensaje que quieras comunicar mejor</a:t>
            </a:r>
            <a:endParaRPr lang="en-US" sz="1600" dirty="0"/>
          </a:p>
        </p:txBody>
      </p:sp>
      <p:sp>
        <p:nvSpPr>
          <p:cNvPr id="19" name="Shape 13"/>
          <p:cNvSpPr/>
          <p:nvPr/>
        </p:nvSpPr>
        <p:spPr>
          <a:xfrm>
            <a:off x="4389120" y="4160520"/>
            <a:ext cx="7159752" cy="1828800"/>
          </a:xfrm>
          <a:prstGeom prst="roundRect">
            <a:avLst>
              <a:gd name="adj" fmla="val 8000"/>
            </a:avLst>
          </a:prstGeom>
          <a:solidFill>
            <a:srgbClr val="81552E"/>
          </a:solidFill>
          <a:ln w="12700">
            <a:solidFill>
              <a:srgbClr val="81552E"/>
            </a:solidFill>
            <a:prstDash val="solid"/>
          </a:ln>
          <a:effectLst>
            <a:outerShdw sx="100000" sy="100000" kx="0" ky="0" algn="bl" rotWithShape="0" blurRad="177800" dist="38100" dir="5400000">
              <a:srgbClr val="3F1E0D">
                <a:alpha val="10000"/>
              </a:srgbClr>
            </a:outerShdw>
          </a:effectLst>
        </p:spPr>
      </p:sp>
      <p:sp>
        <p:nvSpPr>
          <p:cNvPr id="20" name="Shape 14"/>
          <p:cNvSpPr/>
          <p:nvPr/>
        </p:nvSpPr>
        <p:spPr>
          <a:xfrm>
            <a:off x="4800600" y="4663440"/>
            <a:ext cx="822960" cy="822960"/>
          </a:xfrm>
          <a:prstGeom prst="ellipse">
            <a:avLst/>
          </a:prstGeom>
          <a:solidFill>
            <a:srgbClr val="C68C6C"/>
          </a:solidFill>
          <a:ln w="12700">
            <a:solidFill>
              <a:srgbClr val="C68C6C"/>
            </a:solidFill>
            <a:prstDash val="solid"/>
          </a:ln>
        </p:spPr>
      </p:sp>
      <p:pic>
        <p:nvPicPr>
          <p:cNvPr id="21" name="Image 3" descr="preencoded.png">    </p:cNvPr>
          <p:cNvPicPr>
            <a:picLocks noChangeAspect="1"/>
          </p:cNvPicPr>
          <p:nvPr/>
        </p:nvPicPr>
        <p:blipFill>
          <a:blip r:embed="rId4"/>
          <a:stretch>
            <a:fillRect/>
          </a:stretch>
        </p:blipFill>
        <p:spPr>
          <a:xfrm>
            <a:off x="5022799" y="4885639"/>
            <a:ext cx="378562" cy="378562"/>
          </a:xfrm>
          <a:prstGeom prst="rect">
            <a:avLst/>
          </a:prstGeom>
        </p:spPr>
      </p:pic>
      <p:sp>
        <p:nvSpPr>
          <p:cNvPr id="22" name="Text 15"/>
          <p:cNvSpPr txBox="1"/>
          <p:nvPr/>
        </p:nvSpPr>
        <p:spPr>
          <a:xfrm>
            <a:off x="5943600" y="4160520"/>
            <a:ext cx="5239512" cy="1828800"/>
          </a:xfrm>
          <a:prstGeom prst="rect">
            <a:avLst/>
          </a:prstGeom>
          <a:noFill/>
          <a:ln/>
        </p:spPr>
        <p:txBody>
          <a:bodyPr wrap="square" lIns="0" tIns="0" rIns="0" bIns="0" rtlCol="0" anchor="ctr"/>
          <a:lstStyle/>
          <a:p>
            <a:pPr indent="0" marL="0">
              <a:spcAft>
                <a:spcPts val="600"/>
              </a:spcAft>
              <a:buNone/>
            </a:pPr>
            <a:r>
              <a:rPr lang="en-US" sz="1900" b="1" dirty="0">
                <a:solidFill>
                  <a:srgbClr val="F8F5EE"/>
                </a:solidFill>
                <a:latin typeface="Open Sans" pitchFamily="34" charset="0"/>
                <a:ea typeface="Open Sans" pitchFamily="34" charset="-122"/>
                <a:cs typeface="Open Sans" pitchFamily="34" charset="-120"/>
              </a:rPr>
              <a:t>¿Algo más grande?</a:t>
            </a:r>
            <a:endParaRPr lang="en-US" sz="1900" dirty="0"/>
          </a:p>
          <a:p>
            <a:pPr indent="0" marL="0">
              <a:spcAft>
                <a:spcPts val="600"/>
              </a:spcAft>
              <a:buNone/>
            </a:pPr>
            <a:r>
              <a:rPr lang="en-US" sz="1550" dirty="0">
                <a:solidFill>
                  <a:srgbClr val="EDE5CC"/>
                </a:solidFill>
                <a:latin typeface="Open Sans" pitchFamily="34" charset="0"/>
                <a:ea typeface="Open Sans" pitchFamily="34" charset="-122"/>
                <a:cs typeface="Open Sans" pitchFamily="34" charset="-120"/>
              </a:rPr>
              <a:t>Una presentación completa, una conversación compleja o algo con mucho contexto: lo llevamos a la sesión 1:1.</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5EE"/>
        </a:solidFill>
      </p:bgPr>
    </p:bg>
    <p:spTree>
      <p:nvGrpSpPr>
        <p:cNvPr id="1" name=""/>
        <p:cNvGrpSpPr/>
        <p:nvPr/>
      </p:nvGrpSpPr>
      <p:grpSpPr>
        <a:xfrm>
          <a:off x="0" y="0"/>
          <a:ext cx="0" cy="0"/>
          <a:chOff x="0" y="0"/>
          <a:chExt cx="0" cy="0"/>
        </a:xfrm>
      </p:grpSpPr>
      <p:sp>
        <p:nvSpPr>
          <p:cNvPr id="3" name="Text 0"/>
          <p:cNvSpPr txBox="1"/>
          <p:nvPr/>
        </p:nvSpPr>
        <p:spPr>
          <a:xfrm>
            <a:off x="640080" y="384048"/>
            <a:ext cx="4572000" cy="274320"/>
          </a:xfrm>
          <a:prstGeom prst="rect">
            <a:avLst/>
          </a:prstGeom>
          <a:noFill/>
          <a:ln/>
        </p:spPr>
        <p:txBody>
          <a:bodyPr wrap="square" lIns="0" tIns="0" rIns="0" bIns="0" rtlCol="0" anchor="ctr"/>
          <a:lstStyle/>
          <a:p>
            <a:pPr indent="0" marL="0">
              <a:buNone/>
            </a:pPr>
            <a:r>
              <a:rPr lang="en-US" sz="1050" b="1" spc="300" kern="0" dirty="0">
                <a:solidFill>
                  <a:srgbClr val="C68C6C"/>
                </a:solidFill>
                <a:latin typeface="Open Sans" pitchFamily="34" charset="0"/>
                <a:ea typeface="Open Sans" pitchFamily="34" charset="-122"/>
                <a:cs typeface="Open Sans" pitchFamily="34" charset="-120"/>
              </a:rPr>
              <a:t>BREAKING BARRIERS · AT WORK</a:t>
            </a:r>
            <a:endParaRPr lang="en-US" sz="1050" dirty="0"/>
          </a:p>
        </p:txBody>
      </p:sp>
      <p:sp>
        <p:nvSpPr>
          <p:cNvPr id="4" name="Text 1"/>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07 / 09</a:t>
            </a:r>
            <a:endParaRPr lang="en-US" sz="1100" dirty="0"/>
          </a:p>
        </p:txBody>
      </p:sp>
      <p:sp>
        <p:nvSpPr>
          <p:cNvPr id="5" name="Text 2"/>
          <p:cNvSpPr txBox="1"/>
          <p:nvPr/>
        </p:nvSpPr>
        <p:spPr>
          <a:xfrm>
            <a:off x="640080" y="1097280"/>
            <a:ext cx="3429000" cy="1783080"/>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Trabajamos con tu contexto real</a:t>
            </a:r>
            <a:endParaRPr lang="en-US" sz="3400" dirty="0"/>
          </a:p>
        </p:txBody>
      </p:sp>
      <p:sp>
        <p:nvSpPr>
          <p:cNvPr id="6" name="Text 3"/>
          <p:cNvSpPr txBox="1"/>
          <p:nvPr/>
        </p:nvSpPr>
        <p:spPr>
          <a:xfrm>
            <a:off x="640080" y="2414016"/>
            <a:ext cx="3291840" cy="73152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Nada de inglés desconectado de tu vida profesional</a:t>
            </a:r>
            <a:endParaRPr lang="en-US" sz="1600" dirty="0"/>
          </a:p>
        </p:txBody>
      </p:sp>
      <p:sp>
        <p:nvSpPr>
          <p:cNvPr id="7" name="Shape 4"/>
          <p:cNvSpPr/>
          <p:nvPr/>
        </p:nvSpPr>
        <p:spPr>
          <a:xfrm>
            <a:off x="4389120" y="1143000"/>
            <a:ext cx="3442716" cy="1371600"/>
          </a:xfrm>
          <a:prstGeom prst="roundRect">
            <a:avLst>
              <a:gd name="adj" fmla="val 10667"/>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8" name="Shape 5"/>
          <p:cNvSpPr/>
          <p:nvPr/>
        </p:nvSpPr>
        <p:spPr>
          <a:xfrm>
            <a:off x="4681728" y="1463040"/>
            <a:ext cx="731520" cy="731520"/>
          </a:xfrm>
          <a:prstGeom prst="ellipse">
            <a:avLst/>
          </a:prstGeom>
          <a:solidFill>
            <a:srgbClr val="FBF2D0"/>
          </a:solidFill>
          <a:ln w="12700">
            <a:solidFill>
              <a:srgbClr val="FBF2D0"/>
            </a:solidFill>
            <a:prstDash val="solid"/>
          </a:ln>
        </p:spPr>
      </p:sp>
      <p:pic>
        <p:nvPicPr>
          <p:cNvPr id="9" name="Image 0" descr="preencoded.png">    </p:cNvPr>
          <p:cNvPicPr>
            <a:picLocks noChangeAspect="1"/>
          </p:cNvPicPr>
          <p:nvPr/>
        </p:nvPicPr>
        <p:blipFill>
          <a:blip r:embed="rId1"/>
          <a:stretch>
            <a:fillRect/>
          </a:stretch>
        </p:blipFill>
        <p:spPr>
          <a:xfrm>
            <a:off x="4879238" y="1660550"/>
            <a:ext cx="336499" cy="336499"/>
          </a:xfrm>
          <a:prstGeom prst="rect">
            <a:avLst/>
          </a:prstGeom>
        </p:spPr>
      </p:pic>
      <p:sp>
        <p:nvSpPr>
          <p:cNvPr id="10" name="Text 6"/>
          <p:cNvSpPr txBox="1"/>
          <p:nvPr/>
        </p:nvSpPr>
        <p:spPr>
          <a:xfrm>
            <a:off x="5623560" y="1143000"/>
            <a:ext cx="2025396" cy="1371600"/>
          </a:xfrm>
          <a:prstGeom prst="rect">
            <a:avLst/>
          </a:prstGeom>
          <a:noFill/>
          <a:ln/>
        </p:spPr>
        <p:txBody>
          <a:bodyPr wrap="square" lIns="0" tIns="0" rIns="0" bIns="0" rtlCol="0" anchor="ctr"/>
          <a:lstStyle/>
          <a:p>
            <a:pPr indent="0" marL="0">
              <a:buNone/>
            </a:pPr>
            <a:r>
              <a:rPr lang="en-US" sz="1650" b="1" dirty="0">
                <a:solidFill>
                  <a:srgbClr val="81552E"/>
                </a:solidFill>
                <a:latin typeface="Open Sans" pitchFamily="34" charset="0"/>
                <a:ea typeface="Open Sans" pitchFamily="34" charset="-122"/>
                <a:cs typeface="Open Sans" pitchFamily="34" charset="-120"/>
              </a:rPr>
              <a:t>Reuniones y conversaciones</a:t>
            </a:r>
            <a:endParaRPr lang="en-US" sz="1650" dirty="0"/>
          </a:p>
        </p:txBody>
      </p:sp>
      <p:sp>
        <p:nvSpPr>
          <p:cNvPr id="11" name="Shape 7"/>
          <p:cNvSpPr/>
          <p:nvPr/>
        </p:nvSpPr>
        <p:spPr>
          <a:xfrm>
            <a:off x="8106156" y="1143000"/>
            <a:ext cx="3442716" cy="1371600"/>
          </a:xfrm>
          <a:prstGeom prst="roundRect">
            <a:avLst>
              <a:gd name="adj" fmla="val 10667"/>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2" name="Shape 8"/>
          <p:cNvSpPr/>
          <p:nvPr/>
        </p:nvSpPr>
        <p:spPr>
          <a:xfrm>
            <a:off x="8398764" y="1463040"/>
            <a:ext cx="731520" cy="731520"/>
          </a:xfrm>
          <a:prstGeom prst="ellipse">
            <a:avLst/>
          </a:prstGeom>
          <a:solidFill>
            <a:srgbClr val="FBF2D0"/>
          </a:solidFill>
          <a:ln w="12700">
            <a:solidFill>
              <a:srgbClr val="FBF2D0"/>
            </a:solidFill>
            <a:prstDash val="solid"/>
          </a:ln>
        </p:spPr>
      </p:sp>
      <p:pic>
        <p:nvPicPr>
          <p:cNvPr id="13" name="Image 1" descr="preencoded.png">    </p:cNvPr>
          <p:cNvPicPr>
            <a:picLocks noChangeAspect="1"/>
          </p:cNvPicPr>
          <p:nvPr/>
        </p:nvPicPr>
        <p:blipFill>
          <a:blip r:embed="rId2"/>
          <a:stretch>
            <a:fillRect/>
          </a:stretch>
        </p:blipFill>
        <p:spPr>
          <a:xfrm>
            <a:off x="8596274" y="1660550"/>
            <a:ext cx="336499" cy="336499"/>
          </a:xfrm>
          <a:prstGeom prst="rect">
            <a:avLst/>
          </a:prstGeom>
        </p:spPr>
      </p:pic>
      <p:sp>
        <p:nvSpPr>
          <p:cNvPr id="14" name="Text 9"/>
          <p:cNvSpPr txBox="1"/>
          <p:nvPr/>
        </p:nvSpPr>
        <p:spPr>
          <a:xfrm>
            <a:off x="9340596" y="1143000"/>
            <a:ext cx="2025396" cy="1371600"/>
          </a:xfrm>
          <a:prstGeom prst="rect">
            <a:avLst/>
          </a:prstGeom>
          <a:noFill/>
          <a:ln/>
        </p:spPr>
        <p:txBody>
          <a:bodyPr wrap="square" lIns="0" tIns="0" rIns="0" bIns="0" rtlCol="0" anchor="ctr"/>
          <a:lstStyle/>
          <a:p>
            <a:pPr indent="0" marL="0">
              <a:buNone/>
            </a:pPr>
            <a:r>
              <a:rPr lang="en-US" sz="1650" b="1" dirty="0">
                <a:solidFill>
                  <a:srgbClr val="81552E"/>
                </a:solidFill>
                <a:latin typeface="Open Sans" pitchFamily="34" charset="0"/>
                <a:ea typeface="Open Sans" pitchFamily="34" charset="-122"/>
                <a:cs typeface="Open Sans" pitchFamily="34" charset="-120"/>
              </a:rPr>
              <a:t>Presentaciones</a:t>
            </a:r>
            <a:endParaRPr lang="en-US" sz="1650" dirty="0"/>
          </a:p>
        </p:txBody>
      </p:sp>
      <p:sp>
        <p:nvSpPr>
          <p:cNvPr id="15" name="Shape 10"/>
          <p:cNvSpPr/>
          <p:nvPr/>
        </p:nvSpPr>
        <p:spPr>
          <a:xfrm>
            <a:off x="4389120" y="2788920"/>
            <a:ext cx="3442716" cy="1371600"/>
          </a:xfrm>
          <a:prstGeom prst="roundRect">
            <a:avLst>
              <a:gd name="adj" fmla="val 10667"/>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6" name="Shape 11"/>
          <p:cNvSpPr/>
          <p:nvPr/>
        </p:nvSpPr>
        <p:spPr>
          <a:xfrm>
            <a:off x="4681728" y="3108960"/>
            <a:ext cx="731520" cy="731520"/>
          </a:xfrm>
          <a:prstGeom prst="ellipse">
            <a:avLst/>
          </a:prstGeom>
          <a:solidFill>
            <a:srgbClr val="FBF2D0"/>
          </a:solidFill>
          <a:ln w="12700">
            <a:solidFill>
              <a:srgbClr val="FBF2D0"/>
            </a:solidFill>
            <a:prstDash val="solid"/>
          </a:ln>
        </p:spPr>
      </p:sp>
      <p:pic>
        <p:nvPicPr>
          <p:cNvPr id="17" name="Image 2" descr="preencoded.png">    </p:cNvPr>
          <p:cNvPicPr>
            <a:picLocks noChangeAspect="1"/>
          </p:cNvPicPr>
          <p:nvPr/>
        </p:nvPicPr>
        <p:blipFill>
          <a:blip r:embed="rId3"/>
          <a:stretch>
            <a:fillRect/>
          </a:stretch>
        </p:blipFill>
        <p:spPr>
          <a:xfrm>
            <a:off x="4879238" y="3306470"/>
            <a:ext cx="336499" cy="336499"/>
          </a:xfrm>
          <a:prstGeom prst="rect">
            <a:avLst/>
          </a:prstGeom>
        </p:spPr>
      </p:pic>
      <p:sp>
        <p:nvSpPr>
          <p:cNvPr id="18" name="Text 12"/>
          <p:cNvSpPr txBox="1"/>
          <p:nvPr/>
        </p:nvSpPr>
        <p:spPr>
          <a:xfrm>
            <a:off x="5623560" y="2788920"/>
            <a:ext cx="2025396" cy="1371600"/>
          </a:xfrm>
          <a:prstGeom prst="rect">
            <a:avLst/>
          </a:prstGeom>
          <a:noFill/>
          <a:ln/>
        </p:spPr>
        <p:txBody>
          <a:bodyPr wrap="square" lIns="0" tIns="0" rIns="0" bIns="0" rtlCol="0" anchor="ctr"/>
          <a:lstStyle/>
          <a:p>
            <a:pPr indent="0" marL="0">
              <a:buNone/>
            </a:pPr>
            <a:r>
              <a:rPr lang="en-US" sz="1650" b="1" dirty="0">
                <a:solidFill>
                  <a:srgbClr val="81552E"/>
                </a:solidFill>
                <a:latin typeface="Open Sans" pitchFamily="34" charset="0"/>
                <a:ea typeface="Open Sans" pitchFamily="34" charset="-122"/>
                <a:cs typeface="Open Sans" pitchFamily="34" charset="-120"/>
              </a:rPr>
              <a:t>Emails</a:t>
            </a:r>
            <a:endParaRPr lang="en-US" sz="1650" dirty="0"/>
          </a:p>
        </p:txBody>
      </p:sp>
      <p:sp>
        <p:nvSpPr>
          <p:cNvPr id="19" name="Shape 13"/>
          <p:cNvSpPr/>
          <p:nvPr/>
        </p:nvSpPr>
        <p:spPr>
          <a:xfrm>
            <a:off x="8106156" y="2788920"/>
            <a:ext cx="3442716" cy="1371600"/>
          </a:xfrm>
          <a:prstGeom prst="roundRect">
            <a:avLst>
              <a:gd name="adj" fmla="val 10667"/>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20" name="Shape 14"/>
          <p:cNvSpPr/>
          <p:nvPr/>
        </p:nvSpPr>
        <p:spPr>
          <a:xfrm>
            <a:off x="8398764" y="3108960"/>
            <a:ext cx="731520" cy="731520"/>
          </a:xfrm>
          <a:prstGeom prst="ellipse">
            <a:avLst/>
          </a:prstGeom>
          <a:solidFill>
            <a:srgbClr val="FBF2D0"/>
          </a:solidFill>
          <a:ln w="12700">
            <a:solidFill>
              <a:srgbClr val="FBF2D0"/>
            </a:solidFill>
            <a:prstDash val="solid"/>
          </a:ln>
        </p:spPr>
      </p:sp>
      <p:pic>
        <p:nvPicPr>
          <p:cNvPr id="21" name="Image 3" descr="preencoded.png">    </p:cNvPr>
          <p:cNvPicPr>
            <a:picLocks noChangeAspect="1"/>
          </p:cNvPicPr>
          <p:nvPr/>
        </p:nvPicPr>
        <p:blipFill>
          <a:blip r:embed="rId4"/>
          <a:stretch>
            <a:fillRect/>
          </a:stretch>
        </p:blipFill>
        <p:spPr>
          <a:xfrm>
            <a:off x="8596274" y="3306470"/>
            <a:ext cx="336499" cy="336499"/>
          </a:xfrm>
          <a:prstGeom prst="rect">
            <a:avLst/>
          </a:prstGeom>
        </p:spPr>
      </p:pic>
      <p:sp>
        <p:nvSpPr>
          <p:cNvPr id="22" name="Text 15"/>
          <p:cNvSpPr txBox="1"/>
          <p:nvPr/>
        </p:nvSpPr>
        <p:spPr>
          <a:xfrm>
            <a:off x="9340596" y="2788920"/>
            <a:ext cx="2025396" cy="1371600"/>
          </a:xfrm>
          <a:prstGeom prst="rect">
            <a:avLst/>
          </a:prstGeom>
          <a:noFill/>
          <a:ln/>
        </p:spPr>
        <p:txBody>
          <a:bodyPr wrap="square" lIns="0" tIns="0" rIns="0" bIns="0" rtlCol="0" anchor="ctr"/>
          <a:lstStyle/>
          <a:p>
            <a:pPr indent="0" marL="0">
              <a:buNone/>
            </a:pPr>
            <a:r>
              <a:rPr lang="en-US" sz="1650" b="1" dirty="0">
                <a:solidFill>
                  <a:srgbClr val="81552E"/>
                </a:solidFill>
                <a:latin typeface="Open Sans" pitchFamily="34" charset="0"/>
                <a:ea typeface="Open Sans" pitchFamily="34" charset="-122"/>
                <a:cs typeface="Open Sans" pitchFamily="34" charset="-120"/>
              </a:rPr>
              <a:t>Documentos, transcripciones y capturas</a:t>
            </a:r>
            <a:endParaRPr lang="en-US" sz="1650" dirty="0"/>
          </a:p>
        </p:txBody>
      </p:sp>
      <p:sp>
        <p:nvSpPr>
          <p:cNvPr id="23" name="Shape 16"/>
          <p:cNvSpPr/>
          <p:nvPr/>
        </p:nvSpPr>
        <p:spPr>
          <a:xfrm>
            <a:off x="4389120" y="4526280"/>
            <a:ext cx="7159752" cy="1600200"/>
          </a:xfrm>
          <a:prstGeom prst="roundRect">
            <a:avLst>
              <a:gd name="adj" fmla="val 9143"/>
            </a:avLst>
          </a:prstGeom>
          <a:solidFill>
            <a:srgbClr val="3F1E0D"/>
          </a:solidFill>
          <a:ln w="12700">
            <a:solidFill>
              <a:srgbClr val="3F1E0D"/>
            </a:solidFill>
            <a:prstDash val="solid"/>
          </a:ln>
          <a:effectLst>
            <a:outerShdw sx="100000" sy="100000" kx="0" ky="0" algn="bl" rotWithShape="0" blurRad="177800" dist="38100" dir="5400000">
              <a:srgbClr val="3F1E0D">
                <a:alpha val="10000"/>
              </a:srgbClr>
            </a:outerShdw>
          </a:effectLst>
        </p:spPr>
      </p:sp>
      <p:sp>
        <p:nvSpPr>
          <p:cNvPr id="24" name="Shape 17"/>
          <p:cNvSpPr/>
          <p:nvPr/>
        </p:nvSpPr>
        <p:spPr>
          <a:xfrm>
            <a:off x="4800600" y="4928616"/>
            <a:ext cx="786384" cy="786384"/>
          </a:xfrm>
          <a:prstGeom prst="ellipse">
            <a:avLst/>
          </a:prstGeom>
          <a:solidFill>
            <a:srgbClr val="C68C6C"/>
          </a:solidFill>
          <a:ln w="12700">
            <a:solidFill>
              <a:srgbClr val="C68C6C"/>
            </a:solidFill>
            <a:prstDash val="solid"/>
          </a:ln>
        </p:spPr>
      </p:sp>
      <p:pic>
        <p:nvPicPr>
          <p:cNvPr id="25" name="Image 4" descr="preencoded.png">    </p:cNvPr>
          <p:cNvPicPr>
            <a:picLocks noChangeAspect="1"/>
          </p:cNvPicPr>
          <p:nvPr/>
        </p:nvPicPr>
        <p:blipFill>
          <a:blip r:embed="rId5"/>
          <a:stretch>
            <a:fillRect/>
          </a:stretch>
        </p:blipFill>
        <p:spPr>
          <a:xfrm>
            <a:off x="5012924" y="5140940"/>
            <a:ext cx="361737" cy="361737"/>
          </a:xfrm>
          <a:prstGeom prst="rect">
            <a:avLst/>
          </a:prstGeom>
        </p:spPr>
      </p:pic>
      <p:sp>
        <p:nvSpPr>
          <p:cNvPr id="26" name="Text 18"/>
          <p:cNvSpPr txBox="1"/>
          <p:nvPr/>
        </p:nvSpPr>
        <p:spPr>
          <a:xfrm>
            <a:off x="5897880" y="4526280"/>
            <a:ext cx="5330952" cy="1600200"/>
          </a:xfrm>
          <a:prstGeom prst="rect">
            <a:avLst/>
          </a:prstGeom>
          <a:noFill/>
          <a:ln/>
        </p:spPr>
        <p:txBody>
          <a:bodyPr wrap="square" lIns="0" tIns="0" rIns="0" bIns="0" rtlCol="0" anchor="ctr"/>
          <a:lstStyle/>
          <a:p>
            <a:pPr indent="0" marL="0">
              <a:spcAft>
                <a:spcPts val="600"/>
              </a:spcAft>
              <a:buNone/>
            </a:pPr>
            <a:r>
              <a:rPr lang="en-US" sz="1800" b="1" dirty="0">
                <a:solidFill>
                  <a:srgbClr val="F8F5EE"/>
                </a:solidFill>
                <a:latin typeface="Open Sans" pitchFamily="34" charset="0"/>
                <a:ea typeface="Open Sans" pitchFamily="34" charset="-122"/>
                <a:cs typeface="Open Sans" pitchFamily="34" charset="-120"/>
              </a:rPr>
              <a:t>¿Información confidencial? Anonimizala.</a:t>
            </a:r>
            <a:endParaRPr lang="en-US" sz="1800" dirty="0"/>
          </a:p>
          <a:p>
            <a:pPr indent="0" marL="0">
              <a:spcAft>
                <a:spcPts val="600"/>
              </a:spcAft>
              <a:buNone/>
            </a:pPr>
            <a:r>
              <a:rPr lang="en-US" sz="1500" dirty="0">
                <a:solidFill>
                  <a:srgbClr val="EDE5CC"/>
                </a:solidFill>
                <a:latin typeface="Open Sans" pitchFamily="34" charset="0"/>
                <a:ea typeface="Open Sans" pitchFamily="34" charset="-122"/>
                <a:cs typeface="Open Sans" pitchFamily="34" charset="-120"/>
              </a:rPr>
              <a:t>No necesito datos privados de tu empresa: necesito entender la situación comunicativa.</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5EE"/>
        </a:solidFill>
      </p:bgPr>
    </p:bg>
    <p:spTree>
      <p:nvGrpSpPr>
        <p:cNvPr id="1" name=""/>
        <p:cNvGrpSpPr/>
        <p:nvPr/>
      </p:nvGrpSpPr>
      <p:grpSpPr>
        <a:xfrm>
          <a:off x="0" y="0"/>
          <a:ext cx="0" cy="0"/>
          <a:chOff x="0" y="0"/>
          <a:chExt cx="0" cy="0"/>
        </a:xfrm>
      </p:grpSpPr>
      <p:sp>
        <p:nvSpPr>
          <p:cNvPr id="3" name="Text 0"/>
          <p:cNvSpPr txBox="1"/>
          <p:nvPr/>
        </p:nvSpPr>
        <p:spPr>
          <a:xfrm>
            <a:off x="640080" y="384048"/>
            <a:ext cx="4572000" cy="274320"/>
          </a:xfrm>
          <a:prstGeom prst="rect">
            <a:avLst/>
          </a:prstGeom>
          <a:noFill/>
          <a:ln/>
        </p:spPr>
        <p:txBody>
          <a:bodyPr wrap="square" lIns="0" tIns="0" rIns="0" bIns="0" rtlCol="0" anchor="ctr"/>
          <a:lstStyle/>
          <a:p>
            <a:pPr indent="0" marL="0">
              <a:buNone/>
            </a:pPr>
            <a:r>
              <a:rPr lang="en-US" sz="1050" b="1" spc="300" kern="0" dirty="0">
                <a:solidFill>
                  <a:srgbClr val="C68C6C"/>
                </a:solidFill>
                <a:latin typeface="Open Sans" pitchFamily="34" charset="0"/>
                <a:ea typeface="Open Sans" pitchFamily="34" charset="-122"/>
                <a:cs typeface="Open Sans" pitchFamily="34" charset="-120"/>
              </a:rPr>
              <a:t>BREAKING BARRIERS · AT WORK</a:t>
            </a:r>
            <a:endParaRPr lang="en-US" sz="1050" dirty="0"/>
          </a:p>
        </p:txBody>
      </p:sp>
      <p:sp>
        <p:nvSpPr>
          <p:cNvPr id="4" name="Text 1"/>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08 / 09</a:t>
            </a:r>
            <a:endParaRPr lang="en-US" sz="1100" dirty="0"/>
          </a:p>
        </p:txBody>
      </p:sp>
      <p:sp>
        <p:nvSpPr>
          <p:cNvPr id="5" name="Text 2"/>
          <p:cNvSpPr txBox="1"/>
          <p:nvPr/>
        </p:nvSpPr>
        <p:spPr>
          <a:xfrm>
            <a:off x="640080" y="1097280"/>
            <a:ext cx="3429000" cy="1783080"/>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Estamos haciendo esto juntas</a:t>
            </a:r>
            <a:endParaRPr lang="en-US" sz="3400" dirty="0"/>
          </a:p>
        </p:txBody>
      </p:sp>
      <p:sp>
        <p:nvSpPr>
          <p:cNvPr id="6" name="Text 3"/>
          <p:cNvSpPr txBox="1"/>
          <p:nvPr/>
        </p:nvSpPr>
        <p:spPr>
          <a:xfrm>
            <a:off x="640080" y="2935224"/>
            <a:ext cx="3291840" cy="73152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No espero semanas perfectas: quiero un proceso real y constante</a:t>
            </a:r>
            <a:endParaRPr lang="en-US" sz="1600" dirty="0"/>
          </a:p>
        </p:txBody>
      </p:sp>
      <p:sp>
        <p:nvSpPr>
          <p:cNvPr id="7" name="Shape 4"/>
          <p:cNvSpPr/>
          <p:nvPr/>
        </p:nvSpPr>
        <p:spPr>
          <a:xfrm>
            <a:off x="4389120" y="1143000"/>
            <a:ext cx="3442716" cy="3520440"/>
          </a:xfrm>
          <a:prstGeom prst="roundRect">
            <a:avLst>
              <a:gd name="adj" fmla="val 4250"/>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8" name="Text 5"/>
          <p:cNvSpPr txBox="1"/>
          <p:nvPr/>
        </p:nvSpPr>
        <p:spPr>
          <a:xfrm>
            <a:off x="4800600" y="1463040"/>
            <a:ext cx="2619756" cy="548640"/>
          </a:xfrm>
          <a:prstGeom prst="rect">
            <a:avLst/>
          </a:prstGeom>
          <a:noFill/>
          <a:ln/>
        </p:spPr>
        <p:txBody>
          <a:bodyPr wrap="square" lIns="0" tIns="0" rIns="0" bIns="0" rtlCol="0" anchor="ctr"/>
          <a:lstStyle/>
          <a:p>
            <a:pPr indent="0" marL="0">
              <a:buNone/>
            </a:pPr>
            <a:r>
              <a:rPr lang="en-US" sz="2600" b="1" dirty="0">
                <a:solidFill>
                  <a:srgbClr val="81552E"/>
                </a:solidFill>
                <a:latin typeface="Source Serif Pro" pitchFamily="34" charset="0"/>
                <a:ea typeface="Source Serif Pro" pitchFamily="34" charset="-122"/>
                <a:cs typeface="Source Serif Pro" pitchFamily="34" charset="-120"/>
              </a:rPr>
              <a:t>Tu parte</a:t>
            </a:r>
            <a:endParaRPr lang="en-US" sz="2600" dirty="0"/>
          </a:p>
        </p:txBody>
      </p:sp>
      <p:pic>
        <p:nvPicPr>
          <p:cNvPr id="9" name="Image 0" descr="preencoded.png">    </p:cNvPr>
          <p:cNvPicPr>
            <a:picLocks noChangeAspect="1"/>
          </p:cNvPicPr>
          <p:nvPr/>
        </p:nvPicPr>
        <p:blipFill>
          <a:blip r:embed="rId1"/>
          <a:stretch>
            <a:fillRect/>
          </a:stretch>
        </p:blipFill>
        <p:spPr>
          <a:xfrm>
            <a:off x="4800600" y="2340864"/>
            <a:ext cx="256032" cy="256032"/>
          </a:xfrm>
          <a:prstGeom prst="rect">
            <a:avLst/>
          </a:prstGeom>
        </p:spPr>
      </p:pic>
      <p:sp>
        <p:nvSpPr>
          <p:cNvPr id="10" name="Text 6"/>
          <p:cNvSpPr txBox="1"/>
          <p:nvPr/>
        </p:nvSpPr>
        <p:spPr>
          <a:xfrm>
            <a:off x="5230368" y="2240280"/>
            <a:ext cx="2345436" cy="457200"/>
          </a:xfrm>
          <a:prstGeom prst="rect">
            <a:avLst/>
          </a:prstGeom>
          <a:noFill/>
          <a:ln/>
        </p:spPr>
        <p:txBody>
          <a:bodyPr wrap="square" lIns="0" tIns="0" rIns="0" bIns="0" rtlCol="0" anchor="ctr"/>
          <a:lstStyle/>
          <a:p>
            <a:pPr indent="0" marL="0">
              <a:buNone/>
            </a:pPr>
            <a:r>
              <a:rPr lang="en-US" sz="1550" dirty="0">
                <a:solidFill>
                  <a:srgbClr val="3F1E0D"/>
                </a:solidFill>
                <a:latin typeface="Open Sans" pitchFamily="34" charset="0"/>
                <a:ea typeface="Open Sans" pitchFamily="34" charset="-122"/>
                <a:cs typeface="Open Sans" pitchFamily="34" charset="-120"/>
              </a:rPr>
              <a:t>traer tu realidad</a:t>
            </a:r>
            <a:endParaRPr lang="en-US" sz="1550" dirty="0"/>
          </a:p>
        </p:txBody>
      </p:sp>
      <p:pic>
        <p:nvPicPr>
          <p:cNvPr id="11" name="Image 1" descr="preencoded.png">    </p:cNvPr>
          <p:cNvPicPr>
            <a:picLocks noChangeAspect="1"/>
          </p:cNvPicPr>
          <p:nvPr/>
        </p:nvPicPr>
        <p:blipFill>
          <a:blip r:embed="rId2"/>
          <a:stretch>
            <a:fillRect/>
          </a:stretch>
        </p:blipFill>
        <p:spPr>
          <a:xfrm>
            <a:off x="4800600" y="2907792"/>
            <a:ext cx="256032" cy="256032"/>
          </a:xfrm>
          <a:prstGeom prst="rect">
            <a:avLst/>
          </a:prstGeom>
        </p:spPr>
      </p:pic>
      <p:sp>
        <p:nvSpPr>
          <p:cNvPr id="12" name="Text 7"/>
          <p:cNvSpPr txBox="1"/>
          <p:nvPr/>
        </p:nvSpPr>
        <p:spPr>
          <a:xfrm>
            <a:off x="5230368" y="2807208"/>
            <a:ext cx="2345436" cy="457200"/>
          </a:xfrm>
          <a:prstGeom prst="rect">
            <a:avLst/>
          </a:prstGeom>
          <a:noFill/>
          <a:ln/>
        </p:spPr>
        <p:txBody>
          <a:bodyPr wrap="square" lIns="0" tIns="0" rIns="0" bIns="0" rtlCol="0" anchor="ctr"/>
          <a:lstStyle/>
          <a:p>
            <a:pPr indent="0" marL="0">
              <a:buNone/>
            </a:pPr>
            <a:r>
              <a:rPr lang="en-US" sz="1550" dirty="0">
                <a:solidFill>
                  <a:srgbClr val="3F1E0D"/>
                </a:solidFill>
                <a:latin typeface="Open Sans" pitchFamily="34" charset="0"/>
                <a:ea typeface="Open Sans" pitchFamily="34" charset="-122"/>
                <a:cs typeface="Open Sans" pitchFamily="34" charset="-120"/>
              </a:rPr>
              <a:t>practicar y probar</a:t>
            </a:r>
            <a:endParaRPr lang="en-US" sz="1550" dirty="0"/>
          </a:p>
        </p:txBody>
      </p:sp>
      <p:pic>
        <p:nvPicPr>
          <p:cNvPr id="13" name="Image 2" descr="preencoded.png">    </p:cNvPr>
          <p:cNvPicPr>
            <a:picLocks noChangeAspect="1"/>
          </p:cNvPicPr>
          <p:nvPr/>
        </p:nvPicPr>
        <p:blipFill>
          <a:blip r:embed="rId3"/>
          <a:stretch>
            <a:fillRect/>
          </a:stretch>
        </p:blipFill>
        <p:spPr>
          <a:xfrm>
            <a:off x="4800600" y="3474720"/>
            <a:ext cx="256032" cy="256032"/>
          </a:xfrm>
          <a:prstGeom prst="rect">
            <a:avLst/>
          </a:prstGeom>
        </p:spPr>
      </p:pic>
      <p:sp>
        <p:nvSpPr>
          <p:cNvPr id="14" name="Text 8"/>
          <p:cNvSpPr txBox="1"/>
          <p:nvPr/>
        </p:nvSpPr>
        <p:spPr>
          <a:xfrm>
            <a:off x="5230368" y="3374136"/>
            <a:ext cx="2345436" cy="457200"/>
          </a:xfrm>
          <a:prstGeom prst="rect">
            <a:avLst/>
          </a:prstGeom>
          <a:noFill/>
          <a:ln/>
        </p:spPr>
        <p:txBody>
          <a:bodyPr wrap="square" lIns="0" tIns="0" rIns="0" bIns="0" rtlCol="0" anchor="ctr"/>
          <a:lstStyle/>
          <a:p>
            <a:pPr indent="0" marL="0">
              <a:buNone/>
            </a:pPr>
            <a:r>
              <a:rPr lang="en-US" sz="1550" dirty="0">
                <a:solidFill>
                  <a:srgbClr val="3F1E0D"/>
                </a:solidFill>
                <a:latin typeface="Open Sans" pitchFamily="34" charset="0"/>
                <a:ea typeface="Open Sans" pitchFamily="34" charset="-122"/>
                <a:cs typeface="Open Sans" pitchFamily="34" charset="-120"/>
              </a:rPr>
              <a:t>contarme qué salió bien y qué no</a:t>
            </a:r>
            <a:endParaRPr lang="en-US" sz="1550" dirty="0"/>
          </a:p>
        </p:txBody>
      </p:sp>
      <p:pic>
        <p:nvPicPr>
          <p:cNvPr id="15" name="Image 3" descr="preencoded.png">    </p:cNvPr>
          <p:cNvPicPr>
            <a:picLocks noChangeAspect="1"/>
          </p:cNvPicPr>
          <p:nvPr/>
        </p:nvPicPr>
        <p:blipFill>
          <a:blip r:embed="rId4"/>
          <a:stretch>
            <a:fillRect/>
          </a:stretch>
        </p:blipFill>
        <p:spPr>
          <a:xfrm>
            <a:off x="4800600" y="4041648"/>
            <a:ext cx="256032" cy="256032"/>
          </a:xfrm>
          <a:prstGeom prst="rect">
            <a:avLst/>
          </a:prstGeom>
        </p:spPr>
      </p:pic>
      <p:sp>
        <p:nvSpPr>
          <p:cNvPr id="16" name="Text 9"/>
          <p:cNvSpPr txBox="1"/>
          <p:nvPr/>
        </p:nvSpPr>
        <p:spPr>
          <a:xfrm>
            <a:off x="5230368" y="3941064"/>
            <a:ext cx="2345436" cy="457200"/>
          </a:xfrm>
          <a:prstGeom prst="rect">
            <a:avLst/>
          </a:prstGeom>
          <a:noFill/>
          <a:ln/>
        </p:spPr>
        <p:txBody>
          <a:bodyPr wrap="square" lIns="0" tIns="0" rIns="0" bIns="0" rtlCol="0" anchor="ctr"/>
          <a:lstStyle/>
          <a:p>
            <a:pPr indent="0" marL="0">
              <a:buNone/>
            </a:pPr>
            <a:r>
              <a:rPr lang="en-US" sz="1550" dirty="0">
                <a:solidFill>
                  <a:srgbClr val="3F1E0D"/>
                </a:solidFill>
                <a:latin typeface="Open Sans" pitchFamily="34" charset="0"/>
                <a:ea typeface="Open Sans" pitchFamily="34" charset="-122"/>
                <a:cs typeface="Open Sans" pitchFamily="34" charset="-120"/>
              </a:rPr>
              <a:t>pedir ayuda</a:t>
            </a:r>
            <a:endParaRPr lang="en-US" sz="1550" dirty="0"/>
          </a:p>
        </p:txBody>
      </p:sp>
      <p:sp>
        <p:nvSpPr>
          <p:cNvPr id="17" name="Shape 10"/>
          <p:cNvSpPr/>
          <p:nvPr/>
        </p:nvSpPr>
        <p:spPr>
          <a:xfrm>
            <a:off x="8106156" y="1143000"/>
            <a:ext cx="3442716" cy="3520440"/>
          </a:xfrm>
          <a:prstGeom prst="roundRect">
            <a:avLst>
              <a:gd name="adj" fmla="val 4250"/>
            </a:avLst>
          </a:prstGeom>
          <a:solidFill>
            <a:srgbClr val="81552E"/>
          </a:solidFill>
          <a:ln w="12700">
            <a:solidFill>
              <a:srgbClr val="81552E"/>
            </a:solidFill>
            <a:prstDash val="solid"/>
          </a:ln>
          <a:effectLst>
            <a:outerShdw sx="100000" sy="100000" kx="0" ky="0" algn="bl" rotWithShape="0" blurRad="177800" dist="38100" dir="5400000">
              <a:srgbClr val="3F1E0D">
                <a:alpha val="10000"/>
              </a:srgbClr>
            </a:outerShdw>
          </a:effectLst>
        </p:spPr>
      </p:sp>
      <p:sp>
        <p:nvSpPr>
          <p:cNvPr id="18" name="Text 11"/>
          <p:cNvSpPr txBox="1"/>
          <p:nvPr/>
        </p:nvSpPr>
        <p:spPr>
          <a:xfrm>
            <a:off x="8517636" y="1463040"/>
            <a:ext cx="2619756" cy="548640"/>
          </a:xfrm>
          <a:prstGeom prst="rect">
            <a:avLst/>
          </a:prstGeom>
          <a:noFill/>
          <a:ln/>
        </p:spPr>
        <p:txBody>
          <a:bodyPr wrap="square" lIns="0" tIns="0" rIns="0" bIns="0" rtlCol="0" anchor="ctr"/>
          <a:lstStyle/>
          <a:p>
            <a:pPr indent="0" marL="0">
              <a:buNone/>
            </a:pPr>
            <a:r>
              <a:rPr lang="en-US" sz="2600" b="1" dirty="0">
                <a:solidFill>
                  <a:srgbClr val="F8F5EE"/>
                </a:solidFill>
                <a:latin typeface="Source Serif Pro" pitchFamily="34" charset="0"/>
                <a:ea typeface="Source Serif Pro" pitchFamily="34" charset="-122"/>
                <a:cs typeface="Source Serif Pro" pitchFamily="34" charset="-120"/>
              </a:rPr>
              <a:t>Mi parte</a:t>
            </a:r>
            <a:endParaRPr lang="en-US" sz="2600" dirty="0"/>
          </a:p>
        </p:txBody>
      </p:sp>
      <p:pic>
        <p:nvPicPr>
          <p:cNvPr id="19" name="Image 4" descr="preencoded.png">    </p:cNvPr>
          <p:cNvPicPr>
            <a:picLocks noChangeAspect="1"/>
          </p:cNvPicPr>
          <p:nvPr/>
        </p:nvPicPr>
        <p:blipFill>
          <a:blip r:embed="rId5"/>
          <a:stretch>
            <a:fillRect/>
          </a:stretch>
        </p:blipFill>
        <p:spPr>
          <a:xfrm>
            <a:off x="8517636" y="2340864"/>
            <a:ext cx="256032" cy="256032"/>
          </a:xfrm>
          <a:prstGeom prst="rect">
            <a:avLst/>
          </a:prstGeom>
        </p:spPr>
      </p:pic>
      <p:sp>
        <p:nvSpPr>
          <p:cNvPr id="20" name="Text 12"/>
          <p:cNvSpPr txBox="1"/>
          <p:nvPr/>
        </p:nvSpPr>
        <p:spPr>
          <a:xfrm>
            <a:off x="8947404" y="2240280"/>
            <a:ext cx="2345436" cy="457200"/>
          </a:xfrm>
          <a:prstGeom prst="rect">
            <a:avLst/>
          </a:prstGeom>
          <a:noFill/>
          <a:ln/>
        </p:spPr>
        <p:txBody>
          <a:bodyPr wrap="square" lIns="0" tIns="0" rIns="0" bIns="0" rtlCol="0" anchor="ctr"/>
          <a:lstStyle/>
          <a:p>
            <a:pPr indent="0" marL="0">
              <a:buNone/>
            </a:pPr>
            <a:r>
              <a:rPr lang="en-US" sz="1550" dirty="0">
                <a:solidFill>
                  <a:srgbClr val="F8F5EE"/>
                </a:solidFill>
                <a:latin typeface="Open Sans" pitchFamily="34" charset="0"/>
                <a:ea typeface="Open Sans" pitchFamily="34" charset="-122"/>
                <a:cs typeface="Open Sans" pitchFamily="34" charset="-120"/>
              </a:rPr>
              <a:t>entender qué está interfiriendo</a:t>
            </a:r>
            <a:endParaRPr lang="en-US" sz="1550" dirty="0"/>
          </a:p>
        </p:txBody>
      </p:sp>
      <p:pic>
        <p:nvPicPr>
          <p:cNvPr id="21" name="Image 5" descr="preencoded.png">    </p:cNvPr>
          <p:cNvPicPr>
            <a:picLocks noChangeAspect="1"/>
          </p:cNvPicPr>
          <p:nvPr/>
        </p:nvPicPr>
        <p:blipFill>
          <a:blip r:embed="rId6"/>
          <a:stretch>
            <a:fillRect/>
          </a:stretch>
        </p:blipFill>
        <p:spPr>
          <a:xfrm>
            <a:off x="8517636" y="2907792"/>
            <a:ext cx="256032" cy="256032"/>
          </a:xfrm>
          <a:prstGeom prst="rect">
            <a:avLst/>
          </a:prstGeom>
        </p:spPr>
      </p:pic>
      <p:sp>
        <p:nvSpPr>
          <p:cNvPr id="22" name="Text 13"/>
          <p:cNvSpPr txBox="1"/>
          <p:nvPr/>
        </p:nvSpPr>
        <p:spPr>
          <a:xfrm>
            <a:off x="8947404" y="2807208"/>
            <a:ext cx="2345436" cy="457200"/>
          </a:xfrm>
          <a:prstGeom prst="rect">
            <a:avLst/>
          </a:prstGeom>
          <a:noFill/>
          <a:ln/>
        </p:spPr>
        <p:txBody>
          <a:bodyPr wrap="square" lIns="0" tIns="0" rIns="0" bIns="0" rtlCol="0" anchor="ctr"/>
          <a:lstStyle/>
          <a:p>
            <a:pPr indent="0" marL="0">
              <a:buNone/>
            </a:pPr>
            <a:r>
              <a:rPr lang="en-US" sz="1550" dirty="0">
                <a:solidFill>
                  <a:srgbClr val="F8F5EE"/>
                </a:solidFill>
                <a:latin typeface="Open Sans" pitchFamily="34" charset="0"/>
                <a:ea typeface="Open Sans" pitchFamily="34" charset="-122"/>
                <a:cs typeface="Open Sans" pitchFamily="34" charset="-120"/>
              </a:rPr>
              <a:t>elegir qué entrenar</a:t>
            </a:r>
            <a:endParaRPr lang="en-US" sz="1550" dirty="0"/>
          </a:p>
        </p:txBody>
      </p:sp>
      <p:pic>
        <p:nvPicPr>
          <p:cNvPr id="23" name="Image 6" descr="preencoded.png">    </p:cNvPr>
          <p:cNvPicPr>
            <a:picLocks noChangeAspect="1"/>
          </p:cNvPicPr>
          <p:nvPr/>
        </p:nvPicPr>
        <p:blipFill>
          <a:blip r:embed="rId7"/>
          <a:stretch>
            <a:fillRect/>
          </a:stretch>
        </p:blipFill>
        <p:spPr>
          <a:xfrm>
            <a:off x="8517636" y="3474720"/>
            <a:ext cx="256032" cy="256032"/>
          </a:xfrm>
          <a:prstGeom prst="rect">
            <a:avLst/>
          </a:prstGeom>
        </p:spPr>
      </p:pic>
      <p:sp>
        <p:nvSpPr>
          <p:cNvPr id="24" name="Text 14"/>
          <p:cNvSpPr txBox="1"/>
          <p:nvPr/>
        </p:nvSpPr>
        <p:spPr>
          <a:xfrm>
            <a:off x="8947404" y="3374136"/>
            <a:ext cx="2345436" cy="457200"/>
          </a:xfrm>
          <a:prstGeom prst="rect">
            <a:avLst/>
          </a:prstGeom>
          <a:noFill/>
          <a:ln/>
        </p:spPr>
        <p:txBody>
          <a:bodyPr wrap="square" lIns="0" tIns="0" rIns="0" bIns="0" rtlCol="0" anchor="ctr"/>
          <a:lstStyle/>
          <a:p>
            <a:pPr indent="0" marL="0">
              <a:buNone/>
            </a:pPr>
            <a:r>
              <a:rPr lang="en-US" sz="1550" dirty="0">
                <a:solidFill>
                  <a:srgbClr val="F8F5EE"/>
                </a:solidFill>
                <a:latin typeface="Open Sans" pitchFamily="34" charset="0"/>
                <a:ea typeface="Open Sans" pitchFamily="34" charset="-122"/>
                <a:cs typeface="Open Sans" pitchFamily="34" charset="-120"/>
              </a:rPr>
              <a:t>darte dirección y herramientas</a:t>
            </a:r>
            <a:endParaRPr lang="en-US" sz="1550" dirty="0"/>
          </a:p>
        </p:txBody>
      </p:sp>
      <p:pic>
        <p:nvPicPr>
          <p:cNvPr id="25" name="Image 7" descr="preencoded.png">    </p:cNvPr>
          <p:cNvPicPr>
            <a:picLocks noChangeAspect="1"/>
          </p:cNvPicPr>
          <p:nvPr/>
        </p:nvPicPr>
        <p:blipFill>
          <a:blip r:embed="rId8"/>
          <a:stretch>
            <a:fillRect/>
          </a:stretch>
        </p:blipFill>
        <p:spPr>
          <a:xfrm>
            <a:off x="8517636" y="4041648"/>
            <a:ext cx="256032" cy="256032"/>
          </a:xfrm>
          <a:prstGeom prst="rect">
            <a:avLst/>
          </a:prstGeom>
        </p:spPr>
      </p:pic>
      <p:sp>
        <p:nvSpPr>
          <p:cNvPr id="26" name="Text 15"/>
          <p:cNvSpPr txBox="1"/>
          <p:nvPr/>
        </p:nvSpPr>
        <p:spPr>
          <a:xfrm>
            <a:off x="8947404" y="3941064"/>
            <a:ext cx="2345436" cy="457200"/>
          </a:xfrm>
          <a:prstGeom prst="rect">
            <a:avLst/>
          </a:prstGeom>
          <a:noFill/>
          <a:ln/>
        </p:spPr>
        <p:txBody>
          <a:bodyPr wrap="square" lIns="0" tIns="0" rIns="0" bIns="0" rtlCol="0" anchor="ctr"/>
          <a:lstStyle/>
          <a:p>
            <a:pPr indent="0" marL="0">
              <a:buNone/>
            </a:pPr>
            <a:r>
              <a:rPr lang="en-US" sz="1550" dirty="0">
                <a:solidFill>
                  <a:srgbClr val="F8F5EE"/>
                </a:solidFill>
                <a:latin typeface="Open Sans" pitchFamily="34" charset="0"/>
                <a:ea typeface="Open Sans" pitchFamily="34" charset="-122"/>
                <a:cs typeface="Open Sans" pitchFamily="34" charset="-120"/>
              </a:rPr>
              <a:t>darte feedback</a:t>
            </a:r>
            <a:endParaRPr lang="en-US" sz="1550" dirty="0"/>
          </a:p>
        </p:txBody>
      </p:sp>
      <p:sp>
        <p:nvSpPr>
          <p:cNvPr id="27" name="Shape 16"/>
          <p:cNvSpPr/>
          <p:nvPr/>
        </p:nvSpPr>
        <p:spPr>
          <a:xfrm>
            <a:off x="4389120" y="4937760"/>
            <a:ext cx="7159752" cy="1051560"/>
          </a:xfrm>
          <a:prstGeom prst="roundRect">
            <a:avLst>
              <a:gd name="adj" fmla="val 13913"/>
            </a:avLst>
          </a:prstGeom>
          <a:solidFill>
            <a:srgbClr val="FBF2D0"/>
          </a:solidFill>
          <a:ln w="12700">
            <a:solidFill>
              <a:srgbClr val="FBF2D0"/>
            </a:solidFill>
            <a:prstDash val="solid"/>
          </a:ln>
          <a:effectLst>
            <a:outerShdw sx="100000" sy="100000" kx="0" ky="0" algn="bl" rotWithShape="0" blurRad="177800" dist="38100" dir="5400000">
              <a:srgbClr val="3F1E0D">
                <a:alpha val="10000"/>
              </a:srgbClr>
            </a:outerShdw>
          </a:effectLst>
        </p:spPr>
      </p:sp>
      <p:sp>
        <p:nvSpPr>
          <p:cNvPr id="28" name="Shape 17"/>
          <p:cNvSpPr/>
          <p:nvPr/>
        </p:nvSpPr>
        <p:spPr>
          <a:xfrm>
            <a:off x="4754880" y="5148072"/>
            <a:ext cx="640080" cy="640080"/>
          </a:xfrm>
          <a:prstGeom prst="ellipse">
            <a:avLst/>
          </a:prstGeom>
          <a:solidFill>
            <a:srgbClr val="C68C6C"/>
          </a:solidFill>
          <a:ln w="12700">
            <a:solidFill>
              <a:srgbClr val="C68C6C"/>
            </a:solidFill>
            <a:prstDash val="solid"/>
          </a:ln>
        </p:spPr>
      </p:sp>
      <p:pic>
        <p:nvPicPr>
          <p:cNvPr id="29" name="Image 8" descr="preencoded.png">    </p:cNvPr>
          <p:cNvPicPr>
            <a:picLocks noChangeAspect="1"/>
          </p:cNvPicPr>
          <p:nvPr/>
        </p:nvPicPr>
        <p:blipFill>
          <a:blip r:embed="rId9"/>
          <a:stretch>
            <a:fillRect/>
          </a:stretch>
        </p:blipFill>
        <p:spPr>
          <a:xfrm>
            <a:off x="4927702" y="5320894"/>
            <a:ext cx="294437" cy="294437"/>
          </a:xfrm>
          <a:prstGeom prst="rect">
            <a:avLst/>
          </a:prstGeom>
        </p:spPr>
      </p:pic>
      <p:sp>
        <p:nvSpPr>
          <p:cNvPr id="30" name="Text 18"/>
          <p:cNvSpPr txBox="1"/>
          <p:nvPr/>
        </p:nvSpPr>
        <p:spPr>
          <a:xfrm>
            <a:off x="5623560" y="4937760"/>
            <a:ext cx="5605272" cy="1051560"/>
          </a:xfrm>
          <a:prstGeom prst="rect">
            <a:avLst/>
          </a:prstGeom>
          <a:noFill/>
          <a:ln/>
        </p:spPr>
        <p:txBody>
          <a:bodyPr wrap="square" lIns="0" tIns="0" rIns="0" bIns="0" rtlCol="0" anchor="ctr"/>
          <a:lstStyle/>
          <a:p>
            <a:pPr indent="0" marL="0">
              <a:buNone/>
            </a:pPr>
            <a:r>
              <a:rPr lang="en-US" sz="2100" i="1" dirty="0">
                <a:solidFill>
                  <a:srgbClr val="81552E"/>
                </a:solidFill>
                <a:latin typeface="Source Serif Pro" pitchFamily="34" charset="0"/>
                <a:ea typeface="Source Serif Pro" pitchFamily="34" charset="-122"/>
                <a:cs typeface="Source Serif Pro" pitchFamily="34" charset="-120"/>
              </a:rPr>
              <a:t>No necesitás diagnosticar sola qué practicar. </a:t>
            </a:r>
            <a:pPr indent="0" marL="0">
              <a:buNone/>
            </a:pPr>
            <a:r>
              <a:rPr lang="en-US" sz="2100" b="1" i="1" dirty="0">
                <a:solidFill>
                  <a:srgbClr val="81552E"/>
                </a:solidFill>
                <a:latin typeface="Source Serif Pro" pitchFamily="34" charset="0"/>
                <a:ea typeface="Source Serif Pro" pitchFamily="34" charset="-122"/>
                <a:cs typeface="Source Serif Pro" pitchFamily="34" charset="-120"/>
              </a:rPr>
              <a:t>Para eso estoy yo.</a:t>
            </a:r>
            <a:endParaRPr lang="en-US"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C68C6C"/>
        </a:solidFill>
      </p:bgPr>
    </p:bg>
    <p:spTree>
      <p:nvGrpSpPr>
        <p:cNvPr id="1" name=""/>
        <p:cNvGrpSpPr/>
        <p:nvPr/>
      </p:nvGrpSpPr>
      <p:grpSpPr>
        <a:xfrm>
          <a:off x="0" y="0"/>
          <a:ext cx="0" cy="0"/>
          <a:chOff x="0" y="0"/>
          <a:chExt cx="0" cy="0"/>
        </a:xfrm>
      </p:grpSpPr>
      <p:sp>
        <p:nvSpPr>
          <p:cNvPr id="3" name="Text 0"/>
          <p:cNvSpPr txBox="1"/>
          <p:nvPr/>
        </p:nvSpPr>
        <p:spPr>
          <a:xfrm>
            <a:off x="640080" y="384048"/>
            <a:ext cx="4572000" cy="274320"/>
          </a:xfrm>
          <a:prstGeom prst="rect">
            <a:avLst/>
          </a:prstGeom>
          <a:noFill/>
          <a:ln/>
        </p:spPr>
        <p:txBody>
          <a:bodyPr wrap="square" lIns="0" tIns="0" rIns="0" bIns="0" rtlCol="0" anchor="ctr"/>
          <a:lstStyle/>
          <a:p>
            <a:pPr indent="0" marL="0">
              <a:buNone/>
            </a:pPr>
            <a:r>
              <a:rPr lang="en-US" sz="1050" b="1" spc="300" kern="0" dirty="0">
                <a:solidFill>
                  <a:srgbClr val="3F1E0D"/>
                </a:solidFill>
                <a:latin typeface="Open Sans" pitchFamily="34" charset="0"/>
                <a:ea typeface="Open Sans" pitchFamily="34" charset="-122"/>
                <a:cs typeface="Open Sans" pitchFamily="34" charset="-120"/>
              </a:rPr>
              <a:t>BREAKING BARRIERS · AT WORK</a:t>
            </a:r>
            <a:endParaRPr lang="en-US" sz="1050" dirty="0"/>
          </a:p>
        </p:txBody>
      </p:sp>
      <p:sp>
        <p:nvSpPr>
          <p:cNvPr id="4" name="Text 1"/>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3F1E0D"/>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3F1E0D"/>
                </a:solidFill>
                <a:latin typeface="Open Sans" pitchFamily="34" charset="0"/>
                <a:ea typeface="Open Sans" pitchFamily="34" charset="-122"/>
                <a:cs typeface="Open Sans" pitchFamily="34" charset="-120"/>
              </a:rPr>
              <a:t>   ·   09 / 09</a:t>
            </a:r>
            <a:endParaRPr lang="en-US" sz="1100" dirty="0"/>
          </a:p>
        </p:txBody>
      </p:sp>
      <p:sp>
        <p:nvSpPr>
          <p:cNvPr id="5" name="Text 2"/>
          <p:cNvSpPr txBox="1"/>
          <p:nvPr/>
        </p:nvSpPr>
        <p:spPr>
          <a:xfrm>
            <a:off x="640080" y="1097280"/>
            <a:ext cx="3429000" cy="1783080"/>
          </a:xfrm>
          <a:prstGeom prst="rect">
            <a:avLst/>
          </a:prstGeom>
          <a:noFill/>
          <a:ln/>
        </p:spPr>
        <p:txBody>
          <a:bodyPr wrap="square" lIns="0" tIns="0" rIns="0" bIns="0" rtlCol="0" anchor="t"/>
          <a:lstStyle/>
          <a:p>
            <a:pPr indent="0" marL="0">
              <a:lnSpc>
                <a:spcPct val="92000"/>
              </a:lnSpc>
              <a:buNone/>
            </a:pPr>
            <a:r>
              <a:rPr lang="en-US" sz="3400" b="1" dirty="0">
                <a:solidFill>
                  <a:srgbClr val="3F1E0D"/>
                </a:solidFill>
                <a:latin typeface="Source Serif Pro" pitchFamily="34" charset="0"/>
                <a:ea typeface="Source Serif Pro" pitchFamily="34" charset="-122"/>
                <a:cs typeface="Source Serif Pro" pitchFamily="34" charset="-120"/>
              </a:rPr>
              <a:t>Tu siguiente paso</a:t>
            </a:r>
            <a:endParaRPr lang="en-US" sz="3400" dirty="0"/>
          </a:p>
        </p:txBody>
      </p:sp>
      <p:sp>
        <p:nvSpPr>
          <p:cNvPr id="6" name="Text 3"/>
          <p:cNvSpPr txBox="1"/>
          <p:nvPr/>
        </p:nvSpPr>
        <p:spPr>
          <a:xfrm>
            <a:off x="640080" y="2414016"/>
            <a:ext cx="3291840" cy="731520"/>
          </a:xfrm>
          <a:prstGeom prst="rect">
            <a:avLst/>
          </a:prstGeom>
          <a:noFill/>
          <a:ln/>
        </p:spPr>
        <p:txBody>
          <a:bodyPr wrap="square" lIns="0" tIns="0" rIns="0" bIns="0" rtlCol="0" anchor="t"/>
          <a:lstStyle/>
          <a:p>
            <a:pPr indent="0" marL="0">
              <a:buNone/>
            </a:pPr>
            <a:r>
              <a:rPr lang="en-US" sz="1600" i="1" dirty="0">
                <a:solidFill>
                  <a:srgbClr val="3F1E0D"/>
                </a:solidFill>
                <a:latin typeface="Source Serif Pro" pitchFamily="34" charset="0"/>
                <a:ea typeface="Source Serif Pro" pitchFamily="34" charset="-122"/>
                <a:cs typeface="Source Serif Pro" pitchFamily="34" charset="-120"/>
              </a:rPr>
              <a:t>Antes de seguir con la próxima clase</a:t>
            </a:r>
            <a:endParaRPr lang="en-US" sz="1600" dirty="0"/>
          </a:p>
        </p:txBody>
      </p:sp>
      <p:sp>
        <p:nvSpPr>
          <p:cNvPr id="7" name="Shape 4"/>
          <p:cNvSpPr/>
          <p:nvPr/>
        </p:nvSpPr>
        <p:spPr>
          <a:xfrm>
            <a:off x="4389120" y="1417320"/>
            <a:ext cx="7159752" cy="1325880"/>
          </a:xfrm>
          <a:prstGeom prst="roundRect">
            <a:avLst>
              <a:gd name="adj" fmla="val 11034"/>
            </a:avLst>
          </a:prstGeom>
          <a:solidFill>
            <a:srgbClr val="F8F5EE"/>
          </a:solidFill>
          <a:ln w="12700">
            <a:solidFill>
              <a:srgbClr val="F8F5EE"/>
            </a:solidFill>
            <a:prstDash val="solid"/>
          </a:ln>
          <a:effectLst>
            <a:outerShdw sx="100000" sy="100000" kx="0" ky="0" algn="bl" rotWithShape="0" blurRad="177800" dist="38100" dir="5400000">
              <a:srgbClr val="3F1E0D">
                <a:alpha val="10000"/>
              </a:srgbClr>
            </a:outerShdw>
          </a:effectLst>
        </p:spPr>
      </p:sp>
      <p:sp>
        <p:nvSpPr>
          <p:cNvPr id="8" name="Shape 5"/>
          <p:cNvSpPr/>
          <p:nvPr/>
        </p:nvSpPr>
        <p:spPr>
          <a:xfrm>
            <a:off x="4754880" y="1709928"/>
            <a:ext cx="731520" cy="731520"/>
          </a:xfrm>
          <a:prstGeom prst="ellipse">
            <a:avLst/>
          </a:prstGeom>
          <a:solidFill>
            <a:srgbClr val="3F1E0D"/>
          </a:solidFill>
          <a:ln w="12700">
            <a:solidFill>
              <a:srgbClr val="3F1E0D"/>
            </a:solidFill>
            <a:prstDash val="solid"/>
          </a:ln>
        </p:spPr>
      </p:sp>
      <p:pic>
        <p:nvPicPr>
          <p:cNvPr id="9" name="Image 0" descr="preencoded.png">    </p:cNvPr>
          <p:cNvPicPr>
            <a:picLocks noChangeAspect="1"/>
          </p:cNvPicPr>
          <p:nvPr/>
        </p:nvPicPr>
        <p:blipFill>
          <a:blip r:embed="rId1"/>
          <a:stretch>
            <a:fillRect/>
          </a:stretch>
        </p:blipFill>
        <p:spPr>
          <a:xfrm>
            <a:off x="4952390" y="1907438"/>
            <a:ext cx="336499" cy="336499"/>
          </a:xfrm>
          <a:prstGeom prst="rect">
            <a:avLst/>
          </a:prstGeom>
        </p:spPr>
      </p:pic>
      <p:sp>
        <p:nvSpPr>
          <p:cNvPr id="10" name="Text 6"/>
          <p:cNvSpPr txBox="1"/>
          <p:nvPr/>
        </p:nvSpPr>
        <p:spPr>
          <a:xfrm>
            <a:off x="5806440" y="1417320"/>
            <a:ext cx="5422392" cy="1325880"/>
          </a:xfrm>
          <a:prstGeom prst="rect">
            <a:avLst/>
          </a:prstGeom>
          <a:noFill/>
          <a:ln/>
        </p:spPr>
        <p:txBody>
          <a:bodyPr wrap="square" lIns="0" tIns="0" rIns="0" bIns="0" rtlCol="0" anchor="ctr"/>
          <a:lstStyle/>
          <a:p>
            <a:pPr indent="0" marL="0">
              <a:buNone/>
            </a:pPr>
            <a:r>
              <a:rPr lang="en-US" sz="1900" dirty="0">
                <a:solidFill>
                  <a:srgbClr val="3F1E0D"/>
                </a:solidFill>
                <a:latin typeface="Open Sans" pitchFamily="34" charset="0"/>
                <a:ea typeface="Open Sans" pitchFamily="34" charset="-122"/>
                <a:cs typeface="Open Sans" pitchFamily="34" charset="-120"/>
              </a:rPr>
              <a:t>Descargá, completá y firmá tu </a:t>
            </a:r>
            <a:pPr indent="0" marL="0">
              <a:buNone/>
            </a:pPr>
            <a:r>
              <a:rPr lang="en-US" sz="1900" b="1" dirty="0">
                <a:solidFill>
                  <a:srgbClr val="3F1E0D"/>
                </a:solidFill>
                <a:latin typeface="Open Sans" pitchFamily="34" charset="0"/>
                <a:ea typeface="Open Sans" pitchFamily="34" charset="-122"/>
                <a:cs typeface="Open Sans" pitchFamily="34" charset="-120"/>
              </a:rPr>
              <a:t>Acuerdo de Trabajo</a:t>
            </a:r>
            <a:endParaRPr lang="en-US" sz="1900" dirty="0"/>
          </a:p>
        </p:txBody>
      </p:sp>
      <p:sp>
        <p:nvSpPr>
          <p:cNvPr id="11" name="Shape 7"/>
          <p:cNvSpPr/>
          <p:nvPr/>
        </p:nvSpPr>
        <p:spPr>
          <a:xfrm>
            <a:off x="4389120" y="2999232"/>
            <a:ext cx="7159752" cy="1325880"/>
          </a:xfrm>
          <a:prstGeom prst="roundRect">
            <a:avLst>
              <a:gd name="adj" fmla="val 11034"/>
            </a:avLst>
          </a:prstGeom>
          <a:solidFill>
            <a:srgbClr val="F8F5EE"/>
          </a:solidFill>
          <a:ln w="12700">
            <a:solidFill>
              <a:srgbClr val="F8F5EE"/>
            </a:solidFill>
            <a:prstDash val="solid"/>
          </a:ln>
          <a:effectLst>
            <a:outerShdw sx="100000" sy="100000" kx="0" ky="0" algn="bl" rotWithShape="0" blurRad="177800" dist="38100" dir="5400000">
              <a:srgbClr val="3F1E0D">
                <a:alpha val="10000"/>
              </a:srgbClr>
            </a:outerShdw>
          </a:effectLst>
        </p:spPr>
      </p:sp>
      <p:sp>
        <p:nvSpPr>
          <p:cNvPr id="12" name="Shape 8"/>
          <p:cNvSpPr/>
          <p:nvPr/>
        </p:nvSpPr>
        <p:spPr>
          <a:xfrm>
            <a:off x="4754880" y="3291840"/>
            <a:ext cx="731520" cy="731520"/>
          </a:xfrm>
          <a:prstGeom prst="ellipse">
            <a:avLst/>
          </a:prstGeom>
          <a:solidFill>
            <a:srgbClr val="3F1E0D"/>
          </a:solidFill>
          <a:ln w="12700">
            <a:solidFill>
              <a:srgbClr val="3F1E0D"/>
            </a:solidFill>
            <a:prstDash val="solid"/>
          </a:ln>
        </p:spPr>
      </p:sp>
      <p:pic>
        <p:nvPicPr>
          <p:cNvPr id="13" name="Image 1" descr="preencoded.png">    </p:cNvPr>
          <p:cNvPicPr>
            <a:picLocks noChangeAspect="1"/>
          </p:cNvPicPr>
          <p:nvPr/>
        </p:nvPicPr>
        <p:blipFill>
          <a:blip r:embed="rId2"/>
          <a:stretch>
            <a:fillRect/>
          </a:stretch>
        </p:blipFill>
        <p:spPr>
          <a:xfrm>
            <a:off x="4952390" y="3489350"/>
            <a:ext cx="336499" cy="336499"/>
          </a:xfrm>
          <a:prstGeom prst="rect">
            <a:avLst/>
          </a:prstGeom>
        </p:spPr>
      </p:pic>
      <p:sp>
        <p:nvSpPr>
          <p:cNvPr id="14" name="Text 9"/>
          <p:cNvSpPr txBox="1"/>
          <p:nvPr/>
        </p:nvSpPr>
        <p:spPr>
          <a:xfrm>
            <a:off x="5806440" y="2999232"/>
            <a:ext cx="5422392" cy="1325880"/>
          </a:xfrm>
          <a:prstGeom prst="rect">
            <a:avLst/>
          </a:prstGeom>
          <a:noFill/>
          <a:ln/>
        </p:spPr>
        <p:txBody>
          <a:bodyPr wrap="square" lIns="0" tIns="0" rIns="0" bIns="0" rtlCol="0" anchor="ctr"/>
          <a:lstStyle/>
          <a:p>
            <a:pPr indent="0" marL="0">
              <a:buNone/>
            </a:pPr>
            <a:r>
              <a:rPr lang="en-US" sz="1900" dirty="0">
                <a:solidFill>
                  <a:srgbClr val="3F1E0D"/>
                </a:solidFill>
                <a:latin typeface="Open Sans" pitchFamily="34" charset="0"/>
                <a:ea typeface="Open Sans" pitchFamily="34" charset="-122"/>
                <a:cs typeface="Open Sans" pitchFamily="34" charset="-120"/>
              </a:rPr>
              <a:t>Subilo a </a:t>
            </a:r>
            <a:pPr indent="0" marL="0">
              <a:buNone/>
            </a:pPr>
            <a:r>
              <a:rPr lang="en-US" sz="1900" b="1" dirty="0">
                <a:solidFill>
                  <a:srgbClr val="3F1E0D"/>
                </a:solidFill>
                <a:latin typeface="Open Sans" pitchFamily="34" charset="0"/>
                <a:ea typeface="Open Sans" pitchFamily="34" charset="-122"/>
                <a:cs typeface="Open Sans" pitchFamily="34" charset="-120"/>
              </a:rPr>
              <a:t>01 · MI CONTEXTO PROFESIONAL</a:t>
            </a:r>
            <a:endParaRPr lang="en-US" sz="1900" dirty="0"/>
          </a:p>
        </p:txBody>
      </p:sp>
      <p:sp>
        <p:nvSpPr>
          <p:cNvPr id="15" name="Shape 10"/>
          <p:cNvSpPr/>
          <p:nvPr/>
        </p:nvSpPr>
        <p:spPr>
          <a:xfrm>
            <a:off x="4389120" y="4581144"/>
            <a:ext cx="7159752" cy="1325880"/>
          </a:xfrm>
          <a:prstGeom prst="roundRect">
            <a:avLst>
              <a:gd name="adj" fmla="val 11034"/>
            </a:avLst>
          </a:prstGeom>
          <a:solidFill>
            <a:srgbClr val="F8F5EE"/>
          </a:solidFill>
          <a:ln w="12700">
            <a:solidFill>
              <a:srgbClr val="F8F5EE"/>
            </a:solidFill>
            <a:prstDash val="solid"/>
          </a:ln>
          <a:effectLst>
            <a:outerShdw sx="100000" sy="100000" kx="0" ky="0" algn="bl" rotWithShape="0" blurRad="177800" dist="38100" dir="5400000">
              <a:srgbClr val="3F1E0D">
                <a:alpha val="10000"/>
              </a:srgbClr>
            </a:outerShdw>
          </a:effectLst>
        </p:spPr>
      </p:sp>
      <p:sp>
        <p:nvSpPr>
          <p:cNvPr id="16" name="Shape 11"/>
          <p:cNvSpPr/>
          <p:nvPr/>
        </p:nvSpPr>
        <p:spPr>
          <a:xfrm>
            <a:off x="4754880" y="4873752"/>
            <a:ext cx="731520" cy="731520"/>
          </a:xfrm>
          <a:prstGeom prst="ellipse">
            <a:avLst/>
          </a:prstGeom>
          <a:solidFill>
            <a:srgbClr val="3F1E0D"/>
          </a:solidFill>
          <a:ln w="12700">
            <a:solidFill>
              <a:srgbClr val="3F1E0D"/>
            </a:solidFill>
            <a:prstDash val="solid"/>
          </a:ln>
        </p:spPr>
      </p:sp>
      <p:pic>
        <p:nvPicPr>
          <p:cNvPr id="17" name="Image 2" descr="preencoded.png">    </p:cNvPr>
          <p:cNvPicPr>
            <a:picLocks noChangeAspect="1"/>
          </p:cNvPicPr>
          <p:nvPr/>
        </p:nvPicPr>
        <p:blipFill>
          <a:blip r:embed="rId3"/>
          <a:stretch>
            <a:fillRect/>
          </a:stretch>
        </p:blipFill>
        <p:spPr>
          <a:xfrm>
            <a:off x="4952390" y="5071262"/>
            <a:ext cx="336499" cy="336499"/>
          </a:xfrm>
          <a:prstGeom prst="rect">
            <a:avLst/>
          </a:prstGeom>
        </p:spPr>
      </p:pic>
      <p:sp>
        <p:nvSpPr>
          <p:cNvPr id="18" name="Text 12"/>
          <p:cNvSpPr txBox="1"/>
          <p:nvPr/>
        </p:nvSpPr>
        <p:spPr>
          <a:xfrm>
            <a:off x="5806440" y="4581144"/>
            <a:ext cx="5422392" cy="1325880"/>
          </a:xfrm>
          <a:prstGeom prst="rect">
            <a:avLst/>
          </a:prstGeom>
          <a:noFill/>
          <a:ln/>
        </p:spPr>
        <p:txBody>
          <a:bodyPr wrap="square" lIns="0" tIns="0" rIns="0" bIns="0" rtlCol="0" anchor="ctr"/>
          <a:lstStyle/>
          <a:p>
            <a:pPr indent="0" marL="0">
              <a:buNone/>
            </a:pPr>
            <a:r>
              <a:rPr lang="en-US" sz="1900" dirty="0">
                <a:solidFill>
                  <a:srgbClr val="3F1E0D"/>
                </a:solidFill>
                <a:latin typeface="Open Sans" pitchFamily="34" charset="0"/>
                <a:ea typeface="Open Sans" pitchFamily="34" charset="-122"/>
                <a:cs typeface="Open Sans" pitchFamily="34" charset="-120"/>
              </a:rPr>
              <a:t>Seguí con la próxima clase: </a:t>
            </a:r>
            <a:pPr indent="0" marL="0">
              <a:buNone/>
            </a:pPr>
            <a:r>
              <a:rPr lang="en-US" sz="1900" b="1" dirty="0">
                <a:solidFill>
                  <a:srgbClr val="3F1E0D"/>
                </a:solidFill>
                <a:latin typeface="Open Sans" pitchFamily="34" charset="0"/>
                <a:ea typeface="Open Sans" pitchFamily="34" charset="-122"/>
                <a:cs typeface="Open Sans" pitchFamily="34" charset="-120"/>
              </a:rPr>
              <a:t>Tu ecosistema AT WORK</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ONB 02 · Cómo vamos a trabajar juntas</dc:title>
  <dc:subject>PptxGenJS Presentation</dc:subject>
  <dc:creator>Flor Pérsico</dc:creator>
  <cp:lastModifiedBy>Flor Pérsico</cp:lastModifiedBy>
  <cp:revision>1</cp:revision>
  <dcterms:created xsi:type="dcterms:W3CDTF">2026-09-23T13:17:35Z</dcterms:created>
  <dcterms:modified xsi:type="dcterms:W3CDTF">2026-09-23T13:17:35Z</dcterms:modified>
</cp:coreProperties>
</file>