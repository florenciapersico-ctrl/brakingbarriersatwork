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ortada" id="{6b8c3eb0-de24-a410-cd14-b809cdbbcea7}">
          <p14:sldIdLst>
            <p14:sldId id="256"/>
          </p14:sldIdLst>
        </p14:section>
        <p14:section name="1–2 · Opening y para quién" id="{1d59cac0-bccf-05f2-60b6-0c818dc3bb35}">
          <p14:sldIdLst>
            <p14:sldId id="257"/>
            <p14:sldId id="258"/>
          </p14:sldIdLst>
        </p14:section>
        <p14:section name="3 · Alumnas" id="{0ccd006d-ef9d-ccf6-32bf-05e50bc12ab2}">
          <p14:sldIdLst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4–6 · Idea central" id="{8e368ea6-da16-2cbc-ed32-1b9f5b098fee}">
          <p14:sldIdLst>
            <p14:sldId id="265"/>
            <p14:sldId id="266"/>
            <p14:sldId id="267"/>
            <p14:sldId id="268"/>
          </p14:sldIdLst>
        </p14:section>
        <p14:section name="7–8 · Qué cambiamos" id="{79f7a5eb-a159-11f6-3726-557d04e1a6a6}">
          <p14:sldIdLst>
            <p14:sldId id="269"/>
            <p14:sldId id="270"/>
          </p14:sldIdLst>
        </p14:section>
        <p14:section name="9 · Delivery Method" id="{dc52a7eb-cfbb-c50d-cf01-9244467cae13}">
          <p14:sldIdLst>
            <p14:sldId id="271"/>
            <p14:sldId id="272"/>
            <p14:sldId id="273"/>
            <p14:sldId id="274"/>
            <p14:sldId id="275"/>
            <p14:sldId id="276"/>
            <p14:sldId id="277"/>
          </p14:sldIdLst>
        </p14:section>
        <p14:section name="10–11 · Cierre y CTA" id="{bb89604b-0655-e322-d74a-dd87376fb0cb}">
          <p14:sldIdLst>
            <p14:sldId id="278"/>
            <p14:sldId id="279"/>
            <p14:sldId id="280"/>
            <p14:sldId id="281"/>
            <p14:sldId id="282"/>
            <p14:sldId id="28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RRON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217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chemeClr val="bg2"/>
                </a:solidFill>
              </a:rPr>
              <a:t>BREAKING BARRIERS AT WORK</a:t>
            </a:r>
            <a:endParaRPr lang="en-US" sz="11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500" b="1" spc="3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1792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REMA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217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chemeClr val="accent5"/>
                </a:solidFill>
              </a:rPr>
              <a:t>BREAKING BARRIERS AT WORK</a:t>
            </a:r>
            <a:endParaRPr lang="en-US" sz="11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500" b="1" spc="300" kern="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1792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1792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chemeClr val="accent1"/>
                </a:solidFill>
              </a:rPr>
              <a:t>BREAKING BARRIERS AT WORK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28800"/>
            <a:ext cx="106984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6400" b="1" dirty="0">
                <a:solidFill>
                  <a:schemeClr val="bg1"/>
                </a:solidFill>
                <a:latin typeface="Crimson Pro" pitchFamily="34" charset="0"/>
                <a:ea typeface="Crimson Pro" pitchFamily="34" charset="-122"/>
                <a:cs typeface="Crimson Pro" pitchFamily="34" charset="-120"/>
              </a:rPr>
              <a:t>Cómo mostrar en inglés a la profesional que </a:t>
            </a:r>
            <a:pPr indent="0" marL="0">
              <a:lnSpc>
                <a:spcPct val="100000"/>
              </a:lnSpc>
              <a:buNone/>
            </a:pPr>
            <a:r>
              <a:rPr lang="en-US" sz="6400" b="1" i="1" dirty="0">
                <a:solidFill>
                  <a:schemeClr val="accent1"/>
                </a:solidFill>
                <a:latin typeface="Crimson Pro" pitchFamily="34" charset="0"/>
                <a:ea typeface="Crimson Pro" pitchFamily="34" charset="-122"/>
                <a:cs typeface="Crimson Pro" pitchFamily="34" charset="-120"/>
              </a:rPr>
              <a:t>ya sos</a:t>
            </a:r>
            <a:endParaRPr lang="en-US" sz="6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20624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Sin sumar más años de clases ni memorizar guiones.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1792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chemeClr val="accent1"/>
                </a:solidFill>
              </a:rPr>
              <a:t>1 · OPENING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28800"/>
            <a:ext cx="106984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00" i="1" dirty="0">
                <a:solidFill>
                  <a:schemeClr val="bg1"/>
                </a:solidFill>
                <a:latin typeface="Crimson Pro" pitchFamily="34" charset="0"/>
                <a:ea typeface="Crimson Pro" pitchFamily="34" charset="-122"/>
                <a:cs typeface="Crimson Pro" pitchFamily="34" charset="-120"/>
              </a:rPr>
              <a:t>“¿Cómo puede ser que ahora sí me salga, si yo sabía lo que quería decir?”</a:t>
            </a:r>
            <a:endParaRPr lang="en-US" sz="5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1792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chemeClr val="accent2"/>
                </a:solidFill>
              </a:rPr>
              <a:t>2 · PARA QUIÉN ES ESTE VIDEO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28800"/>
            <a:ext cx="106984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5800" b="1" dirty="0">
                <a:solidFill>
                  <a:schemeClr val="tx1"/>
                </a:solidFill>
                <a:latin typeface="Crimson Pro" pitchFamily="34" charset="0"/>
                <a:ea typeface="Crimson Pro" pitchFamily="34" charset="-122"/>
                <a:cs typeface="Crimson Pro" pitchFamily="34" charset="-120"/>
              </a:rPr>
              <a:t>Quizás profesionalmente </a:t>
            </a:r>
            <a:pPr indent="0" marL="0">
              <a:lnSpc>
                <a:spcPct val="100000"/>
              </a:lnSpc>
              <a:buNone/>
            </a:pPr>
            <a:r>
              <a:rPr lang="en-US" sz="5800" b="1" i="1" dirty="0">
                <a:solidFill>
                  <a:schemeClr val="tx2"/>
                </a:solidFill>
                <a:latin typeface="Crimson Pro" pitchFamily="34" charset="0"/>
                <a:ea typeface="Crimson Pro" pitchFamily="34" charset="-122"/>
                <a:cs typeface="Crimson Pro" pitchFamily="34" charset="-120"/>
              </a:rPr>
              <a:t>ya estás preparada.</a:t>
            </a:r>
            <a:endParaRPr lang="en-US" sz="5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Lo que falta es que eso también se vea cuando hablás en inglés.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1792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chemeClr val="accent1"/>
                </a:solidFill>
              </a:rPr>
              <a:t>3 · LO VEO TODO EL TIEMPO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28800"/>
            <a:ext cx="106984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00" i="1" dirty="0">
                <a:solidFill>
                  <a:schemeClr val="bg1"/>
                </a:solidFill>
                <a:latin typeface="Crimson Pro" pitchFamily="34" charset="0"/>
                <a:ea typeface="Crimson Pro" pitchFamily="34" charset="-122"/>
                <a:cs typeface="Crimson Pro" pitchFamily="34" charset="-120"/>
              </a:rPr>
              <a:t>“Not perfect, but the message was delivered.”</a:t>
            </a:r>
            <a:endParaRPr lang="en-US" sz="5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6576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Gaby</a:t>
            </a:r>
            <a:pPr indent="0" marL="0">
              <a:buNone/>
            </a:pPr>
            <a:r>
              <a:rPr lang="en-US" sz="1900" dirty="0">
                <a:solidFill>
                  <a:schemeClr val="bg2"/>
                </a:solidFill>
              </a:rPr>
              <a:t> · Senior Manager de IT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1792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chemeClr val="accent1"/>
                </a:solidFill>
              </a:rPr>
              <a:t>3 · LO VEO TODO EL TIEMPO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28800"/>
            <a:ext cx="106984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i="1" dirty="0">
                <a:solidFill>
                  <a:schemeClr val="bg1"/>
                </a:solidFill>
                <a:latin typeface="Crimson Pro" pitchFamily="34" charset="0"/>
                <a:ea typeface="Crimson Pro" pitchFamily="34" charset="-122"/>
                <a:cs typeface="Crimson Pro" pitchFamily="34" charset="-120"/>
              </a:rPr>
              <a:t>“Ya no pienso tanto al querer transmitir una idea, simplemente confío y la menciono.”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2062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Virginia</a:t>
            </a:r>
            <a:pPr indent="0" marL="0">
              <a:buNone/>
            </a:pPr>
            <a:r>
              <a:rPr lang="en-US" sz="1900" dirty="0">
                <a:solidFill>
                  <a:schemeClr val="bg2"/>
                </a:solidFill>
              </a:rPr>
              <a:t> · Líder de equipo de QA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1792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chemeClr val="accent2"/>
                </a:solidFill>
              </a:rPr>
              <a:t>3 · LO VEO TODO EL TIEMPO</a:t>
            </a:r>
            <a:endParaRPr lang="en-US" sz="1500" dirty="0"/>
          </a:p>
        </p:txBody>
      </p:sp>
      <p:sp>
        <p:nvSpPr>
          <p:cNvPr id="3" name="marco"/>
          <p:cNvSpPr/>
          <p:nvPr/>
        </p:nvSpPr>
        <p:spPr>
          <a:xfrm>
            <a:off x="5440680" y="2190902"/>
            <a:ext cx="6181344" cy="3664915"/>
          </a:xfrm>
          <a:prstGeom prst="roundRect">
            <a:avLst>
              <a:gd name="adj" fmla="val 4990"/>
            </a:avLst>
          </a:prstGeom>
          <a:solidFill>
            <a:schemeClr val="bg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4" name="captura" descr="Captura del mensaje de Virginia en la comunida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05272" y="2355494"/>
            <a:ext cx="5852160" cy="3335731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2103120"/>
            <a:ext cx="423367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tx2"/>
                </a:solidFill>
                <a:latin typeface="Crimson Pro" pitchFamily="34" charset="0"/>
                <a:ea typeface="Crimson Pro" pitchFamily="34" charset="-122"/>
                <a:cs typeface="Crimson Pro" pitchFamily="34" charset="-120"/>
              </a:rPr>
              <a:t>Virginia</a:t>
            </a:r>
            <a:endParaRPr lang="en-US" sz="48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3657600"/>
            <a:ext cx="423367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Una reunión de líderes, 100% en inglés y súper técnica.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1792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chemeClr val="accent1"/>
                </a:solidFill>
              </a:rPr>
              <a:t>3 · LO VEO TODO EL TIEMPO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28800"/>
            <a:ext cx="106984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00" i="1" dirty="0">
                <a:solidFill>
                  <a:schemeClr val="bg1"/>
                </a:solidFill>
                <a:latin typeface="Crimson Pro" pitchFamily="34" charset="0"/>
                <a:ea typeface="Crimson Pro" pitchFamily="34" charset="-122"/>
                <a:cs typeface="Crimson Pro" pitchFamily="34" charset="-120"/>
              </a:rPr>
              <a:t>“My participation wasn't the best, but it was the first one.”</a:t>
            </a:r>
            <a:endParaRPr lang="en-US" sz="5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6576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Alumna AT WORK</a:t>
            </a:r>
            <a:pPr indent="0" marL="0">
              <a:buNone/>
            </a:pPr>
            <a:r>
              <a:rPr lang="en-US" sz="1900" dirty="0">
                <a:solidFill>
                  <a:schemeClr val="bg2"/>
                </a:solidFill>
              </a:rPr>
              <a:t> · Primera reunión con el equipo global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1792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chemeClr val="accent2"/>
                </a:solidFill>
              </a:rPr>
              <a:t>3 · LO VEO TODO EL TIEMPO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28800"/>
            <a:ext cx="106984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5800" b="1" dirty="0">
                <a:solidFill>
                  <a:schemeClr val="tx1"/>
                </a:solidFill>
                <a:latin typeface="Crimson Pro" pitchFamily="34" charset="0"/>
                <a:ea typeface="Crimson Pro" pitchFamily="34" charset="-122"/>
                <a:cs typeface="Crimson Pro" pitchFamily="34" charset="-120"/>
              </a:rPr>
              <a:t>Primera entrevista en inglés.</a:t>
            </a:r>
            <a:endParaRPr lang="en-US" sz="5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5800" b="1" i="1" dirty="0">
                <a:solidFill>
                  <a:schemeClr val="tx2"/>
                </a:solidFill>
                <a:latin typeface="Crimson Pro" pitchFamily="34" charset="0"/>
                <a:ea typeface="Crimson Pro" pitchFamily="34" charset="-122"/>
                <a:cs typeface="Crimson Pro" pitchFamily="34" charset="-120"/>
              </a:rPr>
              <a:t>Con Tesla.</a:t>
            </a:r>
            <a:endParaRPr lang="en-US" sz="5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Pudo dar su punto de vista sintiéndose cómoda y segura.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448056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Moni</a:t>
            </a:r>
            <a:pPr indent="0" marL="0">
              <a:buNone/>
            </a:pPr>
            <a:r>
              <a:rPr lang="en-US" sz="1900" dirty="0">
                <a:solidFill>
                  <a:schemeClr val="accent5"/>
                </a:solidFill>
              </a:rPr>
              <a:t> · Recursos Humanos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1792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chemeClr val="accent2"/>
                </a:solidFill>
              </a:rPr>
              <a:t>3 · LO VEO TODO EL TIEMPO</a:t>
            </a:r>
            <a:endParaRPr lang="en-US" sz="1500" dirty="0"/>
          </a:p>
        </p:txBody>
      </p:sp>
      <p:sp>
        <p:nvSpPr>
          <p:cNvPr id="3" name="marco"/>
          <p:cNvSpPr/>
          <p:nvPr/>
        </p:nvSpPr>
        <p:spPr>
          <a:xfrm>
            <a:off x="6454745" y="1572768"/>
            <a:ext cx="5167279" cy="4901184"/>
          </a:xfrm>
          <a:prstGeom prst="roundRect">
            <a:avLst>
              <a:gd name="adj" fmla="val 3731"/>
            </a:avLst>
          </a:prstGeom>
          <a:solidFill>
            <a:schemeClr val="bg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4" name="captura" descr="Captura del mensaje de Sol en la comunida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19337" y="1737360"/>
            <a:ext cx="4838095" cy="45720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2103120"/>
            <a:ext cx="5247737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tx2"/>
                </a:solidFill>
                <a:latin typeface="Crimson Pro" pitchFamily="34" charset="0"/>
                <a:ea typeface="Crimson Pro" pitchFamily="34" charset="-122"/>
                <a:cs typeface="Crimson Pro" pitchFamily="34" charset="-120"/>
              </a:rPr>
              <a:t>Sol</a:t>
            </a:r>
            <a:endParaRPr lang="en-US" sz="48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3657600"/>
            <a:ext cx="5247737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Gerenta de logística. Viaje de trabajo a Alemania: “this time I can see significant progress in myself”.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1792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chemeClr val="accent1"/>
                </a:solidFill>
              </a:rPr>
              <a:t>4 · EL OBJETIVO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28800"/>
            <a:ext cx="10698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0" b="1" dirty="0">
                <a:solidFill>
                  <a:schemeClr val="bg1"/>
                </a:solidFill>
                <a:latin typeface="Crimson Pro" pitchFamily="34" charset="0"/>
                <a:ea typeface="Crimson Pro" pitchFamily="34" charset="-122"/>
                <a:cs typeface="Crimson Pro" pitchFamily="34" charset="-120"/>
              </a:rPr>
              <a:t>Clear,</a:t>
            </a:r>
            <a:endParaRPr lang="en-US" sz="100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000" b="1" i="1" dirty="0">
                <a:solidFill>
                  <a:schemeClr val="accent1"/>
                </a:solidFill>
                <a:latin typeface="Crimson Pro" pitchFamily="34" charset="0"/>
                <a:ea typeface="Crimson Pro" pitchFamily="34" charset="-122"/>
                <a:cs typeface="Crimson Pro" pitchFamily="34" charset="-120"/>
              </a:rPr>
              <a:t>not native.</a:t>
            </a:r>
            <a:endParaRPr lang="en-US" sz="10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1792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chemeClr val="accent2"/>
                </a:solidFill>
              </a:rPr>
              <a:t>5 · LA DIFERENCIA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28800"/>
            <a:ext cx="106984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5800" b="1" dirty="0">
                <a:solidFill>
                  <a:schemeClr val="tx1"/>
                </a:solidFill>
                <a:latin typeface="Crimson Pro" pitchFamily="34" charset="0"/>
                <a:ea typeface="Crimson Pro" pitchFamily="34" charset="-122"/>
                <a:cs typeface="Crimson Pro" pitchFamily="34" charset="-120"/>
              </a:rPr>
              <a:t>Saber inglés y </a:t>
            </a:r>
            <a:pPr indent="0" marL="0">
              <a:lnSpc>
                <a:spcPct val="100000"/>
              </a:lnSpc>
              <a:buNone/>
            </a:pPr>
            <a:r>
              <a:rPr lang="en-US" sz="5800" b="1" i="1" dirty="0">
                <a:solidFill>
                  <a:schemeClr val="tx2"/>
                </a:solidFill>
                <a:latin typeface="Crimson Pro" pitchFamily="34" charset="0"/>
                <a:ea typeface="Crimson Pro" pitchFamily="34" charset="-122"/>
                <a:cs typeface="Crimson Pro" pitchFamily="34" charset="-120"/>
              </a:rPr>
              <a:t>tenerlo disponible</a:t>
            </a:r>
            <a:pPr indent="0" marL="0">
              <a:lnSpc>
                <a:spcPct val="100000"/>
              </a:lnSpc>
              <a:buNone/>
            </a:pPr>
            <a:r>
              <a:rPr lang="en-US" sz="5800" b="1" dirty="0">
                <a:solidFill>
                  <a:schemeClr val="tx1"/>
                </a:solidFill>
                <a:latin typeface="Crimson Pro" pitchFamily="34" charset="0"/>
                <a:ea typeface="Crimson Pro" pitchFamily="34" charset="-122"/>
                <a:cs typeface="Crimson Pro" pitchFamily="34" charset="-120"/>
              </a:rPr>
              <a:t> no son lo mismo</a:t>
            </a:r>
            <a:endParaRPr lang="en-US" sz="5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1792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chemeClr val="accent2"/>
                </a:solidFill>
              </a:rPr>
              <a:t>5 · DISPONIBLE CUANDO LO NECESITÁS</a:t>
            </a:r>
            <a:endParaRPr lang="en-US" sz="1500" dirty="0"/>
          </a:p>
        </p:txBody>
      </p:sp>
      <p:sp>
        <p:nvSpPr>
          <p:cNvPr id="3" name="marco"/>
          <p:cNvSpPr/>
          <p:nvPr/>
        </p:nvSpPr>
        <p:spPr>
          <a:xfrm>
            <a:off x="5440680" y="2372319"/>
            <a:ext cx="6181344" cy="3302081"/>
          </a:xfrm>
          <a:prstGeom prst="roundRect">
            <a:avLst>
              <a:gd name="adj" fmla="val 5538"/>
            </a:avLst>
          </a:prstGeom>
          <a:solidFill>
            <a:schemeClr val="bg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4" name="captura" descr="Captura del mensaje de Un evento en inglés en la comunida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05272" y="2536911"/>
            <a:ext cx="5852160" cy="297289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2103120"/>
            <a:ext cx="423367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tx2"/>
                </a:solidFill>
                <a:latin typeface="Crimson Pro" pitchFamily="34" charset="0"/>
                <a:ea typeface="Crimson Pro" pitchFamily="34" charset="-122"/>
                <a:cs typeface="Crimson Pro" pitchFamily="34" charset="-120"/>
              </a:rPr>
              <a:t>Un evento en inglés</a:t>
            </a:r>
            <a:endParaRPr lang="en-US" sz="48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3657600"/>
            <a:ext cx="423367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No lo esperaba, entendió todo… y se animó a hacer una pregunta.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1792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chemeClr val="accent1"/>
                </a:solidFill>
              </a:rPr>
              <a:t>6 · A MÍ TAMBIÉN ME PASÓ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28800"/>
            <a:ext cx="106984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5800" b="1" dirty="0">
                <a:solidFill>
                  <a:schemeClr val="bg1"/>
                </a:solidFill>
                <a:latin typeface="Crimson Pro" pitchFamily="34" charset="0"/>
                <a:ea typeface="Crimson Pro" pitchFamily="34" charset="-122"/>
                <a:cs typeface="Crimson Pro" pitchFamily="34" charset="-120"/>
              </a:rPr>
              <a:t>No era solo el inglés.</a:t>
            </a:r>
            <a:endParaRPr lang="en-US" sz="5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5800" b="1" i="1" dirty="0">
                <a:solidFill>
                  <a:schemeClr val="accent1"/>
                </a:solidFill>
                <a:latin typeface="Crimson Pro" pitchFamily="34" charset="0"/>
                <a:ea typeface="Crimson Pro" pitchFamily="34" charset="-122"/>
                <a:cs typeface="Crimson Pro" pitchFamily="34" charset="-120"/>
              </a:rPr>
              <a:t>Era la relación con el inglés.</a:t>
            </a:r>
            <a:endParaRPr lang="en-US" sz="5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1792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chemeClr val="accent2"/>
                </a:solidFill>
              </a:rPr>
              <a:t>7 · QUÉ EMPEZAMOS A CAMBIAR</a:t>
            </a:r>
            <a:endParaRPr lang="en-US" sz="1500" dirty="0"/>
          </a:p>
        </p:txBody>
      </p:sp>
      <p:sp>
        <p:nvSpPr>
          <p:cNvPr id="3" name="tarjeta1"/>
          <p:cNvSpPr/>
          <p:nvPr/>
        </p:nvSpPr>
        <p:spPr>
          <a:xfrm>
            <a:off x="731520" y="2011680"/>
            <a:ext cx="3291840" cy="329184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97280" y="23317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01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2743200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rimson Pro" pitchFamily="34" charset="0"/>
                <a:ea typeface="Crimson Pro" pitchFamily="34" charset="-122"/>
                <a:cs typeface="Crimson Pro" pitchFamily="34" charset="-120"/>
              </a:rPr>
              <a:t>Entrenar con tu realidad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384048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Tu presentación, tu reunión, tu entrevista.</a:t>
            </a:r>
            <a:endParaRPr lang="en-US" sz="1600" dirty="0"/>
          </a:p>
        </p:txBody>
      </p:sp>
      <p:sp>
        <p:nvSpPr>
          <p:cNvPr id="7" name="tarjeta2"/>
          <p:cNvSpPr/>
          <p:nvPr/>
        </p:nvSpPr>
        <p:spPr>
          <a:xfrm>
            <a:off x="4434840" y="2011680"/>
            <a:ext cx="3291840" cy="329184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00600" y="23317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02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800600" y="2743200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rimson Pro" pitchFamily="34" charset="0"/>
                <a:ea typeface="Crimson Pro" pitchFamily="34" charset="-122"/>
                <a:cs typeface="Crimson Pro" pitchFamily="34" charset="-120"/>
              </a:rPr>
              <a:t>Salir del modo examen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4800600" y="384048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Primero el mensaje. Después refinamos el inglés.</a:t>
            </a:r>
            <a:endParaRPr lang="en-US" sz="1600" dirty="0"/>
          </a:p>
        </p:txBody>
      </p:sp>
      <p:sp>
        <p:nvSpPr>
          <p:cNvPr id="11" name="tarjeta3"/>
          <p:cNvSpPr/>
          <p:nvPr/>
        </p:nvSpPr>
        <p:spPr>
          <a:xfrm>
            <a:off x="8138160" y="2011680"/>
            <a:ext cx="3291840" cy="329184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503920" y="23317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03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503920" y="2743200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rimson Pro" pitchFamily="34" charset="0"/>
                <a:ea typeface="Crimson Pro" pitchFamily="34" charset="-122"/>
                <a:cs typeface="Crimson Pro" pitchFamily="34" charset="-120"/>
              </a:rPr>
              <a:t>El segundo intento</a:t>
            </a:r>
            <a:endParaRPr lang="en-US" sz="3200" dirty="0"/>
          </a:p>
        </p:txBody>
      </p:sp>
      <p:sp>
        <p:nvSpPr>
          <p:cNvPr id="14" name="Text 12"/>
          <p:cNvSpPr txBox="1"/>
          <p:nvPr/>
        </p:nvSpPr>
        <p:spPr>
          <a:xfrm>
            <a:off x="8503920" y="384048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Lo decís, miramos qué pasó y lo volvés a hacer.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1792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chemeClr val="accent1"/>
                </a:solidFill>
              </a:rPr>
              <a:t>8 · PRIMERO HAY QUE DETECTAR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28800"/>
            <a:ext cx="106984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5800" b="1" dirty="0">
                <a:solidFill>
                  <a:schemeClr val="bg1"/>
                </a:solidFill>
                <a:latin typeface="Crimson Pro" pitchFamily="34" charset="0"/>
                <a:ea typeface="Crimson Pro" pitchFamily="34" charset="-122"/>
                <a:cs typeface="Crimson Pro" pitchFamily="34" charset="-120"/>
              </a:rPr>
              <a:t>No alcanza con practicar más.</a:t>
            </a:r>
            <a:endParaRPr lang="en-US" sz="5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5800" b="1" i="1" dirty="0">
                <a:solidFill>
                  <a:schemeClr val="accent1"/>
                </a:solidFill>
                <a:latin typeface="Crimson Pro" pitchFamily="34" charset="0"/>
                <a:ea typeface="Crimson Pro" pitchFamily="34" charset="-122"/>
                <a:cs typeface="Crimson Pro" pitchFamily="34" charset="-120"/>
              </a:rPr>
              <a:t>Hay que saber qué practicar.</a:t>
            </a:r>
            <a:endParaRPr lang="en-US" sz="5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1792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chemeClr val="accent1"/>
                </a:solidFill>
              </a:rPr>
              <a:t>9 · EL DELIVERY METHOD™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011680"/>
            <a:ext cx="106984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600" b="1" dirty="0">
                <a:solidFill>
                  <a:schemeClr val="bg1"/>
                </a:solidFill>
                <a:latin typeface="Crimson Pro" pitchFamily="34" charset="0"/>
                <a:ea typeface="Crimson Pro" pitchFamily="34" charset="-122"/>
                <a:cs typeface="Crimson Pro" pitchFamily="34" charset="-120"/>
              </a:rPr>
              <a:t>Usar primero,</a:t>
            </a:r>
            <a:endParaRPr lang="en-US" sz="76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600" b="1" i="1" dirty="0">
                <a:solidFill>
                  <a:schemeClr val="accent1"/>
                </a:solidFill>
                <a:latin typeface="Crimson Pro" pitchFamily="34" charset="0"/>
                <a:ea typeface="Crimson Pro" pitchFamily="34" charset="-122"/>
                <a:cs typeface="Crimson Pro" pitchFamily="34" charset="-120"/>
              </a:rPr>
              <a:t>aprender después.</a:t>
            </a:r>
            <a:endParaRPr lang="en-US" sz="7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1792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chemeClr val="accent2"/>
                </a:solidFill>
              </a:rPr>
              <a:t>9 · EL DELIVERY METHOD™</a:t>
            </a:r>
            <a:endParaRPr lang="en-US" sz="1500" dirty="0"/>
          </a:p>
        </p:txBody>
      </p:sp>
      <p:sp>
        <p:nvSpPr>
          <p:cNvPr id="3" name="paso1"/>
          <p:cNvSpPr/>
          <p:nvPr/>
        </p:nvSpPr>
        <p:spPr>
          <a:xfrm>
            <a:off x="731520" y="2377440"/>
            <a:ext cx="2286000" cy="1645920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2377440"/>
            <a:ext cx="2286000" cy="16459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rimson Pro" pitchFamily="34" charset="0"/>
                <a:ea typeface="Crimson Pro" pitchFamily="34" charset="-122"/>
                <a:cs typeface="Crimson Pro" pitchFamily="34" charset="-120"/>
              </a:rPr>
              <a:t>Producir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3017520" y="2377440"/>
            <a:ext cx="5212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accent2"/>
                </a:solidFill>
              </a:rPr>
              <a:t>→</a:t>
            </a:r>
            <a:endParaRPr lang="en-US" sz="3000" dirty="0"/>
          </a:p>
        </p:txBody>
      </p:sp>
      <p:sp>
        <p:nvSpPr>
          <p:cNvPr id="6" name="paso2"/>
          <p:cNvSpPr/>
          <p:nvPr/>
        </p:nvSpPr>
        <p:spPr>
          <a:xfrm>
            <a:off x="3538728" y="2377440"/>
            <a:ext cx="2286000" cy="1645920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538728" y="2377440"/>
            <a:ext cx="2286000" cy="16459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rimson Pro" pitchFamily="34" charset="0"/>
                <a:ea typeface="Crimson Pro" pitchFamily="34" charset="-122"/>
                <a:cs typeface="Crimson Pro" pitchFamily="34" charset="-120"/>
              </a:rPr>
              <a:t>Detectar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5824728" y="2377440"/>
            <a:ext cx="5212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accent2"/>
                </a:solidFill>
              </a:rPr>
              <a:t>→</a:t>
            </a:r>
            <a:endParaRPr lang="en-US" sz="3000" dirty="0"/>
          </a:p>
        </p:txBody>
      </p:sp>
      <p:sp>
        <p:nvSpPr>
          <p:cNvPr id="9" name="paso3"/>
          <p:cNvSpPr/>
          <p:nvPr/>
        </p:nvSpPr>
        <p:spPr>
          <a:xfrm>
            <a:off x="6345936" y="2377440"/>
            <a:ext cx="2286000" cy="1645920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45936" y="2377440"/>
            <a:ext cx="2286000" cy="16459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rimson Pro" pitchFamily="34" charset="0"/>
                <a:ea typeface="Crimson Pro" pitchFamily="34" charset="-122"/>
                <a:cs typeface="Crimson Pro" pitchFamily="34" charset="-120"/>
              </a:rPr>
              <a:t>Corregir y refinar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8631936" y="2377440"/>
            <a:ext cx="5212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accent2"/>
                </a:solidFill>
              </a:rPr>
              <a:t>→</a:t>
            </a:r>
            <a:endParaRPr lang="en-US" sz="3000" dirty="0"/>
          </a:p>
        </p:txBody>
      </p:sp>
      <p:sp>
        <p:nvSpPr>
          <p:cNvPr id="12" name="paso4"/>
          <p:cNvSpPr/>
          <p:nvPr/>
        </p:nvSpPr>
        <p:spPr>
          <a:xfrm>
            <a:off x="9153144" y="2377440"/>
            <a:ext cx="2286000" cy="1645920"/>
          </a:xfrm>
          <a:prstGeom prst="roundRect">
            <a:avLst>
              <a:gd name="adj" fmla="val 11111"/>
            </a:avLst>
          </a:prstGeom>
          <a:solidFill>
            <a:schemeClr val="tx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153144" y="2377440"/>
            <a:ext cx="2286000" cy="16459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Crimson Pro" pitchFamily="34" charset="0"/>
                <a:ea typeface="Crimson Pro" pitchFamily="34" charset="-122"/>
                <a:cs typeface="Crimson Pro" pitchFamily="34" charset="-120"/>
              </a:rPr>
              <a:t>Aplicar</a:t>
            </a: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1792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chemeClr val="accent2"/>
                </a:solidFill>
              </a:rPr>
              <a:t>9 · ¿QUÉ SE ROMPIÓ?</a:t>
            </a:r>
            <a:endParaRPr lang="en-US" sz="1500" dirty="0"/>
          </a:p>
        </p:txBody>
      </p:sp>
      <p:sp>
        <p:nvSpPr>
          <p:cNvPr id="3" name="tarjeta1"/>
          <p:cNvSpPr/>
          <p:nvPr/>
        </p:nvSpPr>
        <p:spPr>
          <a:xfrm>
            <a:off x="731520" y="2011680"/>
            <a:ext cx="3291840" cy="329184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97280" y="2377440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chemeClr val="tx2"/>
                </a:solidFill>
                <a:latin typeface="Crimson Pro" pitchFamily="34" charset="0"/>
                <a:ea typeface="Crimson Pro" pitchFamily="34" charset="-122"/>
                <a:cs typeface="Crimson Pro" pitchFamily="34" charset="-120"/>
              </a:rPr>
              <a:t>QUÉ</a:t>
            </a:r>
            <a:endParaRPr lang="en-US" sz="42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3474720"/>
            <a:ext cx="2560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El mensaje. No sabés cuál es la idea principal o cómo ordenarla.</a:t>
            </a:r>
            <a:endParaRPr lang="en-US" sz="1600" dirty="0"/>
          </a:p>
        </p:txBody>
      </p:sp>
      <p:sp>
        <p:nvSpPr>
          <p:cNvPr id="6" name="tarjeta2"/>
          <p:cNvSpPr/>
          <p:nvPr/>
        </p:nvSpPr>
        <p:spPr>
          <a:xfrm>
            <a:off x="4434840" y="2011680"/>
            <a:ext cx="3291840" cy="329184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00600" y="2377440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chemeClr val="tx2"/>
                </a:solidFill>
                <a:latin typeface="Crimson Pro" pitchFamily="34" charset="0"/>
                <a:ea typeface="Crimson Pro" pitchFamily="34" charset="-122"/>
                <a:cs typeface="Crimson Pro" pitchFamily="34" charset="-120"/>
              </a:rPr>
              <a:t>CÓMO</a:t>
            </a:r>
            <a:endParaRPr lang="en-US" sz="4200" dirty="0"/>
          </a:p>
        </p:txBody>
      </p:sp>
      <p:sp>
        <p:nvSpPr>
          <p:cNvPr id="8" name="Text 6"/>
          <p:cNvSpPr txBox="1"/>
          <p:nvPr/>
        </p:nvSpPr>
        <p:spPr>
          <a:xfrm>
            <a:off x="4800600" y="3474720"/>
            <a:ext cx="2560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El idioma. Estructura, vocabulario, pronunciación o listening.</a:t>
            </a:r>
            <a:endParaRPr lang="en-US" sz="1600" dirty="0"/>
          </a:p>
        </p:txBody>
      </p:sp>
      <p:sp>
        <p:nvSpPr>
          <p:cNvPr id="9" name="tarjeta3"/>
          <p:cNvSpPr/>
          <p:nvPr/>
        </p:nvSpPr>
        <p:spPr>
          <a:xfrm>
            <a:off x="8138160" y="2011680"/>
            <a:ext cx="3291840" cy="329184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503920" y="2377440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chemeClr val="tx2"/>
                </a:solidFill>
                <a:latin typeface="Crimson Pro" pitchFamily="34" charset="0"/>
                <a:ea typeface="Crimson Pro" pitchFamily="34" charset="-122"/>
                <a:cs typeface="Crimson Pro" pitchFamily="34" charset="-120"/>
              </a:rPr>
              <a:t>QUIÉN</a:t>
            </a:r>
            <a:endParaRPr lang="en-US" sz="4200" dirty="0"/>
          </a:p>
        </p:txBody>
      </p:sp>
      <p:sp>
        <p:nvSpPr>
          <p:cNvPr id="11" name="Text 9"/>
          <p:cNvSpPr txBox="1"/>
          <p:nvPr/>
        </p:nvSpPr>
        <p:spPr>
          <a:xfrm>
            <a:off x="8503920" y="3474720"/>
            <a:ext cx="2560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Desde dónde hablás. Sabés qué decir, tenés el inglés… y no hablás.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1792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chemeClr val="accent2"/>
                </a:solidFill>
              </a:rPr>
              <a:t>9 · DETECTAR</a:t>
            </a:r>
            <a:endParaRPr lang="en-US" sz="1500" dirty="0"/>
          </a:p>
        </p:txBody>
      </p:sp>
      <p:sp>
        <p:nvSpPr>
          <p:cNvPr id="3" name="marco"/>
          <p:cNvSpPr/>
          <p:nvPr/>
        </p:nvSpPr>
        <p:spPr>
          <a:xfrm>
            <a:off x="5440680" y="2395728"/>
            <a:ext cx="6181344" cy="3255264"/>
          </a:xfrm>
          <a:prstGeom prst="roundRect">
            <a:avLst>
              <a:gd name="adj" fmla="val 5618"/>
            </a:avLst>
          </a:prstGeom>
          <a:solidFill>
            <a:schemeClr val="bg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4" name="captura" descr="Captura del mensaje de Lauri en la comunida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05272" y="2560320"/>
            <a:ext cx="5852160" cy="292608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2103120"/>
            <a:ext cx="423367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tx2"/>
                </a:solidFill>
                <a:latin typeface="Crimson Pro" pitchFamily="34" charset="0"/>
                <a:ea typeface="Crimson Pro" pitchFamily="34" charset="-122"/>
                <a:cs typeface="Crimson Pro" pitchFamily="34" charset="-120"/>
              </a:rPr>
              <a:t>Lauri</a:t>
            </a:r>
            <a:endParaRPr lang="en-US" sz="48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3657600"/>
            <a:ext cx="423367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Detectar qué la estaba condicionando para hablar en inglés.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1792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chemeClr val="accent2"/>
                </a:solidFill>
              </a:rPr>
              <a:t>9 · EL CÓMO</a:t>
            </a:r>
            <a:endParaRPr lang="en-US" sz="1500" dirty="0"/>
          </a:p>
        </p:txBody>
      </p:sp>
      <p:sp>
        <p:nvSpPr>
          <p:cNvPr id="3" name="marco"/>
          <p:cNvSpPr/>
          <p:nvPr/>
        </p:nvSpPr>
        <p:spPr>
          <a:xfrm>
            <a:off x="5440680" y="2536180"/>
            <a:ext cx="6181344" cy="2974360"/>
          </a:xfrm>
          <a:prstGeom prst="roundRect">
            <a:avLst>
              <a:gd name="adj" fmla="val 6149"/>
            </a:avLst>
          </a:prstGeom>
          <a:solidFill>
            <a:schemeClr val="bg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4" name="captura" descr="Captura del mensaje de Virginia en la comunida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05272" y="2700772"/>
            <a:ext cx="5852160" cy="264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2103120"/>
            <a:ext cx="423367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tx2"/>
                </a:solidFill>
                <a:latin typeface="Crimson Pro" pitchFamily="34" charset="0"/>
                <a:ea typeface="Crimson Pro" pitchFamily="34" charset="-122"/>
                <a:cs typeface="Crimson Pro" pitchFamily="34" charset="-120"/>
              </a:rPr>
              <a:t>Virginia</a:t>
            </a:r>
            <a:endParaRPr lang="en-US" sz="48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3657600"/>
            <a:ext cx="423367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Identificar sus errores fosilizados y entrenarlos.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1792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chemeClr val="accent2"/>
                </a:solidFill>
              </a:rPr>
              <a:t>9 · EL QUIÉN</a:t>
            </a:r>
            <a:endParaRPr lang="en-US" sz="1500" dirty="0"/>
          </a:p>
        </p:txBody>
      </p:sp>
      <p:sp>
        <p:nvSpPr>
          <p:cNvPr id="3" name="marco"/>
          <p:cNvSpPr/>
          <p:nvPr/>
        </p:nvSpPr>
        <p:spPr>
          <a:xfrm>
            <a:off x="6651216" y="1572768"/>
            <a:ext cx="4970808" cy="4901184"/>
          </a:xfrm>
          <a:prstGeom prst="roundRect">
            <a:avLst>
              <a:gd name="adj" fmla="val 3731"/>
            </a:avLst>
          </a:prstGeom>
          <a:solidFill>
            <a:schemeClr val="bg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4" name="captura" descr="Captura del mensaje de Sol en la comunida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15808" y="1737360"/>
            <a:ext cx="4641624" cy="45720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2103120"/>
            <a:ext cx="544420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tx2"/>
                </a:solidFill>
                <a:latin typeface="Crimson Pro" pitchFamily="34" charset="0"/>
                <a:ea typeface="Crimson Pro" pitchFamily="34" charset="-122"/>
                <a:cs typeface="Crimson Pro" pitchFamily="34" charset="-120"/>
              </a:rPr>
              <a:t>Sol</a:t>
            </a:r>
            <a:endParaRPr lang="en-US" sz="48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3657600"/>
            <a:ext cx="54442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Se vale tomarse el tiempo para hablar.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1792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chemeClr val="accent1"/>
                </a:solidFill>
              </a:rPr>
              <a:t>9 · LA PREGUNTA CLAVE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194560"/>
            <a:ext cx="10698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600" i="1" dirty="0">
                <a:solidFill>
                  <a:schemeClr val="bg1"/>
                </a:solidFill>
                <a:latin typeface="Crimson Pro" pitchFamily="34" charset="0"/>
                <a:ea typeface="Crimson Pro" pitchFamily="34" charset="-122"/>
                <a:cs typeface="Crimson Pro" pitchFamily="34" charset="-120"/>
              </a:rPr>
              <a:t>“¿No me sale, o no me animo?”</a:t>
            </a:r>
            <a:endParaRPr lang="en-US" sz="6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1792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chemeClr val="accent2"/>
                </a:solidFill>
              </a:rPr>
              <a:t>10 · CÓMO TRABAJAMOS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2880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5000" b="1" dirty="0">
                <a:solidFill>
                  <a:schemeClr val="tx1"/>
                </a:solidFill>
                <a:latin typeface="Crimson Pro" pitchFamily="34" charset="0"/>
                <a:ea typeface="Crimson Pro" pitchFamily="34" charset="-122"/>
                <a:cs typeface="Crimson Pro" pitchFamily="34" charset="-120"/>
              </a:rPr>
              <a:t>AT WORK no es un curso más de inglés</a:t>
            </a:r>
            <a:endParaRPr lang="en-US" sz="5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383280"/>
            <a:ext cx="9601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Una metodología propia: tu material real, un diagnóstico de qué se rompe en tu caso y acompañamiento para que al final puedas detectarlo y entrenarlo vos sola.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1792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chemeClr val="accent2"/>
                </a:solidFill>
              </a:rPr>
              <a:t>10 · LA COMUNIDAD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69164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rimson Pro" pitchFamily="34" charset="0"/>
                <a:ea typeface="Crimson Pro" pitchFamily="34" charset="-122"/>
                <a:cs typeface="Crimson Pro" pitchFamily="34" charset="-120"/>
              </a:rPr>
              <a:t>Cada semana, las alumnas comparten sus wins</a:t>
            </a:r>
            <a:endParaRPr lang="en-US" sz="3600" dirty="0"/>
          </a:p>
        </p:txBody>
      </p:sp>
      <p:sp>
        <p:nvSpPr>
          <p:cNvPr id="4" name="marco1"/>
          <p:cNvSpPr/>
          <p:nvPr/>
        </p:nvSpPr>
        <p:spPr>
          <a:xfrm>
            <a:off x="621792" y="2542032"/>
            <a:ext cx="3511296" cy="1957548"/>
          </a:xfrm>
          <a:prstGeom prst="roundRect">
            <a:avLst>
              <a:gd name="adj" fmla="val 8408"/>
            </a:avLst>
          </a:prstGeom>
          <a:solidFill>
            <a:schemeClr val="bg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captura1" descr="Captura de un win en la comunida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2651760"/>
            <a:ext cx="3291840" cy="1738092"/>
          </a:xfrm>
          <a:prstGeom prst="rect">
            <a:avLst/>
          </a:prstGeom>
        </p:spPr>
      </p:pic>
      <p:sp>
        <p:nvSpPr>
          <p:cNvPr id="6" name="marco2"/>
          <p:cNvSpPr/>
          <p:nvPr/>
        </p:nvSpPr>
        <p:spPr>
          <a:xfrm>
            <a:off x="4325112" y="2542032"/>
            <a:ext cx="3511296" cy="1536192"/>
          </a:xfrm>
          <a:prstGeom prst="roundRect">
            <a:avLst>
              <a:gd name="adj" fmla="val 10714"/>
            </a:avLst>
          </a:prstGeom>
          <a:solidFill>
            <a:schemeClr val="bg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7" name="captura2" descr="Captura de un win en la comunida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4840" y="2651760"/>
            <a:ext cx="3291840" cy="1316736"/>
          </a:xfrm>
          <a:prstGeom prst="rect">
            <a:avLst/>
          </a:prstGeom>
        </p:spPr>
      </p:pic>
      <p:sp>
        <p:nvSpPr>
          <p:cNvPr id="8" name="marco3"/>
          <p:cNvSpPr/>
          <p:nvPr/>
        </p:nvSpPr>
        <p:spPr>
          <a:xfrm>
            <a:off x="8028432" y="2542032"/>
            <a:ext cx="3511296" cy="1684325"/>
          </a:xfrm>
          <a:prstGeom prst="roundRect">
            <a:avLst>
              <a:gd name="adj" fmla="val 9772"/>
            </a:avLst>
          </a:prstGeom>
          <a:solidFill>
            <a:schemeClr val="bg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9" name="captura3" descr="Captura de un win en la comunida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8160" y="2651760"/>
            <a:ext cx="3291840" cy="1464869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1792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chemeClr val="accent1"/>
                </a:solidFill>
              </a:rPr>
              <a:t>11 · CIERRE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28800"/>
            <a:ext cx="106984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5000" b="1" dirty="0">
                <a:solidFill>
                  <a:schemeClr val="bg1"/>
                </a:solidFill>
                <a:latin typeface="Crimson Pro" pitchFamily="34" charset="0"/>
                <a:ea typeface="Crimson Pro" pitchFamily="34" charset="-122"/>
                <a:cs typeface="Crimson Pro" pitchFamily="34" charset="-120"/>
              </a:rPr>
              <a:t>Quizás profesionalmente ya lo estás.</a:t>
            </a:r>
            <a:endParaRPr lang="en-US" sz="5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5000" b="1" i="1" dirty="0">
                <a:solidFill>
                  <a:schemeClr val="accent1"/>
                </a:solidFill>
                <a:latin typeface="Crimson Pro" pitchFamily="34" charset="0"/>
                <a:ea typeface="Crimson Pro" pitchFamily="34" charset="-122"/>
                <a:cs typeface="Crimson Pro" pitchFamily="34" charset="-120"/>
              </a:rPr>
              <a:t>Lo que falta es poder mostrarlo en inglés.</a:t>
            </a:r>
            <a:endParaRPr lang="en-US" sz="5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1792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chemeClr val="accent2"/>
                </a:solidFill>
              </a:rPr>
              <a:t>11 · ¿ES PARA VOS?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01168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chemeClr val="accent2"/>
                </a:solidFill>
              </a:rPr>
              <a:t>ES PARA VOS SI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651760"/>
            <a:ext cx="51206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400"/>
              </a:spcAft>
              <a:buNone/>
            </a:pPr>
            <a:r>
              <a:rPr lang="en-US" sz="2200" dirty="0">
                <a:solidFill>
                  <a:schemeClr val="tx1"/>
                </a:solidFill>
              </a:rPr>
              <a:t>✓  Tenés un nivel intermedio o intermedio alto</a:t>
            </a:r>
            <a:endParaRPr lang="en-US" sz="22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200" dirty="0">
                <a:solidFill>
                  <a:schemeClr val="tx1"/>
                </a:solidFill>
              </a:rPr>
              <a:t>✓  Ya trabajás en inglés</a:t>
            </a:r>
            <a:endParaRPr lang="en-US" sz="22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200" dirty="0">
                <a:solidFill>
                  <a:schemeClr val="tx1"/>
                </a:solidFill>
              </a:rPr>
              <a:t>✓  O estás preparando una entrevista en inglés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6400800" y="201168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chemeClr val="accent2"/>
                </a:solidFill>
              </a:rPr>
              <a:t>NO ES PARA VOS SI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400800" y="2651760"/>
            <a:ext cx="51206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400"/>
              </a:spcAft>
              <a:buNone/>
            </a:pPr>
            <a:r>
              <a:rPr lang="en-US" sz="2200" dirty="0">
                <a:solidFill>
                  <a:schemeClr val="accent5"/>
                </a:solidFill>
              </a:rPr>
              <a:t>✕  Empezás desde cero</a:t>
            </a:r>
            <a:endParaRPr lang="en-US" sz="22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200" dirty="0">
                <a:solidFill>
                  <a:schemeClr val="accent5"/>
                </a:solidFill>
              </a:rPr>
              <a:t>✕  Querés preparar un examen</a:t>
            </a:r>
            <a:endParaRPr lang="en-US" sz="22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200" dirty="0">
                <a:solidFill>
                  <a:schemeClr val="accent5"/>
                </a:solidFill>
              </a:rPr>
              <a:t>✕  Buscás memorizar respuestas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1792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chemeClr val="accent1"/>
                </a:solidFill>
              </a:rPr>
              <a:t>11 · CUPOS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28800"/>
            <a:ext cx="1069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0" b="1" dirty="0">
                <a:solidFill>
                  <a:schemeClr val="bg1"/>
                </a:solidFill>
                <a:latin typeface="Crimson Pro" pitchFamily="34" charset="0"/>
                <a:ea typeface="Crimson Pro" pitchFamily="34" charset="-122"/>
                <a:cs typeface="Crimson Pro" pitchFamily="34" charset="-120"/>
              </a:rPr>
              <a:t>Hasta </a:t>
            </a:r>
            <a:pPr algn="ctr" indent="0" marL="0">
              <a:buNone/>
            </a:pPr>
            <a:r>
              <a:rPr lang="en-US" sz="11000" b="1" i="1" dirty="0">
                <a:solidFill>
                  <a:schemeClr val="accent1"/>
                </a:solidFill>
                <a:latin typeface="Crimson Pro" pitchFamily="34" charset="0"/>
                <a:ea typeface="Crimson Pro" pitchFamily="34" charset="-122"/>
                <a:cs typeface="Crimson Pro" pitchFamily="34" charset="-120"/>
              </a:rPr>
              <a:t>20</a:t>
            </a:r>
            <a:endParaRPr lang="en-US" sz="11000" dirty="0"/>
          </a:p>
        </p:txBody>
      </p:sp>
      <p:sp>
        <p:nvSpPr>
          <p:cNvPr id="4" name="Text 2"/>
          <p:cNvSpPr txBox="1"/>
          <p:nvPr/>
        </p:nvSpPr>
        <p:spPr>
          <a:xfrm>
            <a:off x="2011680" y="365760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alumnas activas al mismo tiempo. Cada proceso se arma con el material real de cada una.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1792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chemeClr val="accent1"/>
                </a:solidFill>
              </a:rPr>
              <a:t>ESCRIBIME POR MENSAJE DIRECTO EN INSTAGRAM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920240"/>
            <a:ext cx="10698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0" b="1" spc="600" kern="0" dirty="0">
                <a:solidFill>
                  <a:schemeClr val="accent1"/>
                </a:solidFill>
                <a:latin typeface="Crimson Pro" pitchFamily="34" charset="0"/>
                <a:ea typeface="Crimson Pro" pitchFamily="34" charset="-122"/>
                <a:cs typeface="Crimson Pro" pitchFamily="34" charset="-120"/>
              </a:rPr>
              <a:t>READY</a:t>
            </a:r>
            <a:endParaRPr lang="en-US" sz="13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chemeClr val="bg1"/>
                </a:solidFill>
              </a:rPr>
              <a:t>@ysi_speakenglish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1792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lor Pérsico · Breaking Barriers">
  <a:themeElements>
    <a:clrScheme name="Flor Pérsico · Breaking Barriers">
      <a:dk1>
        <a:srgbClr val="2C1F0E"/>
      </a:dk1>
      <a:lt1>
        <a:srgbClr val="FFF8E7"/>
      </a:lt1>
      <a:dk2>
        <a:srgbClr val="82552E"/>
      </a:dk2>
      <a:lt2>
        <a:srgbClr val="F5EDD6"/>
      </a:lt2>
      <a:accent1>
        <a:srgbClr val="E8C4AD"/>
      </a:accent1>
      <a:accent2>
        <a:srgbClr val="C68C6C"/>
      </a:accent2>
      <a:accent3>
        <a:srgbClr val="6E4624"/>
      </a:accent3>
      <a:accent4>
        <a:srgbClr val="5C3D1E"/>
      </a:accent4>
      <a:accent5>
        <a:srgbClr val="8B6B4A"/>
      </a:accent5>
      <a:accent6>
        <a:srgbClr val="6B6F4C"/>
      </a:accent6>
      <a:hlink>
        <a:srgbClr val="C68C6C"/>
      </a:hlink>
      <a:folHlink>
        <a:srgbClr val="8B6B4A"/>
      </a:folHlink>
    </a:clrScheme>
    <a:fontScheme name="Flor Pérsico · Breaking Barriers">
      <a:majorFont>
        <a:latin typeface="Crimson Pr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Open Sa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Placas VSL AT WORK</dc:title>
  <dc:subject>PptxGenJS Presentation</dc:subject>
  <dc:creator>Florencia Pérsico</dc:creator>
  <cp:lastModifiedBy>Florencia Pérsico</cp:lastModifiedBy>
  <cp:revision>1</cp:revision>
  <dcterms:created xsi:type="dcterms:W3CDTF">2026-10-20T21:57:17Z</dcterms:created>
  <dcterms:modified xsi:type="dcterms:W3CDTF">2026-10-20T21:57:17Z</dcterms:modified>
</cp:coreProperties>
</file>